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88" r:id="rId2"/>
    <p:sldMasterId id="2147483670" r:id="rId3"/>
  </p:sldMasterIdLst>
  <p:notesMasterIdLst>
    <p:notesMasterId r:id="rId37"/>
  </p:notesMasterIdLst>
  <p:sldIdLst>
    <p:sldId id="316" r:id="rId4"/>
    <p:sldId id="347" r:id="rId5"/>
    <p:sldId id="349" r:id="rId6"/>
    <p:sldId id="386" r:id="rId7"/>
    <p:sldId id="401" r:id="rId8"/>
    <p:sldId id="400" r:id="rId9"/>
    <p:sldId id="352" r:id="rId10"/>
    <p:sldId id="388" r:id="rId11"/>
    <p:sldId id="358" r:id="rId12"/>
    <p:sldId id="354" r:id="rId13"/>
    <p:sldId id="398" r:id="rId14"/>
    <p:sldId id="356" r:id="rId15"/>
    <p:sldId id="390" r:id="rId16"/>
    <p:sldId id="378" r:id="rId17"/>
    <p:sldId id="362" r:id="rId18"/>
    <p:sldId id="361" r:id="rId19"/>
    <p:sldId id="394" r:id="rId20"/>
    <p:sldId id="395" r:id="rId21"/>
    <p:sldId id="396" r:id="rId22"/>
    <p:sldId id="365" r:id="rId23"/>
    <p:sldId id="366" r:id="rId24"/>
    <p:sldId id="397" r:id="rId25"/>
    <p:sldId id="393" r:id="rId26"/>
    <p:sldId id="404" r:id="rId27"/>
    <p:sldId id="403" r:id="rId28"/>
    <p:sldId id="405" r:id="rId29"/>
    <p:sldId id="391" r:id="rId30"/>
    <p:sldId id="392" r:id="rId31"/>
    <p:sldId id="345" r:id="rId32"/>
    <p:sldId id="346" r:id="rId33"/>
    <p:sldId id="383" r:id="rId34"/>
    <p:sldId id="379" r:id="rId35"/>
    <p:sldId id="318" r:id="rId36"/>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31E"/>
    <a:srgbClr val="CF1F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149" autoAdjust="0"/>
    <p:restoredTop sz="94668"/>
  </p:normalViewPr>
  <p:slideViewPr>
    <p:cSldViewPr snapToGrid="0">
      <p:cViewPr varScale="1">
        <p:scale>
          <a:sx n="63" d="100"/>
          <a:sy n="63" d="100"/>
        </p:scale>
        <p:origin x="568" y="6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viewProps" Target="viewProps.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dfdb21760b9949ae/Data/dbs/SQL%20Datasets/Power%20BI/DSTB_KEPHs2023_2025Q2%20TI.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dfdb21760b9949ae/Data/dbs/SQL%20Datasets/Power%20BI/DSTB_KEPHs2023_2025Q2%20TI.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dfdb21760b9949ae/Data/dbs/SQL%20Datasets/Power%20BI/DSTB_KEPHs2023_2025Q2%20TI.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[DSTB_KEPHs2023_2025Q2 TI.xlsx]DSTB Cases vs Proportion CHPs!PivotTable1</c:name>
    <c:fmtId val="-1"/>
  </c:pivotSource>
  <c:chart>
    <c:autoTitleDeleted val="1"/>
    <c:pivotFmts>
      <c:pivotFmt>
        <c:idx val="0"/>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pPr>
            <a:noFill/>
            <a:ln>
              <a:noFill/>
            </a:ln>
            <a:effectLst/>
          </c:spPr>
          <c:txPr>
            <a:bodyPr rot="0" spcFirstLastPara="1" vertOverflow="ellipsis" vert="horz" wrap="square" anchor="ctr" anchorCtr="1"/>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pPr>
            <a:noFill/>
            <a:ln>
              <a:noFill/>
            </a:ln>
            <a:effectLst/>
          </c:spPr>
          <c:txPr>
            <a:bodyPr rot="0" spcFirstLastPara="1" vertOverflow="ellipsis" vert="horz" wrap="square" anchor="ctr" anchorCtr="1"/>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pPr>
            <a:noFill/>
            <a:ln>
              <a:noFill/>
            </a:ln>
            <a:effectLst/>
          </c:spPr>
          <c:txPr>
            <a:bodyPr rot="0" spcFirstLastPara="1" vertOverflow="ellipsis" vert="horz" wrap="square" anchor="ctr" anchorCtr="1"/>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pPr>
            <a:noFill/>
            <a:ln>
              <a:noFill/>
            </a:ln>
            <a:effectLst/>
          </c:spPr>
          <c:txPr>
            <a:bodyPr rot="0" spcFirstLastPara="1" vertOverflow="ellipsis" vert="horz" wrap="square" anchor="ctr" anchorCtr="1"/>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pPr>
            <a:noFill/>
            <a:ln>
              <a:noFill/>
            </a:ln>
            <a:effectLst/>
          </c:spPr>
          <c:txPr>
            <a:bodyPr rot="0" spcFirstLastPara="1" vertOverflow="ellipsis" vert="horz" wrap="square" anchor="ctr" anchorCtr="1"/>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rgbClr val="002F6C"/>
          </a:solidFill>
          <a:ln>
            <a:noFill/>
          </a:ln>
          <a:effectLst/>
        </c:spPr>
        <c:marker>
          <c:symbol val="circle"/>
          <c:size val="5"/>
          <c:spPr>
            <a:solidFill>
              <a:schemeClr val="accent1"/>
            </a:solidFill>
            <a:ln w="9525">
              <a:solidFill>
                <a:schemeClr val="accent1"/>
              </a:solidFill>
            </a:ln>
            <a:effectLst/>
          </c:spPr>
        </c:marker>
        <c:dLbl>
          <c:idx val="0"/>
          <c:spPr>
            <a:noFill/>
            <a:ln>
              <a:noFill/>
            </a:ln>
            <a:effectLst/>
          </c:spPr>
          <c:txPr>
            <a:bodyPr rot="-5400000" spcFirstLastPara="1" vertOverflow="ellipsis" vert="horz" wrap="square" lIns="38100" tIns="19050" rIns="38100" bIns="19050" anchor="ctr" anchorCtr="1">
              <a:spAutoFit/>
            </a:bodyPr>
            <a:lstStyle/>
            <a:p>
              <a:pPr>
                <a:defRPr sz="1200" b="1" i="0" u="none" strike="noStrike" kern="1200" baseline="0">
                  <a:solidFill>
                    <a:schemeClr val="bg1"/>
                  </a:solidFill>
                  <a:latin typeface="Comic Sans MS" panose="030F0702030302020204" pitchFamily="66" charset="0"/>
                  <a:ea typeface="+mn-ea"/>
                  <a:cs typeface="+mn-cs"/>
                </a:defRPr>
              </a:pPr>
              <a:endParaRPr lang="en-US"/>
            </a:p>
          </c:txPr>
          <c:dLblPos val="inBase"/>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53975" cap="rnd">
            <a:noFill/>
            <a:round/>
          </a:ln>
          <a:effectLst/>
        </c:spPr>
        <c:marker>
          <c:symbol val="circle"/>
          <c:size val="12"/>
          <c:spPr>
            <a:solidFill>
              <a:srgbClr val="C00000"/>
            </a:solidFill>
            <a:ln w="9525">
              <a:solidFill>
                <a:schemeClr val="bg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53975" cap="rnd">
            <a:noFill/>
            <a:round/>
          </a:ln>
          <a:effectLst/>
        </c:spPr>
        <c:marker>
          <c:symbol val="circle"/>
          <c:size val="12"/>
          <c:spPr>
            <a:solidFill>
              <a:srgbClr val="C00000"/>
            </a:solidFill>
            <a:ln w="9525">
              <a:solidFill>
                <a:schemeClr val="bg1"/>
              </a:solidFill>
            </a:ln>
            <a:effectLst/>
          </c:spPr>
        </c:marker>
      </c:pivotFmt>
      <c:pivotFmt>
        <c:idx val="13"/>
        <c:spPr>
          <a:solidFill>
            <a:schemeClr val="accent1"/>
          </a:solidFill>
          <a:ln w="53975" cap="rnd">
            <a:noFill/>
            <a:round/>
          </a:ln>
          <a:effectLst/>
        </c:spPr>
        <c:marker>
          <c:symbol val="circle"/>
          <c:size val="12"/>
          <c:spPr>
            <a:solidFill>
              <a:srgbClr val="C00000"/>
            </a:solidFill>
            <a:ln w="9525">
              <a:solidFill>
                <a:schemeClr val="bg1"/>
              </a:solidFill>
            </a:ln>
            <a:effectLst/>
          </c:spPr>
        </c:marker>
      </c:pivotFmt>
      <c:pivotFmt>
        <c:idx val="14"/>
        <c:spPr>
          <a:solidFill>
            <a:schemeClr val="accent1"/>
          </a:solidFill>
          <a:ln w="53975" cap="rnd">
            <a:noFill/>
            <a:round/>
          </a:ln>
          <a:effectLst/>
        </c:spPr>
        <c:marker>
          <c:symbol val="circle"/>
          <c:size val="12"/>
          <c:spPr>
            <a:solidFill>
              <a:srgbClr val="C00000"/>
            </a:solidFill>
            <a:ln w="9525">
              <a:solidFill>
                <a:schemeClr val="bg1"/>
              </a:solidFill>
            </a:ln>
            <a:effectLst/>
          </c:spPr>
        </c:marker>
      </c:pivotFmt>
      <c:pivotFmt>
        <c:idx val="15"/>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w="73025" cap="rnd">
            <a:noFill/>
            <a:round/>
          </a:ln>
          <a:effectLst/>
        </c:spPr>
        <c:marker>
          <c:symbol val="triangle"/>
          <c:size val="12"/>
          <c:spPr>
            <a:solidFill>
              <a:srgbClr val="FF9900"/>
            </a:solidFill>
            <a:ln w="9525">
              <a:solidFill>
                <a:schemeClr val="accent3"/>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FF9900"/>
                  </a:solidFill>
                  <a:latin typeface="Comic Sans MS" panose="030F0702030302020204" pitchFamily="66"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7"/>
        <c:spPr>
          <a:solidFill>
            <a:srgbClr val="002F6C"/>
          </a:solidFill>
          <a:ln>
            <a:noFill/>
          </a:ln>
          <a:effectLst/>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1200" b="1" i="0" u="none" strike="noStrike" kern="1200" baseline="0">
                  <a:solidFill>
                    <a:schemeClr val="bg1"/>
                  </a:solidFill>
                  <a:latin typeface="Comic Sans MS" panose="030F0702030302020204" pitchFamily="66" charset="0"/>
                  <a:ea typeface="+mn-ea"/>
                  <a:cs typeface="+mn-cs"/>
                </a:defRPr>
              </a:pPr>
              <a:endParaRPr lang="en-US"/>
            </a:p>
          </c:txPr>
          <c:dLblPos val="inBase"/>
          <c:showLegendKey val="0"/>
          <c:showVal val="1"/>
          <c:showCatName val="0"/>
          <c:showSerName val="0"/>
          <c:showPercent val="0"/>
          <c:showBubbleSize val="0"/>
          <c:extLst>
            <c:ext xmlns:c15="http://schemas.microsoft.com/office/drawing/2012/chart" uri="{CE6537A1-D6FC-4f65-9D91-7224C49458BB}"/>
          </c:extLst>
        </c:dLbl>
      </c:pivotFmt>
      <c:pivotFmt>
        <c:idx val="18"/>
        <c:spPr>
          <a:solidFill>
            <a:schemeClr val="accent1"/>
          </a:solidFill>
          <a:ln w="53975" cap="rnd">
            <a:noFill/>
            <a:round/>
          </a:ln>
          <a:effectLst/>
        </c:spPr>
        <c:marker>
          <c:symbol val="circle"/>
          <c:size val="12"/>
          <c:spPr>
            <a:solidFill>
              <a:srgbClr val="C00000"/>
            </a:solidFill>
            <a:ln w="9525">
              <a:solidFill>
                <a:schemeClr val="bg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9"/>
        <c:spPr>
          <a:solidFill>
            <a:schemeClr val="accent1"/>
          </a:solidFill>
          <a:ln w="73025" cap="rnd">
            <a:noFill/>
            <a:round/>
          </a:ln>
          <a:effectLst/>
        </c:spPr>
        <c:marker>
          <c:symbol val="triangle"/>
          <c:size val="12"/>
          <c:spPr>
            <a:solidFill>
              <a:srgbClr val="FF9900"/>
            </a:solidFill>
            <a:ln w="9525">
              <a:solidFill>
                <a:schemeClr val="accent3"/>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FF9900"/>
                  </a:solidFill>
                  <a:latin typeface="Comic Sans MS" panose="030F0702030302020204" pitchFamily="66"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0"/>
        <c:spPr>
          <a:solidFill>
            <a:srgbClr val="002F6C"/>
          </a:solidFill>
          <a:ln>
            <a:noFill/>
          </a:ln>
          <a:effectLst/>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1200" b="1" i="0" u="none" strike="noStrike" kern="1200" baseline="0">
                  <a:solidFill>
                    <a:schemeClr val="bg1"/>
                  </a:solidFill>
                  <a:latin typeface="Comic Sans MS" panose="030F0702030302020204" pitchFamily="66" charset="0"/>
                  <a:ea typeface="+mn-ea"/>
                  <a:cs typeface="+mn-cs"/>
                </a:defRPr>
              </a:pPr>
              <a:endParaRPr lang="en-US"/>
            </a:p>
          </c:txPr>
          <c:dLblPos val="inBase"/>
          <c:showLegendKey val="0"/>
          <c:showVal val="1"/>
          <c:showCatName val="0"/>
          <c:showSerName val="0"/>
          <c:showPercent val="0"/>
          <c:showBubbleSize val="0"/>
          <c:extLst>
            <c:ext xmlns:c15="http://schemas.microsoft.com/office/drawing/2012/chart" uri="{CE6537A1-D6FC-4f65-9D91-7224C49458BB}"/>
          </c:extLst>
        </c:dLbl>
      </c:pivotFmt>
      <c:pivotFmt>
        <c:idx val="21"/>
        <c:spPr>
          <a:solidFill>
            <a:schemeClr val="accent1"/>
          </a:solidFill>
          <a:ln w="53975" cap="rnd">
            <a:noFill/>
            <a:round/>
          </a:ln>
          <a:effectLst/>
        </c:spPr>
        <c:marker>
          <c:symbol val="circle"/>
          <c:size val="12"/>
          <c:spPr>
            <a:solidFill>
              <a:srgbClr val="C00000"/>
            </a:solidFill>
            <a:ln w="9525">
              <a:solidFill>
                <a:schemeClr val="bg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2"/>
        <c:spPr>
          <a:solidFill>
            <a:schemeClr val="accent1"/>
          </a:solidFill>
          <a:ln w="73025" cap="rnd">
            <a:noFill/>
            <a:round/>
          </a:ln>
          <a:effectLst/>
        </c:spPr>
        <c:marker>
          <c:symbol val="triangle"/>
          <c:size val="12"/>
          <c:spPr>
            <a:solidFill>
              <a:srgbClr val="FF9900"/>
            </a:solidFill>
            <a:ln w="9525">
              <a:solidFill>
                <a:schemeClr val="accent3"/>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FF9900"/>
                  </a:solidFill>
                  <a:latin typeface="Comic Sans MS" panose="030F0702030302020204" pitchFamily="66"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'DSTB Cases vs Proportion CHPs'!$C$9</c:f>
              <c:strCache>
                <c:ptCount val="1"/>
                <c:pt idx="0">
                  <c:v>Cases Diagnosed</c:v>
                </c:pt>
              </c:strCache>
            </c:strRef>
          </c:tx>
          <c:spPr>
            <a:solidFill>
              <a:srgbClr val="002F6C"/>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200" b="1" i="0" u="none" strike="noStrike" kern="1200" baseline="0">
                    <a:solidFill>
                      <a:schemeClr val="bg1"/>
                    </a:solidFill>
                    <a:latin typeface="Comic Sans MS" panose="030F0702030302020204" pitchFamily="66" charset="0"/>
                    <a:ea typeface="+mn-ea"/>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'DSTB Cases vs Proportion CHPs'!$B$10:$B$20</c:f>
              <c:strCache>
                <c:ptCount val="10"/>
                <c:pt idx="0">
                  <c:v>Jan-Mar 2023</c:v>
                </c:pt>
                <c:pt idx="1">
                  <c:v>Apr-Jun 2023</c:v>
                </c:pt>
                <c:pt idx="2">
                  <c:v>Jul-Sep 2023</c:v>
                </c:pt>
                <c:pt idx="3">
                  <c:v>Oct-Dec 2023</c:v>
                </c:pt>
                <c:pt idx="4">
                  <c:v>Jan-Mar 2024</c:v>
                </c:pt>
                <c:pt idx="5">
                  <c:v>Apr-Jun 2024</c:v>
                </c:pt>
                <c:pt idx="6">
                  <c:v>Jul-Sep 2024</c:v>
                </c:pt>
                <c:pt idx="7">
                  <c:v>Oct-Dec 2024</c:v>
                </c:pt>
                <c:pt idx="8">
                  <c:v>Jan-Mar 2025</c:v>
                </c:pt>
                <c:pt idx="9">
                  <c:v>Apr-Jun 2025</c:v>
                </c:pt>
              </c:strCache>
            </c:strRef>
          </c:cat>
          <c:val>
            <c:numRef>
              <c:f>'DSTB Cases vs Proportion CHPs'!$C$10:$C$20</c:f>
              <c:numCache>
                <c:formatCode>#,##0</c:formatCode>
                <c:ptCount val="10"/>
                <c:pt idx="0">
                  <c:v>25755</c:v>
                </c:pt>
                <c:pt idx="1">
                  <c:v>26524</c:v>
                </c:pt>
                <c:pt idx="2">
                  <c:v>24553</c:v>
                </c:pt>
                <c:pt idx="3">
                  <c:v>20923</c:v>
                </c:pt>
                <c:pt idx="4">
                  <c:v>25683</c:v>
                </c:pt>
                <c:pt idx="5">
                  <c:v>24091</c:v>
                </c:pt>
                <c:pt idx="6">
                  <c:v>25691</c:v>
                </c:pt>
                <c:pt idx="7">
                  <c:v>22132</c:v>
                </c:pt>
                <c:pt idx="8">
                  <c:v>20758</c:v>
                </c:pt>
                <c:pt idx="9">
                  <c:v>23894</c:v>
                </c:pt>
              </c:numCache>
            </c:numRef>
          </c:val>
          <c:extLst>
            <c:ext xmlns:c16="http://schemas.microsoft.com/office/drawing/2014/chart" uri="{C3380CC4-5D6E-409C-BE32-E72D297353CC}">
              <c16:uniqueId val="{00000000-1C02-A348-9874-9A2CF33E1CF7}"/>
            </c:ext>
          </c:extLst>
        </c:ser>
        <c:dLbls>
          <c:showLegendKey val="0"/>
          <c:showVal val="0"/>
          <c:showCatName val="0"/>
          <c:showSerName val="0"/>
          <c:showPercent val="0"/>
          <c:showBubbleSize val="0"/>
        </c:dLbls>
        <c:gapWidth val="100"/>
        <c:overlap val="-2"/>
        <c:axId val="4434944"/>
        <c:axId val="4431104"/>
      </c:barChart>
      <c:lineChart>
        <c:grouping val="standard"/>
        <c:varyColors val="0"/>
        <c:ser>
          <c:idx val="1"/>
          <c:order val="1"/>
          <c:tx>
            <c:strRef>
              <c:f>'DSTB Cases vs Proportion CHPs'!$D$9</c:f>
              <c:strCache>
                <c:ptCount val="1"/>
                <c:pt idx="0">
                  <c:v>% Cases Referred by CHPs</c:v>
                </c:pt>
              </c:strCache>
            </c:strRef>
          </c:tx>
          <c:spPr>
            <a:ln w="53975" cap="rnd">
              <a:noFill/>
              <a:round/>
            </a:ln>
            <a:effectLst/>
          </c:spPr>
          <c:marker>
            <c:symbol val="circle"/>
            <c:size val="12"/>
            <c:spPr>
              <a:solidFill>
                <a:srgbClr val="C00000"/>
              </a:solidFill>
              <a:ln w="9525">
                <a:solidFill>
                  <a:schemeClr val="bg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'DSTB Cases vs Proportion CHPs'!$B$10:$B$20</c:f>
              <c:strCache>
                <c:ptCount val="10"/>
                <c:pt idx="0">
                  <c:v>Jan-Mar 2023</c:v>
                </c:pt>
                <c:pt idx="1">
                  <c:v>Apr-Jun 2023</c:v>
                </c:pt>
                <c:pt idx="2">
                  <c:v>Jul-Sep 2023</c:v>
                </c:pt>
                <c:pt idx="3">
                  <c:v>Oct-Dec 2023</c:v>
                </c:pt>
                <c:pt idx="4">
                  <c:v>Jan-Mar 2024</c:v>
                </c:pt>
                <c:pt idx="5">
                  <c:v>Apr-Jun 2024</c:v>
                </c:pt>
                <c:pt idx="6">
                  <c:v>Jul-Sep 2024</c:v>
                </c:pt>
                <c:pt idx="7">
                  <c:v>Oct-Dec 2024</c:v>
                </c:pt>
                <c:pt idx="8">
                  <c:v>Jan-Mar 2025</c:v>
                </c:pt>
                <c:pt idx="9">
                  <c:v>Apr-Jun 2025</c:v>
                </c:pt>
              </c:strCache>
            </c:strRef>
          </c:cat>
          <c:val>
            <c:numRef>
              <c:f>'DSTB Cases vs Proportion CHPs'!$D$10:$D$20</c:f>
              <c:numCache>
                <c:formatCode>0.0%;\-0.0%;0.0%</c:formatCode>
                <c:ptCount val="10"/>
                <c:pt idx="0">
                  <c:v>0.11174529217627645</c:v>
                </c:pt>
                <c:pt idx="1">
                  <c:v>0.11649826572161062</c:v>
                </c:pt>
                <c:pt idx="2">
                  <c:v>0.10585264529792693</c:v>
                </c:pt>
                <c:pt idx="3">
                  <c:v>0.1034746451273718</c:v>
                </c:pt>
                <c:pt idx="4">
                  <c:v>0.11595218627107425</c:v>
                </c:pt>
                <c:pt idx="5">
                  <c:v>0.12971649163588062</c:v>
                </c:pt>
                <c:pt idx="6">
                  <c:v>8.7696080339418475E-2</c:v>
                </c:pt>
                <c:pt idx="7">
                  <c:v>8.8378818001084408E-2</c:v>
                </c:pt>
                <c:pt idx="8">
                  <c:v>7.7897678003661236E-2</c:v>
                </c:pt>
                <c:pt idx="9">
                  <c:v>0.10550765882648364</c:v>
                </c:pt>
              </c:numCache>
            </c:numRef>
          </c:val>
          <c:smooth val="0"/>
          <c:extLst>
            <c:ext xmlns:c16="http://schemas.microsoft.com/office/drawing/2014/chart" uri="{C3380CC4-5D6E-409C-BE32-E72D297353CC}">
              <c16:uniqueId val="{00000001-1C02-A348-9874-9A2CF33E1CF7}"/>
            </c:ext>
          </c:extLst>
        </c:ser>
        <c:dLbls>
          <c:showLegendKey val="0"/>
          <c:showVal val="0"/>
          <c:showCatName val="0"/>
          <c:showSerName val="0"/>
          <c:showPercent val="0"/>
          <c:showBubbleSize val="0"/>
        </c:dLbls>
        <c:marker val="1"/>
        <c:smooth val="0"/>
        <c:axId val="906133008"/>
        <c:axId val="906133968"/>
      </c:lineChart>
      <c:catAx>
        <c:axId val="4434944"/>
        <c:scaling>
          <c:orientation val="minMax"/>
        </c:scaling>
        <c:delete val="0"/>
        <c:axPos val="b"/>
        <c:numFmt formatCode="General" sourceLinked="1"/>
        <c:majorTickMark val="none"/>
        <c:minorTickMark val="none"/>
        <c:tickLblPos val="nextTo"/>
        <c:spPr>
          <a:noFill/>
          <a:ln w="9525" cap="flat" cmpd="sng" algn="ctr">
            <a:solidFill>
              <a:srgbClr val="002F6C"/>
            </a:solidFill>
            <a:round/>
          </a:ln>
          <a:effectLst/>
        </c:spPr>
        <c:txPr>
          <a:bodyPr rot="-60000000" spcFirstLastPara="1" vertOverflow="ellipsis" vert="horz" wrap="square" anchor="ctr" anchorCtr="1"/>
          <a:lstStyle/>
          <a:p>
            <a:pPr>
              <a:defRPr sz="1200" b="1"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crossAx val="4431104"/>
        <c:crosses val="autoZero"/>
        <c:auto val="1"/>
        <c:lblAlgn val="ctr"/>
        <c:lblOffset val="100"/>
        <c:noMultiLvlLbl val="0"/>
      </c:catAx>
      <c:valAx>
        <c:axId val="4431104"/>
        <c:scaling>
          <c:orientation val="minMax"/>
        </c:scaling>
        <c:delete val="0"/>
        <c:axPos val="l"/>
        <c:majorGridlines>
          <c:spPr>
            <a:ln w="9525" cap="flat" cmpd="sng" algn="ctr">
              <a:solidFill>
                <a:schemeClr val="tx1">
                  <a:lumMod val="15000"/>
                  <a:lumOff val="85000"/>
                </a:schemeClr>
              </a:solidFill>
              <a:prstDash val="sysDot"/>
              <a:round/>
            </a:ln>
            <a:effectLst/>
          </c:spPr>
        </c:majorGridlines>
        <c:title>
          <c:tx>
            <c:rich>
              <a:bodyPr rot="-5400000" spcFirstLastPara="1" vertOverflow="ellipsis" vert="horz" wrap="square" anchor="ctr" anchorCtr="1"/>
              <a:lstStyle/>
              <a:p>
                <a:pPr>
                  <a:defRPr sz="1200" b="0" i="1" u="none" strike="noStrike" kern="1200" baseline="0">
                    <a:solidFill>
                      <a:schemeClr val="tx1">
                        <a:lumMod val="95000"/>
                        <a:lumOff val="5000"/>
                      </a:schemeClr>
                    </a:solidFill>
                    <a:latin typeface="Comic Sans MS" panose="030F0702030302020204" pitchFamily="66" charset="0"/>
                    <a:ea typeface="+mn-ea"/>
                    <a:cs typeface="+mn-cs"/>
                  </a:defRPr>
                </a:pPr>
                <a:r>
                  <a:rPr lang="en-US" i="1"/>
                  <a:t>Number of DS TB Cases Diagnosed</a:t>
                </a:r>
              </a:p>
            </c:rich>
          </c:tx>
          <c:layout/>
          <c:overlay val="0"/>
          <c:spPr>
            <a:noFill/>
            <a:ln>
              <a:noFill/>
            </a:ln>
            <a:effectLst/>
          </c:spPr>
          <c:txPr>
            <a:bodyPr rot="-5400000" spcFirstLastPara="1" vertOverflow="ellipsis" vert="horz" wrap="square" anchor="ctr" anchorCtr="1"/>
            <a:lstStyle/>
            <a:p>
              <a:pPr>
                <a:defRPr sz="1200" b="0" i="1"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title>
        <c:numFmt formatCode="#,##0" sourceLinked="1"/>
        <c:majorTickMark val="none"/>
        <c:minorTickMark val="none"/>
        <c:tickLblPos val="nextTo"/>
        <c:spPr>
          <a:noFill/>
          <a:ln>
            <a:solidFill>
              <a:srgbClr val="002F6C"/>
            </a:solidFill>
          </a:ln>
          <a:effectLst/>
        </c:spPr>
        <c:txPr>
          <a:bodyPr rot="-60000000" spcFirstLastPara="1" vertOverflow="ellipsis" vert="horz" wrap="square" anchor="ctr" anchorCtr="1"/>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crossAx val="4434944"/>
        <c:crosses val="autoZero"/>
        <c:crossBetween val="between"/>
      </c:valAx>
      <c:valAx>
        <c:axId val="906133968"/>
        <c:scaling>
          <c:orientation val="minMax"/>
          <c:max val="0.22000000000000003"/>
          <c:min val="-0.48000000000000004"/>
        </c:scaling>
        <c:delete val="0"/>
        <c:axPos val="r"/>
        <c:title>
          <c:tx>
            <c:rich>
              <a:bodyPr rot="-5400000" spcFirstLastPara="1" vertOverflow="ellipsis" vert="horz" wrap="square" anchor="ctr" anchorCtr="1"/>
              <a:lstStyle/>
              <a:p>
                <a:pPr>
                  <a:defRPr sz="1200" b="0" i="1" u="none" strike="noStrike" kern="1200" baseline="0">
                    <a:solidFill>
                      <a:schemeClr val="tx1">
                        <a:lumMod val="95000"/>
                        <a:lumOff val="5000"/>
                      </a:schemeClr>
                    </a:solidFill>
                    <a:latin typeface="Comic Sans MS" panose="030F0702030302020204" pitchFamily="66" charset="0"/>
                    <a:ea typeface="+mn-ea"/>
                    <a:cs typeface="+mn-cs"/>
                  </a:defRPr>
                </a:pPr>
                <a:r>
                  <a:rPr lang="en-US" i="1"/>
                  <a:t>Proportion of DS TB Cases Diagnosed</a:t>
                </a:r>
              </a:p>
            </c:rich>
          </c:tx>
          <c:layout/>
          <c:overlay val="0"/>
          <c:spPr>
            <a:noFill/>
            <a:ln>
              <a:noFill/>
            </a:ln>
            <a:effectLst/>
          </c:spPr>
          <c:txPr>
            <a:bodyPr rot="-5400000" spcFirstLastPara="1" vertOverflow="ellipsis" vert="horz" wrap="square" anchor="ctr" anchorCtr="1"/>
            <a:lstStyle/>
            <a:p>
              <a:pPr>
                <a:defRPr sz="1200" b="0" i="1"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title>
        <c:numFmt formatCode="0.0%;\-0.0%;0.0%" sourceLinked="1"/>
        <c:majorTickMark val="out"/>
        <c:minorTickMark val="none"/>
        <c:tickLblPos val="nextTo"/>
        <c:spPr>
          <a:noFill/>
          <a:ln>
            <a:solidFill>
              <a:srgbClr val="002F6C"/>
            </a:solidFill>
          </a:ln>
          <a:effectLst/>
        </c:spPr>
        <c:txPr>
          <a:bodyPr rot="-60000000" spcFirstLastPara="1" vertOverflow="ellipsis" vert="horz" wrap="square" anchor="ctr" anchorCtr="1"/>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crossAx val="906133008"/>
        <c:crosses val="max"/>
        <c:crossBetween val="between"/>
      </c:valAx>
      <c:catAx>
        <c:axId val="906133008"/>
        <c:scaling>
          <c:orientation val="minMax"/>
        </c:scaling>
        <c:delete val="1"/>
        <c:axPos val="b"/>
        <c:numFmt formatCode="General" sourceLinked="1"/>
        <c:majorTickMark val="out"/>
        <c:minorTickMark val="none"/>
        <c:tickLblPos val="nextTo"/>
        <c:crossAx val="906133968"/>
        <c:crosses val="autoZero"/>
        <c:auto val="1"/>
        <c:lblAlgn val="ctr"/>
        <c:lblOffset val="100"/>
        <c:noMultiLvlLbl val="0"/>
      </c:catAx>
      <c:spPr>
        <a:noFill/>
        <a:ln>
          <a:solidFill>
            <a:srgbClr val="002F6C"/>
          </a:solidFill>
        </a:ln>
        <a:effectLst/>
      </c:spPr>
    </c:plotArea>
    <c:legend>
      <c:legendPos val="t"/>
      <c:layout/>
      <c:overlay val="0"/>
      <c:spPr>
        <a:solidFill>
          <a:schemeClr val="bg1"/>
        </a:solidFill>
        <a:ln>
          <a:noFill/>
        </a:ln>
        <a:effectLst/>
      </c:spPr>
      <c:txPr>
        <a:bodyPr rot="0" spcFirstLastPara="1" vertOverflow="ellipsis" vert="horz" wrap="square" anchor="ctr" anchorCtr="1"/>
        <a:lstStyle/>
        <a:p>
          <a:pPr>
            <a:defRPr sz="1000" b="1"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19050" cap="flat" cmpd="sng" algn="ctr">
      <a:solidFill>
        <a:srgbClr val="002F6C"/>
      </a:solidFill>
      <a:round/>
    </a:ln>
    <a:effectLst/>
  </c:spPr>
  <c:txPr>
    <a:bodyPr/>
    <a:lstStyle/>
    <a:p>
      <a:pPr>
        <a:defRPr sz="1200">
          <a:solidFill>
            <a:schemeClr val="tx1">
              <a:lumMod val="95000"/>
              <a:lumOff val="5000"/>
            </a:schemeClr>
          </a:solidFill>
          <a:latin typeface="Comic Sans MS" panose="030F0702030302020204" pitchFamily="66"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'DSTB Cases by KEPHs '!$C$31</c:f>
              <c:strCache>
                <c:ptCount val="1"/>
                <c:pt idx="0">
                  <c:v>Level 2</c:v>
                </c:pt>
              </c:strCache>
            </c:strRef>
          </c:tx>
          <c:spPr>
            <a:ln w="76200" cap="rnd">
              <a:solidFill>
                <a:schemeClr val="accent1"/>
              </a:solidFill>
              <a:round/>
            </a:ln>
            <a:effectLst/>
          </c:spPr>
          <c:marker>
            <c:symbol val="star"/>
            <c:size val="5"/>
            <c:spPr>
              <a:solidFill>
                <a:schemeClr val="accent1"/>
              </a:solidFill>
              <a:ln w="101600">
                <a:solidFill>
                  <a:schemeClr val="accent1"/>
                </a:solidFill>
              </a:ln>
              <a:effectLst/>
            </c:spPr>
          </c:marker>
          <c:dLbls>
            <c:spPr>
              <a:noFill/>
              <a:ln>
                <a:noFill/>
              </a:ln>
              <a:effectLst/>
            </c:spPr>
            <c:txPr>
              <a:bodyPr rot="0" spcFirstLastPara="1" vertOverflow="ellipsis" vert="horz" wrap="square" anchor="ctr" anchorCtr="1"/>
              <a:lstStyle/>
              <a:p>
                <a:pPr>
                  <a:defRPr sz="10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'DSTB Cases by KEPHs '!$B$32:$B$41</c:f>
              <c:strCache>
                <c:ptCount val="10"/>
                <c:pt idx="0">
                  <c:v>Jan-Mar 2023</c:v>
                </c:pt>
                <c:pt idx="1">
                  <c:v>Apr-Jun 2023</c:v>
                </c:pt>
                <c:pt idx="2">
                  <c:v>Jul-Sep 2023</c:v>
                </c:pt>
                <c:pt idx="3">
                  <c:v>Oct-Dec 2023</c:v>
                </c:pt>
                <c:pt idx="4">
                  <c:v>Jan-Mar 2024</c:v>
                </c:pt>
                <c:pt idx="5">
                  <c:v>Apr-Jun 2024</c:v>
                </c:pt>
                <c:pt idx="6">
                  <c:v>Jul-Sep 2024</c:v>
                </c:pt>
                <c:pt idx="7">
                  <c:v>Oct-Dec 2024</c:v>
                </c:pt>
                <c:pt idx="8">
                  <c:v>Jan-Mar 2025</c:v>
                </c:pt>
                <c:pt idx="9">
                  <c:v>Apr-Jun 2025</c:v>
                </c:pt>
              </c:strCache>
            </c:strRef>
          </c:cat>
          <c:val>
            <c:numRef>
              <c:f>'DSTB Cases by KEPHs '!$C$32:$C$41</c:f>
              <c:numCache>
                <c:formatCode>#,##0</c:formatCode>
                <c:ptCount val="10"/>
                <c:pt idx="0">
                  <c:v>17461</c:v>
                </c:pt>
                <c:pt idx="1">
                  <c:v>17968</c:v>
                </c:pt>
                <c:pt idx="2">
                  <c:v>16455</c:v>
                </c:pt>
                <c:pt idx="3">
                  <c:v>13891</c:v>
                </c:pt>
                <c:pt idx="4">
                  <c:v>17252</c:v>
                </c:pt>
                <c:pt idx="5">
                  <c:v>16221</c:v>
                </c:pt>
                <c:pt idx="6">
                  <c:v>17255</c:v>
                </c:pt>
                <c:pt idx="7">
                  <c:v>14818</c:v>
                </c:pt>
                <c:pt idx="8">
                  <c:v>14160</c:v>
                </c:pt>
                <c:pt idx="9">
                  <c:v>16093</c:v>
                </c:pt>
              </c:numCache>
            </c:numRef>
          </c:val>
          <c:smooth val="0"/>
          <c:extLst>
            <c:ext xmlns:c16="http://schemas.microsoft.com/office/drawing/2014/chart" uri="{C3380CC4-5D6E-409C-BE32-E72D297353CC}">
              <c16:uniqueId val="{00000000-BE65-A34E-93E0-FA18E0EE3254}"/>
            </c:ext>
          </c:extLst>
        </c:ser>
        <c:ser>
          <c:idx val="1"/>
          <c:order val="1"/>
          <c:tx>
            <c:strRef>
              <c:f>'DSTB Cases by KEPHs '!$D$31</c:f>
              <c:strCache>
                <c:ptCount val="1"/>
                <c:pt idx="0">
                  <c:v>Level 3</c:v>
                </c:pt>
              </c:strCache>
            </c:strRef>
          </c:tx>
          <c:spPr>
            <a:ln w="76200" cap="rnd">
              <a:solidFill>
                <a:schemeClr val="accent2"/>
              </a:solidFill>
              <a:round/>
            </a:ln>
            <a:effectLst/>
          </c:spPr>
          <c:marker>
            <c:symbol val="circle"/>
            <c:size val="8"/>
            <c:spPr>
              <a:solidFill>
                <a:schemeClr val="accent2"/>
              </a:solidFill>
              <a:ln w="9525">
                <a:solidFill>
                  <a:schemeClr val="bg1"/>
                </a:solidFill>
              </a:ln>
              <a:effectLst/>
            </c:spPr>
          </c:marker>
          <c:dLbls>
            <c:spPr>
              <a:noFill/>
              <a:ln>
                <a:noFill/>
              </a:ln>
              <a:effectLst/>
            </c:spPr>
            <c:txPr>
              <a:bodyPr rot="0" spcFirstLastPara="1" vertOverflow="ellipsis" vert="horz" wrap="square" anchor="ctr" anchorCtr="1"/>
              <a:lstStyle/>
              <a:p>
                <a:pPr>
                  <a:defRPr sz="10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'DSTB Cases by KEPHs '!$B$32:$B$41</c:f>
              <c:strCache>
                <c:ptCount val="10"/>
                <c:pt idx="0">
                  <c:v>Jan-Mar 2023</c:v>
                </c:pt>
                <c:pt idx="1">
                  <c:v>Apr-Jun 2023</c:v>
                </c:pt>
                <c:pt idx="2">
                  <c:v>Jul-Sep 2023</c:v>
                </c:pt>
                <c:pt idx="3">
                  <c:v>Oct-Dec 2023</c:v>
                </c:pt>
                <c:pt idx="4">
                  <c:v>Jan-Mar 2024</c:v>
                </c:pt>
                <c:pt idx="5">
                  <c:v>Apr-Jun 2024</c:v>
                </c:pt>
                <c:pt idx="6">
                  <c:v>Jul-Sep 2024</c:v>
                </c:pt>
                <c:pt idx="7">
                  <c:v>Oct-Dec 2024</c:v>
                </c:pt>
                <c:pt idx="8">
                  <c:v>Jan-Mar 2025</c:v>
                </c:pt>
                <c:pt idx="9">
                  <c:v>Apr-Jun 2025</c:v>
                </c:pt>
              </c:strCache>
            </c:strRef>
          </c:cat>
          <c:val>
            <c:numRef>
              <c:f>'DSTB Cases by KEPHs '!$D$32:$D$41</c:f>
              <c:numCache>
                <c:formatCode>#,##0</c:formatCode>
                <c:ptCount val="10"/>
                <c:pt idx="0">
                  <c:v>5418</c:v>
                </c:pt>
                <c:pt idx="1">
                  <c:v>5490</c:v>
                </c:pt>
                <c:pt idx="2">
                  <c:v>5288</c:v>
                </c:pt>
                <c:pt idx="3">
                  <c:v>4596</c:v>
                </c:pt>
                <c:pt idx="4">
                  <c:v>5557</c:v>
                </c:pt>
                <c:pt idx="5">
                  <c:v>5032</c:v>
                </c:pt>
                <c:pt idx="6">
                  <c:v>5471</c:v>
                </c:pt>
                <c:pt idx="7">
                  <c:v>4688</c:v>
                </c:pt>
                <c:pt idx="8">
                  <c:v>4252</c:v>
                </c:pt>
                <c:pt idx="9">
                  <c:v>5098</c:v>
                </c:pt>
              </c:numCache>
            </c:numRef>
          </c:val>
          <c:smooth val="0"/>
          <c:extLst>
            <c:ext xmlns:c16="http://schemas.microsoft.com/office/drawing/2014/chart" uri="{C3380CC4-5D6E-409C-BE32-E72D297353CC}">
              <c16:uniqueId val="{00000001-BE65-A34E-93E0-FA18E0EE3254}"/>
            </c:ext>
          </c:extLst>
        </c:ser>
        <c:ser>
          <c:idx val="2"/>
          <c:order val="2"/>
          <c:tx>
            <c:strRef>
              <c:f>'DSTB Cases by KEPHs '!$E$31</c:f>
              <c:strCache>
                <c:ptCount val="1"/>
                <c:pt idx="0">
                  <c:v>Level 4</c:v>
                </c:pt>
              </c:strCache>
            </c:strRef>
          </c:tx>
          <c:spPr>
            <a:ln w="76200" cap="rnd">
              <a:solidFill>
                <a:schemeClr val="accent3"/>
              </a:solidFill>
              <a:round/>
            </a:ln>
            <a:effectLst/>
          </c:spPr>
          <c:marker>
            <c:symbol val="circle"/>
            <c:size val="8"/>
            <c:spPr>
              <a:solidFill>
                <a:schemeClr val="accent3"/>
              </a:solidFill>
              <a:ln w="9525">
                <a:solidFill>
                  <a:schemeClr val="accent3"/>
                </a:solidFill>
              </a:ln>
              <a:effectLst/>
            </c:spPr>
          </c:marker>
          <c:dLbls>
            <c:spPr>
              <a:noFill/>
              <a:ln>
                <a:noFill/>
              </a:ln>
              <a:effectLst/>
            </c:spPr>
            <c:txPr>
              <a:bodyPr rot="0" spcFirstLastPara="1" vertOverflow="ellipsis" vert="horz" wrap="square" anchor="ctr" anchorCtr="1"/>
              <a:lstStyle/>
              <a:p>
                <a:pPr>
                  <a:defRPr sz="10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'DSTB Cases by KEPHs '!$B$32:$B$41</c:f>
              <c:strCache>
                <c:ptCount val="10"/>
                <c:pt idx="0">
                  <c:v>Jan-Mar 2023</c:v>
                </c:pt>
                <c:pt idx="1">
                  <c:v>Apr-Jun 2023</c:v>
                </c:pt>
                <c:pt idx="2">
                  <c:v>Jul-Sep 2023</c:v>
                </c:pt>
                <c:pt idx="3">
                  <c:v>Oct-Dec 2023</c:v>
                </c:pt>
                <c:pt idx="4">
                  <c:v>Jan-Mar 2024</c:v>
                </c:pt>
                <c:pt idx="5">
                  <c:v>Apr-Jun 2024</c:v>
                </c:pt>
                <c:pt idx="6">
                  <c:v>Jul-Sep 2024</c:v>
                </c:pt>
                <c:pt idx="7">
                  <c:v>Oct-Dec 2024</c:v>
                </c:pt>
                <c:pt idx="8">
                  <c:v>Jan-Mar 2025</c:v>
                </c:pt>
                <c:pt idx="9">
                  <c:v>Apr-Jun 2025</c:v>
                </c:pt>
              </c:strCache>
            </c:strRef>
          </c:cat>
          <c:val>
            <c:numRef>
              <c:f>'DSTB Cases by KEPHs '!$E$32:$E$41</c:f>
              <c:numCache>
                <c:formatCode>#,##0</c:formatCode>
                <c:ptCount val="10"/>
                <c:pt idx="0">
                  <c:v>2545</c:v>
                </c:pt>
                <c:pt idx="1">
                  <c:v>2658</c:v>
                </c:pt>
                <c:pt idx="2">
                  <c:v>2464</c:v>
                </c:pt>
                <c:pt idx="3">
                  <c:v>2173</c:v>
                </c:pt>
                <c:pt idx="4">
                  <c:v>2480</c:v>
                </c:pt>
                <c:pt idx="5">
                  <c:v>2487</c:v>
                </c:pt>
                <c:pt idx="6">
                  <c:v>2609</c:v>
                </c:pt>
                <c:pt idx="7">
                  <c:v>2294</c:v>
                </c:pt>
                <c:pt idx="8">
                  <c:v>2007</c:v>
                </c:pt>
                <c:pt idx="9">
                  <c:v>2329</c:v>
                </c:pt>
              </c:numCache>
            </c:numRef>
          </c:val>
          <c:smooth val="0"/>
          <c:extLst>
            <c:ext xmlns:c16="http://schemas.microsoft.com/office/drawing/2014/chart" uri="{C3380CC4-5D6E-409C-BE32-E72D297353CC}">
              <c16:uniqueId val="{00000002-BE65-A34E-93E0-FA18E0EE3254}"/>
            </c:ext>
          </c:extLst>
        </c:ser>
        <c:ser>
          <c:idx val="3"/>
          <c:order val="3"/>
          <c:tx>
            <c:strRef>
              <c:f>'DSTB Cases by KEPHs '!$F$31</c:f>
              <c:strCache>
                <c:ptCount val="1"/>
                <c:pt idx="0">
                  <c:v>Level 5</c:v>
                </c:pt>
              </c:strCache>
            </c:strRef>
          </c:tx>
          <c:spPr>
            <a:ln w="76200" cap="rnd">
              <a:solidFill>
                <a:schemeClr val="accent4"/>
              </a:solidFill>
              <a:round/>
            </a:ln>
            <a:effectLst/>
          </c:spPr>
          <c:marker>
            <c:symbol val="triangle"/>
            <c:size val="8"/>
            <c:spPr>
              <a:solidFill>
                <a:schemeClr val="accent4"/>
              </a:solidFill>
              <a:ln w="9525">
                <a:solidFill>
                  <a:schemeClr val="bg1"/>
                </a:solidFill>
              </a:ln>
              <a:effectLst/>
            </c:spPr>
          </c:marker>
          <c:cat>
            <c:strRef>
              <c:f>'DSTB Cases by KEPHs '!$B$32:$B$41</c:f>
              <c:strCache>
                <c:ptCount val="10"/>
                <c:pt idx="0">
                  <c:v>Jan-Mar 2023</c:v>
                </c:pt>
                <c:pt idx="1">
                  <c:v>Apr-Jun 2023</c:v>
                </c:pt>
                <c:pt idx="2">
                  <c:v>Jul-Sep 2023</c:v>
                </c:pt>
                <c:pt idx="3">
                  <c:v>Oct-Dec 2023</c:v>
                </c:pt>
                <c:pt idx="4">
                  <c:v>Jan-Mar 2024</c:v>
                </c:pt>
                <c:pt idx="5">
                  <c:v>Apr-Jun 2024</c:v>
                </c:pt>
                <c:pt idx="6">
                  <c:v>Jul-Sep 2024</c:v>
                </c:pt>
                <c:pt idx="7">
                  <c:v>Oct-Dec 2024</c:v>
                </c:pt>
                <c:pt idx="8">
                  <c:v>Jan-Mar 2025</c:v>
                </c:pt>
                <c:pt idx="9">
                  <c:v>Apr-Jun 2025</c:v>
                </c:pt>
              </c:strCache>
            </c:strRef>
          </c:cat>
          <c:val>
            <c:numRef>
              <c:f>'DSTB Cases by KEPHs '!$F$32:$F$41</c:f>
              <c:numCache>
                <c:formatCode>#,##0</c:formatCode>
                <c:ptCount val="10"/>
                <c:pt idx="0">
                  <c:v>322</c:v>
                </c:pt>
                <c:pt idx="1">
                  <c:v>403</c:v>
                </c:pt>
                <c:pt idx="2">
                  <c:v>341</c:v>
                </c:pt>
                <c:pt idx="3">
                  <c:v>257</c:v>
                </c:pt>
                <c:pt idx="4">
                  <c:v>392</c:v>
                </c:pt>
                <c:pt idx="5">
                  <c:v>339</c:v>
                </c:pt>
                <c:pt idx="6">
                  <c:v>348</c:v>
                </c:pt>
                <c:pt idx="7">
                  <c:v>317</c:v>
                </c:pt>
                <c:pt idx="8">
                  <c:v>334</c:v>
                </c:pt>
                <c:pt idx="9">
                  <c:v>368</c:v>
                </c:pt>
              </c:numCache>
            </c:numRef>
          </c:val>
          <c:smooth val="0"/>
          <c:extLst>
            <c:ext xmlns:c16="http://schemas.microsoft.com/office/drawing/2014/chart" uri="{C3380CC4-5D6E-409C-BE32-E72D297353CC}">
              <c16:uniqueId val="{00000003-BE65-A34E-93E0-FA18E0EE3254}"/>
            </c:ext>
          </c:extLst>
        </c:ser>
        <c:ser>
          <c:idx val="4"/>
          <c:order val="4"/>
          <c:tx>
            <c:strRef>
              <c:f>'DSTB Cases by KEPHs '!$G$31</c:f>
              <c:strCache>
                <c:ptCount val="1"/>
                <c:pt idx="0">
                  <c:v>Level 6</c:v>
                </c:pt>
              </c:strCache>
            </c:strRef>
          </c:tx>
          <c:spPr>
            <a:ln w="76200" cap="rnd">
              <a:solidFill>
                <a:schemeClr val="accent5"/>
              </a:solidFill>
              <a:round/>
            </a:ln>
            <a:effectLst/>
          </c:spPr>
          <c:marker>
            <c:symbol val="diamond"/>
            <c:size val="8"/>
            <c:spPr>
              <a:solidFill>
                <a:schemeClr val="accent5"/>
              </a:solidFill>
              <a:ln w="9525">
                <a:solidFill>
                  <a:schemeClr val="bg1"/>
                </a:solidFill>
              </a:ln>
              <a:effectLst/>
            </c:spPr>
          </c:marker>
          <c:cat>
            <c:strRef>
              <c:f>'DSTB Cases by KEPHs '!$B$32:$B$41</c:f>
              <c:strCache>
                <c:ptCount val="10"/>
                <c:pt idx="0">
                  <c:v>Jan-Mar 2023</c:v>
                </c:pt>
                <c:pt idx="1">
                  <c:v>Apr-Jun 2023</c:v>
                </c:pt>
                <c:pt idx="2">
                  <c:v>Jul-Sep 2023</c:v>
                </c:pt>
                <c:pt idx="3">
                  <c:v>Oct-Dec 2023</c:v>
                </c:pt>
                <c:pt idx="4">
                  <c:v>Jan-Mar 2024</c:v>
                </c:pt>
                <c:pt idx="5">
                  <c:v>Apr-Jun 2024</c:v>
                </c:pt>
                <c:pt idx="6">
                  <c:v>Jul-Sep 2024</c:v>
                </c:pt>
                <c:pt idx="7">
                  <c:v>Oct-Dec 2024</c:v>
                </c:pt>
                <c:pt idx="8">
                  <c:v>Jan-Mar 2025</c:v>
                </c:pt>
                <c:pt idx="9">
                  <c:v>Apr-Jun 2025</c:v>
                </c:pt>
              </c:strCache>
            </c:strRef>
          </c:cat>
          <c:val>
            <c:numRef>
              <c:f>'DSTB Cases by KEPHs '!$G$32:$G$41</c:f>
              <c:numCache>
                <c:formatCode>#,##0</c:formatCode>
                <c:ptCount val="10"/>
                <c:pt idx="0">
                  <c:v>9</c:v>
                </c:pt>
                <c:pt idx="1">
                  <c:v>5</c:v>
                </c:pt>
                <c:pt idx="2">
                  <c:v>5</c:v>
                </c:pt>
                <c:pt idx="3">
                  <c:v>6</c:v>
                </c:pt>
                <c:pt idx="4">
                  <c:v>2</c:v>
                </c:pt>
                <c:pt idx="5">
                  <c:v>12</c:v>
                </c:pt>
                <c:pt idx="6">
                  <c:v>8</c:v>
                </c:pt>
                <c:pt idx="7">
                  <c:v>15</c:v>
                </c:pt>
                <c:pt idx="8">
                  <c:v>5</c:v>
                </c:pt>
                <c:pt idx="9">
                  <c:v>6</c:v>
                </c:pt>
              </c:numCache>
            </c:numRef>
          </c:val>
          <c:smooth val="0"/>
          <c:extLst>
            <c:ext xmlns:c16="http://schemas.microsoft.com/office/drawing/2014/chart" uri="{C3380CC4-5D6E-409C-BE32-E72D297353CC}">
              <c16:uniqueId val="{00000004-BE65-A34E-93E0-FA18E0EE3254}"/>
            </c:ext>
          </c:extLst>
        </c:ser>
        <c:ser>
          <c:idx val="5"/>
          <c:order val="5"/>
          <c:tx>
            <c:strRef>
              <c:f>'DSTB Cases by KEPHs '!$H$31</c:f>
              <c:strCache>
                <c:ptCount val="1"/>
                <c:pt idx="0">
                  <c:v>Total</c:v>
                </c:pt>
              </c:strCache>
            </c:strRef>
          </c:tx>
          <c:spPr>
            <a:ln w="76200" cap="rnd">
              <a:solidFill>
                <a:schemeClr val="accent6"/>
              </a:solidFill>
              <a:round/>
            </a:ln>
            <a:effectLst/>
          </c:spPr>
          <c:marker>
            <c:symbol val="circle"/>
            <c:size val="5"/>
            <c:spPr>
              <a:solidFill>
                <a:schemeClr val="accent6"/>
              </a:solidFill>
              <a:ln w="101600">
                <a:solidFill>
                  <a:schemeClr val="accent6"/>
                </a:solidFill>
              </a:ln>
              <a:effectLst/>
            </c:spPr>
          </c:marker>
          <c:dLbls>
            <c:spPr>
              <a:noFill/>
              <a:ln>
                <a:noFill/>
              </a:ln>
              <a:effectLst/>
            </c:spPr>
            <c:txPr>
              <a:bodyPr rot="0" spcFirstLastPara="1" vertOverflow="ellipsis" vert="horz" wrap="square" anchor="ctr" anchorCtr="1"/>
              <a:lstStyle/>
              <a:p>
                <a:pPr>
                  <a:defRPr sz="1000" b="1"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'DSTB Cases by KEPHs '!$B$32:$B$41</c:f>
              <c:strCache>
                <c:ptCount val="10"/>
                <c:pt idx="0">
                  <c:v>Jan-Mar 2023</c:v>
                </c:pt>
                <c:pt idx="1">
                  <c:v>Apr-Jun 2023</c:v>
                </c:pt>
                <c:pt idx="2">
                  <c:v>Jul-Sep 2023</c:v>
                </c:pt>
                <c:pt idx="3">
                  <c:v>Oct-Dec 2023</c:v>
                </c:pt>
                <c:pt idx="4">
                  <c:v>Jan-Mar 2024</c:v>
                </c:pt>
                <c:pt idx="5">
                  <c:v>Apr-Jun 2024</c:v>
                </c:pt>
                <c:pt idx="6">
                  <c:v>Jul-Sep 2024</c:v>
                </c:pt>
                <c:pt idx="7">
                  <c:v>Oct-Dec 2024</c:v>
                </c:pt>
                <c:pt idx="8">
                  <c:v>Jan-Mar 2025</c:v>
                </c:pt>
                <c:pt idx="9">
                  <c:v>Apr-Jun 2025</c:v>
                </c:pt>
              </c:strCache>
            </c:strRef>
          </c:cat>
          <c:val>
            <c:numRef>
              <c:f>'DSTB Cases by KEPHs '!$H$32:$H$41</c:f>
              <c:numCache>
                <c:formatCode>#,##0</c:formatCode>
                <c:ptCount val="10"/>
                <c:pt idx="0">
                  <c:v>25755</c:v>
                </c:pt>
                <c:pt idx="1">
                  <c:v>26524</c:v>
                </c:pt>
                <c:pt idx="2">
                  <c:v>24553</c:v>
                </c:pt>
                <c:pt idx="3">
                  <c:v>20923</c:v>
                </c:pt>
                <c:pt idx="4">
                  <c:v>25683</c:v>
                </c:pt>
                <c:pt idx="5">
                  <c:v>24091</c:v>
                </c:pt>
                <c:pt idx="6">
                  <c:v>25691</c:v>
                </c:pt>
                <c:pt idx="7">
                  <c:v>22132</c:v>
                </c:pt>
                <c:pt idx="8">
                  <c:v>20758</c:v>
                </c:pt>
                <c:pt idx="9">
                  <c:v>23894</c:v>
                </c:pt>
              </c:numCache>
            </c:numRef>
          </c:val>
          <c:smooth val="0"/>
          <c:extLst>
            <c:ext xmlns:c16="http://schemas.microsoft.com/office/drawing/2014/chart" uri="{C3380CC4-5D6E-409C-BE32-E72D297353CC}">
              <c16:uniqueId val="{00000005-BE65-A34E-93E0-FA18E0EE3254}"/>
            </c:ext>
          </c:extLst>
        </c:ser>
        <c:dLbls>
          <c:showLegendKey val="0"/>
          <c:showVal val="0"/>
          <c:showCatName val="0"/>
          <c:showSerName val="0"/>
          <c:showPercent val="0"/>
          <c:showBubbleSize val="0"/>
        </c:dLbls>
        <c:marker val="1"/>
        <c:smooth val="0"/>
        <c:axId val="1400515136"/>
        <c:axId val="963934272"/>
      </c:lineChart>
      <c:catAx>
        <c:axId val="1400515136"/>
        <c:scaling>
          <c:orientation val="minMax"/>
        </c:scaling>
        <c:delete val="0"/>
        <c:axPos val="b"/>
        <c:numFmt formatCode="General" sourceLinked="1"/>
        <c:majorTickMark val="none"/>
        <c:minorTickMark val="none"/>
        <c:tickLblPos val="nextTo"/>
        <c:spPr>
          <a:noFill/>
          <a:ln w="9525" cap="flat" cmpd="sng" algn="ctr">
            <a:solidFill>
              <a:srgbClr val="002F6C"/>
            </a:solidFill>
            <a:round/>
          </a:ln>
          <a:effectLst/>
        </c:spPr>
        <c:txPr>
          <a:bodyPr rot="-60000000" spcFirstLastPara="1" vertOverflow="ellipsis" vert="horz" wrap="square" anchor="ctr" anchorCtr="1"/>
          <a:lstStyle/>
          <a:p>
            <a:pPr>
              <a:defRPr sz="1200" b="1"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crossAx val="963934272"/>
        <c:crosses val="autoZero"/>
        <c:auto val="1"/>
        <c:lblAlgn val="ctr"/>
        <c:lblOffset val="100"/>
        <c:noMultiLvlLbl val="0"/>
      </c:catAx>
      <c:valAx>
        <c:axId val="963934272"/>
        <c:scaling>
          <c:orientation val="minMax"/>
        </c:scaling>
        <c:delete val="0"/>
        <c:axPos val="l"/>
        <c:majorGridlines>
          <c:spPr>
            <a:ln w="9525" cap="flat" cmpd="sng" algn="ctr">
              <a:solidFill>
                <a:schemeClr val="tx1">
                  <a:lumMod val="15000"/>
                  <a:lumOff val="85000"/>
                </a:schemeClr>
              </a:solidFill>
              <a:prstDash val="sysDot"/>
              <a:round/>
            </a:ln>
            <a:effectLst/>
          </c:spPr>
        </c:majorGridlines>
        <c:numFmt formatCode="#,##0" sourceLinked="1"/>
        <c:majorTickMark val="none"/>
        <c:minorTickMark val="none"/>
        <c:tickLblPos val="nextTo"/>
        <c:spPr>
          <a:noFill/>
          <a:ln>
            <a:solidFill>
              <a:srgbClr val="002F6C"/>
            </a:solidFill>
          </a:ln>
          <a:effectLst/>
        </c:spPr>
        <c:txPr>
          <a:bodyPr rot="-60000000" spcFirstLastPara="1" vertOverflow="ellipsis" vert="horz" wrap="square" anchor="ctr" anchorCtr="1"/>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crossAx val="1400515136"/>
        <c:crosses val="autoZero"/>
        <c:crossBetween val="between"/>
      </c:valAx>
      <c:spPr>
        <a:noFill/>
        <a:ln>
          <a:noFill/>
        </a:ln>
        <a:effectLst/>
      </c:spPr>
    </c:plotArea>
    <c:legend>
      <c:legendPos val="t"/>
      <c:layout>
        <c:manualLayout>
          <c:xMode val="edge"/>
          <c:yMode val="edge"/>
          <c:x val="0.2610239826845539"/>
          <c:y val="0"/>
          <c:w val="0.53381158582044419"/>
          <c:h val="6.6967794969930231E-2"/>
        </c:manualLayout>
      </c:layout>
      <c:overlay val="0"/>
      <c:spPr>
        <a:solidFill>
          <a:schemeClr val="bg1">
            <a:lumMod val="95000"/>
          </a:schemeClr>
        </a:solidFill>
        <a:ln>
          <a:noFill/>
        </a:ln>
        <a:effectLst/>
      </c:spPr>
      <c:txPr>
        <a:bodyPr rot="0" spcFirstLastPara="1" vertOverflow="ellipsis" vert="horz" wrap="square" anchor="ctr" anchorCtr="1"/>
        <a:lstStyle/>
        <a:p>
          <a:pPr>
            <a:defRPr sz="10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19050" cap="flat" cmpd="sng" algn="ctr">
      <a:solidFill>
        <a:srgbClr val="002F6C"/>
      </a:solidFill>
      <a:round/>
    </a:ln>
    <a:effectLst/>
  </c:spPr>
  <c:txPr>
    <a:bodyPr/>
    <a:lstStyle/>
    <a:p>
      <a:pPr>
        <a:defRPr sz="1200">
          <a:solidFill>
            <a:schemeClr val="tx1">
              <a:lumMod val="95000"/>
              <a:lumOff val="5000"/>
            </a:schemeClr>
          </a:solidFill>
          <a:latin typeface="Comic Sans MS" panose="030F0702030302020204" pitchFamily="66"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[DSTB_KEPHs2023_2025Q2 TI.xlsx]Prop DSTB Cases by KEPHs!PivotTable1</c:name>
    <c:fmtId val="-1"/>
  </c:pivotSource>
  <c:chart>
    <c:autoTitleDeleted val="1"/>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anchor="ctr" anchorCtr="1"/>
            <a:lstStyle/>
            <a:p>
              <a:pPr>
                <a:defRPr sz="9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anchor="ctr" anchorCtr="1"/>
            <a:lstStyle/>
            <a:p>
              <a:pPr>
                <a:defRPr sz="9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chemeClr val="accent3"/>
            </a:solidFill>
            <a:ln w="9525">
              <a:solidFill>
                <a:schemeClr val="accent3"/>
              </a:solidFill>
            </a:ln>
            <a:effectLst/>
          </c:spPr>
        </c:marker>
        <c:dLbl>
          <c:idx val="0"/>
          <c:spPr>
            <a:noFill/>
            <a:ln>
              <a:noFill/>
            </a:ln>
            <a:effectLst/>
          </c:spPr>
          <c:txPr>
            <a:bodyPr rot="0" spcFirstLastPara="1" vertOverflow="ellipsis" vert="horz" wrap="square" anchor="ctr" anchorCtr="1"/>
            <a:lstStyle/>
            <a:p>
              <a:pPr>
                <a:defRPr sz="9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circle"/>
          <c:size val="5"/>
          <c:spPr>
            <a:solidFill>
              <a:schemeClr val="accent4"/>
            </a:solidFill>
            <a:ln w="9525">
              <a:solidFill>
                <a:schemeClr val="accent4"/>
              </a:solidFill>
            </a:ln>
            <a:effectLst/>
          </c:spPr>
        </c:marker>
        <c:dLbl>
          <c:idx val="0"/>
          <c:spPr>
            <a:noFill/>
            <a:ln>
              <a:noFill/>
            </a:ln>
            <a:effectLst/>
          </c:spPr>
          <c:txPr>
            <a:bodyPr rot="0" spcFirstLastPara="1" vertOverflow="ellipsis" vert="horz" wrap="square" anchor="ctr" anchorCtr="1"/>
            <a:lstStyle/>
            <a:p>
              <a:pPr>
                <a:defRPr sz="9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circle"/>
          <c:size val="5"/>
          <c:spPr>
            <a:solidFill>
              <a:schemeClr val="accent5"/>
            </a:solidFill>
            <a:ln w="9525">
              <a:solidFill>
                <a:schemeClr val="accent5"/>
              </a:solidFill>
            </a:ln>
            <a:effectLst/>
          </c:spPr>
        </c:marker>
        <c:dLbl>
          <c:idx val="0"/>
          <c:spPr>
            <a:noFill/>
            <a:ln>
              <a:noFill/>
            </a:ln>
            <a:effectLst/>
          </c:spPr>
          <c:txPr>
            <a:bodyPr rot="0" spcFirstLastPara="1" vertOverflow="ellipsis" vert="horz" wrap="square" anchor="ctr" anchorCtr="1"/>
            <a:lstStyle/>
            <a:p>
              <a:pPr>
                <a:defRPr sz="9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circle"/>
          <c:size val="5"/>
          <c:spPr>
            <a:solidFill>
              <a:schemeClr val="accent3"/>
            </a:solidFill>
            <a:ln w="9525">
              <a:solidFill>
                <a:schemeClr val="accent3"/>
              </a:solidFill>
            </a:ln>
            <a:effectLst/>
          </c:spPr>
        </c:marker>
        <c:dLbl>
          <c:idx val="0"/>
          <c:spPr>
            <a:noFill/>
            <a:ln>
              <a:noFill/>
            </a:ln>
            <a:effectLst/>
          </c:spPr>
          <c:txPr>
            <a:bodyPr rot="0" spcFirstLastPara="1" vertOverflow="ellipsis" vert="horz" wrap="square" anchor="ctr" anchorCtr="1"/>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circle"/>
          <c:size val="5"/>
          <c:spPr>
            <a:solidFill>
              <a:schemeClr val="accent4"/>
            </a:solidFill>
            <a:ln w="9525">
              <a:solidFill>
                <a:schemeClr val="accent4"/>
              </a:solidFill>
            </a:ln>
            <a:effectLst/>
          </c:spPr>
        </c:marker>
        <c:dLbl>
          <c:idx val="0"/>
          <c:spPr>
            <a:noFill/>
            <a:ln>
              <a:noFill/>
            </a:ln>
            <a:effectLst/>
          </c:spPr>
          <c:txPr>
            <a:bodyPr rot="0" spcFirstLastPara="1" vertOverflow="ellipsis" vert="horz" wrap="square" anchor="ctr" anchorCtr="1"/>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circle"/>
          <c:size val="5"/>
          <c:spPr>
            <a:solidFill>
              <a:schemeClr val="accent5"/>
            </a:solidFill>
            <a:ln w="9525">
              <a:solidFill>
                <a:schemeClr val="accent5"/>
              </a:solidFill>
            </a:ln>
            <a:effectLst/>
          </c:spPr>
        </c:marker>
        <c:dLbl>
          <c:idx val="0"/>
          <c:spPr>
            <a:noFill/>
            <a:ln>
              <a:noFill/>
            </a:ln>
            <a:effectLst/>
          </c:spPr>
          <c:txPr>
            <a:bodyPr rot="0" spcFirstLastPara="1" vertOverflow="ellipsis" vert="horz" wrap="square" anchor="ctr" anchorCtr="1"/>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2"/>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3"/>
        <c:spPr>
          <a:solidFill>
            <a:schemeClr val="accent1"/>
          </a:solidFill>
          <a:ln w="28575" cap="rnd">
            <a:solidFill>
              <a:schemeClr val="accent1"/>
            </a:solidFill>
            <a:round/>
          </a:ln>
          <a:effectLst/>
        </c:spPr>
        <c:marker>
          <c:symbol val="circle"/>
          <c:size val="5"/>
          <c:spPr>
            <a:solidFill>
              <a:schemeClr val="accent3"/>
            </a:solidFill>
            <a:ln w="9525">
              <a:solidFill>
                <a:schemeClr val="accent3"/>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24"/>
        <c:spPr>
          <a:solidFill>
            <a:schemeClr val="accent1"/>
          </a:solidFill>
          <a:ln w="28575" cap="rnd">
            <a:solidFill>
              <a:schemeClr val="accent1"/>
            </a:solidFill>
            <a:round/>
          </a:ln>
          <a:effectLst/>
        </c:spPr>
        <c:marker>
          <c:symbol val="circle"/>
          <c:size val="5"/>
          <c:spPr>
            <a:solidFill>
              <a:schemeClr val="accent4"/>
            </a:solidFill>
            <a:ln w="9525">
              <a:solidFill>
                <a:schemeClr val="accent4"/>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1"/>
          </a:solidFill>
          <a:ln w="28575" cap="rnd">
            <a:solidFill>
              <a:schemeClr val="accent1"/>
            </a:solidFill>
            <a:round/>
          </a:ln>
          <a:effectLst/>
        </c:spPr>
        <c:marker>
          <c:symbol val="circle"/>
          <c:size val="5"/>
          <c:spPr>
            <a:solidFill>
              <a:schemeClr val="accent5"/>
            </a:solidFill>
            <a:ln w="9525">
              <a:solidFill>
                <a:schemeClr val="accent5"/>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7"/>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8"/>
        <c:spPr>
          <a:solidFill>
            <a:schemeClr val="accent1"/>
          </a:solidFill>
          <a:ln w="28575" cap="rnd">
            <a:solidFill>
              <a:schemeClr val="accent1"/>
            </a:solidFill>
            <a:round/>
          </a:ln>
          <a:effectLst/>
        </c:spPr>
        <c:marker>
          <c:symbol val="circle"/>
          <c:size val="5"/>
          <c:spPr>
            <a:solidFill>
              <a:schemeClr val="accent3"/>
            </a:solidFill>
            <a:ln w="9525">
              <a:solidFill>
                <a:schemeClr val="accent3"/>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chemeClr val="accent1"/>
            </a:solidFill>
            <a:round/>
          </a:ln>
          <a:effectLst/>
        </c:spPr>
        <c:marker>
          <c:symbol val="circle"/>
          <c:size val="5"/>
          <c:spPr>
            <a:solidFill>
              <a:schemeClr val="accent4"/>
            </a:solidFill>
            <a:ln w="9525">
              <a:solidFill>
                <a:schemeClr val="accent4"/>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
        <c:spPr>
          <a:solidFill>
            <a:schemeClr val="accent1"/>
          </a:solidFill>
          <a:ln w="28575" cap="rnd">
            <a:solidFill>
              <a:schemeClr val="accent1"/>
            </a:solidFill>
            <a:round/>
          </a:ln>
          <a:effectLst/>
        </c:spPr>
        <c:marker>
          <c:symbol val="circle"/>
          <c:size val="5"/>
          <c:spPr>
            <a:solidFill>
              <a:schemeClr val="accent5"/>
            </a:solidFill>
            <a:ln w="9525">
              <a:solidFill>
                <a:schemeClr val="accent5"/>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32"/>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33"/>
        <c:spPr>
          <a:solidFill>
            <a:schemeClr val="accent1"/>
          </a:solidFill>
          <a:ln w="28575" cap="rnd">
            <a:solidFill>
              <a:schemeClr val="accent1"/>
            </a:solidFill>
            <a:round/>
          </a:ln>
          <a:effectLst/>
        </c:spPr>
        <c:marker>
          <c:symbol val="circle"/>
          <c:size val="5"/>
          <c:spPr>
            <a:solidFill>
              <a:schemeClr val="accent3"/>
            </a:solidFill>
            <a:ln w="9525">
              <a:solidFill>
                <a:schemeClr val="accent3"/>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34"/>
        <c:spPr>
          <a:solidFill>
            <a:schemeClr val="accent1"/>
          </a:solidFill>
          <a:ln w="28575" cap="rnd">
            <a:solidFill>
              <a:schemeClr val="accent1"/>
            </a:solidFill>
            <a:round/>
          </a:ln>
          <a:effectLst/>
        </c:spPr>
        <c:marker>
          <c:symbol val="circle"/>
          <c:size val="5"/>
          <c:spPr>
            <a:solidFill>
              <a:schemeClr val="accent4"/>
            </a:solidFill>
            <a:ln w="9525">
              <a:solidFill>
                <a:schemeClr val="accent4"/>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w="28575" cap="rnd">
            <a:solidFill>
              <a:schemeClr val="accent1"/>
            </a:solidFill>
            <a:round/>
          </a:ln>
          <a:effectLst/>
        </c:spPr>
        <c:marker>
          <c:symbol val="circle"/>
          <c:size val="5"/>
          <c:spPr>
            <a:solidFill>
              <a:schemeClr val="accent5"/>
            </a:solidFill>
            <a:ln w="9525">
              <a:solidFill>
                <a:schemeClr val="accent5"/>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'Prop DSTB Cases by KEPHs'!$C$9</c:f>
              <c:strCache>
                <c:ptCount val="1"/>
                <c:pt idx="0">
                  <c:v>Level 2</c:v>
                </c:pt>
              </c:strCache>
            </c:strRef>
          </c:tx>
          <c:spPr>
            <a:ln w="76200" cap="rnd">
              <a:solidFill>
                <a:schemeClr val="accent1"/>
              </a:solidFill>
              <a:round/>
            </a:ln>
            <a:effectLst/>
          </c:spPr>
          <c:marker>
            <c:symbol val="circle"/>
            <c:size val="8"/>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'Prop DSTB Cases by KEPHs'!$B$10:$B$20</c:f>
              <c:strCache>
                <c:ptCount val="10"/>
                <c:pt idx="0">
                  <c:v>Jan-Mar 2023</c:v>
                </c:pt>
                <c:pt idx="1">
                  <c:v>Apr-Jun 2023</c:v>
                </c:pt>
                <c:pt idx="2">
                  <c:v>Jul-Sep 2023</c:v>
                </c:pt>
                <c:pt idx="3">
                  <c:v>Oct-Dec 2023</c:v>
                </c:pt>
                <c:pt idx="4">
                  <c:v>Jan-Mar 2024</c:v>
                </c:pt>
                <c:pt idx="5">
                  <c:v>Apr-Jun 2024</c:v>
                </c:pt>
                <c:pt idx="6">
                  <c:v>Jul-Sep 2024</c:v>
                </c:pt>
                <c:pt idx="7">
                  <c:v>Oct-Dec 2024</c:v>
                </c:pt>
                <c:pt idx="8">
                  <c:v>Jan-Mar 2025</c:v>
                </c:pt>
                <c:pt idx="9">
                  <c:v>Apr-Jun 2025</c:v>
                </c:pt>
              </c:strCache>
            </c:strRef>
          </c:cat>
          <c:val>
            <c:numRef>
              <c:f>'Prop DSTB Cases by KEPHs'!$C$10:$C$20</c:f>
              <c:numCache>
                <c:formatCode>0.0%</c:formatCode>
                <c:ptCount val="10"/>
                <c:pt idx="0">
                  <c:v>0.67796544360318389</c:v>
                </c:pt>
                <c:pt idx="1">
                  <c:v>0.67742421957472476</c:v>
                </c:pt>
                <c:pt idx="2">
                  <c:v>0.6701828697104224</c:v>
                </c:pt>
                <c:pt idx="3">
                  <c:v>0.66391052908282755</c:v>
                </c:pt>
                <c:pt idx="4">
                  <c:v>0.67172838064089091</c:v>
                </c:pt>
                <c:pt idx="5">
                  <c:v>0.67332198746419825</c:v>
                </c:pt>
                <c:pt idx="6">
                  <c:v>0.6716359814721109</c:v>
                </c:pt>
                <c:pt idx="7">
                  <c:v>0.66952828483643589</c:v>
                </c:pt>
                <c:pt idx="8">
                  <c:v>0.68214664225840638</c:v>
                </c:pt>
                <c:pt idx="9">
                  <c:v>0.67351636394073822</c:v>
                </c:pt>
              </c:numCache>
            </c:numRef>
          </c:val>
          <c:smooth val="0"/>
          <c:extLst>
            <c:ext xmlns:c16="http://schemas.microsoft.com/office/drawing/2014/chart" uri="{C3380CC4-5D6E-409C-BE32-E72D297353CC}">
              <c16:uniqueId val="{00000000-58AF-2A4F-9EB5-E0D8661AAADF}"/>
            </c:ext>
          </c:extLst>
        </c:ser>
        <c:ser>
          <c:idx val="1"/>
          <c:order val="1"/>
          <c:tx>
            <c:strRef>
              <c:f>'Prop DSTB Cases by KEPHs'!$D$9</c:f>
              <c:strCache>
                <c:ptCount val="1"/>
                <c:pt idx="0">
                  <c:v>Level 3</c:v>
                </c:pt>
              </c:strCache>
            </c:strRef>
          </c:tx>
          <c:spPr>
            <a:ln w="76200" cap="rnd">
              <a:solidFill>
                <a:schemeClr val="accent2"/>
              </a:solidFill>
              <a:round/>
            </a:ln>
            <a:effectLst/>
          </c:spPr>
          <c:marker>
            <c:symbol val="circle"/>
            <c:size val="8"/>
            <c:spPr>
              <a:solidFill>
                <a:schemeClr val="accent2"/>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'Prop DSTB Cases by KEPHs'!$B$10:$B$20</c:f>
              <c:strCache>
                <c:ptCount val="10"/>
                <c:pt idx="0">
                  <c:v>Jan-Mar 2023</c:v>
                </c:pt>
                <c:pt idx="1">
                  <c:v>Apr-Jun 2023</c:v>
                </c:pt>
                <c:pt idx="2">
                  <c:v>Jul-Sep 2023</c:v>
                </c:pt>
                <c:pt idx="3">
                  <c:v>Oct-Dec 2023</c:v>
                </c:pt>
                <c:pt idx="4">
                  <c:v>Jan-Mar 2024</c:v>
                </c:pt>
                <c:pt idx="5">
                  <c:v>Apr-Jun 2024</c:v>
                </c:pt>
                <c:pt idx="6">
                  <c:v>Jul-Sep 2024</c:v>
                </c:pt>
                <c:pt idx="7">
                  <c:v>Oct-Dec 2024</c:v>
                </c:pt>
                <c:pt idx="8">
                  <c:v>Jan-Mar 2025</c:v>
                </c:pt>
                <c:pt idx="9">
                  <c:v>Apr-Jun 2025</c:v>
                </c:pt>
              </c:strCache>
            </c:strRef>
          </c:cat>
          <c:val>
            <c:numRef>
              <c:f>'Prop DSTB Cases by KEPHs'!$D$10:$D$20</c:f>
              <c:numCache>
                <c:formatCode>0.0%</c:formatCode>
                <c:ptCount val="10"/>
                <c:pt idx="0">
                  <c:v>0.21036691904484567</c:v>
                </c:pt>
                <c:pt idx="1">
                  <c:v>0.20698235560247324</c:v>
                </c:pt>
                <c:pt idx="2">
                  <c:v>0.2153708304484177</c:v>
                </c:pt>
                <c:pt idx="3">
                  <c:v>0.21966257228886871</c:v>
                </c:pt>
                <c:pt idx="4">
                  <c:v>0.21636880426741426</c:v>
                </c:pt>
                <c:pt idx="5">
                  <c:v>0.20887468349176042</c:v>
                </c:pt>
                <c:pt idx="6">
                  <c:v>0.21295395274609785</c:v>
                </c:pt>
                <c:pt idx="7">
                  <c:v>0.21181998915597325</c:v>
                </c:pt>
                <c:pt idx="8">
                  <c:v>0.20483668946912034</c:v>
                </c:pt>
                <c:pt idx="9">
                  <c:v>0.21335900225998158</c:v>
                </c:pt>
              </c:numCache>
            </c:numRef>
          </c:val>
          <c:smooth val="0"/>
          <c:extLst>
            <c:ext xmlns:c16="http://schemas.microsoft.com/office/drawing/2014/chart" uri="{C3380CC4-5D6E-409C-BE32-E72D297353CC}">
              <c16:uniqueId val="{00000001-58AF-2A4F-9EB5-E0D8661AAADF}"/>
            </c:ext>
          </c:extLst>
        </c:ser>
        <c:ser>
          <c:idx val="2"/>
          <c:order val="2"/>
          <c:tx>
            <c:strRef>
              <c:f>'Prop DSTB Cases by KEPHs'!$E$9</c:f>
              <c:strCache>
                <c:ptCount val="1"/>
                <c:pt idx="0">
                  <c:v>Level 4</c:v>
                </c:pt>
              </c:strCache>
            </c:strRef>
          </c:tx>
          <c:spPr>
            <a:ln w="76200" cap="rnd">
              <a:solidFill>
                <a:schemeClr val="accent3"/>
              </a:solidFill>
              <a:round/>
            </a:ln>
            <a:effectLst/>
          </c:spPr>
          <c:marker>
            <c:symbol val="circle"/>
            <c:size val="8"/>
            <c:spPr>
              <a:solidFill>
                <a:schemeClr val="accent3"/>
              </a:solidFill>
              <a:ln w="9525">
                <a:solidFill>
                  <a:schemeClr val="accent3"/>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'Prop DSTB Cases by KEPHs'!$B$10:$B$20</c:f>
              <c:strCache>
                <c:ptCount val="10"/>
                <c:pt idx="0">
                  <c:v>Jan-Mar 2023</c:v>
                </c:pt>
                <c:pt idx="1">
                  <c:v>Apr-Jun 2023</c:v>
                </c:pt>
                <c:pt idx="2">
                  <c:v>Jul-Sep 2023</c:v>
                </c:pt>
                <c:pt idx="3">
                  <c:v>Oct-Dec 2023</c:v>
                </c:pt>
                <c:pt idx="4">
                  <c:v>Jan-Mar 2024</c:v>
                </c:pt>
                <c:pt idx="5">
                  <c:v>Apr-Jun 2024</c:v>
                </c:pt>
                <c:pt idx="6">
                  <c:v>Jul-Sep 2024</c:v>
                </c:pt>
                <c:pt idx="7">
                  <c:v>Oct-Dec 2024</c:v>
                </c:pt>
                <c:pt idx="8">
                  <c:v>Jan-Mar 2025</c:v>
                </c:pt>
                <c:pt idx="9">
                  <c:v>Apr-Jun 2025</c:v>
                </c:pt>
              </c:strCache>
            </c:strRef>
          </c:cat>
          <c:val>
            <c:numRef>
              <c:f>'Prop DSTB Cases by KEPHs'!$E$10:$E$20</c:f>
              <c:numCache>
                <c:formatCode>0.0%</c:formatCode>
                <c:ptCount val="10"/>
                <c:pt idx="0">
                  <c:v>9.8815763929334111E-2</c:v>
                </c:pt>
                <c:pt idx="1">
                  <c:v>0.10021112954305535</c:v>
                </c:pt>
                <c:pt idx="2">
                  <c:v>0.10035433551908117</c:v>
                </c:pt>
                <c:pt idx="3">
                  <c:v>0.10385699947426277</c:v>
                </c:pt>
                <c:pt idx="4">
                  <c:v>9.6561928123661572E-2</c:v>
                </c:pt>
                <c:pt idx="5">
                  <c:v>0.10323357270349923</c:v>
                </c:pt>
                <c:pt idx="6">
                  <c:v>0.10155307306060488</c:v>
                </c:pt>
                <c:pt idx="7">
                  <c:v>0.1036508223386951</c:v>
                </c:pt>
                <c:pt idx="8">
                  <c:v>9.6685615184507176E-2</c:v>
                </c:pt>
                <c:pt idx="9">
                  <c:v>9.7472168745291701E-2</c:v>
                </c:pt>
              </c:numCache>
            </c:numRef>
          </c:val>
          <c:smooth val="0"/>
          <c:extLst>
            <c:ext xmlns:c16="http://schemas.microsoft.com/office/drawing/2014/chart" uri="{C3380CC4-5D6E-409C-BE32-E72D297353CC}">
              <c16:uniqueId val="{00000002-58AF-2A4F-9EB5-E0D8661AAADF}"/>
            </c:ext>
          </c:extLst>
        </c:ser>
        <c:ser>
          <c:idx val="3"/>
          <c:order val="3"/>
          <c:tx>
            <c:strRef>
              <c:f>'Prop DSTB Cases by KEPHs'!$F$9</c:f>
              <c:strCache>
                <c:ptCount val="1"/>
                <c:pt idx="0">
                  <c:v>Level 5</c:v>
                </c:pt>
              </c:strCache>
            </c:strRef>
          </c:tx>
          <c:spPr>
            <a:ln w="76200" cap="rnd">
              <a:solidFill>
                <a:schemeClr val="accent4"/>
              </a:solidFill>
              <a:round/>
            </a:ln>
            <a:effectLst/>
          </c:spPr>
          <c:marker>
            <c:symbol val="circle"/>
            <c:size val="8"/>
            <c:spPr>
              <a:solidFill>
                <a:schemeClr val="accent4"/>
              </a:solidFill>
              <a:ln w="9525">
                <a:solidFill>
                  <a:schemeClr val="accent4"/>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'Prop DSTB Cases by KEPHs'!$B$10:$B$20</c:f>
              <c:strCache>
                <c:ptCount val="10"/>
                <c:pt idx="0">
                  <c:v>Jan-Mar 2023</c:v>
                </c:pt>
                <c:pt idx="1">
                  <c:v>Apr-Jun 2023</c:v>
                </c:pt>
                <c:pt idx="2">
                  <c:v>Jul-Sep 2023</c:v>
                </c:pt>
                <c:pt idx="3">
                  <c:v>Oct-Dec 2023</c:v>
                </c:pt>
                <c:pt idx="4">
                  <c:v>Jan-Mar 2024</c:v>
                </c:pt>
                <c:pt idx="5">
                  <c:v>Apr-Jun 2024</c:v>
                </c:pt>
                <c:pt idx="6">
                  <c:v>Jul-Sep 2024</c:v>
                </c:pt>
                <c:pt idx="7">
                  <c:v>Oct-Dec 2024</c:v>
                </c:pt>
                <c:pt idx="8">
                  <c:v>Jan-Mar 2025</c:v>
                </c:pt>
                <c:pt idx="9">
                  <c:v>Apr-Jun 2025</c:v>
                </c:pt>
              </c:strCache>
            </c:strRef>
          </c:cat>
          <c:val>
            <c:numRef>
              <c:f>'Prop DSTB Cases by KEPHs'!$F$10:$F$20</c:f>
              <c:numCache>
                <c:formatCode>0.0%</c:formatCode>
                <c:ptCount val="10"/>
                <c:pt idx="0">
                  <c:v>1.2502426713259561E-2</c:v>
                </c:pt>
                <c:pt idx="1">
                  <c:v>1.5193786759161514E-2</c:v>
                </c:pt>
                <c:pt idx="2">
                  <c:v>1.3888323219158555E-2</c:v>
                </c:pt>
                <c:pt idx="3">
                  <c:v>1.2283133393872771E-2</c:v>
                </c:pt>
                <c:pt idx="4">
                  <c:v>1.5263014445352958E-2</c:v>
                </c:pt>
                <c:pt idx="5">
                  <c:v>1.407164501266033E-2</c:v>
                </c:pt>
                <c:pt idx="6">
                  <c:v>1.3545599626328286E-2</c:v>
                </c:pt>
                <c:pt idx="7">
                  <c:v>1.432315199710826E-2</c:v>
                </c:pt>
                <c:pt idx="8">
                  <c:v>1.6090182098468062E-2</c:v>
                </c:pt>
                <c:pt idx="9">
                  <c:v>1.5401355988951201E-2</c:v>
                </c:pt>
              </c:numCache>
            </c:numRef>
          </c:val>
          <c:smooth val="0"/>
          <c:extLst>
            <c:ext xmlns:c16="http://schemas.microsoft.com/office/drawing/2014/chart" uri="{C3380CC4-5D6E-409C-BE32-E72D297353CC}">
              <c16:uniqueId val="{00000003-58AF-2A4F-9EB5-E0D8661AAADF}"/>
            </c:ext>
          </c:extLst>
        </c:ser>
        <c:ser>
          <c:idx val="4"/>
          <c:order val="4"/>
          <c:tx>
            <c:strRef>
              <c:f>'Prop DSTB Cases by KEPHs'!$G$9</c:f>
              <c:strCache>
                <c:ptCount val="1"/>
                <c:pt idx="0">
                  <c:v>Level 6</c:v>
                </c:pt>
              </c:strCache>
            </c:strRef>
          </c:tx>
          <c:spPr>
            <a:ln w="76200" cap="rnd">
              <a:solidFill>
                <a:schemeClr val="accent5"/>
              </a:solidFill>
              <a:round/>
            </a:ln>
            <a:effectLst/>
          </c:spPr>
          <c:marker>
            <c:symbol val="circle"/>
            <c:size val="8"/>
            <c:spPr>
              <a:solidFill>
                <a:schemeClr val="accent5"/>
              </a:solidFill>
              <a:ln w="9525">
                <a:solidFill>
                  <a:schemeClr val="accent5"/>
                </a:solidFill>
              </a:ln>
              <a:effectLst/>
            </c:spPr>
          </c:marker>
          <c:cat>
            <c:strRef>
              <c:f>'Prop DSTB Cases by KEPHs'!$B$10:$B$20</c:f>
              <c:strCache>
                <c:ptCount val="10"/>
                <c:pt idx="0">
                  <c:v>Jan-Mar 2023</c:v>
                </c:pt>
                <c:pt idx="1">
                  <c:v>Apr-Jun 2023</c:v>
                </c:pt>
                <c:pt idx="2">
                  <c:v>Jul-Sep 2023</c:v>
                </c:pt>
                <c:pt idx="3">
                  <c:v>Oct-Dec 2023</c:v>
                </c:pt>
                <c:pt idx="4">
                  <c:v>Jan-Mar 2024</c:v>
                </c:pt>
                <c:pt idx="5">
                  <c:v>Apr-Jun 2024</c:v>
                </c:pt>
                <c:pt idx="6">
                  <c:v>Jul-Sep 2024</c:v>
                </c:pt>
                <c:pt idx="7">
                  <c:v>Oct-Dec 2024</c:v>
                </c:pt>
                <c:pt idx="8">
                  <c:v>Jan-Mar 2025</c:v>
                </c:pt>
                <c:pt idx="9">
                  <c:v>Apr-Jun 2025</c:v>
                </c:pt>
              </c:strCache>
            </c:strRef>
          </c:cat>
          <c:val>
            <c:numRef>
              <c:f>'Prop DSTB Cases by KEPHs'!$G$10:$G$20</c:f>
              <c:numCache>
                <c:formatCode>0.0%</c:formatCode>
                <c:ptCount val="10"/>
                <c:pt idx="0">
                  <c:v>3.4944670937682004E-4</c:v>
                </c:pt>
                <c:pt idx="1">
                  <c:v>1.8850852058513044E-4</c:v>
                </c:pt>
                <c:pt idx="2">
                  <c:v>2.0364110292021341E-4</c:v>
                </c:pt>
                <c:pt idx="3">
                  <c:v>2.8676576016823589E-4</c:v>
                </c:pt>
                <c:pt idx="4">
                  <c:v>7.7872522680372226E-5</c:v>
                </c:pt>
                <c:pt idx="5">
                  <c:v>4.981113278817816E-4</c:v>
                </c:pt>
                <c:pt idx="6">
                  <c:v>3.113930948581215E-4</c:v>
                </c:pt>
                <c:pt idx="7">
                  <c:v>6.7775167178745703E-4</c:v>
                </c:pt>
                <c:pt idx="8">
                  <c:v>2.4087098949802485E-4</c:v>
                </c:pt>
                <c:pt idx="9">
                  <c:v>2.5110906503724784E-4</c:v>
                </c:pt>
              </c:numCache>
            </c:numRef>
          </c:val>
          <c:smooth val="0"/>
          <c:extLst>
            <c:ext xmlns:c16="http://schemas.microsoft.com/office/drawing/2014/chart" uri="{C3380CC4-5D6E-409C-BE32-E72D297353CC}">
              <c16:uniqueId val="{00000004-58AF-2A4F-9EB5-E0D8661AAADF}"/>
            </c:ext>
          </c:extLst>
        </c:ser>
        <c:dLbls>
          <c:showLegendKey val="0"/>
          <c:showVal val="0"/>
          <c:showCatName val="0"/>
          <c:showSerName val="0"/>
          <c:showPercent val="0"/>
          <c:showBubbleSize val="0"/>
        </c:dLbls>
        <c:marker val="1"/>
        <c:smooth val="0"/>
        <c:axId val="4434944"/>
        <c:axId val="4431104"/>
      </c:lineChart>
      <c:catAx>
        <c:axId val="4434944"/>
        <c:scaling>
          <c:orientation val="minMax"/>
        </c:scaling>
        <c:delete val="0"/>
        <c:axPos val="b"/>
        <c:numFmt formatCode="General" sourceLinked="1"/>
        <c:majorTickMark val="none"/>
        <c:minorTickMark val="none"/>
        <c:tickLblPos val="nextTo"/>
        <c:spPr>
          <a:noFill/>
          <a:ln w="9525" cap="flat" cmpd="sng" algn="ctr">
            <a:solidFill>
              <a:srgbClr val="002F6C"/>
            </a:solidFill>
            <a:round/>
          </a:ln>
          <a:effectLst/>
        </c:spPr>
        <c:txPr>
          <a:bodyPr rot="-60000000" spcFirstLastPara="1" vertOverflow="ellipsis" vert="horz" wrap="square" anchor="ctr" anchorCtr="1"/>
          <a:lstStyle/>
          <a:p>
            <a:pPr>
              <a:defRPr sz="1200" b="1"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crossAx val="4431104"/>
        <c:crosses val="autoZero"/>
        <c:auto val="1"/>
        <c:lblAlgn val="ctr"/>
        <c:lblOffset val="100"/>
        <c:noMultiLvlLbl val="0"/>
      </c:catAx>
      <c:valAx>
        <c:axId val="4431104"/>
        <c:scaling>
          <c:orientation val="minMax"/>
        </c:scaling>
        <c:delete val="0"/>
        <c:axPos val="l"/>
        <c:majorGridlines>
          <c:spPr>
            <a:ln w="9525" cap="flat" cmpd="sng" algn="ctr">
              <a:solidFill>
                <a:schemeClr val="tx1">
                  <a:lumMod val="15000"/>
                  <a:lumOff val="85000"/>
                </a:schemeClr>
              </a:solidFill>
              <a:prstDash val="sysDot"/>
              <a:round/>
            </a:ln>
            <a:effectLst/>
          </c:spPr>
        </c:majorGridlines>
        <c:numFmt formatCode="0.0%" sourceLinked="1"/>
        <c:majorTickMark val="none"/>
        <c:minorTickMark val="none"/>
        <c:tickLblPos val="nextTo"/>
        <c:spPr>
          <a:noFill/>
          <a:ln>
            <a:solidFill>
              <a:srgbClr val="002F6C"/>
            </a:solidFill>
          </a:ln>
          <a:effectLst/>
        </c:spPr>
        <c:txPr>
          <a:bodyPr rot="-60000000" spcFirstLastPara="1" vertOverflow="ellipsis" vert="horz" wrap="square" anchor="ctr" anchorCtr="1"/>
          <a:lstStyle/>
          <a:p>
            <a:pPr>
              <a:defRPr sz="12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crossAx val="4434944"/>
        <c:crosses val="autoZero"/>
        <c:crossBetween val="between"/>
      </c:valAx>
      <c:spPr>
        <a:noFill/>
        <a:ln>
          <a:noFill/>
        </a:ln>
        <a:effectLst/>
      </c:spPr>
    </c:plotArea>
    <c:legend>
      <c:legendPos val="t"/>
      <c:layout/>
      <c:overlay val="0"/>
      <c:spPr>
        <a:solidFill>
          <a:schemeClr val="bg1">
            <a:lumMod val="95000"/>
          </a:schemeClr>
        </a:solidFill>
        <a:ln>
          <a:noFill/>
        </a:ln>
        <a:effectLst/>
      </c:spPr>
      <c:txPr>
        <a:bodyPr rot="0" spcFirstLastPara="1" vertOverflow="ellipsis" vert="horz" wrap="square" anchor="ctr" anchorCtr="1"/>
        <a:lstStyle/>
        <a:p>
          <a:pPr>
            <a:defRPr sz="1000" b="0" i="0" u="none" strike="noStrike" kern="1200" baseline="0">
              <a:solidFill>
                <a:schemeClr val="tx1">
                  <a:lumMod val="95000"/>
                  <a:lumOff val="5000"/>
                </a:schemeClr>
              </a:solidFill>
              <a:latin typeface="Comic Sans MS" panose="030F0702030302020204" pitchFamily="66"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19050" cap="flat" cmpd="sng" algn="ctr">
      <a:solidFill>
        <a:srgbClr val="002F6C"/>
      </a:solidFill>
      <a:round/>
    </a:ln>
    <a:effectLst/>
  </c:spPr>
  <c:txPr>
    <a:bodyPr/>
    <a:lstStyle/>
    <a:p>
      <a:pPr>
        <a:defRPr sz="1200">
          <a:solidFill>
            <a:schemeClr val="tx1">
              <a:lumMod val="95000"/>
              <a:lumOff val="5000"/>
            </a:schemeClr>
          </a:solidFill>
          <a:latin typeface="Comic Sans MS" panose="030F0702030302020204" pitchFamily="66"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0A639D4-2F35-4B15-87C7-4F5E44A9B5AE}" type="doc">
      <dgm:prSet loTypeId="urn:microsoft.com/office/officeart/2018/layout/CircleProcess" loCatId="simpleprocesssa" qsTypeId="urn:microsoft.com/office/officeart/2005/8/quickstyle/simple1" qsCatId="simple" csTypeId="urn:microsoft.com/office/officeart/2005/8/colors/colorful5" csCatId="colorful" phldr="1"/>
      <dgm:spPr/>
      <dgm:t>
        <a:bodyPr/>
        <a:lstStyle/>
        <a:p>
          <a:endParaRPr lang="en-US"/>
        </a:p>
      </dgm:t>
    </dgm:pt>
    <dgm:pt modelId="{A8F2E702-B66B-4D37-B58B-FED136977191}">
      <dgm:prSet custT="1"/>
      <dgm:spPr/>
      <dgm:t>
        <a:bodyPr/>
        <a:lstStyle/>
        <a:p>
          <a:r>
            <a:rPr lang="en-US" sz="2400" dirty="0"/>
            <a:t>Screening</a:t>
          </a:r>
        </a:p>
      </dgm:t>
    </dgm:pt>
    <dgm:pt modelId="{3D39B503-2B76-44BE-8BA0-F7991E54B9B6}" type="parTrans" cxnId="{0C867794-4468-4E4F-950C-7A8621ABAEB4}">
      <dgm:prSet/>
      <dgm:spPr/>
      <dgm:t>
        <a:bodyPr/>
        <a:lstStyle/>
        <a:p>
          <a:endParaRPr lang="en-US" sz="2400"/>
        </a:p>
      </dgm:t>
    </dgm:pt>
    <dgm:pt modelId="{87EB86A5-8020-4F02-A7A6-702F84F8437E}" type="sibTrans" cxnId="{0C867794-4468-4E4F-950C-7A8621ABAEB4}">
      <dgm:prSet/>
      <dgm:spPr/>
      <dgm:t>
        <a:bodyPr/>
        <a:lstStyle/>
        <a:p>
          <a:endParaRPr lang="en-US" sz="2400"/>
        </a:p>
      </dgm:t>
    </dgm:pt>
    <dgm:pt modelId="{B6022693-CCE8-4606-935D-07D37E79D06E}">
      <dgm:prSet custT="1"/>
      <dgm:spPr/>
      <dgm:t>
        <a:bodyPr/>
        <a:lstStyle/>
        <a:p>
          <a:r>
            <a:rPr lang="en-US" sz="2400" dirty="0"/>
            <a:t>Case Detection and Diagnosis	</a:t>
          </a:r>
        </a:p>
      </dgm:t>
    </dgm:pt>
    <dgm:pt modelId="{4E68FF7F-A673-4EDB-829D-34808B899C73}" type="parTrans" cxnId="{2805E06D-0B78-41F6-914D-4845A239BD88}">
      <dgm:prSet/>
      <dgm:spPr/>
      <dgm:t>
        <a:bodyPr/>
        <a:lstStyle/>
        <a:p>
          <a:endParaRPr lang="en-US" sz="2400"/>
        </a:p>
      </dgm:t>
    </dgm:pt>
    <dgm:pt modelId="{E7DCAA37-237C-44D9-B993-EFF9A1696CFA}" type="sibTrans" cxnId="{2805E06D-0B78-41F6-914D-4845A239BD88}">
      <dgm:prSet/>
      <dgm:spPr/>
      <dgm:t>
        <a:bodyPr/>
        <a:lstStyle/>
        <a:p>
          <a:endParaRPr lang="en-US" sz="2400"/>
        </a:p>
      </dgm:t>
    </dgm:pt>
    <dgm:pt modelId="{6B92A3E9-FAAD-4015-AD02-363B19E7DA1A}">
      <dgm:prSet custT="1"/>
      <dgm:spPr/>
      <dgm:t>
        <a:bodyPr/>
        <a:lstStyle/>
        <a:p>
          <a:pPr rtl="0"/>
          <a:r>
            <a:rPr lang="en-US" sz="2400" dirty="0"/>
            <a:t>TB Preventive Therapy</a:t>
          </a:r>
        </a:p>
      </dgm:t>
    </dgm:pt>
    <dgm:pt modelId="{2306C452-5D66-4F74-A6BE-F7466822746D}" type="parTrans" cxnId="{B2CF2C3A-8545-49C9-A450-F8E9B3A8EE04}">
      <dgm:prSet/>
      <dgm:spPr/>
      <dgm:t>
        <a:bodyPr/>
        <a:lstStyle/>
        <a:p>
          <a:endParaRPr lang="en-US" sz="2400"/>
        </a:p>
      </dgm:t>
    </dgm:pt>
    <dgm:pt modelId="{A00DE4A4-19A3-4976-B377-EE1F4709CC25}" type="sibTrans" cxnId="{B2CF2C3A-8545-49C9-A450-F8E9B3A8EE04}">
      <dgm:prSet/>
      <dgm:spPr/>
      <dgm:t>
        <a:bodyPr/>
        <a:lstStyle/>
        <a:p>
          <a:endParaRPr lang="en-US" sz="2400"/>
        </a:p>
      </dgm:t>
    </dgm:pt>
    <dgm:pt modelId="{69486DAE-77E1-42C3-BC6A-851423476C4F}">
      <dgm:prSet custT="1"/>
      <dgm:spPr/>
      <dgm:t>
        <a:bodyPr/>
        <a:lstStyle/>
        <a:p>
          <a:r>
            <a:rPr lang="en-US" sz="2400" dirty="0"/>
            <a:t>Treatment and Support</a:t>
          </a:r>
        </a:p>
      </dgm:t>
    </dgm:pt>
    <dgm:pt modelId="{1AB244C4-CA4F-4F73-95AB-C045FB8EBA17}" type="parTrans" cxnId="{11C2854D-468D-49B1-980A-D0B60BC0ADD8}">
      <dgm:prSet/>
      <dgm:spPr/>
      <dgm:t>
        <a:bodyPr/>
        <a:lstStyle/>
        <a:p>
          <a:endParaRPr lang="en-US" sz="2400"/>
        </a:p>
      </dgm:t>
    </dgm:pt>
    <dgm:pt modelId="{23333266-F0E9-4699-B7C4-E57D4F360DB7}" type="sibTrans" cxnId="{11C2854D-468D-49B1-980A-D0B60BC0ADD8}">
      <dgm:prSet/>
      <dgm:spPr/>
      <dgm:t>
        <a:bodyPr/>
        <a:lstStyle/>
        <a:p>
          <a:endParaRPr lang="en-US" sz="2400"/>
        </a:p>
      </dgm:t>
    </dgm:pt>
    <dgm:pt modelId="{F7311414-0798-4E7B-BEE3-55CB21029E81}">
      <dgm:prSet custT="1"/>
      <dgm:spPr/>
      <dgm:t>
        <a:bodyPr/>
        <a:lstStyle/>
        <a:p>
          <a:r>
            <a:rPr lang="en-US" sz="2400" dirty="0"/>
            <a:t>Integrated Care for Comorbidities</a:t>
          </a:r>
        </a:p>
      </dgm:t>
    </dgm:pt>
    <dgm:pt modelId="{F6D6C40E-005D-4616-9491-776DBAC72DAD}" type="parTrans" cxnId="{67C907B7-430E-4EA0-B8EB-423E76389B84}">
      <dgm:prSet/>
      <dgm:spPr/>
      <dgm:t>
        <a:bodyPr/>
        <a:lstStyle/>
        <a:p>
          <a:endParaRPr lang="en-US" sz="2400"/>
        </a:p>
      </dgm:t>
    </dgm:pt>
    <dgm:pt modelId="{4D968730-AF77-4E33-9907-BA98C030A291}" type="sibTrans" cxnId="{67C907B7-430E-4EA0-B8EB-423E76389B84}">
      <dgm:prSet/>
      <dgm:spPr/>
      <dgm:t>
        <a:bodyPr/>
        <a:lstStyle/>
        <a:p>
          <a:endParaRPr lang="en-US" sz="2400"/>
        </a:p>
      </dgm:t>
    </dgm:pt>
    <dgm:pt modelId="{4397C241-FB39-4090-AC25-4E27540B9DE2}" type="pres">
      <dgm:prSet presAssocID="{40A639D4-2F35-4B15-87C7-4F5E44A9B5AE}" presName="Name0" presStyleCnt="0">
        <dgm:presLayoutVars>
          <dgm:chMax val="11"/>
          <dgm:chPref val="11"/>
          <dgm:dir/>
          <dgm:resizeHandles/>
        </dgm:presLayoutVars>
      </dgm:prSet>
      <dgm:spPr/>
      <dgm:t>
        <a:bodyPr/>
        <a:lstStyle/>
        <a:p>
          <a:endParaRPr lang="en-US"/>
        </a:p>
      </dgm:t>
    </dgm:pt>
    <dgm:pt modelId="{0F6A47B1-E9FE-4BDD-8E5D-FA57CDFD7F7C}" type="pres">
      <dgm:prSet presAssocID="{F7311414-0798-4E7B-BEE3-55CB21029E81}" presName="Accent5" presStyleCnt="0"/>
      <dgm:spPr/>
    </dgm:pt>
    <dgm:pt modelId="{BB0CCB8C-4FE0-4810-A634-57F3A0CC345D}" type="pres">
      <dgm:prSet presAssocID="{F7311414-0798-4E7B-BEE3-55CB21029E81}" presName="Accent" presStyleLbl="node1" presStyleIdx="0" presStyleCnt="10"/>
      <dgm:spPr/>
    </dgm:pt>
    <dgm:pt modelId="{E2A0FA02-7322-4355-B9F6-EFFD0C2AC0F8}" type="pres">
      <dgm:prSet presAssocID="{F7311414-0798-4E7B-BEE3-55CB21029E81}" presName="ParentBackground5" presStyleCnt="0"/>
      <dgm:spPr/>
    </dgm:pt>
    <dgm:pt modelId="{6D456F6B-8F01-41ED-8D21-1C03F51951A0}" type="pres">
      <dgm:prSet presAssocID="{F7311414-0798-4E7B-BEE3-55CB21029E81}" presName="ParentBackground" presStyleLbl="node1" presStyleIdx="1" presStyleCnt="10" custScaleX="126209" custScaleY="114230"/>
      <dgm:spPr/>
      <dgm:t>
        <a:bodyPr/>
        <a:lstStyle/>
        <a:p>
          <a:endParaRPr lang="en-US"/>
        </a:p>
      </dgm:t>
    </dgm:pt>
    <dgm:pt modelId="{B77FBB3F-F7D5-4A2E-944F-CA8B71CDD2E1}" type="pres">
      <dgm:prSet presAssocID="{F7311414-0798-4E7B-BEE3-55CB21029E81}" presName="Parent5" presStyleLbl="fgAcc0" presStyleIdx="0" presStyleCnt="0">
        <dgm:presLayoutVars>
          <dgm:chMax val="1"/>
          <dgm:chPref val="1"/>
          <dgm:bulletEnabled val="1"/>
        </dgm:presLayoutVars>
      </dgm:prSet>
      <dgm:spPr/>
      <dgm:t>
        <a:bodyPr/>
        <a:lstStyle/>
        <a:p>
          <a:endParaRPr lang="en-US"/>
        </a:p>
      </dgm:t>
    </dgm:pt>
    <dgm:pt modelId="{C345D281-157C-4281-B589-C0870D181D2C}" type="pres">
      <dgm:prSet presAssocID="{69486DAE-77E1-42C3-BC6A-851423476C4F}" presName="Accent4" presStyleCnt="0"/>
      <dgm:spPr/>
    </dgm:pt>
    <dgm:pt modelId="{CE4C2984-0182-444E-8307-ED5D9C5562D1}" type="pres">
      <dgm:prSet presAssocID="{69486DAE-77E1-42C3-BC6A-851423476C4F}" presName="Accent" presStyleLbl="node1" presStyleIdx="2" presStyleCnt="10"/>
      <dgm:spPr/>
    </dgm:pt>
    <dgm:pt modelId="{9BF9824F-5917-45CA-A395-0F5CDB238D40}" type="pres">
      <dgm:prSet presAssocID="{69486DAE-77E1-42C3-BC6A-851423476C4F}" presName="ParentBackground4" presStyleCnt="0"/>
      <dgm:spPr/>
    </dgm:pt>
    <dgm:pt modelId="{2F21EA65-5E19-4595-BDD2-1135B72EDD5A}" type="pres">
      <dgm:prSet presAssocID="{69486DAE-77E1-42C3-BC6A-851423476C4F}" presName="ParentBackground" presStyleLbl="node1" presStyleIdx="3" presStyleCnt="10"/>
      <dgm:spPr/>
      <dgm:t>
        <a:bodyPr/>
        <a:lstStyle/>
        <a:p>
          <a:endParaRPr lang="en-US"/>
        </a:p>
      </dgm:t>
    </dgm:pt>
    <dgm:pt modelId="{E7E0ED43-29BD-4F23-851B-6FDDB1B7FE65}" type="pres">
      <dgm:prSet presAssocID="{69486DAE-77E1-42C3-BC6A-851423476C4F}" presName="Parent4" presStyleLbl="fgAcc0" presStyleIdx="0" presStyleCnt="0">
        <dgm:presLayoutVars>
          <dgm:chMax val="1"/>
          <dgm:chPref val="1"/>
          <dgm:bulletEnabled val="1"/>
        </dgm:presLayoutVars>
      </dgm:prSet>
      <dgm:spPr/>
      <dgm:t>
        <a:bodyPr/>
        <a:lstStyle/>
        <a:p>
          <a:endParaRPr lang="en-US"/>
        </a:p>
      </dgm:t>
    </dgm:pt>
    <dgm:pt modelId="{7CEEFD75-CF47-40C5-BE5D-C200E8FE081F}" type="pres">
      <dgm:prSet presAssocID="{6B92A3E9-FAAD-4015-AD02-363B19E7DA1A}" presName="Accent3" presStyleCnt="0"/>
      <dgm:spPr/>
    </dgm:pt>
    <dgm:pt modelId="{0F6975E3-DD87-4C62-A956-255D1D29FAC8}" type="pres">
      <dgm:prSet presAssocID="{6B92A3E9-FAAD-4015-AD02-363B19E7DA1A}" presName="Accent" presStyleLbl="node1" presStyleIdx="4" presStyleCnt="10"/>
      <dgm:spPr/>
    </dgm:pt>
    <dgm:pt modelId="{F1BE6EFC-04B0-4655-AD3E-AFA5A1B8FACF}" type="pres">
      <dgm:prSet presAssocID="{6B92A3E9-FAAD-4015-AD02-363B19E7DA1A}" presName="ParentBackground3" presStyleCnt="0"/>
      <dgm:spPr/>
    </dgm:pt>
    <dgm:pt modelId="{5E456180-8538-41D1-93BD-468E751A2829}" type="pres">
      <dgm:prSet presAssocID="{6B92A3E9-FAAD-4015-AD02-363B19E7DA1A}" presName="ParentBackground" presStyleLbl="node1" presStyleIdx="5" presStyleCnt="10"/>
      <dgm:spPr>
        <a:solidFill>
          <a:schemeClr val="accent1">
            <a:lumMod val="60000"/>
            <a:lumOff val="40000"/>
          </a:schemeClr>
        </a:solidFill>
      </dgm:spPr>
      <dgm:t>
        <a:bodyPr/>
        <a:lstStyle/>
        <a:p>
          <a:endParaRPr lang="en-US"/>
        </a:p>
      </dgm:t>
    </dgm:pt>
    <dgm:pt modelId="{224072A7-1B4B-4066-9228-4CCB71AFD4F3}" type="pres">
      <dgm:prSet presAssocID="{6B92A3E9-FAAD-4015-AD02-363B19E7DA1A}" presName="Parent3" presStyleLbl="fgAcc0" presStyleIdx="0" presStyleCnt="0">
        <dgm:presLayoutVars>
          <dgm:chMax val="1"/>
          <dgm:chPref val="1"/>
          <dgm:bulletEnabled val="1"/>
        </dgm:presLayoutVars>
      </dgm:prSet>
      <dgm:spPr/>
      <dgm:t>
        <a:bodyPr/>
        <a:lstStyle/>
        <a:p>
          <a:endParaRPr lang="en-US"/>
        </a:p>
      </dgm:t>
    </dgm:pt>
    <dgm:pt modelId="{7C17B2E7-C1EF-43D9-8AF5-D0B57C809B80}" type="pres">
      <dgm:prSet presAssocID="{B6022693-CCE8-4606-935D-07D37E79D06E}" presName="Accent2" presStyleCnt="0"/>
      <dgm:spPr/>
    </dgm:pt>
    <dgm:pt modelId="{8846C72D-AE46-4537-BEE6-1D947C4256F4}" type="pres">
      <dgm:prSet presAssocID="{B6022693-CCE8-4606-935D-07D37E79D06E}" presName="Accent" presStyleLbl="node1" presStyleIdx="6" presStyleCnt="10"/>
      <dgm:spPr/>
    </dgm:pt>
    <dgm:pt modelId="{56BC2857-A3B3-4BE4-9737-EA473301D14E}" type="pres">
      <dgm:prSet presAssocID="{B6022693-CCE8-4606-935D-07D37E79D06E}" presName="ParentBackground2" presStyleCnt="0"/>
      <dgm:spPr/>
    </dgm:pt>
    <dgm:pt modelId="{BA9D6394-0246-4AF6-A97A-55F95AF1C1EB}" type="pres">
      <dgm:prSet presAssocID="{B6022693-CCE8-4606-935D-07D37E79D06E}" presName="ParentBackground" presStyleLbl="node1" presStyleIdx="7" presStyleCnt="10"/>
      <dgm:spPr>
        <a:solidFill>
          <a:srgbClr val="ED7D31"/>
        </a:solidFill>
      </dgm:spPr>
      <dgm:t>
        <a:bodyPr/>
        <a:lstStyle/>
        <a:p>
          <a:endParaRPr lang="en-US"/>
        </a:p>
      </dgm:t>
    </dgm:pt>
    <dgm:pt modelId="{68D97492-B378-4A9C-B42D-F68AB56FD2E7}" type="pres">
      <dgm:prSet presAssocID="{B6022693-CCE8-4606-935D-07D37E79D06E}" presName="Parent2" presStyleLbl="fgAcc0" presStyleIdx="0" presStyleCnt="0">
        <dgm:presLayoutVars>
          <dgm:chMax val="1"/>
          <dgm:chPref val="1"/>
          <dgm:bulletEnabled val="1"/>
        </dgm:presLayoutVars>
      </dgm:prSet>
      <dgm:spPr/>
      <dgm:t>
        <a:bodyPr/>
        <a:lstStyle/>
        <a:p>
          <a:endParaRPr lang="en-US"/>
        </a:p>
      </dgm:t>
    </dgm:pt>
    <dgm:pt modelId="{E3368CF5-07F9-4265-802F-A8F45A8F0BD3}" type="pres">
      <dgm:prSet presAssocID="{A8F2E702-B66B-4D37-B58B-FED136977191}" presName="Accent1" presStyleCnt="0"/>
      <dgm:spPr/>
    </dgm:pt>
    <dgm:pt modelId="{6BB2CF50-4695-4719-A135-17F28F902FF8}" type="pres">
      <dgm:prSet presAssocID="{A8F2E702-B66B-4D37-B58B-FED136977191}" presName="Accent" presStyleLbl="node1" presStyleIdx="8" presStyleCnt="10"/>
      <dgm:spPr/>
    </dgm:pt>
    <dgm:pt modelId="{325B7AF6-8670-4D47-949D-61AB6D89BEC4}" type="pres">
      <dgm:prSet presAssocID="{A8F2E702-B66B-4D37-B58B-FED136977191}" presName="ParentBackground1" presStyleCnt="0"/>
      <dgm:spPr/>
    </dgm:pt>
    <dgm:pt modelId="{0CE15DFB-9166-499E-9523-494D655A1BC8}" type="pres">
      <dgm:prSet presAssocID="{A8F2E702-B66B-4D37-B58B-FED136977191}" presName="ParentBackground" presStyleLbl="node1" presStyleIdx="9" presStyleCnt="10"/>
      <dgm:spPr/>
      <dgm:t>
        <a:bodyPr/>
        <a:lstStyle/>
        <a:p>
          <a:endParaRPr lang="en-US"/>
        </a:p>
      </dgm:t>
    </dgm:pt>
    <dgm:pt modelId="{8D057748-FCD8-45E7-8B91-D338C4C05311}" type="pres">
      <dgm:prSet presAssocID="{A8F2E702-B66B-4D37-B58B-FED136977191}" presName="Parent1" presStyleLbl="fgAcc0" presStyleIdx="0" presStyleCnt="0">
        <dgm:presLayoutVars>
          <dgm:chMax val="1"/>
          <dgm:chPref val="1"/>
          <dgm:bulletEnabled val="1"/>
        </dgm:presLayoutVars>
      </dgm:prSet>
      <dgm:spPr/>
      <dgm:t>
        <a:bodyPr/>
        <a:lstStyle/>
        <a:p>
          <a:endParaRPr lang="en-US"/>
        </a:p>
      </dgm:t>
    </dgm:pt>
  </dgm:ptLst>
  <dgm:cxnLst>
    <dgm:cxn modelId="{679791C3-32B4-4E91-9AF5-CE46C7285AF8}" type="presOf" srcId="{B6022693-CCE8-4606-935D-07D37E79D06E}" destId="{68D97492-B378-4A9C-B42D-F68AB56FD2E7}" srcOrd="1" destOrd="0" presId="urn:microsoft.com/office/officeart/2018/layout/CircleProcess"/>
    <dgm:cxn modelId="{2805E06D-0B78-41F6-914D-4845A239BD88}" srcId="{40A639D4-2F35-4B15-87C7-4F5E44A9B5AE}" destId="{B6022693-CCE8-4606-935D-07D37E79D06E}" srcOrd="1" destOrd="0" parTransId="{4E68FF7F-A673-4EDB-829D-34808B899C73}" sibTransId="{E7DCAA37-237C-44D9-B993-EFF9A1696CFA}"/>
    <dgm:cxn modelId="{BF436E2F-84AB-44E1-AF8E-18846AE2F457}" type="presOf" srcId="{6B92A3E9-FAAD-4015-AD02-363B19E7DA1A}" destId="{224072A7-1B4B-4066-9228-4CCB71AFD4F3}" srcOrd="1" destOrd="0" presId="urn:microsoft.com/office/officeart/2018/layout/CircleProcess"/>
    <dgm:cxn modelId="{2E828E9F-3A72-4E3E-A55D-A9F581290A36}" type="presOf" srcId="{40A639D4-2F35-4B15-87C7-4F5E44A9B5AE}" destId="{4397C241-FB39-4090-AC25-4E27540B9DE2}" srcOrd="0" destOrd="0" presId="urn:microsoft.com/office/officeart/2018/layout/CircleProcess"/>
    <dgm:cxn modelId="{547C3DB9-C960-4A51-B929-150628991E63}" type="presOf" srcId="{F7311414-0798-4E7B-BEE3-55CB21029E81}" destId="{6D456F6B-8F01-41ED-8D21-1C03F51951A0}" srcOrd="0" destOrd="0" presId="urn:microsoft.com/office/officeart/2018/layout/CircleProcess"/>
    <dgm:cxn modelId="{A10B6207-36CA-424C-ADA4-3E55056ECB60}" type="presOf" srcId="{A8F2E702-B66B-4D37-B58B-FED136977191}" destId="{0CE15DFB-9166-499E-9523-494D655A1BC8}" srcOrd="0" destOrd="0" presId="urn:microsoft.com/office/officeart/2018/layout/CircleProcess"/>
    <dgm:cxn modelId="{1350C05A-2CE6-4526-9C55-1A4F3C1F3284}" type="presOf" srcId="{F7311414-0798-4E7B-BEE3-55CB21029E81}" destId="{B77FBB3F-F7D5-4A2E-944F-CA8B71CDD2E1}" srcOrd="1" destOrd="0" presId="urn:microsoft.com/office/officeart/2018/layout/CircleProcess"/>
    <dgm:cxn modelId="{67C907B7-430E-4EA0-B8EB-423E76389B84}" srcId="{40A639D4-2F35-4B15-87C7-4F5E44A9B5AE}" destId="{F7311414-0798-4E7B-BEE3-55CB21029E81}" srcOrd="4" destOrd="0" parTransId="{F6D6C40E-005D-4616-9491-776DBAC72DAD}" sibTransId="{4D968730-AF77-4E33-9907-BA98C030A291}"/>
    <dgm:cxn modelId="{B2B8195A-4363-4EDE-AC39-9728ED9B94BF}" type="presOf" srcId="{69486DAE-77E1-42C3-BC6A-851423476C4F}" destId="{2F21EA65-5E19-4595-BDD2-1135B72EDD5A}" srcOrd="0" destOrd="0" presId="urn:microsoft.com/office/officeart/2018/layout/CircleProcess"/>
    <dgm:cxn modelId="{5FC22DB5-6920-435C-987B-D0B0167C2C66}" type="presOf" srcId="{6B92A3E9-FAAD-4015-AD02-363B19E7DA1A}" destId="{5E456180-8538-41D1-93BD-468E751A2829}" srcOrd="0" destOrd="0" presId="urn:microsoft.com/office/officeart/2018/layout/CircleProcess"/>
    <dgm:cxn modelId="{73F475B1-2605-4847-84F4-2B89E8AB818E}" type="presOf" srcId="{69486DAE-77E1-42C3-BC6A-851423476C4F}" destId="{E7E0ED43-29BD-4F23-851B-6FDDB1B7FE65}" srcOrd="1" destOrd="0" presId="urn:microsoft.com/office/officeart/2018/layout/CircleProcess"/>
    <dgm:cxn modelId="{0C867794-4468-4E4F-950C-7A8621ABAEB4}" srcId="{40A639D4-2F35-4B15-87C7-4F5E44A9B5AE}" destId="{A8F2E702-B66B-4D37-B58B-FED136977191}" srcOrd="0" destOrd="0" parTransId="{3D39B503-2B76-44BE-8BA0-F7991E54B9B6}" sibTransId="{87EB86A5-8020-4F02-A7A6-702F84F8437E}"/>
    <dgm:cxn modelId="{B2CF2C3A-8545-49C9-A450-F8E9B3A8EE04}" srcId="{40A639D4-2F35-4B15-87C7-4F5E44A9B5AE}" destId="{6B92A3E9-FAAD-4015-AD02-363B19E7DA1A}" srcOrd="2" destOrd="0" parTransId="{2306C452-5D66-4F74-A6BE-F7466822746D}" sibTransId="{A00DE4A4-19A3-4976-B377-EE1F4709CC25}"/>
    <dgm:cxn modelId="{11C2854D-468D-49B1-980A-D0B60BC0ADD8}" srcId="{40A639D4-2F35-4B15-87C7-4F5E44A9B5AE}" destId="{69486DAE-77E1-42C3-BC6A-851423476C4F}" srcOrd="3" destOrd="0" parTransId="{1AB244C4-CA4F-4F73-95AB-C045FB8EBA17}" sibTransId="{23333266-F0E9-4699-B7C4-E57D4F360DB7}"/>
    <dgm:cxn modelId="{65244308-E258-417A-B484-D15A8BC06C74}" type="presOf" srcId="{B6022693-CCE8-4606-935D-07D37E79D06E}" destId="{BA9D6394-0246-4AF6-A97A-55F95AF1C1EB}" srcOrd="0" destOrd="0" presId="urn:microsoft.com/office/officeart/2018/layout/CircleProcess"/>
    <dgm:cxn modelId="{6F9A715F-ECBD-47CC-8CDE-F6DE380B082D}" type="presOf" srcId="{A8F2E702-B66B-4D37-B58B-FED136977191}" destId="{8D057748-FCD8-45E7-8B91-D338C4C05311}" srcOrd="1" destOrd="0" presId="urn:microsoft.com/office/officeart/2018/layout/CircleProcess"/>
    <dgm:cxn modelId="{00BEB9D6-72B5-4130-A466-8DF7BB44595B}" type="presParOf" srcId="{4397C241-FB39-4090-AC25-4E27540B9DE2}" destId="{0F6A47B1-E9FE-4BDD-8E5D-FA57CDFD7F7C}" srcOrd="0" destOrd="0" presId="urn:microsoft.com/office/officeart/2018/layout/CircleProcess"/>
    <dgm:cxn modelId="{268FA78A-B178-4A3B-9A1F-E52001E084A9}" type="presParOf" srcId="{0F6A47B1-E9FE-4BDD-8E5D-FA57CDFD7F7C}" destId="{BB0CCB8C-4FE0-4810-A634-57F3A0CC345D}" srcOrd="0" destOrd="0" presId="urn:microsoft.com/office/officeart/2018/layout/CircleProcess"/>
    <dgm:cxn modelId="{FC3C3365-8D38-48E8-A3AE-0CD00D015EBD}" type="presParOf" srcId="{4397C241-FB39-4090-AC25-4E27540B9DE2}" destId="{E2A0FA02-7322-4355-B9F6-EFFD0C2AC0F8}" srcOrd="1" destOrd="0" presId="urn:microsoft.com/office/officeart/2018/layout/CircleProcess"/>
    <dgm:cxn modelId="{D1EDBD00-4009-4E57-A00F-80EA8C5E573C}" type="presParOf" srcId="{E2A0FA02-7322-4355-B9F6-EFFD0C2AC0F8}" destId="{6D456F6B-8F01-41ED-8D21-1C03F51951A0}" srcOrd="0" destOrd="0" presId="urn:microsoft.com/office/officeart/2018/layout/CircleProcess"/>
    <dgm:cxn modelId="{FC14CC7B-1A70-4FB6-89B6-902308BABA11}" type="presParOf" srcId="{4397C241-FB39-4090-AC25-4E27540B9DE2}" destId="{B77FBB3F-F7D5-4A2E-944F-CA8B71CDD2E1}" srcOrd="2" destOrd="0" presId="urn:microsoft.com/office/officeart/2018/layout/CircleProcess"/>
    <dgm:cxn modelId="{58DB1F53-5BD4-4CB1-8B8B-FB2A9A4A71F9}" type="presParOf" srcId="{4397C241-FB39-4090-AC25-4E27540B9DE2}" destId="{C345D281-157C-4281-B589-C0870D181D2C}" srcOrd="3" destOrd="0" presId="urn:microsoft.com/office/officeart/2018/layout/CircleProcess"/>
    <dgm:cxn modelId="{AD2DC353-D164-4987-9FC3-A83D2FED5262}" type="presParOf" srcId="{C345D281-157C-4281-B589-C0870D181D2C}" destId="{CE4C2984-0182-444E-8307-ED5D9C5562D1}" srcOrd="0" destOrd="0" presId="urn:microsoft.com/office/officeart/2018/layout/CircleProcess"/>
    <dgm:cxn modelId="{CD77B3D3-D131-46ED-A48F-54CAC4EC72EA}" type="presParOf" srcId="{4397C241-FB39-4090-AC25-4E27540B9DE2}" destId="{9BF9824F-5917-45CA-A395-0F5CDB238D40}" srcOrd="4" destOrd="0" presId="urn:microsoft.com/office/officeart/2018/layout/CircleProcess"/>
    <dgm:cxn modelId="{AC570B0D-0BA5-4E67-9E93-E34BA7874FDA}" type="presParOf" srcId="{9BF9824F-5917-45CA-A395-0F5CDB238D40}" destId="{2F21EA65-5E19-4595-BDD2-1135B72EDD5A}" srcOrd="0" destOrd="0" presId="urn:microsoft.com/office/officeart/2018/layout/CircleProcess"/>
    <dgm:cxn modelId="{9008E464-33F8-41BF-9971-98A0BA9AB89D}" type="presParOf" srcId="{4397C241-FB39-4090-AC25-4E27540B9DE2}" destId="{E7E0ED43-29BD-4F23-851B-6FDDB1B7FE65}" srcOrd="5" destOrd="0" presId="urn:microsoft.com/office/officeart/2018/layout/CircleProcess"/>
    <dgm:cxn modelId="{4B35C4CD-B630-4D28-B091-1B6E458A14DE}" type="presParOf" srcId="{4397C241-FB39-4090-AC25-4E27540B9DE2}" destId="{7CEEFD75-CF47-40C5-BE5D-C200E8FE081F}" srcOrd="6" destOrd="0" presId="urn:microsoft.com/office/officeart/2018/layout/CircleProcess"/>
    <dgm:cxn modelId="{A82F8A35-DB47-455B-9673-EE9F6F11BE70}" type="presParOf" srcId="{7CEEFD75-CF47-40C5-BE5D-C200E8FE081F}" destId="{0F6975E3-DD87-4C62-A956-255D1D29FAC8}" srcOrd="0" destOrd="0" presId="urn:microsoft.com/office/officeart/2018/layout/CircleProcess"/>
    <dgm:cxn modelId="{7C4F680C-8A68-48AC-A135-954576F0F907}" type="presParOf" srcId="{4397C241-FB39-4090-AC25-4E27540B9DE2}" destId="{F1BE6EFC-04B0-4655-AD3E-AFA5A1B8FACF}" srcOrd="7" destOrd="0" presId="urn:microsoft.com/office/officeart/2018/layout/CircleProcess"/>
    <dgm:cxn modelId="{6738C096-4788-4863-B847-FAFAE00932F1}" type="presParOf" srcId="{F1BE6EFC-04B0-4655-AD3E-AFA5A1B8FACF}" destId="{5E456180-8538-41D1-93BD-468E751A2829}" srcOrd="0" destOrd="0" presId="urn:microsoft.com/office/officeart/2018/layout/CircleProcess"/>
    <dgm:cxn modelId="{91806B0C-E75A-42B9-8AA0-C7C1FE317EEF}" type="presParOf" srcId="{4397C241-FB39-4090-AC25-4E27540B9DE2}" destId="{224072A7-1B4B-4066-9228-4CCB71AFD4F3}" srcOrd="8" destOrd="0" presId="urn:microsoft.com/office/officeart/2018/layout/CircleProcess"/>
    <dgm:cxn modelId="{48158076-3CD4-499E-8664-AAEC2AF7C8D5}" type="presParOf" srcId="{4397C241-FB39-4090-AC25-4E27540B9DE2}" destId="{7C17B2E7-C1EF-43D9-8AF5-D0B57C809B80}" srcOrd="9" destOrd="0" presId="urn:microsoft.com/office/officeart/2018/layout/CircleProcess"/>
    <dgm:cxn modelId="{82CF95E4-0AAC-4869-9BDD-BB61FCC91216}" type="presParOf" srcId="{7C17B2E7-C1EF-43D9-8AF5-D0B57C809B80}" destId="{8846C72D-AE46-4537-BEE6-1D947C4256F4}" srcOrd="0" destOrd="0" presId="urn:microsoft.com/office/officeart/2018/layout/CircleProcess"/>
    <dgm:cxn modelId="{94156F03-12C3-4F40-AFA8-CB06D498F86B}" type="presParOf" srcId="{4397C241-FB39-4090-AC25-4E27540B9DE2}" destId="{56BC2857-A3B3-4BE4-9737-EA473301D14E}" srcOrd="10" destOrd="0" presId="urn:microsoft.com/office/officeart/2018/layout/CircleProcess"/>
    <dgm:cxn modelId="{B79AFA00-72DB-4174-91F8-8D7E22C221D0}" type="presParOf" srcId="{56BC2857-A3B3-4BE4-9737-EA473301D14E}" destId="{BA9D6394-0246-4AF6-A97A-55F95AF1C1EB}" srcOrd="0" destOrd="0" presId="urn:microsoft.com/office/officeart/2018/layout/CircleProcess"/>
    <dgm:cxn modelId="{CB08AAE9-07CB-410B-9376-A8C668165271}" type="presParOf" srcId="{4397C241-FB39-4090-AC25-4E27540B9DE2}" destId="{68D97492-B378-4A9C-B42D-F68AB56FD2E7}" srcOrd="11" destOrd="0" presId="urn:microsoft.com/office/officeart/2018/layout/CircleProcess"/>
    <dgm:cxn modelId="{C3DA975B-CDAB-4041-8ED2-234F50F28762}" type="presParOf" srcId="{4397C241-FB39-4090-AC25-4E27540B9DE2}" destId="{E3368CF5-07F9-4265-802F-A8F45A8F0BD3}" srcOrd="12" destOrd="0" presId="urn:microsoft.com/office/officeart/2018/layout/CircleProcess"/>
    <dgm:cxn modelId="{E97C978D-0719-4EE7-BDC3-6B81DAE58D63}" type="presParOf" srcId="{E3368CF5-07F9-4265-802F-A8F45A8F0BD3}" destId="{6BB2CF50-4695-4719-A135-17F28F902FF8}" srcOrd="0" destOrd="0" presId="urn:microsoft.com/office/officeart/2018/layout/CircleProcess"/>
    <dgm:cxn modelId="{49612A2B-E027-4D46-B706-1715A0DDB33D}" type="presParOf" srcId="{4397C241-FB39-4090-AC25-4E27540B9DE2}" destId="{325B7AF6-8670-4D47-949D-61AB6D89BEC4}" srcOrd="13" destOrd="0" presId="urn:microsoft.com/office/officeart/2018/layout/CircleProcess"/>
    <dgm:cxn modelId="{671A9F02-7E20-4A7D-BF83-75C71BC53153}" type="presParOf" srcId="{325B7AF6-8670-4D47-949D-61AB6D89BEC4}" destId="{0CE15DFB-9166-499E-9523-494D655A1BC8}" srcOrd="0" destOrd="0" presId="urn:microsoft.com/office/officeart/2018/layout/CircleProcess"/>
    <dgm:cxn modelId="{963621C5-71F5-4AC2-9FD7-A8376B4FCD85}" type="presParOf" srcId="{4397C241-FB39-4090-AC25-4E27540B9DE2}" destId="{8D057748-FCD8-45E7-8B91-D338C4C05311}" srcOrd="14" destOrd="0" presId="urn:microsoft.com/office/officeart/2018/layout/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0A639D4-2F35-4B15-87C7-4F5E44A9B5AE}" type="doc">
      <dgm:prSet loTypeId="urn:microsoft.com/office/officeart/2018/layout/CircleProcess" loCatId="simpleprocesssa" qsTypeId="urn:microsoft.com/office/officeart/2005/8/quickstyle/simple1" qsCatId="simple" csTypeId="urn:microsoft.com/office/officeart/2005/8/colors/colorful5" csCatId="colorful" phldr="1"/>
      <dgm:spPr/>
      <dgm:t>
        <a:bodyPr/>
        <a:lstStyle/>
        <a:p>
          <a:endParaRPr lang="en-US"/>
        </a:p>
      </dgm:t>
    </dgm:pt>
    <dgm:pt modelId="{A8F2E702-B66B-4D37-B58B-FED136977191}">
      <dgm:prSet custT="1"/>
      <dgm:spPr/>
      <dgm:t>
        <a:bodyPr/>
        <a:lstStyle/>
        <a:p>
          <a:r>
            <a:rPr lang="en-US" sz="2000" dirty="0"/>
            <a:t>Community Mobilization and Awareness</a:t>
          </a:r>
        </a:p>
      </dgm:t>
    </dgm:pt>
    <dgm:pt modelId="{3D39B503-2B76-44BE-8BA0-F7991E54B9B6}" type="parTrans" cxnId="{0C867794-4468-4E4F-950C-7A8621ABAEB4}">
      <dgm:prSet/>
      <dgm:spPr/>
      <dgm:t>
        <a:bodyPr/>
        <a:lstStyle/>
        <a:p>
          <a:endParaRPr lang="en-US" sz="2000"/>
        </a:p>
      </dgm:t>
    </dgm:pt>
    <dgm:pt modelId="{87EB86A5-8020-4F02-A7A6-702F84F8437E}" type="sibTrans" cxnId="{0C867794-4468-4E4F-950C-7A8621ABAEB4}">
      <dgm:prSet/>
      <dgm:spPr/>
      <dgm:t>
        <a:bodyPr/>
        <a:lstStyle/>
        <a:p>
          <a:endParaRPr lang="en-US" sz="2000"/>
        </a:p>
      </dgm:t>
    </dgm:pt>
    <dgm:pt modelId="{B6022693-CCE8-4606-935D-07D37E79D06E}">
      <dgm:prSet custT="1"/>
      <dgm:spPr/>
      <dgm:t>
        <a:bodyPr/>
        <a:lstStyle/>
        <a:p>
          <a:r>
            <a:rPr lang="en-US" sz="2000" dirty="0"/>
            <a:t>Household/ Community Led Screening and referral	</a:t>
          </a:r>
        </a:p>
      </dgm:t>
    </dgm:pt>
    <dgm:pt modelId="{4E68FF7F-A673-4EDB-829D-34808B899C73}" type="parTrans" cxnId="{2805E06D-0B78-41F6-914D-4845A239BD88}">
      <dgm:prSet/>
      <dgm:spPr/>
      <dgm:t>
        <a:bodyPr/>
        <a:lstStyle/>
        <a:p>
          <a:endParaRPr lang="en-US" sz="2000"/>
        </a:p>
      </dgm:t>
    </dgm:pt>
    <dgm:pt modelId="{E7DCAA37-237C-44D9-B993-EFF9A1696CFA}" type="sibTrans" cxnId="{2805E06D-0B78-41F6-914D-4845A239BD88}">
      <dgm:prSet/>
      <dgm:spPr/>
      <dgm:t>
        <a:bodyPr/>
        <a:lstStyle/>
        <a:p>
          <a:endParaRPr lang="en-US" sz="2000"/>
        </a:p>
      </dgm:t>
    </dgm:pt>
    <dgm:pt modelId="{6B92A3E9-FAAD-4015-AD02-363B19E7DA1A}">
      <dgm:prSet custT="1"/>
      <dgm:spPr/>
      <dgm:t>
        <a:bodyPr/>
        <a:lstStyle/>
        <a:p>
          <a:pPr rtl="0"/>
          <a:r>
            <a:rPr lang="en-US" sz="2000" dirty="0"/>
            <a:t>Contact Tracing and Referral</a:t>
          </a:r>
        </a:p>
      </dgm:t>
    </dgm:pt>
    <dgm:pt modelId="{2306C452-5D66-4F74-A6BE-F7466822746D}" type="parTrans" cxnId="{B2CF2C3A-8545-49C9-A450-F8E9B3A8EE04}">
      <dgm:prSet/>
      <dgm:spPr/>
      <dgm:t>
        <a:bodyPr/>
        <a:lstStyle/>
        <a:p>
          <a:endParaRPr lang="en-US" sz="2000"/>
        </a:p>
      </dgm:t>
    </dgm:pt>
    <dgm:pt modelId="{A00DE4A4-19A3-4976-B377-EE1F4709CC25}" type="sibTrans" cxnId="{B2CF2C3A-8545-49C9-A450-F8E9B3A8EE04}">
      <dgm:prSet/>
      <dgm:spPr/>
      <dgm:t>
        <a:bodyPr/>
        <a:lstStyle/>
        <a:p>
          <a:endParaRPr lang="en-US" sz="2000"/>
        </a:p>
      </dgm:t>
    </dgm:pt>
    <dgm:pt modelId="{69486DAE-77E1-42C3-BC6A-851423476C4F}">
      <dgm:prSet custT="1"/>
      <dgm:spPr/>
      <dgm:t>
        <a:bodyPr/>
        <a:lstStyle/>
        <a:p>
          <a:r>
            <a:rPr lang="en-US" sz="2000" dirty="0"/>
            <a:t>Stigma Reduction</a:t>
          </a:r>
        </a:p>
      </dgm:t>
    </dgm:pt>
    <dgm:pt modelId="{1AB244C4-CA4F-4F73-95AB-C045FB8EBA17}" type="parTrans" cxnId="{11C2854D-468D-49B1-980A-D0B60BC0ADD8}">
      <dgm:prSet/>
      <dgm:spPr/>
      <dgm:t>
        <a:bodyPr/>
        <a:lstStyle/>
        <a:p>
          <a:endParaRPr lang="en-US" sz="2000"/>
        </a:p>
      </dgm:t>
    </dgm:pt>
    <dgm:pt modelId="{23333266-F0E9-4699-B7C4-E57D4F360DB7}" type="sibTrans" cxnId="{11C2854D-468D-49B1-980A-D0B60BC0ADD8}">
      <dgm:prSet/>
      <dgm:spPr/>
      <dgm:t>
        <a:bodyPr/>
        <a:lstStyle/>
        <a:p>
          <a:endParaRPr lang="en-US" sz="2000"/>
        </a:p>
      </dgm:t>
    </dgm:pt>
    <dgm:pt modelId="{F7311414-0798-4E7B-BEE3-55CB21029E81}">
      <dgm:prSet custT="1"/>
      <dgm:spPr/>
      <dgm:t>
        <a:bodyPr/>
        <a:lstStyle/>
        <a:p>
          <a:r>
            <a:rPr lang="en-US" sz="2000" dirty="0"/>
            <a:t>Treatment Support Networks</a:t>
          </a:r>
        </a:p>
      </dgm:t>
    </dgm:pt>
    <dgm:pt modelId="{F6D6C40E-005D-4616-9491-776DBAC72DAD}" type="parTrans" cxnId="{67C907B7-430E-4EA0-B8EB-423E76389B84}">
      <dgm:prSet/>
      <dgm:spPr/>
      <dgm:t>
        <a:bodyPr/>
        <a:lstStyle/>
        <a:p>
          <a:endParaRPr lang="en-US" sz="2000"/>
        </a:p>
      </dgm:t>
    </dgm:pt>
    <dgm:pt modelId="{4D968730-AF77-4E33-9907-BA98C030A291}" type="sibTrans" cxnId="{67C907B7-430E-4EA0-B8EB-423E76389B84}">
      <dgm:prSet/>
      <dgm:spPr/>
      <dgm:t>
        <a:bodyPr/>
        <a:lstStyle/>
        <a:p>
          <a:endParaRPr lang="en-US" sz="2000"/>
        </a:p>
      </dgm:t>
    </dgm:pt>
    <dgm:pt modelId="{4397C241-FB39-4090-AC25-4E27540B9DE2}" type="pres">
      <dgm:prSet presAssocID="{40A639D4-2F35-4B15-87C7-4F5E44A9B5AE}" presName="Name0" presStyleCnt="0">
        <dgm:presLayoutVars>
          <dgm:chMax val="11"/>
          <dgm:chPref val="11"/>
          <dgm:dir/>
          <dgm:resizeHandles/>
        </dgm:presLayoutVars>
      </dgm:prSet>
      <dgm:spPr/>
      <dgm:t>
        <a:bodyPr/>
        <a:lstStyle/>
        <a:p>
          <a:endParaRPr lang="en-US"/>
        </a:p>
      </dgm:t>
    </dgm:pt>
    <dgm:pt modelId="{0F6A47B1-E9FE-4BDD-8E5D-FA57CDFD7F7C}" type="pres">
      <dgm:prSet presAssocID="{F7311414-0798-4E7B-BEE3-55CB21029E81}" presName="Accent5" presStyleCnt="0"/>
      <dgm:spPr/>
    </dgm:pt>
    <dgm:pt modelId="{BB0CCB8C-4FE0-4810-A634-57F3A0CC345D}" type="pres">
      <dgm:prSet presAssocID="{F7311414-0798-4E7B-BEE3-55CB21029E81}" presName="Accent" presStyleLbl="node1" presStyleIdx="0" presStyleCnt="10"/>
      <dgm:spPr/>
    </dgm:pt>
    <dgm:pt modelId="{E2A0FA02-7322-4355-B9F6-EFFD0C2AC0F8}" type="pres">
      <dgm:prSet presAssocID="{F7311414-0798-4E7B-BEE3-55CB21029E81}" presName="ParentBackground5" presStyleCnt="0"/>
      <dgm:spPr/>
    </dgm:pt>
    <dgm:pt modelId="{6D456F6B-8F01-41ED-8D21-1C03F51951A0}" type="pres">
      <dgm:prSet presAssocID="{F7311414-0798-4E7B-BEE3-55CB21029E81}" presName="ParentBackground" presStyleLbl="node1" presStyleIdx="1" presStyleCnt="10" custScaleX="126209" custScaleY="105499"/>
      <dgm:spPr/>
      <dgm:t>
        <a:bodyPr/>
        <a:lstStyle/>
        <a:p>
          <a:endParaRPr lang="en-US"/>
        </a:p>
      </dgm:t>
    </dgm:pt>
    <dgm:pt modelId="{B77FBB3F-F7D5-4A2E-944F-CA8B71CDD2E1}" type="pres">
      <dgm:prSet presAssocID="{F7311414-0798-4E7B-BEE3-55CB21029E81}" presName="Parent5" presStyleLbl="fgAcc0" presStyleIdx="0" presStyleCnt="0">
        <dgm:presLayoutVars>
          <dgm:chMax val="1"/>
          <dgm:chPref val="1"/>
          <dgm:bulletEnabled val="1"/>
        </dgm:presLayoutVars>
      </dgm:prSet>
      <dgm:spPr/>
      <dgm:t>
        <a:bodyPr/>
        <a:lstStyle/>
        <a:p>
          <a:endParaRPr lang="en-US"/>
        </a:p>
      </dgm:t>
    </dgm:pt>
    <dgm:pt modelId="{C345D281-157C-4281-B589-C0870D181D2C}" type="pres">
      <dgm:prSet presAssocID="{69486DAE-77E1-42C3-BC6A-851423476C4F}" presName="Accent4" presStyleCnt="0"/>
      <dgm:spPr/>
    </dgm:pt>
    <dgm:pt modelId="{CE4C2984-0182-444E-8307-ED5D9C5562D1}" type="pres">
      <dgm:prSet presAssocID="{69486DAE-77E1-42C3-BC6A-851423476C4F}" presName="Accent" presStyleLbl="node1" presStyleIdx="2" presStyleCnt="10"/>
      <dgm:spPr/>
    </dgm:pt>
    <dgm:pt modelId="{9BF9824F-5917-45CA-A395-0F5CDB238D40}" type="pres">
      <dgm:prSet presAssocID="{69486DAE-77E1-42C3-BC6A-851423476C4F}" presName="ParentBackground4" presStyleCnt="0"/>
      <dgm:spPr/>
    </dgm:pt>
    <dgm:pt modelId="{2F21EA65-5E19-4595-BDD2-1135B72EDD5A}" type="pres">
      <dgm:prSet presAssocID="{69486DAE-77E1-42C3-BC6A-851423476C4F}" presName="ParentBackground" presStyleLbl="node1" presStyleIdx="3" presStyleCnt="10" custScaleX="104135"/>
      <dgm:spPr/>
      <dgm:t>
        <a:bodyPr/>
        <a:lstStyle/>
        <a:p>
          <a:endParaRPr lang="en-US"/>
        </a:p>
      </dgm:t>
    </dgm:pt>
    <dgm:pt modelId="{E7E0ED43-29BD-4F23-851B-6FDDB1B7FE65}" type="pres">
      <dgm:prSet presAssocID="{69486DAE-77E1-42C3-BC6A-851423476C4F}" presName="Parent4" presStyleLbl="fgAcc0" presStyleIdx="0" presStyleCnt="0">
        <dgm:presLayoutVars>
          <dgm:chMax val="1"/>
          <dgm:chPref val="1"/>
          <dgm:bulletEnabled val="1"/>
        </dgm:presLayoutVars>
      </dgm:prSet>
      <dgm:spPr/>
      <dgm:t>
        <a:bodyPr/>
        <a:lstStyle/>
        <a:p>
          <a:endParaRPr lang="en-US"/>
        </a:p>
      </dgm:t>
    </dgm:pt>
    <dgm:pt modelId="{7CEEFD75-CF47-40C5-BE5D-C200E8FE081F}" type="pres">
      <dgm:prSet presAssocID="{6B92A3E9-FAAD-4015-AD02-363B19E7DA1A}" presName="Accent3" presStyleCnt="0"/>
      <dgm:spPr/>
    </dgm:pt>
    <dgm:pt modelId="{0F6975E3-DD87-4C62-A956-255D1D29FAC8}" type="pres">
      <dgm:prSet presAssocID="{6B92A3E9-FAAD-4015-AD02-363B19E7DA1A}" presName="Accent" presStyleLbl="node1" presStyleIdx="4" presStyleCnt="10"/>
      <dgm:spPr/>
    </dgm:pt>
    <dgm:pt modelId="{F1BE6EFC-04B0-4655-AD3E-AFA5A1B8FACF}" type="pres">
      <dgm:prSet presAssocID="{6B92A3E9-FAAD-4015-AD02-363B19E7DA1A}" presName="ParentBackground3" presStyleCnt="0"/>
      <dgm:spPr/>
    </dgm:pt>
    <dgm:pt modelId="{5E456180-8538-41D1-93BD-468E751A2829}" type="pres">
      <dgm:prSet presAssocID="{6B92A3E9-FAAD-4015-AD02-363B19E7DA1A}" presName="ParentBackground" presStyleLbl="node1" presStyleIdx="5" presStyleCnt="10" custScaleX="120689" custScaleY="105795"/>
      <dgm:spPr>
        <a:solidFill>
          <a:schemeClr val="accent1">
            <a:lumMod val="60000"/>
            <a:lumOff val="40000"/>
          </a:schemeClr>
        </a:solidFill>
      </dgm:spPr>
      <dgm:t>
        <a:bodyPr/>
        <a:lstStyle/>
        <a:p>
          <a:endParaRPr lang="en-US"/>
        </a:p>
      </dgm:t>
    </dgm:pt>
    <dgm:pt modelId="{224072A7-1B4B-4066-9228-4CCB71AFD4F3}" type="pres">
      <dgm:prSet presAssocID="{6B92A3E9-FAAD-4015-AD02-363B19E7DA1A}" presName="Parent3" presStyleLbl="fgAcc0" presStyleIdx="0" presStyleCnt="0">
        <dgm:presLayoutVars>
          <dgm:chMax val="1"/>
          <dgm:chPref val="1"/>
          <dgm:bulletEnabled val="1"/>
        </dgm:presLayoutVars>
      </dgm:prSet>
      <dgm:spPr/>
      <dgm:t>
        <a:bodyPr/>
        <a:lstStyle/>
        <a:p>
          <a:endParaRPr lang="en-US"/>
        </a:p>
      </dgm:t>
    </dgm:pt>
    <dgm:pt modelId="{7C17B2E7-C1EF-43D9-8AF5-D0B57C809B80}" type="pres">
      <dgm:prSet presAssocID="{B6022693-CCE8-4606-935D-07D37E79D06E}" presName="Accent2" presStyleCnt="0"/>
      <dgm:spPr/>
    </dgm:pt>
    <dgm:pt modelId="{8846C72D-AE46-4537-BEE6-1D947C4256F4}" type="pres">
      <dgm:prSet presAssocID="{B6022693-CCE8-4606-935D-07D37E79D06E}" presName="Accent" presStyleLbl="node1" presStyleIdx="6" presStyleCnt="10" custLinFactNeighborX="0" custLinFactNeighborY="-824"/>
      <dgm:spPr/>
    </dgm:pt>
    <dgm:pt modelId="{56BC2857-A3B3-4BE4-9737-EA473301D14E}" type="pres">
      <dgm:prSet presAssocID="{B6022693-CCE8-4606-935D-07D37E79D06E}" presName="ParentBackground2" presStyleCnt="0"/>
      <dgm:spPr/>
    </dgm:pt>
    <dgm:pt modelId="{BA9D6394-0246-4AF6-A97A-55F95AF1C1EB}" type="pres">
      <dgm:prSet presAssocID="{B6022693-CCE8-4606-935D-07D37E79D06E}" presName="ParentBackground" presStyleLbl="node1" presStyleIdx="7" presStyleCnt="10" custScaleX="121044" custScaleY="106748"/>
      <dgm:spPr>
        <a:solidFill>
          <a:srgbClr val="ED7D31"/>
        </a:solidFill>
      </dgm:spPr>
      <dgm:t>
        <a:bodyPr/>
        <a:lstStyle/>
        <a:p>
          <a:endParaRPr lang="en-US"/>
        </a:p>
      </dgm:t>
    </dgm:pt>
    <dgm:pt modelId="{68D97492-B378-4A9C-B42D-F68AB56FD2E7}" type="pres">
      <dgm:prSet presAssocID="{B6022693-CCE8-4606-935D-07D37E79D06E}" presName="Parent2" presStyleLbl="fgAcc0" presStyleIdx="0" presStyleCnt="0">
        <dgm:presLayoutVars>
          <dgm:chMax val="1"/>
          <dgm:chPref val="1"/>
          <dgm:bulletEnabled val="1"/>
        </dgm:presLayoutVars>
      </dgm:prSet>
      <dgm:spPr/>
      <dgm:t>
        <a:bodyPr/>
        <a:lstStyle/>
        <a:p>
          <a:endParaRPr lang="en-US"/>
        </a:p>
      </dgm:t>
    </dgm:pt>
    <dgm:pt modelId="{E3368CF5-07F9-4265-802F-A8F45A8F0BD3}" type="pres">
      <dgm:prSet presAssocID="{A8F2E702-B66B-4D37-B58B-FED136977191}" presName="Accent1" presStyleCnt="0"/>
      <dgm:spPr/>
    </dgm:pt>
    <dgm:pt modelId="{6BB2CF50-4695-4719-A135-17F28F902FF8}" type="pres">
      <dgm:prSet presAssocID="{A8F2E702-B66B-4D37-B58B-FED136977191}" presName="Accent" presStyleLbl="node1" presStyleIdx="8" presStyleCnt="10"/>
      <dgm:spPr/>
    </dgm:pt>
    <dgm:pt modelId="{325B7AF6-8670-4D47-949D-61AB6D89BEC4}" type="pres">
      <dgm:prSet presAssocID="{A8F2E702-B66B-4D37-B58B-FED136977191}" presName="ParentBackground1" presStyleCnt="0"/>
      <dgm:spPr/>
    </dgm:pt>
    <dgm:pt modelId="{0CE15DFB-9166-499E-9523-494D655A1BC8}" type="pres">
      <dgm:prSet presAssocID="{A8F2E702-B66B-4D37-B58B-FED136977191}" presName="ParentBackground" presStyleLbl="node1" presStyleIdx="9" presStyleCnt="10" custScaleX="116835" custScaleY="112465"/>
      <dgm:spPr/>
      <dgm:t>
        <a:bodyPr/>
        <a:lstStyle/>
        <a:p>
          <a:endParaRPr lang="en-US"/>
        </a:p>
      </dgm:t>
    </dgm:pt>
    <dgm:pt modelId="{8D057748-FCD8-45E7-8B91-D338C4C05311}" type="pres">
      <dgm:prSet presAssocID="{A8F2E702-B66B-4D37-B58B-FED136977191}" presName="Parent1" presStyleLbl="fgAcc0" presStyleIdx="0" presStyleCnt="0">
        <dgm:presLayoutVars>
          <dgm:chMax val="1"/>
          <dgm:chPref val="1"/>
          <dgm:bulletEnabled val="1"/>
        </dgm:presLayoutVars>
      </dgm:prSet>
      <dgm:spPr/>
      <dgm:t>
        <a:bodyPr/>
        <a:lstStyle/>
        <a:p>
          <a:endParaRPr lang="en-US"/>
        </a:p>
      </dgm:t>
    </dgm:pt>
  </dgm:ptLst>
  <dgm:cxnLst>
    <dgm:cxn modelId="{679791C3-32B4-4E91-9AF5-CE46C7285AF8}" type="presOf" srcId="{B6022693-CCE8-4606-935D-07D37E79D06E}" destId="{68D97492-B378-4A9C-B42D-F68AB56FD2E7}" srcOrd="1" destOrd="0" presId="urn:microsoft.com/office/officeart/2018/layout/CircleProcess"/>
    <dgm:cxn modelId="{2805E06D-0B78-41F6-914D-4845A239BD88}" srcId="{40A639D4-2F35-4B15-87C7-4F5E44A9B5AE}" destId="{B6022693-CCE8-4606-935D-07D37E79D06E}" srcOrd="1" destOrd="0" parTransId="{4E68FF7F-A673-4EDB-829D-34808B899C73}" sibTransId="{E7DCAA37-237C-44D9-B993-EFF9A1696CFA}"/>
    <dgm:cxn modelId="{BF436E2F-84AB-44E1-AF8E-18846AE2F457}" type="presOf" srcId="{6B92A3E9-FAAD-4015-AD02-363B19E7DA1A}" destId="{224072A7-1B4B-4066-9228-4CCB71AFD4F3}" srcOrd="1" destOrd="0" presId="urn:microsoft.com/office/officeart/2018/layout/CircleProcess"/>
    <dgm:cxn modelId="{2E828E9F-3A72-4E3E-A55D-A9F581290A36}" type="presOf" srcId="{40A639D4-2F35-4B15-87C7-4F5E44A9B5AE}" destId="{4397C241-FB39-4090-AC25-4E27540B9DE2}" srcOrd="0" destOrd="0" presId="urn:microsoft.com/office/officeart/2018/layout/CircleProcess"/>
    <dgm:cxn modelId="{547C3DB9-C960-4A51-B929-150628991E63}" type="presOf" srcId="{F7311414-0798-4E7B-BEE3-55CB21029E81}" destId="{6D456F6B-8F01-41ED-8D21-1C03F51951A0}" srcOrd="0" destOrd="0" presId="urn:microsoft.com/office/officeart/2018/layout/CircleProcess"/>
    <dgm:cxn modelId="{A10B6207-36CA-424C-ADA4-3E55056ECB60}" type="presOf" srcId="{A8F2E702-B66B-4D37-B58B-FED136977191}" destId="{0CE15DFB-9166-499E-9523-494D655A1BC8}" srcOrd="0" destOrd="0" presId="urn:microsoft.com/office/officeart/2018/layout/CircleProcess"/>
    <dgm:cxn modelId="{1350C05A-2CE6-4526-9C55-1A4F3C1F3284}" type="presOf" srcId="{F7311414-0798-4E7B-BEE3-55CB21029E81}" destId="{B77FBB3F-F7D5-4A2E-944F-CA8B71CDD2E1}" srcOrd="1" destOrd="0" presId="urn:microsoft.com/office/officeart/2018/layout/CircleProcess"/>
    <dgm:cxn modelId="{67C907B7-430E-4EA0-B8EB-423E76389B84}" srcId="{40A639D4-2F35-4B15-87C7-4F5E44A9B5AE}" destId="{F7311414-0798-4E7B-BEE3-55CB21029E81}" srcOrd="4" destOrd="0" parTransId="{F6D6C40E-005D-4616-9491-776DBAC72DAD}" sibTransId="{4D968730-AF77-4E33-9907-BA98C030A291}"/>
    <dgm:cxn modelId="{B2B8195A-4363-4EDE-AC39-9728ED9B94BF}" type="presOf" srcId="{69486DAE-77E1-42C3-BC6A-851423476C4F}" destId="{2F21EA65-5E19-4595-BDD2-1135B72EDD5A}" srcOrd="0" destOrd="0" presId="urn:microsoft.com/office/officeart/2018/layout/CircleProcess"/>
    <dgm:cxn modelId="{5FC22DB5-6920-435C-987B-D0B0167C2C66}" type="presOf" srcId="{6B92A3E9-FAAD-4015-AD02-363B19E7DA1A}" destId="{5E456180-8538-41D1-93BD-468E751A2829}" srcOrd="0" destOrd="0" presId="urn:microsoft.com/office/officeart/2018/layout/CircleProcess"/>
    <dgm:cxn modelId="{73F475B1-2605-4847-84F4-2B89E8AB818E}" type="presOf" srcId="{69486DAE-77E1-42C3-BC6A-851423476C4F}" destId="{E7E0ED43-29BD-4F23-851B-6FDDB1B7FE65}" srcOrd="1" destOrd="0" presId="urn:microsoft.com/office/officeart/2018/layout/CircleProcess"/>
    <dgm:cxn modelId="{0C867794-4468-4E4F-950C-7A8621ABAEB4}" srcId="{40A639D4-2F35-4B15-87C7-4F5E44A9B5AE}" destId="{A8F2E702-B66B-4D37-B58B-FED136977191}" srcOrd="0" destOrd="0" parTransId="{3D39B503-2B76-44BE-8BA0-F7991E54B9B6}" sibTransId="{87EB86A5-8020-4F02-A7A6-702F84F8437E}"/>
    <dgm:cxn modelId="{B2CF2C3A-8545-49C9-A450-F8E9B3A8EE04}" srcId="{40A639D4-2F35-4B15-87C7-4F5E44A9B5AE}" destId="{6B92A3E9-FAAD-4015-AD02-363B19E7DA1A}" srcOrd="2" destOrd="0" parTransId="{2306C452-5D66-4F74-A6BE-F7466822746D}" sibTransId="{A00DE4A4-19A3-4976-B377-EE1F4709CC25}"/>
    <dgm:cxn modelId="{11C2854D-468D-49B1-980A-D0B60BC0ADD8}" srcId="{40A639D4-2F35-4B15-87C7-4F5E44A9B5AE}" destId="{69486DAE-77E1-42C3-BC6A-851423476C4F}" srcOrd="3" destOrd="0" parTransId="{1AB244C4-CA4F-4F73-95AB-C045FB8EBA17}" sibTransId="{23333266-F0E9-4699-B7C4-E57D4F360DB7}"/>
    <dgm:cxn modelId="{65244308-E258-417A-B484-D15A8BC06C74}" type="presOf" srcId="{B6022693-CCE8-4606-935D-07D37E79D06E}" destId="{BA9D6394-0246-4AF6-A97A-55F95AF1C1EB}" srcOrd="0" destOrd="0" presId="urn:microsoft.com/office/officeart/2018/layout/CircleProcess"/>
    <dgm:cxn modelId="{6F9A715F-ECBD-47CC-8CDE-F6DE380B082D}" type="presOf" srcId="{A8F2E702-B66B-4D37-B58B-FED136977191}" destId="{8D057748-FCD8-45E7-8B91-D338C4C05311}" srcOrd="1" destOrd="0" presId="urn:microsoft.com/office/officeart/2018/layout/CircleProcess"/>
    <dgm:cxn modelId="{00BEB9D6-72B5-4130-A466-8DF7BB44595B}" type="presParOf" srcId="{4397C241-FB39-4090-AC25-4E27540B9DE2}" destId="{0F6A47B1-E9FE-4BDD-8E5D-FA57CDFD7F7C}" srcOrd="0" destOrd="0" presId="urn:microsoft.com/office/officeart/2018/layout/CircleProcess"/>
    <dgm:cxn modelId="{268FA78A-B178-4A3B-9A1F-E52001E084A9}" type="presParOf" srcId="{0F6A47B1-E9FE-4BDD-8E5D-FA57CDFD7F7C}" destId="{BB0CCB8C-4FE0-4810-A634-57F3A0CC345D}" srcOrd="0" destOrd="0" presId="urn:microsoft.com/office/officeart/2018/layout/CircleProcess"/>
    <dgm:cxn modelId="{FC3C3365-8D38-48E8-A3AE-0CD00D015EBD}" type="presParOf" srcId="{4397C241-FB39-4090-AC25-4E27540B9DE2}" destId="{E2A0FA02-7322-4355-B9F6-EFFD0C2AC0F8}" srcOrd="1" destOrd="0" presId="urn:microsoft.com/office/officeart/2018/layout/CircleProcess"/>
    <dgm:cxn modelId="{D1EDBD00-4009-4E57-A00F-80EA8C5E573C}" type="presParOf" srcId="{E2A0FA02-7322-4355-B9F6-EFFD0C2AC0F8}" destId="{6D456F6B-8F01-41ED-8D21-1C03F51951A0}" srcOrd="0" destOrd="0" presId="urn:microsoft.com/office/officeart/2018/layout/CircleProcess"/>
    <dgm:cxn modelId="{FC14CC7B-1A70-4FB6-89B6-902308BABA11}" type="presParOf" srcId="{4397C241-FB39-4090-AC25-4E27540B9DE2}" destId="{B77FBB3F-F7D5-4A2E-944F-CA8B71CDD2E1}" srcOrd="2" destOrd="0" presId="urn:microsoft.com/office/officeart/2018/layout/CircleProcess"/>
    <dgm:cxn modelId="{58DB1F53-5BD4-4CB1-8B8B-FB2A9A4A71F9}" type="presParOf" srcId="{4397C241-FB39-4090-AC25-4E27540B9DE2}" destId="{C345D281-157C-4281-B589-C0870D181D2C}" srcOrd="3" destOrd="0" presId="urn:microsoft.com/office/officeart/2018/layout/CircleProcess"/>
    <dgm:cxn modelId="{AD2DC353-D164-4987-9FC3-A83D2FED5262}" type="presParOf" srcId="{C345D281-157C-4281-B589-C0870D181D2C}" destId="{CE4C2984-0182-444E-8307-ED5D9C5562D1}" srcOrd="0" destOrd="0" presId="urn:microsoft.com/office/officeart/2018/layout/CircleProcess"/>
    <dgm:cxn modelId="{CD77B3D3-D131-46ED-A48F-54CAC4EC72EA}" type="presParOf" srcId="{4397C241-FB39-4090-AC25-4E27540B9DE2}" destId="{9BF9824F-5917-45CA-A395-0F5CDB238D40}" srcOrd="4" destOrd="0" presId="urn:microsoft.com/office/officeart/2018/layout/CircleProcess"/>
    <dgm:cxn modelId="{AC570B0D-0BA5-4E67-9E93-E34BA7874FDA}" type="presParOf" srcId="{9BF9824F-5917-45CA-A395-0F5CDB238D40}" destId="{2F21EA65-5E19-4595-BDD2-1135B72EDD5A}" srcOrd="0" destOrd="0" presId="urn:microsoft.com/office/officeart/2018/layout/CircleProcess"/>
    <dgm:cxn modelId="{9008E464-33F8-41BF-9971-98A0BA9AB89D}" type="presParOf" srcId="{4397C241-FB39-4090-AC25-4E27540B9DE2}" destId="{E7E0ED43-29BD-4F23-851B-6FDDB1B7FE65}" srcOrd="5" destOrd="0" presId="urn:microsoft.com/office/officeart/2018/layout/CircleProcess"/>
    <dgm:cxn modelId="{4B35C4CD-B630-4D28-B091-1B6E458A14DE}" type="presParOf" srcId="{4397C241-FB39-4090-AC25-4E27540B9DE2}" destId="{7CEEFD75-CF47-40C5-BE5D-C200E8FE081F}" srcOrd="6" destOrd="0" presId="urn:microsoft.com/office/officeart/2018/layout/CircleProcess"/>
    <dgm:cxn modelId="{A82F8A35-DB47-455B-9673-EE9F6F11BE70}" type="presParOf" srcId="{7CEEFD75-CF47-40C5-BE5D-C200E8FE081F}" destId="{0F6975E3-DD87-4C62-A956-255D1D29FAC8}" srcOrd="0" destOrd="0" presId="urn:microsoft.com/office/officeart/2018/layout/CircleProcess"/>
    <dgm:cxn modelId="{7C4F680C-8A68-48AC-A135-954576F0F907}" type="presParOf" srcId="{4397C241-FB39-4090-AC25-4E27540B9DE2}" destId="{F1BE6EFC-04B0-4655-AD3E-AFA5A1B8FACF}" srcOrd="7" destOrd="0" presId="urn:microsoft.com/office/officeart/2018/layout/CircleProcess"/>
    <dgm:cxn modelId="{6738C096-4788-4863-B847-FAFAE00932F1}" type="presParOf" srcId="{F1BE6EFC-04B0-4655-AD3E-AFA5A1B8FACF}" destId="{5E456180-8538-41D1-93BD-468E751A2829}" srcOrd="0" destOrd="0" presId="urn:microsoft.com/office/officeart/2018/layout/CircleProcess"/>
    <dgm:cxn modelId="{91806B0C-E75A-42B9-8AA0-C7C1FE317EEF}" type="presParOf" srcId="{4397C241-FB39-4090-AC25-4E27540B9DE2}" destId="{224072A7-1B4B-4066-9228-4CCB71AFD4F3}" srcOrd="8" destOrd="0" presId="urn:microsoft.com/office/officeart/2018/layout/CircleProcess"/>
    <dgm:cxn modelId="{48158076-3CD4-499E-8664-AAEC2AF7C8D5}" type="presParOf" srcId="{4397C241-FB39-4090-AC25-4E27540B9DE2}" destId="{7C17B2E7-C1EF-43D9-8AF5-D0B57C809B80}" srcOrd="9" destOrd="0" presId="urn:microsoft.com/office/officeart/2018/layout/CircleProcess"/>
    <dgm:cxn modelId="{82CF95E4-0AAC-4869-9BDD-BB61FCC91216}" type="presParOf" srcId="{7C17B2E7-C1EF-43D9-8AF5-D0B57C809B80}" destId="{8846C72D-AE46-4537-BEE6-1D947C4256F4}" srcOrd="0" destOrd="0" presId="urn:microsoft.com/office/officeart/2018/layout/CircleProcess"/>
    <dgm:cxn modelId="{94156F03-12C3-4F40-AFA8-CB06D498F86B}" type="presParOf" srcId="{4397C241-FB39-4090-AC25-4E27540B9DE2}" destId="{56BC2857-A3B3-4BE4-9737-EA473301D14E}" srcOrd="10" destOrd="0" presId="urn:microsoft.com/office/officeart/2018/layout/CircleProcess"/>
    <dgm:cxn modelId="{B79AFA00-72DB-4174-91F8-8D7E22C221D0}" type="presParOf" srcId="{56BC2857-A3B3-4BE4-9737-EA473301D14E}" destId="{BA9D6394-0246-4AF6-A97A-55F95AF1C1EB}" srcOrd="0" destOrd="0" presId="urn:microsoft.com/office/officeart/2018/layout/CircleProcess"/>
    <dgm:cxn modelId="{CB08AAE9-07CB-410B-9376-A8C668165271}" type="presParOf" srcId="{4397C241-FB39-4090-AC25-4E27540B9DE2}" destId="{68D97492-B378-4A9C-B42D-F68AB56FD2E7}" srcOrd="11" destOrd="0" presId="urn:microsoft.com/office/officeart/2018/layout/CircleProcess"/>
    <dgm:cxn modelId="{C3DA975B-CDAB-4041-8ED2-234F50F28762}" type="presParOf" srcId="{4397C241-FB39-4090-AC25-4E27540B9DE2}" destId="{E3368CF5-07F9-4265-802F-A8F45A8F0BD3}" srcOrd="12" destOrd="0" presId="urn:microsoft.com/office/officeart/2018/layout/CircleProcess"/>
    <dgm:cxn modelId="{E97C978D-0719-4EE7-BDC3-6B81DAE58D63}" type="presParOf" srcId="{E3368CF5-07F9-4265-802F-A8F45A8F0BD3}" destId="{6BB2CF50-4695-4719-A135-17F28F902FF8}" srcOrd="0" destOrd="0" presId="urn:microsoft.com/office/officeart/2018/layout/CircleProcess"/>
    <dgm:cxn modelId="{49612A2B-E027-4D46-B706-1715A0DDB33D}" type="presParOf" srcId="{4397C241-FB39-4090-AC25-4E27540B9DE2}" destId="{325B7AF6-8670-4D47-949D-61AB6D89BEC4}" srcOrd="13" destOrd="0" presId="urn:microsoft.com/office/officeart/2018/layout/CircleProcess"/>
    <dgm:cxn modelId="{671A9F02-7E20-4A7D-BF83-75C71BC53153}" type="presParOf" srcId="{325B7AF6-8670-4D47-949D-61AB6D89BEC4}" destId="{0CE15DFB-9166-499E-9523-494D655A1BC8}" srcOrd="0" destOrd="0" presId="urn:microsoft.com/office/officeart/2018/layout/CircleProcess"/>
    <dgm:cxn modelId="{963621C5-71F5-4AC2-9FD7-A8376B4FCD85}" type="presParOf" srcId="{4397C241-FB39-4090-AC25-4E27540B9DE2}" destId="{8D057748-FCD8-45E7-8B91-D338C4C05311}" srcOrd="14" destOrd="0" presId="urn:microsoft.com/office/officeart/2018/layout/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0CCB8C-4FE0-4810-A634-57F3A0CC345D}">
      <dsp:nvSpPr>
        <dsp:cNvPr id="0" name=""/>
        <dsp:cNvSpPr/>
      </dsp:nvSpPr>
      <dsp:spPr>
        <a:xfrm>
          <a:off x="9577010" y="814838"/>
          <a:ext cx="2140619" cy="2140969"/>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456F6B-8F01-41ED-8D21-1C03F51951A0}">
      <dsp:nvSpPr>
        <dsp:cNvPr id="0" name=""/>
        <dsp:cNvSpPr/>
      </dsp:nvSpPr>
      <dsp:spPr>
        <a:xfrm>
          <a:off x="9385787" y="744043"/>
          <a:ext cx="2521927" cy="2282558"/>
        </a:xfrm>
        <a:prstGeom prst="ellipse">
          <a:avLst/>
        </a:prstGeom>
        <a:solidFill>
          <a:schemeClr val="accent5">
            <a:hueOff val="-750949"/>
            <a:satOff val="-1935"/>
            <a:lumOff val="-130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US" sz="2400" kern="1200" dirty="0"/>
            <a:t>Integrated Care for Comorbidities</a:t>
          </a:r>
        </a:p>
      </dsp:txBody>
      <dsp:txXfrm>
        <a:off x="9746678" y="1070184"/>
        <a:ext cx="1801581" cy="1630276"/>
      </dsp:txXfrm>
    </dsp:sp>
    <dsp:sp modelId="{CE4C2984-0182-444E-8307-ED5D9C5562D1}">
      <dsp:nvSpPr>
        <dsp:cNvPr id="0" name=""/>
        <dsp:cNvSpPr/>
      </dsp:nvSpPr>
      <dsp:spPr>
        <a:xfrm rot="2700000">
          <a:off x="7363604" y="814949"/>
          <a:ext cx="2140371" cy="2140371"/>
        </a:xfrm>
        <a:prstGeom prst="teardrop">
          <a:avLst>
            <a:gd name="adj" fmla="val 100000"/>
          </a:avLst>
        </a:prstGeom>
        <a:solidFill>
          <a:schemeClr val="accent5">
            <a:hueOff val="-1501898"/>
            <a:satOff val="-3871"/>
            <a:lumOff val="-26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21EA65-5E19-4595-BDD2-1135B72EDD5A}">
      <dsp:nvSpPr>
        <dsp:cNvPr id="0" name=""/>
        <dsp:cNvSpPr/>
      </dsp:nvSpPr>
      <dsp:spPr>
        <a:xfrm>
          <a:off x="7436391" y="886216"/>
          <a:ext cx="1998214" cy="1998213"/>
        </a:xfrm>
        <a:prstGeom prst="ellipse">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US" sz="2400" kern="1200" dirty="0"/>
            <a:t>Treatment and Support</a:t>
          </a:r>
        </a:p>
      </dsp:txBody>
      <dsp:txXfrm>
        <a:off x="7721199" y="1171728"/>
        <a:ext cx="1427459" cy="1427187"/>
      </dsp:txXfrm>
    </dsp:sp>
    <dsp:sp modelId="{0F6975E3-DD87-4C62-A956-255D1D29FAC8}">
      <dsp:nvSpPr>
        <dsp:cNvPr id="0" name=""/>
        <dsp:cNvSpPr/>
      </dsp:nvSpPr>
      <dsp:spPr>
        <a:xfrm rot="2700000">
          <a:off x="5152352" y="814949"/>
          <a:ext cx="2140371" cy="2140371"/>
        </a:xfrm>
        <a:prstGeom prst="teardrop">
          <a:avLst>
            <a:gd name="adj" fmla="val 100000"/>
          </a:avLst>
        </a:prstGeom>
        <a:solidFill>
          <a:schemeClr val="accent5">
            <a:hueOff val="-3003797"/>
            <a:satOff val="-7742"/>
            <a:lumOff val="-52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E456180-8538-41D1-93BD-468E751A2829}">
      <dsp:nvSpPr>
        <dsp:cNvPr id="0" name=""/>
        <dsp:cNvSpPr/>
      </dsp:nvSpPr>
      <dsp:spPr>
        <a:xfrm>
          <a:off x="5224000" y="886216"/>
          <a:ext cx="1998214" cy="1998213"/>
        </a:xfrm>
        <a:prstGeom prst="ellipse">
          <a:avLst/>
        </a:prstGeom>
        <a:solidFill>
          <a:schemeClr val="accent1">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rtl="0">
            <a:lnSpc>
              <a:spcPct val="90000"/>
            </a:lnSpc>
            <a:spcBef>
              <a:spcPct val="0"/>
            </a:spcBef>
            <a:spcAft>
              <a:spcPct val="35000"/>
            </a:spcAft>
          </a:pPr>
          <a:r>
            <a:rPr lang="en-US" sz="2400" kern="1200" dirty="0"/>
            <a:t>TB Preventive Therapy</a:t>
          </a:r>
        </a:p>
      </dsp:txBody>
      <dsp:txXfrm>
        <a:off x="5508809" y="1171728"/>
        <a:ext cx="1427459" cy="1427187"/>
      </dsp:txXfrm>
    </dsp:sp>
    <dsp:sp modelId="{8846C72D-AE46-4537-BEE6-1D947C4256F4}">
      <dsp:nvSpPr>
        <dsp:cNvPr id="0" name=""/>
        <dsp:cNvSpPr/>
      </dsp:nvSpPr>
      <dsp:spPr>
        <a:xfrm rot="2700000">
          <a:off x="2939962" y="814949"/>
          <a:ext cx="2140371" cy="2140371"/>
        </a:xfrm>
        <a:prstGeom prst="teardrop">
          <a:avLst>
            <a:gd name="adj" fmla="val 100000"/>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9D6394-0246-4AF6-A97A-55F95AF1C1EB}">
      <dsp:nvSpPr>
        <dsp:cNvPr id="0" name=""/>
        <dsp:cNvSpPr/>
      </dsp:nvSpPr>
      <dsp:spPr>
        <a:xfrm>
          <a:off x="3011610" y="886216"/>
          <a:ext cx="1998214" cy="1998213"/>
        </a:xfrm>
        <a:prstGeom prst="ellipse">
          <a:avLst/>
        </a:prstGeom>
        <a:solidFill>
          <a:srgbClr val="ED7D3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US" sz="2400" kern="1200" dirty="0"/>
            <a:t>Case Detection and Diagnosis	</a:t>
          </a:r>
        </a:p>
      </dsp:txBody>
      <dsp:txXfrm>
        <a:off x="3297557" y="1171728"/>
        <a:ext cx="1427459" cy="1427187"/>
      </dsp:txXfrm>
    </dsp:sp>
    <dsp:sp modelId="{6BB2CF50-4695-4719-A135-17F28F902FF8}">
      <dsp:nvSpPr>
        <dsp:cNvPr id="0" name=""/>
        <dsp:cNvSpPr/>
      </dsp:nvSpPr>
      <dsp:spPr>
        <a:xfrm rot="2700000">
          <a:off x="727571" y="814949"/>
          <a:ext cx="2140371" cy="2140371"/>
        </a:xfrm>
        <a:prstGeom prst="teardrop">
          <a:avLst>
            <a:gd name="adj" fmla="val 100000"/>
          </a:avLst>
        </a:prstGeom>
        <a:solidFill>
          <a:schemeClr val="accent5">
            <a:hueOff val="-6007594"/>
            <a:satOff val="-15484"/>
            <a:lumOff val="-1045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E15DFB-9166-499E-9523-494D655A1BC8}">
      <dsp:nvSpPr>
        <dsp:cNvPr id="0" name=""/>
        <dsp:cNvSpPr/>
      </dsp:nvSpPr>
      <dsp:spPr>
        <a:xfrm>
          <a:off x="799219" y="886216"/>
          <a:ext cx="1998214" cy="1998213"/>
        </a:xfrm>
        <a:prstGeom prst="ellipse">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US" sz="2400" kern="1200" dirty="0"/>
            <a:t>Screening</a:t>
          </a:r>
        </a:p>
      </dsp:txBody>
      <dsp:txXfrm>
        <a:off x="1085166" y="1171728"/>
        <a:ext cx="1427459" cy="14271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0CCB8C-4FE0-4810-A634-57F3A0CC345D}">
      <dsp:nvSpPr>
        <dsp:cNvPr id="0" name=""/>
        <dsp:cNvSpPr/>
      </dsp:nvSpPr>
      <dsp:spPr>
        <a:xfrm>
          <a:off x="8072643" y="711439"/>
          <a:ext cx="1868984" cy="1869290"/>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456F6B-8F01-41ED-8D21-1C03F51951A0}">
      <dsp:nvSpPr>
        <dsp:cNvPr id="0" name=""/>
        <dsp:cNvSpPr/>
      </dsp:nvSpPr>
      <dsp:spPr>
        <a:xfrm>
          <a:off x="7905685" y="725790"/>
          <a:ext cx="2201906" cy="1840587"/>
        </a:xfrm>
        <a:prstGeom prst="ellipse">
          <a:avLst/>
        </a:prstGeom>
        <a:solidFill>
          <a:schemeClr val="accent5">
            <a:hueOff val="-750949"/>
            <a:satOff val="-1935"/>
            <a:lumOff val="-130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dirty="0"/>
            <a:t>Treatment Support Networks</a:t>
          </a:r>
        </a:p>
      </dsp:txBody>
      <dsp:txXfrm>
        <a:off x="8220781" y="988781"/>
        <a:ext cx="1572969" cy="1314606"/>
      </dsp:txXfrm>
    </dsp:sp>
    <dsp:sp modelId="{CE4C2984-0182-444E-8307-ED5D9C5562D1}">
      <dsp:nvSpPr>
        <dsp:cNvPr id="0" name=""/>
        <dsp:cNvSpPr/>
      </dsp:nvSpPr>
      <dsp:spPr>
        <a:xfrm rot="2700000">
          <a:off x="6140108" y="711536"/>
          <a:ext cx="1868768" cy="1868768"/>
        </a:xfrm>
        <a:prstGeom prst="teardrop">
          <a:avLst>
            <a:gd name="adj" fmla="val 100000"/>
          </a:avLst>
        </a:prstGeom>
        <a:solidFill>
          <a:schemeClr val="accent5">
            <a:hueOff val="-1501898"/>
            <a:satOff val="-3871"/>
            <a:lumOff val="-26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21EA65-5E19-4595-BDD2-1135B72EDD5A}">
      <dsp:nvSpPr>
        <dsp:cNvPr id="0" name=""/>
        <dsp:cNvSpPr/>
      </dsp:nvSpPr>
      <dsp:spPr>
        <a:xfrm>
          <a:off x="6167588" y="773759"/>
          <a:ext cx="1816792" cy="1744649"/>
        </a:xfrm>
        <a:prstGeom prst="ellipse">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dirty="0"/>
            <a:t>Stigma Reduction</a:t>
          </a:r>
        </a:p>
      </dsp:txBody>
      <dsp:txXfrm>
        <a:off x="6426538" y="1023042"/>
        <a:ext cx="1297856" cy="1246084"/>
      </dsp:txXfrm>
    </dsp:sp>
    <dsp:sp modelId="{0F6975E3-DD87-4C62-A956-255D1D29FAC8}">
      <dsp:nvSpPr>
        <dsp:cNvPr id="0" name=""/>
        <dsp:cNvSpPr/>
      </dsp:nvSpPr>
      <dsp:spPr>
        <a:xfrm rot="2700000">
          <a:off x="4209453" y="711536"/>
          <a:ext cx="1868768" cy="1868768"/>
        </a:xfrm>
        <a:prstGeom prst="teardrop">
          <a:avLst>
            <a:gd name="adj" fmla="val 100000"/>
          </a:avLst>
        </a:prstGeom>
        <a:solidFill>
          <a:schemeClr val="accent5">
            <a:hueOff val="-3003797"/>
            <a:satOff val="-7742"/>
            <a:lumOff val="-52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E456180-8538-41D1-93BD-468E751A2829}">
      <dsp:nvSpPr>
        <dsp:cNvPr id="0" name=""/>
        <dsp:cNvSpPr/>
      </dsp:nvSpPr>
      <dsp:spPr>
        <a:xfrm>
          <a:off x="4091534" y="723208"/>
          <a:ext cx="2105602" cy="1845751"/>
        </a:xfrm>
        <a:prstGeom prst="ellipse">
          <a:avLst/>
        </a:prstGeom>
        <a:solidFill>
          <a:schemeClr val="accent1">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rtl="0">
            <a:lnSpc>
              <a:spcPct val="90000"/>
            </a:lnSpc>
            <a:spcBef>
              <a:spcPct val="0"/>
            </a:spcBef>
            <a:spcAft>
              <a:spcPct val="35000"/>
            </a:spcAft>
          </a:pPr>
          <a:r>
            <a:rPr lang="en-US" sz="2000" kern="1200" dirty="0"/>
            <a:t>Contact Tracing and Referral</a:t>
          </a:r>
        </a:p>
      </dsp:txBody>
      <dsp:txXfrm>
        <a:off x="4391648" y="986936"/>
        <a:ext cx="1504172" cy="1318295"/>
      </dsp:txXfrm>
    </dsp:sp>
    <dsp:sp modelId="{8846C72D-AE46-4537-BEE6-1D947C4256F4}">
      <dsp:nvSpPr>
        <dsp:cNvPr id="0" name=""/>
        <dsp:cNvSpPr/>
      </dsp:nvSpPr>
      <dsp:spPr>
        <a:xfrm rot="2700000">
          <a:off x="2277804" y="689751"/>
          <a:ext cx="1868768" cy="1868768"/>
        </a:xfrm>
        <a:prstGeom prst="teardrop">
          <a:avLst>
            <a:gd name="adj" fmla="val 100000"/>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9D6394-0246-4AF6-A97A-55F95AF1C1EB}">
      <dsp:nvSpPr>
        <dsp:cNvPr id="0" name=""/>
        <dsp:cNvSpPr/>
      </dsp:nvSpPr>
      <dsp:spPr>
        <a:xfrm>
          <a:off x="2156788" y="714895"/>
          <a:ext cx="2111795" cy="1862378"/>
        </a:xfrm>
        <a:prstGeom prst="ellipse">
          <a:avLst/>
        </a:prstGeom>
        <a:solidFill>
          <a:srgbClr val="ED7D3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dirty="0"/>
            <a:t>Household/ Community Led Screening and referral	</a:t>
          </a:r>
        </a:p>
      </dsp:txBody>
      <dsp:txXfrm>
        <a:off x="2458989" y="980999"/>
        <a:ext cx="1508597" cy="1330170"/>
      </dsp:txXfrm>
    </dsp:sp>
    <dsp:sp modelId="{6BB2CF50-4695-4719-A135-17F28F902FF8}">
      <dsp:nvSpPr>
        <dsp:cNvPr id="0" name=""/>
        <dsp:cNvSpPr/>
      </dsp:nvSpPr>
      <dsp:spPr>
        <a:xfrm rot="2700000">
          <a:off x="346155" y="711536"/>
          <a:ext cx="1868768" cy="1868768"/>
        </a:xfrm>
        <a:prstGeom prst="teardrop">
          <a:avLst>
            <a:gd name="adj" fmla="val 100000"/>
          </a:avLst>
        </a:prstGeom>
        <a:solidFill>
          <a:schemeClr val="accent5">
            <a:hueOff val="-6007594"/>
            <a:satOff val="-15484"/>
            <a:lumOff val="-1045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E15DFB-9166-499E-9523-494D655A1BC8}">
      <dsp:nvSpPr>
        <dsp:cNvPr id="0" name=""/>
        <dsp:cNvSpPr/>
      </dsp:nvSpPr>
      <dsp:spPr>
        <a:xfrm>
          <a:off x="261855" y="665024"/>
          <a:ext cx="2038363" cy="1962120"/>
        </a:xfrm>
        <a:prstGeom prst="ellipse">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dirty="0"/>
            <a:t>Community Mobilization and Awareness</a:t>
          </a:r>
        </a:p>
      </dsp:txBody>
      <dsp:txXfrm>
        <a:off x="553548" y="945380"/>
        <a:ext cx="1456139" cy="1401408"/>
      </dsp:txXfrm>
    </dsp:sp>
  </dsp:spTree>
</dsp:drawing>
</file>

<file path=ppt/diagrams/layout1.xml><?xml version="1.0" encoding="utf-8"?>
<dgm:layoutDef xmlns:dgm="http://schemas.openxmlformats.org/drawingml/2006/diagram" xmlns:a="http://schemas.openxmlformats.org/drawingml/2006/main" uniqueId="urn:microsoft.com/office/officeart/2018/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node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18/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node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05A5C8-95AB-F44F-A0BF-D94AE01D628C}" type="datetimeFigureOut">
              <a:rPr lang="en-KE" smtClean="0"/>
              <a:t>28/09/2025</a:t>
            </a:fld>
            <a:endParaRPr lang="en-K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K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24B7C0-4E6F-7549-B547-36F73B036249}" type="slidenum">
              <a:rPr lang="en-KE" smtClean="0"/>
              <a:t>‹#›</a:t>
            </a:fld>
            <a:endParaRPr lang="en-KE"/>
          </a:p>
        </p:txBody>
      </p:sp>
    </p:spTree>
    <p:extLst>
      <p:ext uri="{BB962C8B-B14F-4D97-AF65-F5344CB8AC3E}">
        <p14:creationId xmlns:p14="http://schemas.microsoft.com/office/powerpoint/2010/main" val="2319436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Font typeface="Arial" panose="020B0604020202020204" pitchFamily="34" charset="0"/>
              <a:buChar char="•"/>
            </a:pPr>
            <a:r>
              <a:rPr lang="en-US" sz="1200" dirty="0"/>
              <a:t>The approach addresses broader health determinants by engaging stakeholders inside and outside the health sector and empowering individuals and communities in their health.</a:t>
            </a:r>
          </a:p>
          <a:p>
            <a:pPr marL="285750" indent="-285750" algn="just">
              <a:buFont typeface="Arial" panose="020B0604020202020204" pitchFamily="34" charset="0"/>
              <a:buChar char="•"/>
            </a:pPr>
            <a:endParaRPr lang="en-US" sz="1200" dirty="0">
              <a:solidFill>
                <a:srgbClr val="002060"/>
              </a:solidFill>
            </a:endParaRPr>
          </a:p>
          <a:p>
            <a:endParaRPr lang="en-US" dirty="0"/>
          </a:p>
        </p:txBody>
      </p:sp>
      <p:sp>
        <p:nvSpPr>
          <p:cNvPr id="4" name="Slide Number Placeholder 3"/>
          <p:cNvSpPr>
            <a:spLocks noGrp="1"/>
          </p:cNvSpPr>
          <p:nvPr>
            <p:ph type="sldNum" sz="quarter" idx="10"/>
          </p:nvPr>
        </p:nvSpPr>
        <p:spPr/>
        <p:txBody>
          <a:bodyPr/>
          <a:lstStyle/>
          <a:p>
            <a:fld id="{F424B7C0-4E6F-7549-B547-36F73B036249}" type="slidenum">
              <a:rPr lang="en-KE" smtClean="0"/>
              <a:t>10</a:t>
            </a:fld>
            <a:endParaRPr lang="en-KE"/>
          </a:p>
        </p:txBody>
      </p:sp>
    </p:spTree>
    <p:extLst>
      <p:ext uri="{BB962C8B-B14F-4D97-AF65-F5344CB8AC3E}">
        <p14:creationId xmlns:p14="http://schemas.microsoft.com/office/powerpoint/2010/main" val="1676869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The actions that TB program managers, ministry of health officials and other PHC leaders can or should take will depend on what </a:t>
            </a:r>
            <a:r>
              <a:rPr lang="en-US" sz="1200" b="1" dirty="0" smtClean="0"/>
              <a:t>stage</a:t>
            </a:r>
            <a:r>
              <a:rPr lang="en-US" sz="1200" dirty="0" smtClean="0"/>
              <a:t> their health system has reached in the journey towards PHC</a:t>
            </a:r>
          </a:p>
          <a:p>
            <a:pPr marL="285750" indent="-285750" algn="just">
              <a:buFont typeface="Arial" panose="020B0604020202020204" pitchFamily="34" charset="0"/>
              <a:buChar char="•"/>
            </a:pPr>
            <a:r>
              <a:rPr lang="en-US" sz="1200" b="1" dirty="0" smtClean="0">
                <a:solidFill>
                  <a:srgbClr val="002060"/>
                </a:solidFill>
              </a:rPr>
              <a:t>Early stages- </a:t>
            </a:r>
            <a:r>
              <a:rPr lang="en-US" sz="1200" dirty="0" smtClean="0">
                <a:solidFill>
                  <a:srgbClr val="002060"/>
                </a:solidFill>
              </a:rPr>
              <a:t>l</a:t>
            </a:r>
            <a:r>
              <a:rPr lang="en-US" sz="1200" dirty="0" smtClean="0"/>
              <a:t>ack of political commitment and supportive policies. In such cases, the TB response can play a key role in strengthening the broader health system, encouraging integration at the point of service delivery, multi-sectoral action and community empowerment. Policy reforms may be necessary to enable integrated models of care.</a:t>
            </a:r>
          </a:p>
          <a:p>
            <a:pPr marL="285750" indent="-285750" algn="just">
              <a:buFont typeface="Arial" panose="020B0604020202020204" pitchFamily="34" charset="0"/>
              <a:buChar char="•"/>
            </a:pPr>
            <a:endParaRPr lang="en-US" sz="1200" dirty="0" smtClean="0"/>
          </a:p>
          <a:p>
            <a:pPr marL="285750" indent="-285750" algn="just">
              <a:buFont typeface="Arial" panose="020B0604020202020204" pitchFamily="34" charset="0"/>
              <a:buChar char="•"/>
            </a:pPr>
            <a:r>
              <a:rPr lang="en-US" sz="1200" b="1" dirty="0" smtClean="0">
                <a:solidFill>
                  <a:srgbClr val="002060"/>
                </a:solidFill>
              </a:rPr>
              <a:t>Advanced stage</a:t>
            </a:r>
            <a:r>
              <a:rPr lang="en-US" sz="1200" dirty="0" smtClean="0">
                <a:solidFill>
                  <a:srgbClr val="002060"/>
                </a:solidFill>
              </a:rPr>
              <a:t>-</a:t>
            </a:r>
            <a:r>
              <a:rPr lang="en-US" sz="1200" dirty="0" smtClean="0"/>
              <a:t>have political commitment and robust governance structures, alongside policies that promote the PHC approach. These countries should focus on effectively implementing policies that further solidify the PHC orientation of their health systems including enhancement of TB care and prevention. </a:t>
            </a:r>
            <a:endParaRPr lang="en-US" sz="1200" dirty="0" smtClean="0">
              <a:solidFill>
                <a:srgbClr val="002060"/>
              </a:solidFill>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endParaRPr lang="en-US" dirty="0"/>
          </a:p>
        </p:txBody>
      </p:sp>
      <p:sp>
        <p:nvSpPr>
          <p:cNvPr id="4" name="Slide Number Placeholder 3"/>
          <p:cNvSpPr>
            <a:spLocks noGrp="1"/>
          </p:cNvSpPr>
          <p:nvPr>
            <p:ph type="sldNum" sz="quarter" idx="10"/>
          </p:nvPr>
        </p:nvSpPr>
        <p:spPr/>
        <p:txBody>
          <a:bodyPr/>
          <a:lstStyle/>
          <a:p>
            <a:fld id="{F424B7C0-4E6F-7549-B547-36F73B036249}" type="slidenum">
              <a:rPr lang="en-KE" smtClean="0"/>
              <a:t>23</a:t>
            </a:fld>
            <a:endParaRPr lang="en-KE"/>
          </a:p>
        </p:txBody>
      </p:sp>
    </p:spTree>
    <p:extLst>
      <p:ext uri="{BB962C8B-B14F-4D97-AF65-F5344CB8AC3E}">
        <p14:creationId xmlns:p14="http://schemas.microsoft.com/office/powerpoint/2010/main" val="35560821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rgbClr val="424242"/>
                </a:solidFill>
                <a:latin typeface="Segoe Sans"/>
              </a:rPr>
              <a:t>Kenya’s Primary Health Care (PHC) implementation journey has been marked by strategic reforms, innovative models, and </a:t>
            </a:r>
            <a:r>
              <a:rPr lang="en-US" dirty="0" err="1" smtClean="0">
                <a:solidFill>
                  <a:srgbClr val="424242"/>
                </a:solidFill>
                <a:latin typeface="Segoe Sans"/>
              </a:rPr>
              <a:t>multisectoral</a:t>
            </a:r>
            <a:r>
              <a:rPr lang="en-US" dirty="0" smtClean="0">
                <a:solidFill>
                  <a:srgbClr val="424242"/>
                </a:solidFill>
                <a:latin typeface="Segoe Sans"/>
              </a:rPr>
              <a:t> collaboration aimed at achieving Universal Health Coverage (UHC).</a:t>
            </a:r>
            <a:endParaRPr lang="en-US" dirty="0" smtClean="0"/>
          </a:p>
          <a:p>
            <a:endParaRPr lang="en-US" dirty="0"/>
          </a:p>
        </p:txBody>
      </p:sp>
      <p:sp>
        <p:nvSpPr>
          <p:cNvPr id="4" name="Slide Number Placeholder 3"/>
          <p:cNvSpPr>
            <a:spLocks noGrp="1"/>
          </p:cNvSpPr>
          <p:nvPr>
            <p:ph type="sldNum" sz="quarter" idx="10"/>
          </p:nvPr>
        </p:nvSpPr>
        <p:spPr/>
        <p:txBody>
          <a:bodyPr/>
          <a:lstStyle/>
          <a:p>
            <a:fld id="{F424B7C0-4E6F-7549-B547-36F73B036249}" type="slidenum">
              <a:rPr lang="en-KE" smtClean="0"/>
              <a:t>24</a:t>
            </a:fld>
            <a:endParaRPr lang="en-KE"/>
          </a:p>
        </p:txBody>
      </p:sp>
    </p:spTree>
    <p:extLst>
      <p:ext uri="{BB962C8B-B14F-4D97-AF65-F5344CB8AC3E}">
        <p14:creationId xmlns:p14="http://schemas.microsoft.com/office/powerpoint/2010/main" val="196622091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png"/><Relationship Id="rId7"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10.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png"/><Relationship Id="rId7"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png"/><Relationship Id="rId12" Type="http://schemas.openxmlformats.org/officeDocument/2006/relationships/image" Target="../media/image10.png"/><Relationship Id="rId2" Type="http://schemas.openxmlformats.org/officeDocument/2006/relationships/image" Target="../media/image12.jpe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15.emf"/><Relationship Id="rId10" Type="http://schemas.openxmlformats.org/officeDocument/2006/relationships/image" Target="../media/image19.png"/><Relationship Id="rId4" Type="http://schemas.openxmlformats.org/officeDocument/2006/relationships/image" Target="../media/image14.png"/><Relationship Id="rId9" Type="http://schemas.openxmlformats.org/officeDocument/2006/relationships/image" Target="../media/image1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png"/><Relationship Id="rId7"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image" Target="../media/image4.png"/><Relationship Id="rId11" Type="http://schemas.openxmlformats.org/officeDocument/2006/relationships/image" Target="../media/image10.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png"/><Relationship Id="rId7"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png"/><Relationship Id="rId12" Type="http://schemas.openxmlformats.org/officeDocument/2006/relationships/image" Target="../media/image10.png"/><Relationship Id="rId2" Type="http://schemas.openxmlformats.org/officeDocument/2006/relationships/image" Target="../media/image12.jpeg"/><Relationship Id="rId1" Type="http://schemas.openxmlformats.org/officeDocument/2006/relationships/slideMaster" Target="../slideMasters/slideMaster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15.emf"/><Relationship Id="rId10" Type="http://schemas.openxmlformats.org/officeDocument/2006/relationships/image" Target="../media/image19.png"/><Relationship Id="rId4" Type="http://schemas.openxmlformats.org/officeDocument/2006/relationships/image" Target="../media/image14.png"/><Relationship Id="rId9" Type="http://schemas.openxmlformats.org/officeDocument/2006/relationships/image" Target="../media/image18.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png"/><Relationship Id="rId7"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Master" Target="../slideMasters/slideMaster3.xml"/><Relationship Id="rId6" Type="http://schemas.openxmlformats.org/officeDocument/2006/relationships/image" Target="../media/image4.png"/><Relationship Id="rId11" Type="http://schemas.openxmlformats.org/officeDocument/2006/relationships/image" Target="../media/image10.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Master" Target="../slideMasters/slideMaster3.xml"/><Relationship Id="rId6" Type="http://schemas.openxmlformats.org/officeDocument/2006/relationships/image" Target="../media/image20.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png"/><Relationship Id="rId7"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Master" Target="../slideMasters/slideMaster3.xml"/><Relationship Id="rId6" Type="http://schemas.openxmlformats.org/officeDocument/2006/relationships/image" Target="../media/image10.png"/><Relationship Id="rId5" Type="http://schemas.openxmlformats.org/officeDocument/2006/relationships/image" Target="../media/image20.png"/><Relationship Id="rId4"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png"/><Relationship Id="rId7"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Master" Target="../slideMasters/slideMaster3.xml"/><Relationship Id="rId6" Type="http://schemas.openxmlformats.org/officeDocument/2006/relationships/image" Target="../media/image10.png"/><Relationship Id="rId5" Type="http://schemas.openxmlformats.org/officeDocument/2006/relationships/image" Target="../media/image20.png"/><Relationship Id="rId4"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3.xml"/><Relationship Id="rId6" Type="http://schemas.openxmlformats.org/officeDocument/2006/relationships/image" Target="../media/image10.png"/><Relationship Id="rId5" Type="http://schemas.openxmlformats.org/officeDocument/2006/relationships/image" Target="../media/image20.png"/><Relationship Id="rId4" Type="http://schemas.openxmlformats.org/officeDocument/2006/relationships/image" Target="../media/image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21.png"/><Relationship Id="rId3" Type="http://schemas.openxmlformats.org/officeDocument/2006/relationships/image" Target="../media/image13.png"/><Relationship Id="rId7" Type="http://schemas.openxmlformats.org/officeDocument/2006/relationships/image" Target="../media/image20.png"/><Relationship Id="rId12" Type="http://schemas.openxmlformats.org/officeDocument/2006/relationships/image" Target="../media/image19.png"/><Relationship Id="rId2" Type="http://schemas.openxmlformats.org/officeDocument/2006/relationships/image" Target="../media/image12.jpeg"/><Relationship Id="rId1" Type="http://schemas.openxmlformats.org/officeDocument/2006/relationships/slideMaster" Target="../slideMasters/slideMaster3.xml"/><Relationship Id="rId6" Type="http://schemas.openxmlformats.org/officeDocument/2006/relationships/image" Target="../media/image4.png"/><Relationship Id="rId11" Type="http://schemas.openxmlformats.org/officeDocument/2006/relationships/image" Target="../media/image18.png"/><Relationship Id="rId5" Type="http://schemas.openxmlformats.org/officeDocument/2006/relationships/image" Target="../media/image15.emf"/><Relationship Id="rId10" Type="http://schemas.openxmlformats.org/officeDocument/2006/relationships/image" Target="../media/image17.png"/><Relationship Id="rId4" Type="http://schemas.openxmlformats.org/officeDocument/2006/relationships/image" Target="../media/image14.png"/><Relationship Id="rId9"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AutoShape 2" descr="A black background with red green and white letters&#10;&#10;Description automatically generated"/>
          <p:cNvSpPr>
            <a:spLocks noChangeAspect="1" noChangeArrowheads="1"/>
          </p:cNvSpPr>
          <p:nvPr userDrawn="1"/>
        </p:nvSpPr>
        <p:spPr bwMode="auto">
          <a:xfrm>
            <a:off x="212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descr="A blue and green background with black stripes&#10;&#10;Description automatically generated">
            <a:extLst>
              <a:ext uri="{FF2B5EF4-FFF2-40B4-BE49-F238E27FC236}">
                <a16:creationId xmlns:a16="http://schemas.microsoft.com/office/drawing/2014/main" id="{F3810C42-41DD-06A5-B280-9AB2448A9352}"/>
              </a:ext>
            </a:extLst>
          </p:cNvPr>
          <p:cNvPicPr>
            <a:picLocks noChangeAspect="1"/>
          </p:cNvPicPr>
          <p:nvPr userDrawn="1"/>
        </p:nvPicPr>
        <p:blipFill rotWithShape="1">
          <a:blip r:embed="rId2"/>
          <a:srcRect b="16614"/>
          <a:stretch/>
        </p:blipFill>
        <p:spPr>
          <a:xfrm>
            <a:off x="0" y="0"/>
            <a:ext cx="12192000" cy="5718629"/>
          </a:xfrm>
          <a:prstGeom prst="rect">
            <a:avLst/>
          </a:prstGeom>
        </p:spPr>
      </p:pic>
      <p:pic>
        <p:nvPicPr>
          <p:cNvPr id="10" name="Picture 9" descr="A lion holding a spear and a shield with text&#10;&#10;Description automatically generated">
            <a:extLst>
              <a:ext uri="{FF2B5EF4-FFF2-40B4-BE49-F238E27FC236}">
                <a16:creationId xmlns:a16="http://schemas.microsoft.com/office/drawing/2014/main" id="{7B7093B6-258C-B96A-D794-E1DC7F23D61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4539" y="6007639"/>
            <a:ext cx="1785248" cy="631149"/>
          </a:xfrm>
          <a:prstGeom prst="rect">
            <a:avLst/>
          </a:prstGeom>
        </p:spPr>
      </p:pic>
      <p:pic>
        <p:nvPicPr>
          <p:cNvPr id="11" name="Picture 10" descr="A black rectangular sign with white text&#10;&#10;Description automatically generated">
            <a:extLst>
              <a:ext uri="{FF2B5EF4-FFF2-40B4-BE49-F238E27FC236}">
                <a16:creationId xmlns:a16="http://schemas.microsoft.com/office/drawing/2014/main" id="{D3A78786-C751-A1FF-EFC1-5EF4F19CB36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574114" y="6024828"/>
            <a:ext cx="1884458" cy="666222"/>
          </a:xfrm>
          <a:prstGeom prst="rect">
            <a:avLst/>
          </a:prstGeom>
        </p:spPr>
      </p:pic>
      <p:pic>
        <p:nvPicPr>
          <p:cNvPr id="12" name="Picture 11">
            <a:extLst>
              <a:ext uri="{FF2B5EF4-FFF2-40B4-BE49-F238E27FC236}">
                <a16:creationId xmlns:a16="http://schemas.microsoft.com/office/drawing/2014/main" id="{06DBC219-24C8-C935-7984-CC74A2F8FE5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474451" y="6075309"/>
            <a:ext cx="1101063" cy="680202"/>
          </a:xfrm>
          <a:prstGeom prst="rect">
            <a:avLst/>
          </a:prstGeom>
        </p:spPr>
      </p:pic>
      <p:pic>
        <p:nvPicPr>
          <p:cNvPr id="14" name="Picture 13" descr="A black text on a white background&#10;&#10;Description automatically generated">
            <a:extLst>
              <a:ext uri="{FF2B5EF4-FFF2-40B4-BE49-F238E27FC236}">
                <a16:creationId xmlns:a16="http://schemas.microsoft.com/office/drawing/2014/main" id="{44882E09-B8CA-EAA9-C5A8-5397D1ACD621}"/>
              </a:ext>
            </a:extLst>
          </p:cNvPr>
          <p:cNvPicPr>
            <a:picLocks noChangeAspect="1"/>
          </p:cNvPicPr>
          <p:nvPr userDrawn="1"/>
        </p:nvPicPr>
        <p:blipFill>
          <a:blip r:embed="rId6"/>
          <a:stretch>
            <a:fillRect/>
          </a:stretch>
        </p:blipFill>
        <p:spPr>
          <a:xfrm>
            <a:off x="5428257" y="6075309"/>
            <a:ext cx="1629800" cy="706626"/>
          </a:xfrm>
          <a:prstGeom prst="rect">
            <a:avLst/>
          </a:prstGeom>
        </p:spPr>
      </p:pic>
      <p:pic>
        <p:nvPicPr>
          <p:cNvPr id="15" name="Picture 14" descr="A logo for a company&#10;&#10;Description automatically generated">
            <a:extLst>
              <a:ext uri="{FF2B5EF4-FFF2-40B4-BE49-F238E27FC236}">
                <a16:creationId xmlns:a16="http://schemas.microsoft.com/office/drawing/2014/main" id="{76325C63-230B-1377-0EBC-5D4E3F48C8F1}"/>
              </a:ext>
            </a:extLst>
          </p:cNvPr>
          <p:cNvPicPr>
            <a:picLocks noChangeAspect="1"/>
          </p:cNvPicPr>
          <p:nvPr userDrawn="1"/>
        </p:nvPicPr>
        <p:blipFill rotWithShape="1">
          <a:blip r:embed="rId7"/>
          <a:srcRect l="17924" t="18888" r="11254" b="15459"/>
          <a:stretch/>
        </p:blipFill>
        <p:spPr>
          <a:xfrm>
            <a:off x="7247004" y="6091027"/>
            <a:ext cx="1109382" cy="533823"/>
          </a:xfrm>
          <a:prstGeom prst="rect">
            <a:avLst/>
          </a:prstGeom>
        </p:spPr>
      </p:pic>
      <p:pic>
        <p:nvPicPr>
          <p:cNvPr id="16" name="Picture 15" descr="A logo with a map and text&#10;&#10;Description automatically generated">
            <a:extLst>
              <a:ext uri="{FF2B5EF4-FFF2-40B4-BE49-F238E27FC236}">
                <a16:creationId xmlns:a16="http://schemas.microsoft.com/office/drawing/2014/main" id="{942DDB05-C5E7-3C96-2D92-4A4AD4212FCE}"/>
              </a:ext>
            </a:extLst>
          </p:cNvPr>
          <p:cNvPicPr>
            <a:picLocks noChangeAspect="1"/>
          </p:cNvPicPr>
          <p:nvPr userDrawn="1"/>
        </p:nvPicPr>
        <p:blipFill>
          <a:blip r:embed="rId8"/>
          <a:stretch>
            <a:fillRect/>
          </a:stretch>
        </p:blipFill>
        <p:spPr>
          <a:xfrm>
            <a:off x="10096206" y="5877954"/>
            <a:ext cx="1897224" cy="813096"/>
          </a:xfrm>
          <a:prstGeom prst="rect">
            <a:avLst/>
          </a:prstGeom>
        </p:spPr>
      </p:pic>
      <p:pic>
        <p:nvPicPr>
          <p:cNvPr id="17" name="Picture 16" descr="A red and green logo&#10;&#10;Description automatically generated">
            <a:extLst>
              <a:ext uri="{FF2B5EF4-FFF2-40B4-BE49-F238E27FC236}">
                <a16:creationId xmlns:a16="http://schemas.microsoft.com/office/drawing/2014/main" id="{2F1411D3-E991-B639-D9AD-03C5FCC24FFB}"/>
              </a:ext>
            </a:extLst>
          </p:cNvPr>
          <p:cNvPicPr>
            <a:picLocks noChangeAspect="1"/>
          </p:cNvPicPr>
          <p:nvPr userDrawn="1"/>
        </p:nvPicPr>
        <p:blipFill>
          <a:blip r:embed="rId9"/>
          <a:stretch>
            <a:fillRect/>
          </a:stretch>
        </p:blipFill>
        <p:spPr>
          <a:xfrm>
            <a:off x="8531372" y="5983112"/>
            <a:ext cx="1488102" cy="537637"/>
          </a:xfrm>
          <a:prstGeom prst="rect">
            <a:avLst/>
          </a:prstGeom>
        </p:spPr>
      </p:pic>
      <p:pic>
        <p:nvPicPr>
          <p:cNvPr id="18" name="Picture 17" descr="A close-up of a logo&#10;&#10;Description automatically generated">
            <a:extLst>
              <a:ext uri="{FF2B5EF4-FFF2-40B4-BE49-F238E27FC236}">
                <a16:creationId xmlns:a16="http://schemas.microsoft.com/office/drawing/2014/main" id="{568EB9AE-30FC-6FEB-8D05-DDE1731F7381}"/>
              </a:ext>
            </a:extLst>
          </p:cNvPr>
          <p:cNvPicPr>
            <a:picLocks noChangeAspect="1"/>
          </p:cNvPicPr>
          <p:nvPr userDrawn="1"/>
        </p:nvPicPr>
        <p:blipFill>
          <a:blip r:embed="rId10"/>
          <a:stretch>
            <a:fillRect/>
          </a:stretch>
        </p:blipFill>
        <p:spPr>
          <a:xfrm>
            <a:off x="1067024" y="1139371"/>
            <a:ext cx="4066402" cy="1201437"/>
          </a:xfrm>
          <a:prstGeom prst="rect">
            <a:avLst/>
          </a:prstGeom>
        </p:spPr>
      </p:pic>
      <p:pic>
        <p:nvPicPr>
          <p:cNvPr id="2" name="Picture 1" descr="A logo with a globe and flags&#10;&#10;Description automatically generated">
            <a:extLst>
              <a:ext uri="{FF2B5EF4-FFF2-40B4-BE49-F238E27FC236}">
                <a16:creationId xmlns:a16="http://schemas.microsoft.com/office/drawing/2014/main" id="{0AF205F1-0861-4B39-A7B6-C06E7AE4480A}"/>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3606572" y="6116343"/>
            <a:ext cx="634517" cy="680202"/>
          </a:xfrm>
          <a:prstGeom prst="rect">
            <a:avLst/>
          </a:prstGeom>
        </p:spPr>
      </p:pic>
    </p:spTree>
    <p:extLst>
      <p:ext uri="{BB962C8B-B14F-4D97-AF65-F5344CB8AC3E}">
        <p14:creationId xmlns:p14="http://schemas.microsoft.com/office/powerpoint/2010/main" val="639612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0071879-FE12-23E6-6632-187CB1D2B01F}"/>
              </a:ext>
            </a:extLst>
          </p:cNvPr>
          <p:cNvSpPr/>
          <p:nvPr userDrawn="1"/>
        </p:nvSpPr>
        <p:spPr>
          <a:xfrm>
            <a:off x="-5805" y="1286999"/>
            <a:ext cx="12192000" cy="467600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4" name="Rectangle 3">
            <a:extLst>
              <a:ext uri="{FF2B5EF4-FFF2-40B4-BE49-F238E27FC236}">
                <a16:creationId xmlns:a16="http://schemas.microsoft.com/office/drawing/2014/main" id="{03AC2BC7-E02D-7D62-342D-42E3759816A2}"/>
              </a:ext>
            </a:extLst>
          </p:cNvPr>
          <p:cNvSpPr/>
          <p:nvPr userDrawn="1"/>
        </p:nvSpPr>
        <p:spPr>
          <a:xfrm flipV="1">
            <a:off x="20052" y="5917282"/>
            <a:ext cx="12192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FC60BD3-C6B7-6258-A355-7C35D2523320}"/>
              </a:ext>
            </a:extLst>
          </p:cNvPr>
          <p:cNvSpPr/>
          <p:nvPr userDrawn="1"/>
        </p:nvSpPr>
        <p:spPr>
          <a:xfrm>
            <a:off x="0" y="1149616"/>
            <a:ext cx="12192001" cy="4571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A400"/>
              </a:solidFill>
            </a:endParaRPr>
          </a:p>
        </p:txBody>
      </p:sp>
      <p:pic>
        <p:nvPicPr>
          <p:cNvPr id="2" name="Picture 1">
            <a:extLst>
              <a:ext uri="{FF2B5EF4-FFF2-40B4-BE49-F238E27FC236}">
                <a16:creationId xmlns:a16="http://schemas.microsoft.com/office/drawing/2014/main" id="{EB36AB05-1985-9283-0AA8-34332C55B8D5}"/>
              </a:ext>
            </a:extLst>
          </p:cNvPr>
          <p:cNvPicPr>
            <a:picLocks noChangeAspect="1"/>
          </p:cNvPicPr>
          <p:nvPr userDrawn="1"/>
        </p:nvPicPr>
        <p:blipFill rotWithShape="1">
          <a:blip r:embed="rId2"/>
          <a:srcRect t="5053" r="9055"/>
          <a:stretch/>
        </p:blipFill>
        <p:spPr>
          <a:xfrm>
            <a:off x="20052" y="129745"/>
            <a:ext cx="9243589" cy="1008435"/>
          </a:xfrm>
          <a:prstGeom prst="rect">
            <a:avLst/>
          </a:prstGeom>
        </p:spPr>
      </p:pic>
      <p:pic>
        <p:nvPicPr>
          <p:cNvPr id="5" name="Picture 4" descr="A close-up of a logo&#10;&#10;Description automatically generated">
            <a:extLst>
              <a:ext uri="{FF2B5EF4-FFF2-40B4-BE49-F238E27FC236}">
                <a16:creationId xmlns:a16="http://schemas.microsoft.com/office/drawing/2014/main" id="{4B51F234-E4E7-5EBC-73A7-80F1E57FA024}"/>
              </a:ext>
            </a:extLst>
          </p:cNvPr>
          <p:cNvPicPr>
            <a:picLocks noChangeAspect="1"/>
          </p:cNvPicPr>
          <p:nvPr userDrawn="1"/>
        </p:nvPicPr>
        <p:blipFill>
          <a:blip r:embed="rId3"/>
          <a:stretch>
            <a:fillRect/>
          </a:stretch>
        </p:blipFill>
        <p:spPr>
          <a:xfrm>
            <a:off x="9232927" y="132716"/>
            <a:ext cx="2864960" cy="846465"/>
          </a:xfrm>
          <a:prstGeom prst="rect">
            <a:avLst/>
          </a:prstGeom>
        </p:spPr>
      </p:pic>
      <p:pic>
        <p:nvPicPr>
          <p:cNvPr id="6" name="Picture 5" descr="A lion holding a spear and a shield with text&#10;&#10;Description automatically generated">
            <a:extLst>
              <a:ext uri="{FF2B5EF4-FFF2-40B4-BE49-F238E27FC236}">
                <a16:creationId xmlns:a16="http://schemas.microsoft.com/office/drawing/2014/main" id="{5053575E-2BF3-7030-E32E-613C8C8E3B4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4936" y="6130903"/>
            <a:ext cx="1785248" cy="631149"/>
          </a:xfrm>
          <a:prstGeom prst="rect">
            <a:avLst/>
          </a:prstGeom>
        </p:spPr>
      </p:pic>
      <p:pic>
        <p:nvPicPr>
          <p:cNvPr id="7" name="Picture 6" descr="A black rectangular sign with white text&#10;&#10;Description automatically generated">
            <a:extLst>
              <a:ext uri="{FF2B5EF4-FFF2-40B4-BE49-F238E27FC236}">
                <a16:creationId xmlns:a16="http://schemas.microsoft.com/office/drawing/2014/main" id="{67DAC0FB-3CE4-261E-762D-2A8ED30A1BDC}"/>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720789" y="6113367"/>
            <a:ext cx="1884458" cy="666222"/>
          </a:xfrm>
          <a:prstGeom prst="rect">
            <a:avLst/>
          </a:prstGeom>
        </p:spPr>
      </p:pic>
      <p:pic>
        <p:nvPicPr>
          <p:cNvPr id="8" name="Picture 7">
            <a:extLst>
              <a:ext uri="{FF2B5EF4-FFF2-40B4-BE49-F238E27FC236}">
                <a16:creationId xmlns:a16="http://schemas.microsoft.com/office/drawing/2014/main" id="{A64D3BC9-236D-CC72-948C-61D64D88A80A}"/>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742854" y="6099387"/>
            <a:ext cx="1101063" cy="680202"/>
          </a:xfrm>
          <a:prstGeom prst="rect">
            <a:avLst/>
          </a:prstGeom>
        </p:spPr>
      </p:pic>
      <p:pic>
        <p:nvPicPr>
          <p:cNvPr id="9" name="Picture 8" descr="A black text on a white background&#10;&#10;Description automatically generated">
            <a:extLst>
              <a:ext uri="{FF2B5EF4-FFF2-40B4-BE49-F238E27FC236}">
                <a16:creationId xmlns:a16="http://schemas.microsoft.com/office/drawing/2014/main" id="{B7A9FCEB-2333-5F60-ACF2-3BA1BA6A6EF5}"/>
              </a:ext>
            </a:extLst>
          </p:cNvPr>
          <p:cNvPicPr>
            <a:picLocks noChangeAspect="1"/>
          </p:cNvPicPr>
          <p:nvPr userDrawn="1"/>
        </p:nvPicPr>
        <p:blipFill>
          <a:blip r:embed="rId7"/>
          <a:stretch>
            <a:fillRect/>
          </a:stretch>
        </p:blipFill>
        <p:spPr>
          <a:xfrm>
            <a:off x="5919976" y="6128057"/>
            <a:ext cx="1629800" cy="706626"/>
          </a:xfrm>
          <a:prstGeom prst="rect">
            <a:avLst/>
          </a:prstGeom>
        </p:spPr>
      </p:pic>
      <p:pic>
        <p:nvPicPr>
          <p:cNvPr id="10" name="Picture 9" descr="A logo for a company&#10;&#10;Description automatically generated">
            <a:extLst>
              <a:ext uri="{FF2B5EF4-FFF2-40B4-BE49-F238E27FC236}">
                <a16:creationId xmlns:a16="http://schemas.microsoft.com/office/drawing/2014/main" id="{70B70C05-B32A-BD07-825E-70DF26C8DD02}"/>
              </a:ext>
            </a:extLst>
          </p:cNvPr>
          <p:cNvPicPr>
            <a:picLocks noChangeAspect="1"/>
          </p:cNvPicPr>
          <p:nvPr userDrawn="1"/>
        </p:nvPicPr>
        <p:blipFill rotWithShape="1">
          <a:blip r:embed="rId8"/>
          <a:srcRect l="17924" t="18888" r="11254" b="15459"/>
          <a:stretch/>
        </p:blipFill>
        <p:spPr>
          <a:xfrm>
            <a:off x="7658935" y="6156373"/>
            <a:ext cx="1109382" cy="533823"/>
          </a:xfrm>
          <a:prstGeom prst="rect">
            <a:avLst/>
          </a:prstGeom>
        </p:spPr>
      </p:pic>
      <p:pic>
        <p:nvPicPr>
          <p:cNvPr id="11" name="Picture 10" descr="A logo with a map and text&#10;&#10;Description automatically generated">
            <a:extLst>
              <a:ext uri="{FF2B5EF4-FFF2-40B4-BE49-F238E27FC236}">
                <a16:creationId xmlns:a16="http://schemas.microsoft.com/office/drawing/2014/main" id="{BBDE4DA4-41CA-6B89-6034-674D9E6D8539}"/>
              </a:ext>
            </a:extLst>
          </p:cNvPr>
          <p:cNvPicPr>
            <a:picLocks noChangeAspect="1"/>
          </p:cNvPicPr>
          <p:nvPr userDrawn="1"/>
        </p:nvPicPr>
        <p:blipFill>
          <a:blip r:embed="rId9"/>
          <a:stretch>
            <a:fillRect/>
          </a:stretch>
        </p:blipFill>
        <p:spPr>
          <a:xfrm>
            <a:off x="10294776" y="5983112"/>
            <a:ext cx="1897224" cy="813096"/>
          </a:xfrm>
          <a:prstGeom prst="rect">
            <a:avLst/>
          </a:prstGeom>
        </p:spPr>
      </p:pic>
      <p:pic>
        <p:nvPicPr>
          <p:cNvPr id="12" name="Picture 11" descr="A red and green logo&#10;&#10;Description automatically generated">
            <a:extLst>
              <a:ext uri="{FF2B5EF4-FFF2-40B4-BE49-F238E27FC236}">
                <a16:creationId xmlns:a16="http://schemas.microsoft.com/office/drawing/2014/main" id="{12C23408-E9FF-362E-D7DE-6647974E465C}"/>
              </a:ext>
            </a:extLst>
          </p:cNvPr>
          <p:cNvPicPr>
            <a:picLocks noChangeAspect="1"/>
          </p:cNvPicPr>
          <p:nvPr userDrawn="1"/>
        </p:nvPicPr>
        <p:blipFill>
          <a:blip r:embed="rId10"/>
          <a:stretch>
            <a:fillRect/>
          </a:stretch>
        </p:blipFill>
        <p:spPr>
          <a:xfrm>
            <a:off x="8844376" y="6081496"/>
            <a:ext cx="1488102" cy="537637"/>
          </a:xfrm>
          <a:prstGeom prst="rect">
            <a:avLst/>
          </a:prstGeom>
        </p:spPr>
      </p:pic>
      <p:pic>
        <p:nvPicPr>
          <p:cNvPr id="13" name="Picture 12" descr="A logo with a globe and flags&#10;&#10;Description automatically generated">
            <a:extLst>
              <a:ext uri="{FF2B5EF4-FFF2-40B4-BE49-F238E27FC236}">
                <a16:creationId xmlns:a16="http://schemas.microsoft.com/office/drawing/2014/main" id="{CC5BE134-1803-E774-EA91-934E911C7A59}"/>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3778296" y="6128057"/>
            <a:ext cx="634517" cy="680202"/>
          </a:xfrm>
          <a:prstGeom prst="rect">
            <a:avLst/>
          </a:prstGeom>
        </p:spPr>
      </p:pic>
    </p:spTree>
    <p:extLst>
      <p:ext uri="{BB962C8B-B14F-4D97-AF65-F5344CB8AC3E}">
        <p14:creationId xmlns:p14="http://schemas.microsoft.com/office/powerpoint/2010/main" val="549305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32FCF23-3ED7-9D28-FB00-71028BB8DF2D}"/>
              </a:ext>
            </a:extLst>
          </p:cNvPr>
          <p:cNvSpPr/>
          <p:nvPr userDrawn="1"/>
        </p:nvSpPr>
        <p:spPr>
          <a:xfrm>
            <a:off x="0" y="1156089"/>
            <a:ext cx="12192000" cy="54176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20" name="Parallelogram 19">
            <a:extLst>
              <a:ext uri="{FF2B5EF4-FFF2-40B4-BE49-F238E27FC236}">
                <a16:creationId xmlns:a16="http://schemas.microsoft.com/office/drawing/2014/main" id="{7F0ED01A-F421-A60E-9873-FA45A29635F5}"/>
              </a:ext>
            </a:extLst>
          </p:cNvPr>
          <p:cNvSpPr/>
          <p:nvPr userDrawn="1"/>
        </p:nvSpPr>
        <p:spPr>
          <a:xfrm>
            <a:off x="5722324" y="299198"/>
            <a:ext cx="995341" cy="801681"/>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rPr>
              <a:t>  </a:t>
            </a:r>
          </a:p>
        </p:txBody>
      </p:sp>
      <p:sp>
        <p:nvSpPr>
          <p:cNvPr id="26" name="Parallelogram 25">
            <a:extLst>
              <a:ext uri="{FF2B5EF4-FFF2-40B4-BE49-F238E27FC236}">
                <a16:creationId xmlns:a16="http://schemas.microsoft.com/office/drawing/2014/main" id="{B145BECA-2020-611B-2015-2A24F6E838E1}"/>
              </a:ext>
            </a:extLst>
          </p:cNvPr>
          <p:cNvSpPr/>
          <p:nvPr userDrawn="1"/>
        </p:nvSpPr>
        <p:spPr>
          <a:xfrm rot="10800000">
            <a:off x="11402290" y="86603"/>
            <a:ext cx="452826" cy="581694"/>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33" name="Picture 32">
            <a:extLst>
              <a:ext uri="{FF2B5EF4-FFF2-40B4-BE49-F238E27FC236}">
                <a16:creationId xmlns:a16="http://schemas.microsoft.com/office/drawing/2014/main" id="{D271E897-5B7E-0721-BD50-FCBAA5653B4F}"/>
              </a:ext>
            </a:extLst>
          </p:cNvPr>
          <p:cNvPicPr>
            <a:picLocks noChangeAspect="1"/>
          </p:cNvPicPr>
          <p:nvPr userDrawn="1"/>
        </p:nvPicPr>
        <p:blipFill rotWithShape="1">
          <a:blip r:embed="rId2"/>
          <a:srcRect t="5053" r="9055"/>
          <a:stretch/>
        </p:blipFill>
        <p:spPr>
          <a:xfrm>
            <a:off x="20052" y="129745"/>
            <a:ext cx="9243589" cy="1008435"/>
          </a:xfrm>
          <a:prstGeom prst="rect">
            <a:avLst/>
          </a:prstGeom>
        </p:spPr>
      </p:pic>
      <p:sp>
        <p:nvSpPr>
          <p:cNvPr id="2" name="Rectangle 1">
            <a:extLst>
              <a:ext uri="{FF2B5EF4-FFF2-40B4-BE49-F238E27FC236}">
                <a16:creationId xmlns:a16="http://schemas.microsoft.com/office/drawing/2014/main" id="{25B7E050-A7B4-79EE-5588-880578B38426}"/>
              </a:ext>
            </a:extLst>
          </p:cNvPr>
          <p:cNvSpPr/>
          <p:nvPr userDrawn="1"/>
        </p:nvSpPr>
        <p:spPr>
          <a:xfrm flipV="1">
            <a:off x="0" y="6697663"/>
            <a:ext cx="12192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utoShape 2" descr="A black background with red green and white letters&#10;&#10;Description automatically generated"/>
          <p:cNvSpPr>
            <a:spLocks noChangeAspect="1" noChangeArrowheads="1"/>
          </p:cNvSpPr>
          <p:nvPr userDrawn="1"/>
        </p:nvSpPr>
        <p:spPr bwMode="auto">
          <a:xfrm>
            <a:off x="212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4" descr="A black background with red green and white letters&#10;&#10;Description automatically generated"/>
          <p:cNvSpPr>
            <a:spLocks noChangeAspect="1" noChangeArrowheads="1"/>
          </p:cNvSpPr>
          <p:nvPr userDrawn="1"/>
        </p:nvSpPr>
        <p:spPr bwMode="auto">
          <a:xfrm>
            <a:off x="36512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6" descr="A black background with red green and white letters&#10;&#10;Description automatically generated"/>
          <p:cNvSpPr>
            <a:spLocks noChangeAspect="1" noChangeArrowheads="1"/>
          </p:cNvSpPr>
          <p:nvPr userDrawn="1"/>
        </p:nvSpPr>
        <p:spPr bwMode="auto">
          <a:xfrm>
            <a:off x="51752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8" descr="A black background with red green and white letters&#10;&#10;Description automatically generated"/>
          <p:cNvSpPr>
            <a:spLocks noChangeAspect="1" noChangeArrowheads="1"/>
          </p:cNvSpPr>
          <p:nvPr userDrawn="1"/>
        </p:nvSpPr>
        <p:spPr bwMode="auto">
          <a:xfrm>
            <a:off x="66992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0" descr="A black background with red green and white letters&#10;&#10;Description automatically generated"/>
          <p:cNvSpPr>
            <a:spLocks noChangeAspect="1" noChangeArrowheads="1"/>
          </p:cNvSpPr>
          <p:nvPr userDrawn="1"/>
        </p:nvSpPr>
        <p:spPr bwMode="auto">
          <a:xfrm>
            <a:off x="82232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2" descr="A black background with red green and white letters&#10;&#10;Description automatically generated"/>
          <p:cNvSpPr>
            <a:spLocks noChangeAspect="1" noChangeArrowheads="1"/>
          </p:cNvSpPr>
          <p:nvPr userDrawn="1"/>
        </p:nvSpPr>
        <p:spPr bwMode="auto">
          <a:xfrm>
            <a:off x="97472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7005B131-D2A9-542D-360C-9CDD420315E5}"/>
              </a:ext>
            </a:extLst>
          </p:cNvPr>
          <p:cNvSpPr/>
          <p:nvPr userDrawn="1"/>
        </p:nvSpPr>
        <p:spPr>
          <a:xfrm>
            <a:off x="0" y="1080822"/>
            <a:ext cx="12192001" cy="4571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A400"/>
              </a:solidFill>
            </a:endParaRPr>
          </a:p>
        </p:txBody>
      </p:sp>
      <p:pic>
        <p:nvPicPr>
          <p:cNvPr id="3" name="Picture 2" descr="A close-up of a logo&#10;&#10;Description automatically generated">
            <a:extLst>
              <a:ext uri="{FF2B5EF4-FFF2-40B4-BE49-F238E27FC236}">
                <a16:creationId xmlns:a16="http://schemas.microsoft.com/office/drawing/2014/main" id="{8C3685ED-FA70-7F1E-057E-208718F42500}"/>
              </a:ext>
            </a:extLst>
          </p:cNvPr>
          <p:cNvPicPr>
            <a:picLocks noChangeAspect="1"/>
          </p:cNvPicPr>
          <p:nvPr userDrawn="1"/>
        </p:nvPicPr>
        <p:blipFill>
          <a:blip r:embed="rId3"/>
          <a:stretch>
            <a:fillRect/>
          </a:stretch>
        </p:blipFill>
        <p:spPr>
          <a:xfrm>
            <a:off x="9232927" y="132716"/>
            <a:ext cx="2864960" cy="846465"/>
          </a:xfrm>
          <a:prstGeom prst="rect">
            <a:avLst/>
          </a:prstGeom>
        </p:spPr>
      </p:pic>
    </p:spTree>
    <p:extLst>
      <p:ext uri="{BB962C8B-B14F-4D97-AF65-F5344CB8AC3E}">
        <p14:creationId xmlns:p14="http://schemas.microsoft.com/office/powerpoint/2010/main" val="1798908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32FCF23-3ED7-9D28-FB00-71028BB8DF2D}"/>
              </a:ext>
            </a:extLst>
          </p:cNvPr>
          <p:cNvSpPr/>
          <p:nvPr userDrawn="1"/>
        </p:nvSpPr>
        <p:spPr>
          <a:xfrm>
            <a:off x="-2260" y="1404186"/>
            <a:ext cx="12192000" cy="455584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20" name="Parallelogram 19">
            <a:extLst>
              <a:ext uri="{FF2B5EF4-FFF2-40B4-BE49-F238E27FC236}">
                <a16:creationId xmlns:a16="http://schemas.microsoft.com/office/drawing/2014/main" id="{7F0ED01A-F421-A60E-9873-FA45A29635F5}"/>
              </a:ext>
            </a:extLst>
          </p:cNvPr>
          <p:cNvSpPr/>
          <p:nvPr userDrawn="1"/>
        </p:nvSpPr>
        <p:spPr>
          <a:xfrm>
            <a:off x="5722324" y="299198"/>
            <a:ext cx="995341" cy="801681"/>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rPr>
              <a:t>  </a:t>
            </a:r>
          </a:p>
        </p:txBody>
      </p:sp>
      <p:sp>
        <p:nvSpPr>
          <p:cNvPr id="26" name="Parallelogram 25">
            <a:extLst>
              <a:ext uri="{FF2B5EF4-FFF2-40B4-BE49-F238E27FC236}">
                <a16:creationId xmlns:a16="http://schemas.microsoft.com/office/drawing/2014/main" id="{B145BECA-2020-611B-2015-2A24F6E838E1}"/>
              </a:ext>
            </a:extLst>
          </p:cNvPr>
          <p:cNvSpPr/>
          <p:nvPr userDrawn="1"/>
        </p:nvSpPr>
        <p:spPr>
          <a:xfrm rot="10800000">
            <a:off x="11402290" y="86603"/>
            <a:ext cx="452826" cy="581694"/>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 name="Rectangle 1">
            <a:extLst>
              <a:ext uri="{FF2B5EF4-FFF2-40B4-BE49-F238E27FC236}">
                <a16:creationId xmlns:a16="http://schemas.microsoft.com/office/drawing/2014/main" id="{25B7E050-A7B4-79EE-5588-880578B38426}"/>
              </a:ext>
            </a:extLst>
          </p:cNvPr>
          <p:cNvSpPr/>
          <p:nvPr userDrawn="1"/>
        </p:nvSpPr>
        <p:spPr>
          <a:xfrm flipV="1">
            <a:off x="20052" y="5917282"/>
            <a:ext cx="12192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utoShape 2" descr="A black background with red green and white letters&#10;&#10;Description automatically generated"/>
          <p:cNvSpPr>
            <a:spLocks noChangeAspect="1" noChangeArrowheads="1"/>
          </p:cNvSpPr>
          <p:nvPr userDrawn="1"/>
        </p:nvSpPr>
        <p:spPr bwMode="auto">
          <a:xfrm>
            <a:off x="212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4" descr="A black background with red green and white letters&#10;&#10;Description automatically generated"/>
          <p:cNvSpPr>
            <a:spLocks noChangeAspect="1" noChangeArrowheads="1"/>
          </p:cNvSpPr>
          <p:nvPr userDrawn="1"/>
        </p:nvSpPr>
        <p:spPr bwMode="auto">
          <a:xfrm>
            <a:off x="36512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6" descr="A black background with red green and white letters&#10;&#10;Description automatically generated"/>
          <p:cNvSpPr>
            <a:spLocks noChangeAspect="1" noChangeArrowheads="1"/>
          </p:cNvSpPr>
          <p:nvPr userDrawn="1"/>
        </p:nvSpPr>
        <p:spPr bwMode="auto">
          <a:xfrm>
            <a:off x="51752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8" descr="A black background with red green and white letters&#10;&#10;Description automatically generated"/>
          <p:cNvSpPr>
            <a:spLocks noChangeAspect="1" noChangeArrowheads="1"/>
          </p:cNvSpPr>
          <p:nvPr userDrawn="1"/>
        </p:nvSpPr>
        <p:spPr bwMode="auto">
          <a:xfrm>
            <a:off x="66992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0" descr="A black background with red green and white letters&#10;&#10;Description automatically generated"/>
          <p:cNvSpPr>
            <a:spLocks noChangeAspect="1" noChangeArrowheads="1"/>
          </p:cNvSpPr>
          <p:nvPr userDrawn="1"/>
        </p:nvSpPr>
        <p:spPr bwMode="auto">
          <a:xfrm>
            <a:off x="82232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2" descr="A black background with red green and white letters&#10;&#10;Description automatically generated"/>
          <p:cNvSpPr>
            <a:spLocks noChangeAspect="1" noChangeArrowheads="1"/>
          </p:cNvSpPr>
          <p:nvPr userDrawn="1"/>
        </p:nvSpPr>
        <p:spPr bwMode="auto">
          <a:xfrm>
            <a:off x="97472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7005B131-D2A9-542D-360C-9CDD420315E5}"/>
              </a:ext>
            </a:extLst>
          </p:cNvPr>
          <p:cNvSpPr/>
          <p:nvPr userDrawn="1"/>
        </p:nvSpPr>
        <p:spPr>
          <a:xfrm>
            <a:off x="0" y="1269199"/>
            <a:ext cx="12192001" cy="4571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A400"/>
              </a:solidFill>
            </a:endParaRPr>
          </a:p>
        </p:txBody>
      </p:sp>
      <p:pic>
        <p:nvPicPr>
          <p:cNvPr id="16" name="Picture 15">
            <a:extLst>
              <a:ext uri="{FF2B5EF4-FFF2-40B4-BE49-F238E27FC236}">
                <a16:creationId xmlns:a16="http://schemas.microsoft.com/office/drawing/2014/main" id="{68A9BAA5-2FF1-09B7-3314-F8A723D1DCBC}"/>
              </a:ext>
            </a:extLst>
          </p:cNvPr>
          <p:cNvPicPr>
            <a:picLocks noChangeAspect="1"/>
          </p:cNvPicPr>
          <p:nvPr userDrawn="1"/>
        </p:nvPicPr>
        <p:blipFill rotWithShape="1">
          <a:blip r:embed="rId2"/>
          <a:srcRect t="5053" r="9055" b="18904"/>
          <a:stretch/>
        </p:blipFill>
        <p:spPr>
          <a:xfrm>
            <a:off x="94113" y="161830"/>
            <a:ext cx="9243589" cy="1025631"/>
          </a:xfrm>
          <a:prstGeom prst="rect">
            <a:avLst/>
          </a:prstGeom>
        </p:spPr>
      </p:pic>
      <p:pic>
        <p:nvPicPr>
          <p:cNvPr id="17" name="Picture 16" descr="A close-up of a logo&#10;&#10;Description automatically generated">
            <a:extLst>
              <a:ext uri="{FF2B5EF4-FFF2-40B4-BE49-F238E27FC236}">
                <a16:creationId xmlns:a16="http://schemas.microsoft.com/office/drawing/2014/main" id="{281B5133-E787-13F6-9904-997E8850AA53}"/>
              </a:ext>
            </a:extLst>
          </p:cNvPr>
          <p:cNvPicPr>
            <a:picLocks noChangeAspect="1"/>
          </p:cNvPicPr>
          <p:nvPr userDrawn="1"/>
        </p:nvPicPr>
        <p:blipFill>
          <a:blip r:embed="rId3"/>
          <a:stretch>
            <a:fillRect/>
          </a:stretch>
        </p:blipFill>
        <p:spPr>
          <a:xfrm>
            <a:off x="9232927" y="132716"/>
            <a:ext cx="2864960" cy="846465"/>
          </a:xfrm>
          <a:prstGeom prst="rect">
            <a:avLst/>
          </a:prstGeom>
        </p:spPr>
      </p:pic>
      <p:pic>
        <p:nvPicPr>
          <p:cNvPr id="19" name="Picture 18" descr="A lion holding a spear and a shield with text&#10;&#10;Description automatically generated">
            <a:extLst>
              <a:ext uri="{FF2B5EF4-FFF2-40B4-BE49-F238E27FC236}">
                <a16:creationId xmlns:a16="http://schemas.microsoft.com/office/drawing/2014/main" id="{76ECCD82-E393-CF43-BF36-9DBD3ADFD3A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4539" y="6007639"/>
            <a:ext cx="1785248" cy="631149"/>
          </a:xfrm>
          <a:prstGeom prst="rect">
            <a:avLst/>
          </a:prstGeom>
        </p:spPr>
      </p:pic>
      <p:pic>
        <p:nvPicPr>
          <p:cNvPr id="21" name="Picture 20" descr="A black rectangular sign with white text&#10;&#10;Description automatically generated">
            <a:extLst>
              <a:ext uri="{FF2B5EF4-FFF2-40B4-BE49-F238E27FC236}">
                <a16:creationId xmlns:a16="http://schemas.microsoft.com/office/drawing/2014/main" id="{A855BA0C-0F58-94F8-1AE8-570B09E53F1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829787" y="6024828"/>
            <a:ext cx="1884458" cy="666222"/>
          </a:xfrm>
          <a:prstGeom prst="rect">
            <a:avLst/>
          </a:prstGeom>
        </p:spPr>
      </p:pic>
      <p:pic>
        <p:nvPicPr>
          <p:cNvPr id="22" name="Picture 21">
            <a:extLst>
              <a:ext uri="{FF2B5EF4-FFF2-40B4-BE49-F238E27FC236}">
                <a16:creationId xmlns:a16="http://schemas.microsoft.com/office/drawing/2014/main" id="{C4984905-5FD8-804E-2ECD-7D394236CC6D}"/>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922343" y="5983112"/>
            <a:ext cx="1101063" cy="680202"/>
          </a:xfrm>
          <a:prstGeom prst="rect">
            <a:avLst/>
          </a:prstGeom>
        </p:spPr>
      </p:pic>
      <p:pic>
        <p:nvPicPr>
          <p:cNvPr id="23" name="Picture 22" descr="A black text on a white background&#10;&#10;Description automatically generated">
            <a:extLst>
              <a:ext uri="{FF2B5EF4-FFF2-40B4-BE49-F238E27FC236}">
                <a16:creationId xmlns:a16="http://schemas.microsoft.com/office/drawing/2014/main" id="{D35CBD91-D745-F87F-1C41-D213DF40402B}"/>
              </a:ext>
            </a:extLst>
          </p:cNvPr>
          <p:cNvPicPr>
            <a:picLocks noChangeAspect="1"/>
          </p:cNvPicPr>
          <p:nvPr userDrawn="1"/>
        </p:nvPicPr>
        <p:blipFill>
          <a:blip r:embed="rId7"/>
          <a:stretch>
            <a:fillRect/>
          </a:stretch>
        </p:blipFill>
        <p:spPr>
          <a:xfrm>
            <a:off x="5133426" y="6057862"/>
            <a:ext cx="1629800" cy="706626"/>
          </a:xfrm>
          <a:prstGeom prst="rect">
            <a:avLst/>
          </a:prstGeom>
        </p:spPr>
      </p:pic>
      <p:pic>
        <p:nvPicPr>
          <p:cNvPr id="24" name="Picture 23" descr="A logo for a company&#10;&#10;Description automatically generated">
            <a:extLst>
              <a:ext uri="{FF2B5EF4-FFF2-40B4-BE49-F238E27FC236}">
                <a16:creationId xmlns:a16="http://schemas.microsoft.com/office/drawing/2014/main" id="{04A02CD8-F481-A28C-8606-3075BB64BD8F}"/>
              </a:ext>
            </a:extLst>
          </p:cNvPr>
          <p:cNvPicPr>
            <a:picLocks noChangeAspect="1"/>
          </p:cNvPicPr>
          <p:nvPr userDrawn="1"/>
        </p:nvPicPr>
        <p:blipFill rotWithShape="1">
          <a:blip r:embed="rId8"/>
          <a:srcRect l="17924" t="18888" r="11254" b="15459"/>
          <a:stretch/>
        </p:blipFill>
        <p:spPr>
          <a:xfrm>
            <a:off x="6979024" y="6104965"/>
            <a:ext cx="1109382" cy="533823"/>
          </a:xfrm>
          <a:prstGeom prst="rect">
            <a:avLst/>
          </a:prstGeom>
        </p:spPr>
      </p:pic>
      <p:pic>
        <p:nvPicPr>
          <p:cNvPr id="25" name="Picture 24" descr="A logo with a map and text&#10;&#10;Description automatically generated">
            <a:extLst>
              <a:ext uri="{FF2B5EF4-FFF2-40B4-BE49-F238E27FC236}">
                <a16:creationId xmlns:a16="http://schemas.microsoft.com/office/drawing/2014/main" id="{0091C7B0-B1CA-47AB-17E6-05A84155E115}"/>
              </a:ext>
            </a:extLst>
          </p:cNvPr>
          <p:cNvPicPr>
            <a:picLocks noChangeAspect="1"/>
          </p:cNvPicPr>
          <p:nvPr userDrawn="1"/>
        </p:nvPicPr>
        <p:blipFill>
          <a:blip r:embed="rId9"/>
          <a:stretch>
            <a:fillRect/>
          </a:stretch>
        </p:blipFill>
        <p:spPr>
          <a:xfrm>
            <a:off x="10362213" y="6020417"/>
            <a:ext cx="1752286" cy="750980"/>
          </a:xfrm>
          <a:prstGeom prst="rect">
            <a:avLst/>
          </a:prstGeom>
        </p:spPr>
      </p:pic>
      <p:pic>
        <p:nvPicPr>
          <p:cNvPr id="27" name="Picture 26" descr="A red and green logo&#10;&#10;Description automatically generated">
            <a:extLst>
              <a:ext uri="{FF2B5EF4-FFF2-40B4-BE49-F238E27FC236}">
                <a16:creationId xmlns:a16="http://schemas.microsoft.com/office/drawing/2014/main" id="{8BC4DE08-FDD2-3CDE-98A8-BB8BC6BC7287}"/>
              </a:ext>
            </a:extLst>
          </p:cNvPr>
          <p:cNvPicPr>
            <a:picLocks noChangeAspect="1"/>
          </p:cNvPicPr>
          <p:nvPr userDrawn="1"/>
        </p:nvPicPr>
        <p:blipFill>
          <a:blip r:embed="rId10"/>
          <a:stretch>
            <a:fillRect/>
          </a:stretch>
        </p:blipFill>
        <p:spPr>
          <a:xfrm>
            <a:off x="8501324" y="6007639"/>
            <a:ext cx="1488102" cy="537637"/>
          </a:xfrm>
          <a:prstGeom prst="rect">
            <a:avLst/>
          </a:prstGeom>
        </p:spPr>
      </p:pic>
    </p:spTree>
    <p:extLst>
      <p:ext uri="{BB962C8B-B14F-4D97-AF65-F5344CB8AC3E}">
        <p14:creationId xmlns:p14="http://schemas.microsoft.com/office/powerpoint/2010/main" val="2935410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8_Compariso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0071879-FE12-23E6-6632-187CB1D2B01F}"/>
              </a:ext>
            </a:extLst>
          </p:cNvPr>
          <p:cNvSpPr/>
          <p:nvPr userDrawn="1"/>
        </p:nvSpPr>
        <p:spPr>
          <a:xfrm>
            <a:off x="0" y="1286999"/>
            <a:ext cx="12236995" cy="543828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19" name="Rectangle 18">
            <a:extLst>
              <a:ext uri="{FF2B5EF4-FFF2-40B4-BE49-F238E27FC236}">
                <a16:creationId xmlns:a16="http://schemas.microsoft.com/office/drawing/2014/main" id="{DFC60BD3-C6B7-6258-A355-7C35D2523320}"/>
              </a:ext>
            </a:extLst>
          </p:cNvPr>
          <p:cNvSpPr/>
          <p:nvPr userDrawn="1"/>
        </p:nvSpPr>
        <p:spPr>
          <a:xfrm>
            <a:off x="0" y="1149616"/>
            <a:ext cx="12192001" cy="4571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A400"/>
              </a:solidFill>
            </a:endParaRPr>
          </a:p>
        </p:txBody>
      </p:sp>
      <p:pic>
        <p:nvPicPr>
          <p:cNvPr id="12" name="Picture 11">
            <a:extLst>
              <a:ext uri="{FF2B5EF4-FFF2-40B4-BE49-F238E27FC236}">
                <a16:creationId xmlns:a16="http://schemas.microsoft.com/office/drawing/2014/main" id="{1E766C0D-9C26-1700-88B1-2F903088D2B0}"/>
              </a:ext>
            </a:extLst>
          </p:cNvPr>
          <p:cNvPicPr>
            <a:picLocks noChangeAspect="1"/>
          </p:cNvPicPr>
          <p:nvPr userDrawn="1"/>
        </p:nvPicPr>
        <p:blipFill rotWithShape="1">
          <a:blip r:embed="rId2"/>
          <a:srcRect t="5053" r="9055" b="18904"/>
          <a:stretch/>
        </p:blipFill>
        <p:spPr>
          <a:xfrm>
            <a:off x="80861" y="55814"/>
            <a:ext cx="9243589" cy="1025631"/>
          </a:xfrm>
          <a:prstGeom prst="rect">
            <a:avLst/>
          </a:prstGeom>
        </p:spPr>
      </p:pic>
      <p:pic>
        <p:nvPicPr>
          <p:cNvPr id="13" name="Picture 12" descr="A close-up of a logo&#10;&#10;Description automatically generated">
            <a:extLst>
              <a:ext uri="{FF2B5EF4-FFF2-40B4-BE49-F238E27FC236}">
                <a16:creationId xmlns:a16="http://schemas.microsoft.com/office/drawing/2014/main" id="{909B1B36-189A-7577-B8F6-71F48B902B9A}"/>
              </a:ext>
            </a:extLst>
          </p:cNvPr>
          <p:cNvPicPr>
            <a:picLocks noChangeAspect="1"/>
          </p:cNvPicPr>
          <p:nvPr userDrawn="1"/>
        </p:nvPicPr>
        <p:blipFill>
          <a:blip r:embed="rId3"/>
          <a:stretch>
            <a:fillRect/>
          </a:stretch>
        </p:blipFill>
        <p:spPr>
          <a:xfrm>
            <a:off x="9232927" y="132716"/>
            <a:ext cx="2864960" cy="846465"/>
          </a:xfrm>
          <a:prstGeom prst="rect">
            <a:avLst/>
          </a:prstGeom>
        </p:spPr>
      </p:pic>
      <p:sp>
        <p:nvSpPr>
          <p:cNvPr id="24" name="Rectangle 23">
            <a:extLst>
              <a:ext uri="{FF2B5EF4-FFF2-40B4-BE49-F238E27FC236}">
                <a16:creationId xmlns:a16="http://schemas.microsoft.com/office/drawing/2014/main" id="{71CC8173-D1BB-9CEE-B02C-EBCF1BA54EAE}"/>
              </a:ext>
            </a:extLst>
          </p:cNvPr>
          <p:cNvSpPr/>
          <p:nvPr userDrawn="1"/>
        </p:nvSpPr>
        <p:spPr>
          <a:xfrm flipV="1">
            <a:off x="0" y="6771229"/>
            <a:ext cx="12192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18110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943BA-EC9F-4B8E-B60C-C1CA90BC16FB}"/>
              </a:ext>
            </a:extLst>
          </p:cNvPr>
          <p:cNvSpPr>
            <a:spLocks noGrp="1"/>
          </p:cNvSpPr>
          <p:nvPr>
            <p:ph type="title"/>
          </p:nvPr>
        </p:nvSpPr>
        <p:spPr>
          <a:xfrm>
            <a:off x="839788" y="365125"/>
            <a:ext cx="10515600" cy="1325563"/>
          </a:xfrm>
        </p:spPr>
        <p:txBody>
          <a:bodyPr/>
          <a:lstStyle/>
          <a:p>
            <a:r>
              <a:rPr lang="en-GB"/>
              <a:t>Click to edit Master title style</a:t>
            </a:r>
            <a:endParaRPr lang="x-none"/>
          </a:p>
        </p:txBody>
      </p:sp>
      <p:sp>
        <p:nvSpPr>
          <p:cNvPr id="3" name="Text Placeholder 2">
            <a:extLst>
              <a:ext uri="{FF2B5EF4-FFF2-40B4-BE49-F238E27FC236}">
                <a16:creationId xmlns:a16="http://schemas.microsoft.com/office/drawing/2014/main" id="{D1163340-AB74-7193-E47A-471854F2D6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E2ECC9D-FA8D-EDB7-050C-91961477B73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5" name="Text Placeholder 4">
            <a:extLst>
              <a:ext uri="{FF2B5EF4-FFF2-40B4-BE49-F238E27FC236}">
                <a16:creationId xmlns:a16="http://schemas.microsoft.com/office/drawing/2014/main" id="{A6042EF4-E835-4998-2CC5-482756E9FC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AEC903F-2AE1-7E08-1AA2-95091696480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7" name="Date Placeholder 6">
            <a:extLst>
              <a:ext uri="{FF2B5EF4-FFF2-40B4-BE49-F238E27FC236}">
                <a16:creationId xmlns:a16="http://schemas.microsoft.com/office/drawing/2014/main" id="{9F00502D-7E26-7B73-991B-1EFA725CC627}"/>
              </a:ext>
            </a:extLst>
          </p:cNvPr>
          <p:cNvSpPr>
            <a:spLocks noGrp="1"/>
          </p:cNvSpPr>
          <p:nvPr>
            <p:ph type="dt" sz="half" idx="10"/>
          </p:nvPr>
        </p:nvSpPr>
        <p:spPr/>
        <p:txBody>
          <a:bodyPr/>
          <a:lstStyle/>
          <a:p>
            <a:fld id="{D1028508-28C4-444E-B522-D804D5355C6F}" type="datetimeFigureOut">
              <a:rPr lang="x-none" smtClean="0"/>
              <a:t>28/09/2025</a:t>
            </a:fld>
            <a:endParaRPr lang="x-none"/>
          </a:p>
        </p:txBody>
      </p:sp>
      <p:sp>
        <p:nvSpPr>
          <p:cNvPr id="8" name="Footer Placeholder 7">
            <a:extLst>
              <a:ext uri="{FF2B5EF4-FFF2-40B4-BE49-F238E27FC236}">
                <a16:creationId xmlns:a16="http://schemas.microsoft.com/office/drawing/2014/main" id="{DF488629-786F-B58C-3839-C23CB97B7CBC}"/>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id="{8629BCD2-466D-6330-1F4F-E33D11FC953B}"/>
              </a:ext>
            </a:extLst>
          </p:cNvPr>
          <p:cNvSpPr>
            <a:spLocks noGrp="1"/>
          </p:cNvSpPr>
          <p:nvPr>
            <p:ph type="sldNum" sz="quarter" idx="12"/>
          </p:nvPr>
        </p:nvSpPr>
        <p:spPr/>
        <p:txBody>
          <a:bodyPr/>
          <a:lstStyle/>
          <a:p>
            <a:fld id="{93013F5B-0CB8-284D-B88B-2C9766842346}" type="slidenum">
              <a:rPr lang="x-none" smtClean="0"/>
              <a:t>‹#›</a:t>
            </a:fld>
            <a:endParaRPr lang="x-none"/>
          </a:p>
        </p:txBody>
      </p:sp>
    </p:spTree>
    <p:extLst>
      <p:ext uri="{BB962C8B-B14F-4D97-AF65-F5344CB8AC3E}">
        <p14:creationId xmlns:p14="http://schemas.microsoft.com/office/powerpoint/2010/main" val="2217745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8B469-69FA-24FC-EB04-1651EFBEA8CA}"/>
              </a:ext>
            </a:extLst>
          </p:cNvPr>
          <p:cNvSpPr>
            <a:spLocks noGrp="1"/>
          </p:cNvSpPr>
          <p:nvPr>
            <p:ph type="title"/>
          </p:nvPr>
        </p:nvSpPr>
        <p:spPr/>
        <p:txBody>
          <a:bodyPr/>
          <a:lstStyle/>
          <a:p>
            <a:r>
              <a:rPr lang="en-GB"/>
              <a:t>Click to edit Master title style</a:t>
            </a:r>
            <a:endParaRPr lang="x-none"/>
          </a:p>
        </p:txBody>
      </p:sp>
      <p:sp>
        <p:nvSpPr>
          <p:cNvPr id="3" name="Date Placeholder 2">
            <a:extLst>
              <a:ext uri="{FF2B5EF4-FFF2-40B4-BE49-F238E27FC236}">
                <a16:creationId xmlns:a16="http://schemas.microsoft.com/office/drawing/2014/main" id="{3E4AAF18-3B2C-0C41-2D2A-4C2884EFF117}"/>
              </a:ext>
            </a:extLst>
          </p:cNvPr>
          <p:cNvSpPr>
            <a:spLocks noGrp="1"/>
          </p:cNvSpPr>
          <p:nvPr>
            <p:ph type="dt" sz="half" idx="10"/>
          </p:nvPr>
        </p:nvSpPr>
        <p:spPr/>
        <p:txBody>
          <a:bodyPr/>
          <a:lstStyle/>
          <a:p>
            <a:fld id="{D1028508-28C4-444E-B522-D804D5355C6F}" type="datetimeFigureOut">
              <a:rPr lang="x-none" smtClean="0"/>
              <a:t>28/09/2025</a:t>
            </a:fld>
            <a:endParaRPr lang="x-none"/>
          </a:p>
        </p:txBody>
      </p:sp>
      <p:sp>
        <p:nvSpPr>
          <p:cNvPr id="4" name="Footer Placeholder 3">
            <a:extLst>
              <a:ext uri="{FF2B5EF4-FFF2-40B4-BE49-F238E27FC236}">
                <a16:creationId xmlns:a16="http://schemas.microsoft.com/office/drawing/2014/main" id="{273A8263-A191-6D56-CBFC-7A62921809BC}"/>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id="{0E1A4565-2AB1-8E84-00D7-C53B1EB8BA96}"/>
              </a:ext>
            </a:extLst>
          </p:cNvPr>
          <p:cNvSpPr>
            <a:spLocks noGrp="1"/>
          </p:cNvSpPr>
          <p:nvPr>
            <p:ph type="sldNum" sz="quarter" idx="12"/>
          </p:nvPr>
        </p:nvSpPr>
        <p:spPr/>
        <p:txBody>
          <a:bodyPr/>
          <a:lstStyle/>
          <a:p>
            <a:fld id="{93013F5B-0CB8-284D-B88B-2C9766842346}" type="slidenum">
              <a:rPr lang="x-none" smtClean="0"/>
              <a:t>‹#›</a:t>
            </a:fld>
            <a:endParaRPr lang="x-none"/>
          </a:p>
        </p:txBody>
      </p:sp>
    </p:spTree>
    <p:extLst>
      <p:ext uri="{BB962C8B-B14F-4D97-AF65-F5344CB8AC3E}">
        <p14:creationId xmlns:p14="http://schemas.microsoft.com/office/powerpoint/2010/main" val="4236363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DE449C-B156-9FCB-CEC7-0ACA7A1CC112}"/>
              </a:ext>
            </a:extLst>
          </p:cNvPr>
          <p:cNvSpPr>
            <a:spLocks noGrp="1"/>
          </p:cNvSpPr>
          <p:nvPr>
            <p:ph type="dt" sz="half" idx="10"/>
          </p:nvPr>
        </p:nvSpPr>
        <p:spPr/>
        <p:txBody>
          <a:bodyPr/>
          <a:lstStyle/>
          <a:p>
            <a:fld id="{D1028508-28C4-444E-B522-D804D5355C6F}" type="datetimeFigureOut">
              <a:rPr lang="x-none" smtClean="0"/>
              <a:t>28/09/2025</a:t>
            </a:fld>
            <a:endParaRPr lang="x-none"/>
          </a:p>
        </p:txBody>
      </p:sp>
      <p:sp>
        <p:nvSpPr>
          <p:cNvPr id="3" name="Footer Placeholder 2">
            <a:extLst>
              <a:ext uri="{FF2B5EF4-FFF2-40B4-BE49-F238E27FC236}">
                <a16:creationId xmlns:a16="http://schemas.microsoft.com/office/drawing/2014/main" id="{C63763F5-B0A4-3C7E-73E5-EA457205D839}"/>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id="{B9904488-BFBD-E43A-BE57-80CECFA401DD}"/>
              </a:ext>
            </a:extLst>
          </p:cNvPr>
          <p:cNvSpPr>
            <a:spLocks noGrp="1"/>
          </p:cNvSpPr>
          <p:nvPr>
            <p:ph type="sldNum" sz="quarter" idx="12"/>
          </p:nvPr>
        </p:nvSpPr>
        <p:spPr/>
        <p:txBody>
          <a:bodyPr/>
          <a:lstStyle/>
          <a:p>
            <a:fld id="{93013F5B-0CB8-284D-B88B-2C9766842346}" type="slidenum">
              <a:rPr lang="x-none" smtClean="0"/>
              <a:t>‹#›</a:t>
            </a:fld>
            <a:endParaRPr lang="x-none"/>
          </a:p>
        </p:txBody>
      </p:sp>
    </p:spTree>
    <p:extLst>
      <p:ext uri="{BB962C8B-B14F-4D97-AF65-F5344CB8AC3E}">
        <p14:creationId xmlns:p14="http://schemas.microsoft.com/office/powerpoint/2010/main" val="4156802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8FB96-5734-DAEF-4107-85DCA839464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x-none"/>
          </a:p>
        </p:txBody>
      </p:sp>
      <p:sp>
        <p:nvSpPr>
          <p:cNvPr id="3" name="Content Placeholder 2">
            <a:extLst>
              <a:ext uri="{FF2B5EF4-FFF2-40B4-BE49-F238E27FC236}">
                <a16:creationId xmlns:a16="http://schemas.microsoft.com/office/drawing/2014/main" id="{B4BE9AB2-B598-7CA4-9355-43B7E11910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Text Placeholder 3">
            <a:extLst>
              <a:ext uri="{FF2B5EF4-FFF2-40B4-BE49-F238E27FC236}">
                <a16:creationId xmlns:a16="http://schemas.microsoft.com/office/drawing/2014/main" id="{6389B0CA-1A71-0B06-0B6D-00FE2E58D5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54CFEFC-7D00-9A59-0864-1C54DC939218}"/>
              </a:ext>
            </a:extLst>
          </p:cNvPr>
          <p:cNvSpPr>
            <a:spLocks noGrp="1"/>
          </p:cNvSpPr>
          <p:nvPr>
            <p:ph type="dt" sz="half" idx="10"/>
          </p:nvPr>
        </p:nvSpPr>
        <p:spPr/>
        <p:txBody>
          <a:bodyPr/>
          <a:lstStyle/>
          <a:p>
            <a:fld id="{D1028508-28C4-444E-B522-D804D5355C6F}" type="datetimeFigureOut">
              <a:rPr lang="x-none" smtClean="0"/>
              <a:t>28/09/2025</a:t>
            </a:fld>
            <a:endParaRPr lang="x-none"/>
          </a:p>
        </p:txBody>
      </p:sp>
      <p:sp>
        <p:nvSpPr>
          <p:cNvPr id="6" name="Footer Placeholder 5">
            <a:extLst>
              <a:ext uri="{FF2B5EF4-FFF2-40B4-BE49-F238E27FC236}">
                <a16:creationId xmlns:a16="http://schemas.microsoft.com/office/drawing/2014/main" id="{6F14935B-EAD7-D165-EDCE-6EF46CDA13CD}"/>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FD313524-6400-C6E2-7B03-043920333CE7}"/>
              </a:ext>
            </a:extLst>
          </p:cNvPr>
          <p:cNvSpPr>
            <a:spLocks noGrp="1"/>
          </p:cNvSpPr>
          <p:nvPr>
            <p:ph type="sldNum" sz="quarter" idx="12"/>
          </p:nvPr>
        </p:nvSpPr>
        <p:spPr/>
        <p:txBody>
          <a:bodyPr/>
          <a:lstStyle/>
          <a:p>
            <a:fld id="{93013F5B-0CB8-284D-B88B-2C9766842346}" type="slidenum">
              <a:rPr lang="x-none" smtClean="0"/>
              <a:t>‹#›</a:t>
            </a:fld>
            <a:endParaRPr lang="x-none"/>
          </a:p>
        </p:txBody>
      </p:sp>
    </p:spTree>
    <p:extLst>
      <p:ext uri="{BB962C8B-B14F-4D97-AF65-F5344CB8AC3E}">
        <p14:creationId xmlns:p14="http://schemas.microsoft.com/office/powerpoint/2010/main" val="2417530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67DC4-C74F-F560-0549-BB0625BA734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x-none"/>
          </a:p>
        </p:txBody>
      </p:sp>
      <p:sp>
        <p:nvSpPr>
          <p:cNvPr id="3" name="Picture Placeholder 2">
            <a:extLst>
              <a:ext uri="{FF2B5EF4-FFF2-40B4-BE49-F238E27FC236}">
                <a16:creationId xmlns:a16="http://schemas.microsoft.com/office/drawing/2014/main" id="{8B60EABB-BA1C-890B-E1DA-23B5B14BC8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a:extLst>
              <a:ext uri="{FF2B5EF4-FFF2-40B4-BE49-F238E27FC236}">
                <a16:creationId xmlns:a16="http://schemas.microsoft.com/office/drawing/2014/main" id="{055B9FE2-3323-D13F-2DED-44D7BB2146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F7171D5-60DC-7040-3160-402662BA8457}"/>
              </a:ext>
            </a:extLst>
          </p:cNvPr>
          <p:cNvSpPr>
            <a:spLocks noGrp="1"/>
          </p:cNvSpPr>
          <p:nvPr>
            <p:ph type="dt" sz="half" idx="10"/>
          </p:nvPr>
        </p:nvSpPr>
        <p:spPr/>
        <p:txBody>
          <a:bodyPr/>
          <a:lstStyle/>
          <a:p>
            <a:fld id="{D1028508-28C4-444E-B522-D804D5355C6F}" type="datetimeFigureOut">
              <a:rPr lang="x-none" smtClean="0"/>
              <a:t>28/09/2025</a:t>
            </a:fld>
            <a:endParaRPr lang="x-none"/>
          </a:p>
        </p:txBody>
      </p:sp>
      <p:sp>
        <p:nvSpPr>
          <p:cNvPr id="6" name="Footer Placeholder 5">
            <a:extLst>
              <a:ext uri="{FF2B5EF4-FFF2-40B4-BE49-F238E27FC236}">
                <a16:creationId xmlns:a16="http://schemas.microsoft.com/office/drawing/2014/main" id="{985BFC39-97F1-23FE-E1C4-460010934CB7}"/>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AE8A0231-DA9F-D58C-2194-1B436CB74072}"/>
              </a:ext>
            </a:extLst>
          </p:cNvPr>
          <p:cNvSpPr>
            <a:spLocks noGrp="1"/>
          </p:cNvSpPr>
          <p:nvPr>
            <p:ph type="sldNum" sz="quarter" idx="12"/>
          </p:nvPr>
        </p:nvSpPr>
        <p:spPr/>
        <p:txBody>
          <a:bodyPr/>
          <a:lstStyle/>
          <a:p>
            <a:fld id="{93013F5B-0CB8-284D-B88B-2C9766842346}" type="slidenum">
              <a:rPr lang="x-none" smtClean="0"/>
              <a:t>‹#›</a:t>
            </a:fld>
            <a:endParaRPr lang="x-none"/>
          </a:p>
        </p:txBody>
      </p:sp>
    </p:spTree>
    <p:extLst>
      <p:ext uri="{BB962C8B-B14F-4D97-AF65-F5344CB8AC3E}">
        <p14:creationId xmlns:p14="http://schemas.microsoft.com/office/powerpoint/2010/main" val="16126420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E8822-4559-BF08-E7CA-6FC05A8EEADE}"/>
              </a:ext>
            </a:extLst>
          </p:cNvPr>
          <p:cNvSpPr>
            <a:spLocks noGrp="1"/>
          </p:cNvSpPr>
          <p:nvPr>
            <p:ph type="title"/>
          </p:nvPr>
        </p:nvSpPr>
        <p:spPr/>
        <p:txBody>
          <a:bodyPr/>
          <a:lstStyle/>
          <a:p>
            <a:r>
              <a:rPr lang="en-GB"/>
              <a:t>Click to edit Master title style</a:t>
            </a:r>
            <a:endParaRPr lang="x-none"/>
          </a:p>
        </p:txBody>
      </p:sp>
      <p:sp>
        <p:nvSpPr>
          <p:cNvPr id="3" name="Vertical Text Placeholder 2">
            <a:extLst>
              <a:ext uri="{FF2B5EF4-FFF2-40B4-BE49-F238E27FC236}">
                <a16:creationId xmlns:a16="http://schemas.microsoft.com/office/drawing/2014/main" id="{91CDBBB7-AE37-2BE0-17E7-B88B7BA998B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Date Placeholder 3">
            <a:extLst>
              <a:ext uri="{FF2B5EF4-FFF2-40B4-BE49-F238E27FC236}">
                <a16:creationId xmlns:a16="http://schemas.microsoft.com/office/drawing/2014/main" id="{58A0E6A4-59A2-88D0-7EB2-20A6033FDD67}"/>
              </a:ext>
            </a:extLst>
          </p:cNvPr>
          <p:cNvSpPr>
            <a:spLocks noGrp="1"/>
          </p:cNvSpPr>
          <p:nvPr>
            <p:ph type="dt" sz="half" idx="10"/>
          </p:nvPr>
        </p:nvSpPr>
        <p:spPr/>
        <p:txBody>
          <a:bodyPr/>
          <a:lstStyle/>
          <a:p>
            <a:fld id="{D1028508-28C4-444E-B522-D804D5355C6F}" type="datetimeFigureOut">
              <a:rPr lang="x-none" smtClean="0"/>
              <a:t>28/09/2025</a:t>
            </a:fld>
            <a:endParaRPr lang="x-none"/>
          </a:p>
        </p:txBody>
      </p:sp>
      <p:sp>
        <p:nvSpPr>
          <p:cNvPr id="5" name="Footer Placeholder 4">
            <a:extLst>
              <a:ext uri="{FF2B5EF4-FFF2-40B4-BE49-F238E27FC236}">
                <a16:creationId xmlns:a16="http://schemas.microsoft.com/office/drawing/2014/main" id="{9EA04BBF-1DEE-E32B-7D5D-2FAB05542A08}"/>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A144D3B3-2FE2-A50D-FBCF-6BC9482983A7}"/>
              </a:ext>
            </a:extLst>
          </p:cNvPr>
          <p:cNvSpPr>
            <a:spLocks noGrp="1"/>
          </p:cNvSpPr>
          <p:nvPr>
            <p:ph type="sldNum" sz="quarter" idx="12"/>
          </p:nvPr>
        </p:nvSpPr>
        <p:spPr/>
        <p:txBody>
          <a:bodyPr/>
          <a:lstStyle/>
          <a:p>
            <a:fld id="{93013F5B-0CB8-284D-B88B-2C9766842346}" type="slidenum">
              <a:rPr lang="x-none" smtClean="0"/>
              <a:t>‹#›</a:t>
            </a:fld>
            <a:endParaRPr lang="x-none"/>
          </a:p>
        </p:txBody>
      </p:sp>
    </p:spTree>
    <p:extLst>
      <p:ext uri="{BB962C8B-B14F-4D97-AF65-F5344CB8AC3E}">
        <p14:creationId xmlns:p14="http://schemas.microsoft.com/office/powerpoint/2010/main" val="38232897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D9C1B8-E73B-60E5-9E99-C0202485067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x-none"/>
          </a:p>
        </p:txBody>
      </p:sp>
      <p:sp>
        <p:nvSpPr>
          <p:cNvPr id="3" name="Vertical Text Placeholder 2">
            <a:extLst>
              <a:ext uri="{FF2B5EF4-FFF2-40B4-BE49-F238E27FC236}">
                <a16:creationId xmlns:a16="http://schemas.microsoft.com/office/drawing/2014/main" id="{3F630C4F-77F7-E374-0669-40A8D667279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Date Placeholder 3">
            <a:extLst>
              <a:ext uri="{FF2B5EF4-FFF2-40B4-BE49-F238E27FC236}">
                <a16:creationId xmlns:a16="http://schemas.microsoft.com/office/drawing/2014/main" id="{99FB6ED8-5F02-C99A-53A6-E5B360E03466}"/>
              </a:ext>
            </a:extLst>
          </p:cNvPr>
          <p:cNvSpPr>
            <a:spLocks noGrp="1"/>
          </p:cNvSpPr>
          <p:nvPr>
            <p:ph type="dt" sz="half" idx="10"/>
          </p:nvPr>
        </p:nvSpPr>
        <p:spPr/>
        <p:txBody>
          <a:bodyPr/>
          <a:lstStyle/>
          <a:p>
            <a:fld id="{D1028508-28C4-444E-B522-D804D5355C6F}" type="datetimeFigureOut">
              <a:rPr lang="x-none" smtClean="0"/>
              <a:t>28/09/2025</a:t>
            </a:fld>
            <a:endParaRPr lang="x-none"/>
          </a:p>
        </p:txBody>
      </p:sp>
      <p:sp>
        <p:nvSpPr>
          <p:cNvPr id="5" name="Footer Placeholder 4">
            <a:extLst>
              <a:ext uri="{FF2B5EF4-FFF2-40B4-BE49-F238E27FC236}">
                <a16:creationId xmlns:a16="http://schemas.microsoft.com/office/drawing/2014/main" id="{AB4D9FDF-C1E4-41B9-BDE8-9917721069F0}"/>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1B2B692B-8256-E486-20FB-C6CC8DD77AD5}"/>
              </a:ext>
            </a:extLst>
          </p:cNvPr>
          <p:cNvSpPr>
            <a:spLocks noGrp="1"/>
          </p:cNvSpPr>
          <p:nvPr>
            <p:ph type="sldNum" sz="quarter" idx="12"/>
          </p:nvPr>
        </p:nvSpPr>
        <p:spPr/>
        <p:txBody>
          <a:bodyPr/>
          <a:lstStyle/>
          <a:p>
            <a:fld id="{93013F5B-0CB8-284D-B88B-2C9766842346}" type="slidenum">
              <a:rPr lang="x-none" smtClean="0"/>
              <a:t>‹#›</a:t>
            </a:fld>
            <a:endParaRPr lang="x-none"/>
          </a:p>
        </p:txBody>
      </p:sp>
    </p:spTree>
    <p:extLst>
      <p:ext uri="{BB962C8B-B14F-4D97-AF65-F5344CB8AC3E}">
        <p14:creationId xmlns:p14="http://schemas.microsoft.com/office/powerpoint/2010/main" val="15219448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9FD25C9-E86F-B24A-2E09-38DADE2301C4}"/>
              </a:ext>
            </a:extLst>
          </p:cNvPr>
          <p:cNvSpPr/>
          <p:nvPr userDrawn="1"/>
        </p:nvSpPr>
        <p:spPr>
          <a:xfrm>
            <a:off x="0" y="0"/>
            <a:ext cx="6546683" cy="170814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2E5E826-D724-2D8D-3EF0-19277E8F644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5147" b="29543"/>
          <a:stretch/>
        </p:blipFill>
        <p:spPr>
          <a:xfrm>
            <a:off x="11412" y="1255327"/>
            <a:ext cx="6535271" cy="5602673"/>
          </a:xfrm>
          <a:prstGeom prst="rect">
            <a:avLst/>
          </a:prstGeom>
        </p:spPr>
      </p:pic>
      <p:sp>
        <p:nvSpPr>
          <p:cNvPr id="10" name="Title 4">
            <a:extLst>
              <a:ext uri="{FF2B5EF4-FFF2-40B4-BE49-F238E27FC236}">
                <a16:creationId xmlns:a16="http://schemas.microsoft.com/office/drawing/2014/main" id="{5AED0AF9-F474-D247-4F03-B2FF92977694}"/>
              </a:ext>
            </a:extLst>
          </p:cNvPr>
          <p:cNvSpPr txBox="1">
            <a:spLocks/>
          </p:cNvSpPr>
          <p:nvPr userDrawn="1"/>
        </p:nvSpPr>
        <p:spPr>
          <a:xfrm>
            <a:off x="577062" y="304499"/>
            <a:ext cx="5281169" cy="111064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000" b="1" dirty="0">
                <a:solidFill>
                  <a:srgbClr val="FF0000"/>
                </a:solidFill>
                <a:latin typeface="CorisandeBold" charset="0"/>
                <a:ea typeface="CorisandeBold" charset="0"/>
                <a:cs typeface="CorisandeBold" charset="0"/>
              </a:rPr>
              <a:t>Thank</a:t>
            </a:r>
            <a:r>
              <a:rPr lang="en-US" sz="8000" b="1" dirty="0">
                <a:latin typeface="CorisandeBold" charset="0"/>
                <a:ea typeface="CorisandeBold" charset="0"/>
                <a:cs typeface="CorisandeBold" charset="0"/>
              </a:rPr>
              <a:t> </a:t>
            </a:r>
            <a:r>
              <a:rPr lang="en-US" sz="8000" b="1" dirty="0">
                <a:solidFill>
                  <a:srgbClr val="A3B54A"/>
                </a:solidFill>
                <a:latin typeface="CorisandeBold" charset="0"/>
                <a:ea typeface="CorisandeBold" charset="0"/>
                <a:cs typeface="CorisandeBold" charset="0"/>
              </a:rPr>
              <a:t>You</a:t>
            </a:r>
          </a:p>
        </p:txBody>
      </p:sp>
      <p:pic>
        <p:nvPicPr>
          <p:cNvPr id="11" name="Picture 10" descr="A black rectangular sign with white text&#10;&#10;Description automatically generated">
            <a:extLst>
              <a:ext uri="{FF2B5EF4-FFF2-40B4-BE49-F238E27FC236}">
                <a16:creationId xmlns:a16="http://schemas.microsoft.com/office/drawing/2014/main" id="{F48DAD6F-D0BF-B1D6-A82B-5C8842037F2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542989" y="574390"/>
            <a:ext cx="2563239" cy="906196"/>
          </a:xfrm>
          <a:prstGeom prst="rect">
            <a:avLst/>
          </a:prstGeom>
        </p:spPr>
      </p:pic>
      <p:pic>
        <p:nvPicPr>
          <p:cNvPr id="12" name="Picture 11" descr="A lion holding a spear and a shield with text&#10;&#10;Description automatically generated">
            <a:extLst>
              <a:ext uri="{FF2B5EF4-FFF2-40B4-BE49-F238E27FC236}">
                <a16:creationId xmlns:a16="http://schemas.microsoft.com/office/drawing/2014/main" id="{42EA21C3-59E1-EE69-5617-2C96E4C7564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535160" y="660916"/>
            <a:ext cx="2380888" cy="841728"/>
          </a:xfrm>
          <a:prstGeom prst="rect">
            <a:avLst/>
          </a:prstGeom>
        </p:spPr>
      </p:pic>
      <p:pic>
        <p:nvPicPr>
          <p:cNvPr id="17" name="Picture 16">
            <a:extLst>
              <a:ext uri="{FF2B5EF4-FFF2-40B4-BE49-F238E27FC236}">
                <a16:creationId xmlns:a16="http://schemas.microsoft.com/office/drawing/2014/main" id="{93AE7AAC-D97E-783A-7A5F-9AB7CE575AAA}"/>
              </a:ext>
            </a:extLst>
          </p:cNvPr>
          <p:cNvPicPr>
            <a:picLocks noChangeAspect="1"/>
          </p:cNvPicPr>
          <p:nvPr userDrawn="1"/>
        </p:nvPicPr>
        <p:blipFill>
          <a:blip r:embed="rId5"/>
          <a:stretch>
            <a:fillRect/>
          </a:stretch>
        </p:blipFill>
        <p:spPr>
          <a:xfrm flipV="1">
            <a:off x="7019188" y="6174224"/>
            <a:ext cx="4861588" cy="45719"/>
          </a:xfrm>
          <a:prstGeom prst="rect">
            <a:avLst/>
          </a:prstGeom>
        </p:spPr>
      </p:pic>
      <p:pic>
        <p:nvPicPr>
          <p:cNvPr id="4" name="Picture 3">
            <a:extLst>
              <a:ext uri="{FF2B5EF4-FFF2-40B4-BE49-F238E27FC236}">
                <a16:creationId xmlns:a16="http://schemas.microsoft.com/office/drawing/2014/main" id="{5AA4667E-1C5F-19B7-DE5C-AAF2959313B1}"/>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956281" y="2292994"/>
            <a:ext cx="1498399" cy="925664"/>
          </a:xfrm>
          <a:prstGeom prst="rect">
            <a:avLst/>
          </a:prstGeom>
        </p:spPr>
      </p:pic>
      <p:pic>
        <p:nvPicPr>
          <p:cNvPr id="18" name="Picture 17" descr="A logo with green letters and a black background&#10;&#10;Description automatically generated">
            <a:extLst>
              <a:ext uri="{FF2B5EF4-FFF2-40B4-BE49-F238E27FC236}">
                <a16:creationId xmlns:a16="http://schemas.microsoft.com/office/drawing/2014/main" id="{E99E9AA1-5052-3FE5-4FD4-BD3249AAFABA}"/>
              </a:ext>
            </a:extLst>
          </p:cNvPr>
          <p:cNvPicPr>
            <a:picLocks noChangeAspect="1"/>
          </p:cNvPicPr>
          <p:nvPr userDrawn="1"/>
        </p:nvPicPr>
        <p:blipFill>
          <a:blip r:embed="rId7"/>
          <a:stretch>
            <a:fillRect/>
          </a:stretch>
        </p:blipFill>
        <p:spPr>
          <a:xfrm>
            <a:off x="8943682" y="4400746"/>
            <a:ext cx="1012599" cy="448983"/>
          </a:xfrm>
          <a:prstGeom prst="rect">
            <a:avLst/>
          </a:prstGeom>
        </p:spPr>
      </p:pic>
      <p:pic>
        <p:nvPicPr>
          <p:cNvPr id="20" name="Picture 19" descr="A black and white logo&#10;&#10;Description automatically generated">
            <a:extLst>
              <a:ext uri="{FF2B5EF4-FFF2-40B4-BE49-F238E27FC236}">
                <a16:creationId xmlns:a16="http://schemas.microsoft.com/office/drawing/2014/main" id="{97548F84-88DB-D35A-6D6F-2304222AC5C5}"/>
              </a:ext>
            </a:extLst>
          </p:cNvPr>
          <p:cNvPicPr>
            <a:picLocks noChangeAspect="1"/>
          </p:cNvPicPr>
          <p:nvPr userDrawn="1"/>
        </p:nvPicPr>
        <p:blipFill>
          <a:blip r:embed="rId8"/>
          <a:stretch>
            <a:fillRect/>
          </a:stretch>
        </p:blipFill>
        <p:spPr>
          <a:xfrm>
            <a:off x="7019189" y="4456692"/>
            <a:ext cx="1285788" cy="312033"/>
          </a:xfrm>
          <a:prstGeom prst="rect">
            <a:avLst/>
          </a:prstGeom>
        </p:spPr>
      </p:pic>
      <p:pic>
        <p:nvPicPr>
          <p:cNvPr id="22" name="Picture 21" descr="A red and green sign with a black background&#10;&#10;Description automatically generated">
            <a:extLst>
              <a:ext uri="{FF2B5EF4-FFF2-40B4-BE49-F238E27FC236}">
                <a16:creationId xmlns:a16="http://schemas.microsoft.com/office/drawing/2014/main" id="{79E75FB0-FF3F-8081-1DA7-E5952638543F}"/>
              </a:ext>
            </a:extLst>
          </p:cNvPr>
          <p:cNvPicPr>
            <a:picLocks noChangeAspect="1"/>
          </p:cNvPicPr>
          <p:nvPr userDrawn="1"/>
        </p:nvPicPr>
        <p:blipFill>
          <a:blip r:embed="rId9"/>
          <a:stretch>
            <a:fillRect/>
          </a:stretch>
        </p:blipFill>
        <p:spPr>
          <a:xfrm>
            <a:off x="8700781" y="5143306"/>
            <a:ext cx="1498399" cy="490260"/>
          </a:xfrm>
          <a:prstGeom prst="rect">
            <a:avLst/>
          </a:prstGeom>
        </p:spPr>
      </p:pic>
      <p:pic>
        <p:nvPicPr>
          <p:cNvPr id="24" name="Picture 23">
            <a:extLst>
              <a:ext uri="{FF2B5EF4-FFF2-40B4-BE49-F238E27FC236}">
                <a16:creationId xmlns:a16="http://schemas.microsoft.com/office/drawing/2014/main" id="{513F41E1-188D-EF49-1010-02DED0A12D6A}"/>
              </a:ext>
            </a:extLst>
          </p:cNvPr>
          <p:cNvPicPr>
            <a:picLocks noChangeAspect="1"/>
          </p:cNvPicPr>
          <p:nvPr userDrawn="1"/>
        </p:nvPicPr>
        <p:blipFill>
          <a:blip r:embed="rId10"/>
          <a:stretch>
            <a:fillRect/>
          </a:stretch>
        </p:blipFill>
        <p:spPr>
          <a:xfrm>
            <a:off x="10382377" y="4386030"/>
            <a:ext cx="1498399" cy="539678"/>
          </a:xfrm>
          <a:prstGeom prst="rect">
            <a:avLst/>
          </a:prstGeom>
        </p:spPr>
      </p:pic>
      <p:sp>
        <p:nvSpPr>
          <p:cNvPr id="25" name="Rectangle 24">
            <a:extLst>
              <a:ext uri="{FF2B5EF4-FFF2-40B4-BE49-F238E27FC236}">
                <a16:creationId xmlns:a16="http://schemas.microsoft.com/office/drawing/2014/main" id="{D88E318B-74AF-A51F-B9F4-87913A308027}"/>
              </a:ext>
            </a:extLst>
          </p:cNvPr>
          <p:cNvSpPr/>
          <p:nvPr userDrawn="1"/>
        </p:nvSpPr>
        <p:spPr>
          <a:xfrm flipV="1">
            <a:off x="7018127" y="3862104"/>
            <a:ext cx="4861588" cy="45719"/>
          </a:xfrm>
          <a:prstGeom prst="rect">
            <a:avLst/>
          </a:prstGeom>
          <a:solidFill>
            <a:srgbClr val="CF1F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solidFill>
                <a:srgbClr val="CF1F41"/>
              </a:solidFill>
            </a:endParaRPr>
          </a:p>
        </p:txBody>
      </p:sp>
      <p:pic>
        <p:nvPicPr>
          <p:cNvPr id="2" name="Picture 1" descr="A close-up of a logo&#10;&#10;Description automatically generated">
            <a:extLst>
              <a:ext uri="{FF2B5EF4-FFF2-40B4-BE49-F238E27FC236}">
                <a16:creationId xmlns:a16="http://schemas.microsoft.com/office/drawing/2014/main" id="{4B117B68-7F7C-392E-CE9E-B92AA2138FB2}"/>
              </a:ext>
            </a:extLst>
          </p:cNvPr>
          <p:cNvPicPr>
            <a:picLocks noChangeAspect="1"/>
          </p:cNvPicPr>
          <p:nvPr userDrawn="1"/>
        </p:nvPicPr>
        <p:blipFill>
          <a:blip r:embed="rId11"/>
          <a:stretch>
            <a:fillRect/>
          </a:stretch>
        </p:blipFill>
        <p:spPr>
          <a:xfrm>
            <a:off x="1573533" y="1396879"/>
            <a:ext cx="3098771" cy="915546"/>
          </a:xfrm>
          <a:prstGeom prst="rect">
            <a:avLst/>
          </a:prstGeom>
        </p:spPr>
      </p:pic>
      <p:pic>
        <p:nvPicPr>
          <p:cNvPr id="3" name="Picture 2" descr="A logo with a globe and flags&#10;&#10;Description automatically generated">
            <a:extLst>
              <a:ext uri="{FF2B5EF4-FFF2-40B4-BE49-F238E27FC236}">
                <a16:creationId xmlns:a16="http://schemas.microsoft.com/office/drawing/2014/main" id="{5A2D165A-3255-D25B-61CA-61D8460A6E1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7027566" y="2242875"/>
            <a:ext cx="782309" cy="838635"/>
          </a:xfrm>
          <a:prstGeom prst="rect">
            <a:avLst/>
          </a:prstGeom>
        </p:spPr>
      </p:pic>
    </p:spTree>
    <p:extLst>
      <p:ext uri="{BB962C8B-B14F-4D97-AF65-F5344CB8AC3E}">
        <p14:creationId xmlns:p14="http://schemas.microsoft.com/office/powerpoint/2010/main" val="27394016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647D3-7DB3-ABD3-4DF1-5728433AEE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7AD2FA-C09A-A591-741A-B939F42F56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2CA2735-47EA-A33F-88C7-3373B55DD1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54CF532-6542-8EC9-A76D-FA2446F3BF48}"/>
              </a:ext>
            </a:extLst>
          </p:cNvPr>
          <p:cNvSpPr>
            <a:spLocks noGrp="1"/>
          </p:cNvSpPr>
          <p:nvPr>
            <p:ph type="dt" sz="half" idx="10"/>
          </p:nvPr>
        </p:nvSpPr>
        <p:spPr/>
        <p:txBody>
          <a:bodyPr/>
          <a:lstStyle/>
          <a:p>
            <a:fld id="{0D4D46A5-878C-4880-BD9E-75DBF2CDD0F9}" type="datetimeFigureOut">
              <a:rPr lang="en-US" smtClean="0"/>
              <a:t>28-Sep-25</a:t>
            </a:fld>
            <a:endParaRPr lang="en-US"/>
          </a:p>
        </p:txBody>
      </p:sp>
      <p:sp>
        <p:nvSpPr>
          <p:cNvPr id="6" name="Footer Placeholder 5">
            <a:extLst>
              <a:ext uri="{FF2B5EF4-FFF2-40B4-BE49-F238E27FC236}">
                <a16:creationId xmlns:a16="http://schemas.microsoft.com/office/drawing/2014/main" id="{EDC46BBF-ACF2-58ED-BCA7-C836BA0BF2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352016-296D-F8D3-C7EA-8A0235F65FE0}"/>
              </a:ext>
            </a:extLst>
          </p:cNvPr>
          <p:cNvSpPr>
            <a:spLocks noGrp="1"/>
          </p:cNvSpPr>
          <p:nvPr>
            <p:ph type="sldNum" sz="quarter" idx="12"/>
          </p:nvPr>
        </p:nvSpPr>
        <p:spPr/>
        <p:txBody>
          <a:bodyPr/>
          <a:lstStyle/>
          <a:p>
            <a:fld id="{C3C258FF-8C3D-4631-A941-4D6BD3F7C76D}" type="slidenum">
              <a:rPr lang="en-US" smtClean="0"/>
              <a:t>‹#›</a:t>
            </a:fld>
            <a:endParaRPr lang="en-US"/>
          </a:p>
        </p:txBody>
      </p:sp>
    </p:spTree>
    <p:extLst>
      <p:ext uri="{BB962C8B-B14F-4D97-AF65-F5344CB8AC3E}">
        <p14:creationId xmlns:p14="http://schemas.microsoft.com/office/powerpoint/2010/main" val="11245059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AutoShape 2" descr="A black background with red green and white letters&#10;&#10;Description automatically generated"/>
          <p:cNvSpPr>
            <a:spLocks noChangeAspect="1" noChangeArrowheads="1"/>
          </p:cNvSpPr>
          <p:nvPr userDrawn="1"/>
        </p:nvSpPr>
        <p:spPr bwMode="auto">
          <a:xfrm>
            <a:off x="212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descr="A blue and green background with black stripes&#10;&#10;Description automatically generated">
            <a:extLst>
              <a:ext uri="{FF2B5EF4-FFF2-40B4-BE49-F238E27FC236}">
                <a16:creationId xmlns:a16="http://schemas.microsoft.com/office/drawing/2014/main" id="{F3810C42-41DD-06A5-B280-9AB2448A9352}"/>
              </a:ext>
            </a:extLst>
          </p:cNvPr>
          <p:cNvPicPr>
            <a:picLocks noChangeAspect="1"/>
          </p:cNvPicPr>
          <p:nvPr userDrawn="1"/>
        </p:nvPicPr>
        <p:blipFill rotWithShape="1">
          <a:blip r:embed="rId2"/>
          <a:srcRect b="16614"/>
          <a:stretch/>
        </p:blipFill>
        <p:spPr>
          <a:xfrm>
            <a:off x="0" y="0"/>
            <a:ext cx="12192000" cy="5718629"/>
          </a:xfrm>
          <a:prstGeom prst="rect">
            <a:avLst/>
          </a:prstGeom>
        </p:spPr>
      </p:pic>
      <p:pic>
        <p:nvPicPr>
          <p:cNvPr id="10" name="Picture 9" descr="A lion holding a spear and a shield with text&#10;&#10;Description automatically generated">
            <a:extLst>
              <a:ext uri="{FF2B5EF4-FFF2-40B4-BE49-F238E27FC236}">
                <a16:creationId xmlns:a16="http://schemas.microsoft.com/office/drawing/2014/main" id="{7B7093B6-258C-B96A-D794-E1DC7F23D61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4539" y="6007639"/>
            <a:ext cx="1785248" cy="631149"/>
          </a:xfrm>
          <a:prstGeom prst="rect">
            <a:avLst/>
          </a:prstGeom>
        </p:spPr>
      </p:pic>
      <p:pic>
        <p:nvPicPr>
          <p:cNvPr id="11" name="Picture 10" descr="A black rectangular sign with white text&#10;&#10;Description automatically generated">
            <a:extLst>
              <a:ext uri="{FF2B5EF4-FFF2-40B4-BE49-F238E27FC236}">
                <a16:creationId xmlns:a16="http://schemas.microsoft.com/office/drawing/2014/main" id="{D3A78786-C751-A1FF-EFC1-5EF4F19CB36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574114" y="6024828"/>
            <a:ext cx="1884458" cy="666222"/>
          </a:xfrm>
          <a:prstGeom prst="rect">
            <a:avLst/>
          </a:prstGeom>
        </p:spPr>
      </p:pic>
      <p:pic>
        <p:nvPicPr>
          <p:cNvPr id="12" name="Picture 11">
            <a:extLst>
              <a:ext uri="{FF2B5EF4-FFF2-40B4-BE49-F238E27FC236}">
                <a16:creationId xmlns:a16="http://schemas.microsoft.com/office/drawing/2014/main" id="{06DBC219-24C8-C935-7984-CC74A2F8FE5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474451" y="6075309"/>
            <a:ext cx="1101063" cy="680202"/>
          </a:xfrm>
          <a:prstGeom prst="rect">
            <a:avLst/>
          </a:prstGeom>
        </p:spPr>
      </p:pic>
      <p:pic>
        <p:nvPicPr>
          <p:cNvPr id="14" name="Picture 13" descr="A black text on a white background&#10;&#10;Description automatically generated">
            <a:extLst>
              <a:ext uri="{FF2B5EF4-FFF2-40B4-BE49-F238E27FC236}">
                <a16:creationId xmlns:a16="http://schemas.microsoft.com/office/drawing/2014/main" id="{44882E09-B8CA-EAA9-C5A8-5397D1ACD621}"/>
              </a:ext>
            </a:extLst>
          </p:cNvPr>
          <p:cNvPicPr>
            <a:picLocks noChangeAspect="1"/>
          </p:cNvPicPr>
          <p:nvPr userDrawn="1"/>
        </p:nvPicPr>
        <p:blipFill>
          <a:blip r:embed="rId6"/>
          <a:stretch>
            <a:fillRect/>
          </a:stretch>
        </p:blipFill>
        <p:spPr>
          <a:xfrm>
            <a:off x="5428257" y="6075309"/>
            <a:ext cx="1629800" cy="706626"/>
          </a:xfrm>
          <a:prstGeom prst="rect">
            <a:avLst/>
          </a:prstGeom>
        </p:spPr>
      </p:pic>
      <p:pic>
        <p:nvPicPr>
          <p:cNvPr id="15" name="Picture 14" descr="A logo for a company&#10;&#10;Description automatically generated">
            <a:extLst>
              <a:ext uri="{FF2B5EF4-FFF2-40B4-BE49-F238E27FC236}">
                <a16:creationId xmlns:a16="http://schemas.microsoft.com/office/drawing/2014/main" id="{76325C63-230B-1377-0EBC-5D4E3F48C8F1}"/>
              </a:ext>
            </a:extLst>
          </p:cNvPr>
          <p:cNvPicPr>
            <a:picLocks noChangeAspect="1"/>
          </p:cNvPicPr>
          <p:nvPr userDrawn="1"/>
        </p:nvPicPr>
        <p:blipFill rotWithShape="1">
          <a:blip r:embed="rId7"/>
          <a:srcRect l="17924" t="18888" r="11254" b="15459"/>
          <a:stretch/>
        </p:blipFill>
        <p:spPr>
          <a:xfrm>
            <a:off x="7247004" y="6091027"/>
            <a:ext cx="1109382" cy="533823"/>
          </a:xfrm>
          <a:prstGeom prst="rect">
            <a:avLst/>
          </a:prstGeom>
        </p:spPr>
      </p:pic>
      <p:pic>
        <p:nvPicPr>
          <p:cNvPr id="16" name="Picture 15" descr="A logo with a map and text&#10;&#10;Description automatically generated">
            <a:extLst>
              <a:ext uri="{FF2B5EF4-FFF2-40B4-BE49-F238E27FC236}">
                <a16:creationId xmlns:a16="http://schemas.microsoft.com/office/drawing/2014/main" id="{942DDB05-C5E7-3C96-2D92-4A4AD4212FCE}"/>
              </a:ext>
            </a:extLst>
          </p:cNvPr>
          <p:cNvPicPr>
            <a:picLocks noChangeAspect="1"/>
          </p:cNvPicPr>
          <p:nvPr userDrawn="1"/>
        </p:nvPicPr>
        <p:blipFill>
          <a:blip r:embed="rId8"/>
          <a:stretch>
            <a:fillRect/>
          </a:stretch>
        </p:blipFill>
        <p:spPr>
          <a:xfrm>
            <a:off x="10096206" y="5877954"/>
            <a:ext cx="1897224" cy="813096"/>
          </a:xfrm>
          <a:prstGeom prst="rect">
            <a:avLst/>
          </a:prstGeom>
        </p:spPr>
      </p:pic>
      <p:pic>
        <p:nvPicPr>
          <p:cNvPr id="17" name="Picture 16" descr="A red and green logo&#10;&#10;Description automatically generated">
            <a:extLst>
              <a:ext uri="{FF2B5EF4-FFF2-40B4-BE49-F238E27FC236}">
                <a16:creationId xmlns:a16="http://schemas.microsoft.com/office/drawing/2014/main" id="{2F1411D3-E991-B639-D9AD-03C5FCC24FFB}"/>
              </a:ext>
            </a:extLst>
          </p:cNvPr>
          <p:cNvPicPr>
            <a:picLocks noChangeAspect="1"/>
          </p:cNvPicPr>
          <p:nvPr userDrawn="1"/>
        </p:nvPicPr>
        <p:blipFill>
          <a:blip r:embed="rId9"/>
          <a:stretch>
            <a:fillRect/>
          </a:stretch>
        </p:blipFill>
        <p:spPr>
          <a:xfrm>
            <a:off x="8531372" y="5983112"/>
            <a:ext cx="1488102" cy="537637"/>
          </a:xfrm>
          <a:prstGeom prst="rect">
            <a:avLst/>
          </a:prstGeom>
        </p:spPr>
      </p:pic>
      <p:pic>
        <p:nvPicPr>
          <p:cNvPr id="18" name="Picture 17" descr="A close-up of a logo&#10;&#10;Description automatically generated">
            <a:extLst>
              <a:ext uri="{FF2B5EF4-FFF2-40B4-BE49-F238E27FC236}">
                <a16:creationId xmlns:a16="http://schemas.microsoft.com/office/drawing/2014/main" id="{568EB9AE-30FC-6FEB-8D05-DDE1731F7381}"/>
              </a:ext>
            </a:extLst>
          </p:cNvPr>
          <p:cNvPicPr>
            <a:picLocks noChangeAspect="1"/>
          </p:cNvPicPr>
          <p:nvPr userDrawn="1"/>
        </p:nvPicPr>
        <p:blipFill>
          <a:blip r:embed="rId10"/>
          <a:stretch>
            <a:fillRect/>
          </a:stretch>
        </p:blipFill>
        <p:spPr>
          <a:xfrm>
            <a:off x="1067024" y="1139371"/>
            <a:ext cx="4066402" cy="1201437"/>
          </a:xfrm>
          <a:prstGeom prst="rect">
            <a:avLst/>
          </a:prstGeom>
        </p:spPr>
      </p:pic>
      <p:pic>
        <p:nvPicPr>
          <p:cNvPr id="2" name="Picture 1" descr="A logo with a globe and flags&#10;&#10;Description automatically generated">
            <a:extLst>
              <a:ext uri="{FF2B5EF4-FFF2-40B4-BE49-F238E27FC236}">
                <a16:creationId xmlns:a16="http://schemas.microsoft.com/office/drawing/2014/main" id="{0AF205F1-0861-4B39-A7B6-C06E7AE4480A}"/>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3606572" y="6116343"/>
            <a:ext cx="634517" cy="680202"/>
          </a:xfrm>
          <a:prstGeom prst="rect">
            <a:avLst/>
          </a:prstGeom>
        </p:spPr>
      </p:pic>
    </p:spTree>
    <p:extLst>
      <p:ext uri="{BB962C8B-B14F-4D97-AF65-F5344CB8AC3E}">
        <p14:creationId xmlns:p14="http://schemas.microsoft.com/office/powerpoint/2010/main" val="36342141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0071879-FE12-23E6-6632-187CB1D2B01F}"/>
              </a:ext>
            </a:extLst>
          </p:cNvPr>
          <p:cNvSpPr/>
          <p:nvPr userDrawn="1"/>
        </p:nvSpPr>
        <p:spPr>
          <a:xfrm>
            <a:off x="-5805" y="1286999"/>
            <a:ext cx="12192000" cy="467600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4" name="Rectangle 3">
            <a:extLst>
              <a:ext uri="{FF2B5EF4-FFF2-40B4-BE49-F238E27FC236}">
                <a16:creationId xmlns:a16="http://schemas.microsoft.com/office/drawing/2014/main" id="{03AC2BC7-E02D-7D62-342D-42E3759816A2}"/>
              </a:ext>
            </a:extLst>
          </p:cNvPr>
          <p:cNvSpPr/>
          <p:nvPr userDrawn="1"/>
        </p:nvSpPr>
        <p:spPr>
          <a:xfrm flipV="1">
            <a:off x="20052" y="5917282"/>
            <a:ext cx="12192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FC60BD3-C6B7-6258-A355-7C35D2523320}"/>
              </a:ext>
            </a:extLst>
          </p:cNvPr>
          <p:cNvSpPr/>
          <p:nvPr userDrawn="1"/>
        </p:nvSpPr>
        <p:spPr>
          <a:xfrm>
            <a:off x="0" y="1149616"/>
            <a:ext cx="12192001" cy="4571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A400"/>
              </a:solidFill>
            </a:endParaRPr>
          </a:p>
        </p:txBody>
      </p:sp>
      <p:pic>
        <p:nvPicPr>
          <p:cNvPr id="2" name="Picture 1">
            <a:extLst>
              <a:ext uri="{FF2B5EF4-FFF2-40B4-BE49-F238E27FC236}">
                <a16:creationId xmlns:a16="http://schemas.microsoft.com/office/drawing/2014/main" id="{EB36AB05-1985-9283-0AA8-34332C55B8D5}"/>
              </a:ext>
            </a:extLst>
          </p:cNvPr>
          <p:cNvPicPr>
            <a:picLocks noChangeAspect="1"/>
          </p:cNvPicPr>
          <p:nvPr userDrawn="1"/>
        </p:nvPicPr>
        <p:blipFill rotWithShape="1">
          <a:blip r:embed="rId2"/>
          <a:srcRect t="5053" r="9055"/>
          <a:stretch/>
        </p:blipFill>
        <p:spPr>
          <a:xfrm>
            <a:off x="20052" y="129745"/>
            <a:ext cx="9243589" cy="1008435"/>
          </a:xfrm>
          <a:prstGeom prst="rect">
            <a:avLst/>
          </a:prstGeom>
        </p:spPr>
      </p:pic>
      <p:pic>
        <p:nvPicPr>
          <p:cNvPr id="5" name="Picture 4" descr="A close-up of a logo&#10;&#10;Description automatically generated">
            <a:extLst>
              <a:ext uri="{FF2B5EF4-FFF2-40B4-BE49-F238E27FC236}">
                <a16:creationId xmlns:a16="http://schemas.microsoft.com/office/drawing/2014/main" id="{4B51F234-E4E7-5EBC-73A7-80F1E57FA024}"/>
              </a:ext>
            </a:extLst>
          </p:cNvPr>
          <p:cNvPicPr>
            <a:picLocks noChangeAspect="1"/>
          </p:cNvPicPr>
          <p:nvPr userDrawn="1"/>
        </p:nvPicPr>
        <p:blipFill>
          <a:blip r:embed="rId3"/>
          <a:stretch>
            <a:fillRect/>
          </a:stretch>
        </p:blipFill>
        <p:spPr>
          <a:xfrm>
            <a:off x="9232927" y="132716"/>
            <a:ext cx="2864960" cy="846465"/>
          </a:xfrm>
          <a:prstGeom prst="rect">
            <a:avLst/>
          </a:prstGeom>
        </p:spPr>
      </p:pic>
      <p:pic>
        <p:nvPicPr>
          <p:cNvPr id="6" name="Picture 5" descr="A lion holding a spear and a shield with text&#10;&#10;Description automatically generated">
            <a:extLst>
              <a:ext uri="{FF2B5EF4-FFF2-40B4-BE49-F238E27FC236}">
                <a16:creationId xmlns:a16="http://schemas.microsoft.com/office/drawing/2014/main" id="{5053575E-2BF3-7030-E32E-613C8C8E3B4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4539" y="6007639"/>
            <a:ext cx="1785248" cy="631149"/>
          </a:xfrm>
          <a:prstGeom prst="rect">
            <a:avLst/>
          </a:prstGeom>
        </p:spPr>
      </p:pic>
      <p:pic>
        <p:nvPicPr>
          <p:cNvPr id="7" name="Picture 6" descr="A black rectangular sign with white text&#10;&#10;Description automatically generated">
            <a:extLst>
              <a:ext uri="{FF2B5EF4-FFF2-40B4-BE49-F238E27FC236}">
                <a16:creationId xmlns:a16="http://schemas.microsoft.com/office/drawing/2014/main" id="{67DAC0FB-3CE4-261E-762D-2A8ED30A1BDC}"/>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720789" y="6113367"/>
            <a:ext cx="1884458" cy="666222"/>
          </a:xfrm>
          <a:prstGeom prst="rect">
            <a:avLst/>
          </a:prstGeom>
        </p:spPr>
      </p:pic>
      <p:pic>
        <p:nvPicPr>
          <p:cNvPr id="8" name="Picture 7">
            <a:extLst>
              <a:ext uri="{FF2B5EF4-FFF2-40B4-BE49-F238E27FC236}">
                <a16:creationId xmlns:a16="http://schemas.microsoft.com/office/drawing/2014/main" id="{A64D3BC9-236D-CC72-948C-61D64D88A80A}"/>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742854" y="6099387"/>
            <a:ext cx="1101063" cy="680202"/>
          </a:xfrm>
          <a:prstGeom prst="rect">
            <a:avLst/>
          </a:prstGeom>
        </p:spPr>
      </p:pic>
      <p:pic>
        <p:nvPicPr>
          <p:cNvPr id="9" name="Picture 8" descr="A black text on a white background&#10;&#10;Description automatically generated">
            <a:extLst>
              <a:ext uri="{FF2B5EF4-FFF2-40B4-BE49-F238E27FC236}">
                <a16:creationId xmlns:a16="http://schemas.microsoft.com/office/drawing/2014/main" id="{B7A9FCEB-2333-5F60-ACF2-3BA1BA6A6EF5}"/>
              </a:ext>
            </a:extLst>
          </p:cNvPr>
          <p:cNvPicPr>
            <a:picLocks noChangeAspect="1"/>
          </p:cNvPicPr>
          <p:nvPr userDrawn="1"/>
        </p:nvPicPr>
        <p:blipFill>
          <a:blip r:embed="rId7"/>
          <a:stretch>
            <a:fillRect/>
          </a:stretch>
        </p:blipFill>
        <p:spPr>
          <a:xfrm>
            <a:off x="5919976" y="6128057"/>
            <a:ext cx="1629800" cy="706626"/>
          </a:xfrm>
          <a:prstGeom prst="rect">
            <a:avLst/>
          </a:prstGeom>
        </p:spPr>
      </p:pic>
      <p:pic>
        <p:nvPicPr>
          <p:cNvPr id="10" name="Picture 9" descr="A logo for a company&#10;&#10;Description automatically generated">
            <a:extLst>
              <a:ext uri="{FF2B5EF4-FFF2-40B4-BE49-F238E27FC236}">
                <a16:creationId xmlns:a16="http://schemas.microsoft.com/office/drawing/2014/main" id="{70B70C05-B32A-BD07-825E-70DF26C8DD02}"/>
              </a:ext>
            </a:extLst>
          </p:cNvPr>
          <p:cNvPicPr>
            <a:picLocks noChangeAspect="1"/>
          </p:cNvPicPr>
          <p:nvPr userDrawn="1"/>
        </p:nvPicPr>
        <p:blipFill rotWithShape="1">
          <a:blip r:embed="rId8"/>
          <a:srcRect l="17924" t="18888" r="11254" b="15459"/>
          <a:stretch/>
        </p:blipFill>
        <p:spPr>
          <a:xfrm>
            <a:off x="7658935" y="6156373"/>
            <a:ext cx="1109382" cy="533823"/>
          </a:xfrm>
          <a:prstGeom prst="rect">
            <a:avLst/>
          </a:prstGeom>
        </p:spPr>
      </p:pic>
      <p:pic>
        <p:nvPicPr>
          <p:cNvPr id="11" name="Picture 10" descr="A logo with a map and text&#10;&#10;Description automatically generated">
            <a:extLst>
              <a:ext uri="{FF2B5EF4-FFF2-40B4-BE49-F238E27FC236}">
                <a16:creationId xmlns:a16="http://schemas.microsoft.com/office/drawing/2014/main" id="{BBDE4DA4-41CA-6B89-6034-674D9E6D8539}"/>
              </a:ext>
            </a:extLst>
          </p:cNvPr>
          <p:cNvPicPr>
            <a:picLocks noChangeAspect="1"/>
          </p:cNvPicPr>
          <p:nvPr userDrawn="1"/>
        </p:nvPicPr>
        <p:blipFill>
          <a:blip r:embed="rId9"/>
          <a:stretch>
            <a:fillRect/>
          </a:stretch>
        </p:blipFill>
        <p:spPr>
          <a:xfrm>
            <a:off x="10294776" y="5983112"/>
            <a:ext cx="1897224" cy="813096"/>
          </a:xfrm>
          <a:prstGeom prst="rect">
            <a:avLst/>
          </a:prstGeom>
        </p:spPr>
      </p:pic>
      <p:pic>
        <p:nvPicPr>
          <p:cNvPr id="12" name="Picture 11" descr="A red and green logo&#10;&#10;Description automatically generated">
            <a:extLst>
              <a:ext uri="{FF2B5EF4-FFF2-40B4-BE49-F238E27FC236}">
                <a16:creationId xmlns:a16="http://schemas.microsoft.com/office/drawing/2014/main" id="{12C23408-E9FF-362E-D7DE-6647974E465C}"/>
              </a:ext>
            </a:extLst>
          </p:cNvPr>
          <p:cNvPicPr>
            <a:picLocks noChangeAspect="1"/>
          </p:cNvPicPr>
          <p:nvPr userDrawn="1"/>
        </p:nvPicPr>
        <p:blipFill>
          <a:blip r:embed="rId10"/>
          <a:stretch>
            <a:fillRect/>
          </a:stretch>
        </p:blipFill>
        <p:spPr>
          <a:xfrm>
            <a:off x="8844376" y="6081496"/>
            <a:ext cx="1488102" cy="537637"/>
          </a:xfrm>
          <a:prstGeom prst="rect">
            <a:avLst/>
          </a:prstGeom>
        </p:spPr>
      </p:pic>
      <p:pic>
        <p:nvPicPr>
          <p:cNvPr id="13" name="Picture 12" descr="A logo with a globe and flags&#10;&#10;Description automatically generated">
            <a:extLst>
              <a:ext uri="{FF2B5EF4-FFF2-40B4-BE49-F238E27FC236}">
                <a16:creationId xmlns:a16="http://schemas.microsoft.com/office/drawing/2014/main" id="{CC5BE134-1803-E774-EA91-934E911C7A59}"/>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3778296" y="6128057"/>
            <a:ext cx="634517" cy="680202"/>
          </a:xfrm>
          <a:prstGeom prst="rect">
            <a:avLst/>
          </a:prstGeom>
        </p:spPr>
      </p:pic>
    </p:spTree>
    <p:extLst>
      <p:ext uri="{BB962C8B-B14F-4D97-AF65-F5344CB8AC3E}">
        <p14:creationId xmlns:p14="http://schemas.microsoft.com/office/powerpoint/2010/main" val="9209377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32FCF23-3ED7-9D28-FB00-71028BB8DF2D}"/>
              </a:ext>
            </a:extLst>
          </p:cNvPr>
          <p:cNvSpPr/>
          <p:nvPr userDrawn="1"/>
        </p:nvSpPr>
        <p:spPr>
          <a:xfrm>
            <a:off x="0" y="1156089"/>
            <a:ext cx="12192000" cy="54176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20" name="Parallelogram 19">
            <a:extLst>
              <a:ext uri="{FF2B5EF4-FFF2-40B4-BE49-F238E27FC236}">
                <a16:creationId xmlns:a16="http://schemas.microsoft.com/office/drawing/2014/main" id="{7F0ED01A-F421-A60E-9873-FA45A29635F5}"/>
              </a:ext>
            </a:extLst>
          </p:cNvPr>
          <p:cNvSpPr/>
          <p:nvPr userDrawn="1"/>
        </p:nvSpPr>
        <p:spPr>
          <a:xfrm>
            <a:off x="5722324" y="299198"/>
            <a:ext cx="995341" cy="801681"/>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rPr>
              <a:t>  </a:t>
            </a:r>
          </a:p>
        </p:txBody>
      </p:sp>
      <p:sp>
        <p:nvSpPr>
          <p:cNvPr id="26" name="Parallelogram 25">
            <a:extLst>
              <a:ext uri="{FF2B5EF4-FFF2-40B4-BE49-F238E27FC236}">
                <a16:creationId xmlns:a16="http://schemas.microsoft.com/office/drawing/2014/main" id="{B145BECA-2020-611B-2015-2A24F6E838E1}"/>
              </a:ext>
            </a:extLst>
          </p:cNvPr>
          <p:cNvSpPr/>
          <p:nvPr userDrawn="1"/>
        </p:nvSpPr>
        <p:spPr>
          <a:xfrm rot="10800000">
            <a:off x="11402290" y="86603"/>
            <a:ext cx="452826" cy="581694"/>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33" name="Picture 32">
            <a:extLst>
              <a:ext uri="{FF2B5EF4-FFF2-40B4-BE49-F238E27FC236}">
                <a16:creationId xmlns:a16="http://schemas.microsoft.com/office/drawing/2014/main" id="{D271E897-5B7E-0721-BD50-FCBAA5653B4F}"/>
              </a:ext>
            </a:extLst>
          </p:cNvPr>
          <p:cNvPicPr>
            <a:picLocks noChangeAspect="1"/>
          </p:cNvPicPr>
          <p:nvPr userDrawn="1"/>
        </p:nvPicPr>
        <p:blipFill rotWithShape="1">
          <a:blip r:embed="rId2"/>
          <a:srcRect t="5053" r="9055"/>
          <a:stretch/>
        </p:blipFill>
        <p:spPr>
          <a:xfrm>
            <a:off x="20052" y="129745"/>
            <a:ext cx="9243589" cy="1008435"/>
          </a:xfrm>
          <a:prstGeom prst="rect">
            <a:avLst/>
          </a:prstGeom>
        </p:spPr>
      </p:pic>
      <p:sp>
        <p:nvSpPr>
          <p:cNvPr id="2" name="Rectangle 1">
            <a:extLst>
              <a:ext uri="{FF2B5EF4-FFF2-40B4-BE49-F238E27FC236}">
                <a16:creationId xmlns:a16="http://schemas.microsoft.com/office/drawing/2014/main" id="{25B7E050-A7B4-79EE-5588-880578B38426}"/>
              </a:ext>
            </a:extLst>
          </p:cNvPr>
          <p:cNvSpPr/>
          <p:nvPr userDrawn="1"/>
        </p:nvSpPr>
        <p:spPr>
          <a:xfrm flipV="1">
            <a:off x="0" y="6697663"/>
            <a:ext cx="12192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utoShape 2" descr="A black background with red green and white letters&#10;&#10;Description automatically generated"/>
          <p:cNvSpPr>
            <a:spLocks noChangeAspect="1" noChangeArrowheads="1"/>
          </p:cNvSpPr>
          <p:nvPr userDrawn="1"/>
        </p:nvSpPr>
        <p:spPr bwMode="auto">
          <a:xfrm>
            <a:off x="212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4" descr="A black background with red green and white letters&#10;&#10;Description automatically generated"/>
          <p:cNvSpPr>
            <a:spLocks noChangeAspect="1" noChangeArrowheads="1"/>
          </p:cNvSpPr>
          <p:nvPr userDrawn="1"/>
        </p:nvSpPr>
        <p:spPr bwMode="auto">
          <a:xfrm>
            <a:off x="36512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6" descr="A black background with red green and white letters&#10;&#10;Description automatically generated"/>
          <p:cNvSpPr>
            <a:spLocks noChangeAspect="1" noChangeArrowheads="1"/>
          </p:cNvSpPr>
          <p:nvPr userDrawn="1"/>
        </p:nvSpPr>
        <p:spPr bwMode="auto">
          <a:xfrm>
            <a:off x="51752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8" descr="A black background with red green and white letters&#10;&#10;Description automatically generated"/>
          <p:cNvSpPr>
            <a:spLocks noChangeAspect="1" noChangeArrowheads="1"/>
          </p:cNvSpPr>
          <p:nvPr userDrawn="1"/>
        </p:nvSpPr>
        <p:spPr bwMode="auto">
          <a:xfrm>
            <a:off x="66992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0" descr="A black background with red green and white letters&#10;&#10;Description automatically generated"/>
          <p:cNvSpPr>
            <a:spLocks noChangeAspect="1" noChangeArrowheads="1"/>
          </p:cNvSpPr>
          <p:nvPr userDrawn="1"/>
        </p:nvSpPr>
        <p:spPr bwMode="auto">
          <a:xfrm>
            <a:off x="82232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2" descr="A black background with red green and white letters&#10;&#10;Description automatically generated"/>
          <p:cNvSpPr>
            <a:spLocks noChangeAspect="1" noChangeArrowheads="1"/>
          </p:cNvSpPr>
          <p:nvPr userDrawn="1"/>
        </p:nvSpPr>
        <p:spPr bwMode="auto">
          <a:xfrm>
            <a:off x="97472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7005B131-D2A9-542D-360C-9CDD420315E5}"/>
              </a:ext>
            </a:extLst>
          </p:cNvPr>
          <p:cNvSpPr/>
          <p:nvPr userDrawn="1"/>
        </p:nvSpPr>
        <p:spPr>
          <a:xfrm>
            <a:off x="0" y="1080822"/>
            <a:ext cx="12192001" cy="4571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A400"/>
              </a:solidFill>
            </a:endParaRPr>
          </a:p>
        </p:txBody>
      </p:sp>
      <p:pic>
        <p:nvPicPr>
          <p:cNvPr id="3" name="Picture 2" descr="A close-up of a logo&#10;&#10;Description automatically generated">
            <a:extLst>
              <a:ext uri="{FF2B5EF4-FFF2-40B4-BE49-F238E27FC236}">
                <a16:creationId xmlns:a16="http://schemas.microsoft.com/office/drawing/2014/main" id="{8C3685ED-FA70-7F1E-057E-208718F42500}"/>
              </a:ext>
            </a:extLst>
          </p:cNvPr>
          <p:cNvPicPr>
            <a:picLocks noChangeAspect="1"/>
          </p:cNvPicPr>
          <p:nvPr userDrawn="1"/>
        </p:nvPicPr>
        <p:blipFill>
          <a:blip r:embed="rId3"/>
          <a:stretch>
            <a:fillRect/>
          </a:stretch>
        </p:blipFill>
        <p:spPr>
          <a:xfrm>
            <a:off x="9232927" y="132716"/>
            <a:ext cx="2864960" cy="846465"/>
          </a:xfrm>
          <a:prstGeom prst="rect">
            <a:avLst/>
          </a:prstGeom>
        </p:spPr>
      </p:pic>
    </p:spTree>
    <p:extLst>
      <p:ext uri="{BB962C8B-B14F-4D97-AF65-F5344CB8AC3E}">
        <p14:creationId xmlns:p14="http://schemas.microsoft.com/office/powerpoint/2010/main" val="9265274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32FCF23-3ED7-9D28-FB00-71028BB8DF2D}"/>
              </a:ext>
            </a:extLst>
          </p:cNvPr>
          <p:cNvSpPr/>
          <p:nvPr userDrawn="1"/>
        </p:nvSpPr>
        <p:spPr>
          <a:xfrm>
            <a:off x="-2260" y="1404186"/>
            <a:ext cx="12192000" cy="455584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20" name="Parallelogram 19">
            <a:extLst>
              <a:ext uri="{FF2B5EF4-FFF2-40B4-BE49-F238E27FC236}">
                <a16:creationId xmlns:a16="http://schemas.microsoft.com/office/drawing/2014/main" id="{7F0ED01A-F421-A60E-9873-FA45A29635F5}"/>
              </a:ext>
            </a:extLst>
          </p:cNvPr>
          <p:cNvSpPr/>
          <p:nvPr userDrawn="1"/>
        </p:nvSpPr>
        <p:spPr>
          <a:xfrm>
            <a:off x="5722324" y="299198"/>
            <a:ext cx="995341" cy="801681"/>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rPr>
              <a:t>  </a:t>
            </a:r>
          </a:p>
        </p:txBody>
      </p:sp>
      <p:sp>
        <p:nvSpPr>
          <p:cNvPr id="26" name="Parallelogram 25">
            <a:extLst>
              <a:ext uri="{FF2B5EF4-FFF2-40B4-BE49-F238E27FC236}">
                <a16:creationId xmlns:a16="http://schemas.microsoft.com/office/drawing/2014/main" id="{B145BECA-2020-611B-2015-2A24F6E838E1}"/>
              </a:ext>
            </a:extLst>
          </p:cNvPr>
          <p:cNvSpPr/>
          <p:nvPr userDrawn="1"/>
        </p:nvSpPr>
        <p:spPr>
          <a:xfrm rot="10800000">
            <a:off x="11402290" y="86603"/>
            <a:ext cx="452826" cy="581694"/>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 name="Rectangle 1">
            <a:extLst>
              <a:ext uri="{FF2B5EF4-FFF2-40B4-BE49-F238E27FC236}">
                <a16:creationId xmlns:a16="http://schemas.microsoft.com/office/drawing/2014/main" id="{25B7E050-A7B4-79EE-5588-880578B38426}"/>
              </a:ext>
            </a:extLst>
          </p:cNvPr>
          <p:cNvSpPr/>
          <p:nvPr userDrawn="1"/>
        </p:nvSpPr>
        <p:spPr>
          <a:xfrm flipV="1">
            <a:off x="20052" y="5917282"/>
            <a:ext cx="12192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utoShape 2" descr="A black background with red green and white letters&#10;&#10;Description automatically generated"/>
          <p:cNvSpPr>
            <a:spLocks noChangeAspect="1" noChangeArrowheads="1"/>
          </p:cNvSpPr>
          <p:nvPr userDrawn="1"/>
        </p:nvSpPr>
        <p:spPr bwMode="auto">
          <a:xfrm>
            <a:off x="212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4" descr="A black background with red green and white letters&#10;&#10;Description automatically generated"/>
          <p:cNvSpPr>
            <a:spLocks noChangeAspect="1" noChangeArrowheads="1"/>
          </p:cNvSpPr>
          <p:nvPr userDrawn="1"/>
        </p:nvSpPr>
        <p:spPr bwMode="auto">
          <a:xfrm>
            <a:off x="36512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6" descr="A black background with red green and white letters&#10;&#10;Description automatically generated"/>
          <p:cNvSpPr>
            <a:spLocks noChangeAspect="1" noChangeArrowheads="1"/>
          </p:cNvSpPr>
          <p:nvPr userDrawn="1"/>
        </p:nvSpPr>
        <p:spPr bwMode="auto">
          <a:xfrm>
            <a:off x="51752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8" descr="A black background with red green and white letters&#10;&#10;Description automatically generated"/>
          <p:cNvSpPr>
            <a:spLocks noChangeAspect="1" noChangeArrowheads="1"/>
          </p:cNvSpPr>
          <p:nvPr userDrawn="1"/>
        </p:nvSpPr>
        <p:spPr bwMode="auto">
          <a:xfrm>
            <a:off x="66992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0" descr="A black background with red green and white letters&#10;&#10;Description automatically generated"/>
          <p:cNvSpPr>
            <a:spLocks noChangeAspect="1" noChangeArrowheads="1"/>
          </p:cNvSpPr>
          <p:nvPr userDrawn="1"/>
        </p:nvSpPr>
        <p:spPr bwMode="auto">
          <a:xfrm>
            <a:off x="82232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2" descr="A black background with red green and white letters&#10;&#10;Description automatically generated"/>
          <p:cNvSpPr>
            <a:spLocks noChangeAspect="1" noChangeArrowheads="1"/>
          </p:cNvSpPr>
          <p:nvPr userDrawn="1"/>
        </p:nvSpPr>
        <p:spPr bwMode="auto">
          <a:xfrm>
            <a:off x="97472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7005B131-D2A9-542D-360C-9CDD420315E5}"/>
              </a:ext>
            </a:extLst>
          </p:cNvPr>
          <p:cNvSpPr/>
          <p:nvPr userDrawn="1"/>
        </p:nvSpPr>
        <p:spPr>
          <a:xfrm>
            <a:off x="0" y="1269199"/>
            <a:ext cx="12192001" cy="4571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A400"/>
              </a:solidFill>
            </a:endParaRPr>
          </a:p>
        </p:txBody>
      </p:sp>
      <p:pic>
        <p:nvPicPr>
          <p:cNvPr id="16" name="Picture 15">
            <a:extLst>
              <a:ext uri="{FF2B5EF4-FFF2-40B4-BE49-F238E27FC236}">
                <a16:creationId xmlns:a16="http://schemas.microsoft.com/office/drawing/2014/main" id="{68A9BAA5-2FF1-09B7-3314-F8A723D1DCBC}"/>
              </a:ext>
            </a:extLst>
          </p:cNvPr>
          <p:cNvPicPr>
            <a:picLocks noChangeAspect="1"/>
          </p:cNvPicPr>
          <p:nvPr userDrawn="1"/>
        </p:nvPicPr>
        <p:blipFill rotWithShape="1">
          <a:blip r:embed="rId2"/>
          <a:srcRect t="5053" r="9055" b="18904"/>
          <a:stretch/>
        </p:blipFill>
        <p:spPr>
          <a:xfrm>
            <a:off x="94113" y="161830"/>
            <a:ext cx="9243589" cy="1025631"/>
          </a:xfrm>
          <a:prstGeom prst="rect">
            <a:avLst/>
          </a:prstGeom>
        </p:spPr>
      </p:pic>
      <p:pic>
        <p:nvPicPr>
          <p:cNvPr id="17" name="Picture 16" descr="A close-up of a logo&#10;&#10;Description automatically generated">
            <a:extLst>
              <a:ext uri="{FF2B5EF4-FFF2-40B4-BE49-F238E27FC236}">
                <a16:creationId xmlns:a16="http://schemas.microsoft.com/office/drawing/2014/main" id="{281B5133-E787-13F6-9904-997E8850AA53}"/>
              </a:ext>
            </a:extLst>
          </p:cNvPr>
          <p:cNvPicPr>
            <a:picLocks noChangeAspect="1"/>
          </p:cNvPicPr>
          <p:nvPr userDrawn="1"/>
        </p:nvPicPr>
        <p:blipFill>
          <a:blip r:embed="rId3"/>
          <a:stretch>
            <a:fillRect/>
          </a:stretch>
        </p:blipFill>
        <p:spPr>
          <a:xfrm>
            <a:off x="9232927" y="132716"/>
            <a:ext cx="2864960" cy="846465"/>
          </a:xfrm>
          <a:prstGeom prst="rect">
            <a:avLst/>
          </a:prstGeom>
        </p:spPr>
      </p:pic>
      <p:pic>
        <p:nvPicPr>
          <p:cNvPr id="19" name="Picture 18" descr="A lion holding a spear and a shield with text&#10;&#10;Description automatically generated">
            <a:extLst>
              <a:ext uri="{FF2B5EF4-FFF2-40B4-BE49-F238E27FC236}">
                <a16:creationId xmlns:a16="http://schemas.microsoft.com/office/drawing/2014/main" id="{76ECCD82-E393-CF43-BF36-9DBD3ADFD3A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4539" y="6007639"/>
            <a:ext cx="1785248" cy="631149"/>
          </a:xfrm>
          <a:prstGeom prst="rect">
            <a:avLst/>
          </a:prstGeom>
        </p:spPr>
      </p:pic>
      <p:pic>
        <p:nvPicPr>
          <p:cNvPr id="21" name="Picture 20" descr="A black rectangular sign with white text&#10;&#10;Description automatically generated">
            <a:extLst>
              <a:ext uri="{FF2B5EF4-FFF2-40B4-BE49-F238E27FC236}">
                <a16:creationId xmlns:a16="http://schemas.microsoft.com/office/drawing/2014/main" id="{A855BA0C-0F58-94F8-1AE8-570B09E53F1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829787" y="6024828"/>
            <a:ext cx="1884458" cy="666222"/>
          </a:xfrm>
          <a:prstGeom prst="rect">
            <a:avLst/>
          </a:prstGeom>
        </p:spPr>
      </p:pic>
      <p:pic>
        <p:nvPicPr>
          <p:cNvPr id="22" name="Picture 21">
            <a:extLst>
              <a:ext uri="{FF2B5EF4-FFF2-40B4-BE49-F238E27FC236}">
                <a16:creationId xmlns:a16="http://schemas.microsoft.com/office/drawing/2014/main" id="{C4984905-5FD8-804E-2ECD-7D394236CC6D}"/>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922343" y="5983112"/>
            <a:ext cx="1101063" cy="680202"/>
          </a:xfrm>
          <a:prstGeom prst="rect">
            <a:avLst/>
          </a:prstGeom>
        </p:spPr>
      </p:pic>
      <p:pic>
        <p:nvPicPr>
          <p:cNvPr id="23" name="Picture 22" descr="A black text on a white background&#10;&#10;Description automatically generated">
            <a:extLst>
              <a:ext uri="{FF2B5EF4-FFF2-40B4-BE49-F238E27FC236}">
                <a16:creationId xmlns:a16="http://schemas.microsoft.com/office/drawing/2014/main" id="{D35CBD91-D745-F87F-1C41-D213DF40402B}"/>
              </a:ext>
            </a:extLst>
          </p:cNvPr>
          <p:cNvPicPr>
            <a:picLocks noChangeAspect="1"/>
          </p:cNvPicPr>
          <p:nvPr userDrawn="1"/>
        </p:nvPicPr>
        <p:blipFill>
          <a:blip r:embed="rId7"/>
          <a:stretch>
            <a:fillRect/>
          </a:stretch>
        </p:blipFill>
        <p:spPr>
          <a:xfrm>
            <a:off x="5133426" y="6057862"/>
            <a:ext cx="1629800" cy="706626"/>
          </a:xfrm>
          <a:prstGeom prst="rect">
            <a:avLst/>
          </a:prstGeom>
        </p:spPr>
      </p:pic>
      <p:pic>
        <p:nvPicPr>
          <p:cNvPr id="24" name="Picture 23" descr="A logo for a company&#10;&#10;Description automatically generated">
            <a:extLst>
              <a:ext uri="{FF2B5EF4-FFF2-40B4-BE49-F238E27FC236}">
                <a16:creationId xmlns:a16="http://schemas.microsoft.com/office/drawing/2014/main" id="{04A02CD8-F481-A28C-8606-3075BB64BD8F}"/>
              </a:ext>
            </a:extLst>
          </p:cNvPr>
          <p:cNvPicPr>
            <a:picLocks noChangeAspect="1"/>
          </p:cNvPicPr>
          <p:nvPr userDrawn="1"/>
        </p:nvPicPr>
        <p:blipFill rotWithShape="1">
          <a:blip r:embed="rId8"/>
          <a:srcRect l="17924" t="18888" r="11254" b="15459"/>
          <a:stretch/>
        </p:blipFill>
        <p:spPr>
          <a:xfrm>
            <a:off x="6979024" y="6104965"/>
            <a:ext cx="1109382" cy="533823"/>
          </a:xfrm>
          <a:prstGeom prst="rect">
            <a:avLst/>
          </a:prstGeom>
        </p:spPr>
      </p:pic>
      <p:pic>
        <p:nvPicPr>
          <p:cNvPr id="25" name="Picture 24" descr="A logo with a map and text&#10;&#10;Description automatically generated">
            <a:extLst>
              <a:ext uri="{FF2B5EF4-FFF2-40B4-BE49-F238E27FC236}">
                <a16:creationId xmlns:a16="http://schemas.microsoft.com/office/drawing/2014/main" id="{0091C7B0-B1CA-47AB-17E6-05A84155E115}"/>
              </a:ext>
            </a:extLst>
          </p:cNvPr>
          <p:cNvPicPr>
            <a:picLocks noChangeAspect="1"/>
          </p:cNvPicPr>
          <p:nvPr userDrawn="1"/>
        </p:nvPicPr>
        <p:blipFill>
          <a:blip r:embed="rId9"/>
          <a:stretch>
            <a:fillRect/>
          </a:stretch>
        </p:blipFill>
        <p:spPr>
          <a:xfrm>
            <a:off x="10362213" y="6020417"/>
            <a:ext cx="1752286" cy="750980"/>
          </a:xfrm>
          <a:prstGeom prst="rect">
            <a:avLst/>
          </a:prstGeom>
        </p:spPr>
      </p:pic>
      <p:pic>
        <p:nvPicPr>
          <p:cNvPr id="27" name="Picture 26" descr="A red and green logo&#10;&#10;Description automatically generated">
            <a:extLst>
              <a:ext uri="{FF2B5EF4-FFF2-40B4-BE49-F238E27FC236}">
                <a16:creationId xmlns:a16="http://schemas.microsoft.com/office/drawing/2014/main" id="{8BC4DE08-FDD2-3CDE-98A8-BB8BC6BC7287}"/>
              </a:ext>
            </a:extLst>
          </p:cNvPr>
          <p:cNvPicPr>
            <a:picLocks noChangeAspect="1"/>
          </p:cNvPicPr>
          <p:nvPr userDrawn="1"/>
        </p:nvPicPr>
        <p:blipFill>
          <a:blip r:embed="rId10"/>
          <a:stretch>
            <a:fillRect/>
          </a:stretch>
        </p:blipFill>
        <p:spPr>
          <a:xfrm>
            <a:off x="8501324" y="6007639"/>
            <a:ext cx="1488102" cy="537637"/>
          </a:xfrm>
          <a:prstGeom prst="rect">
            <a:avLst/>
          </a:prstGeom>
        </p:spPr>
      </p:pic>
    </p:spTree>
    <p:extLst>
      <p:ext uri="{BB962C8B-B14F-4D97-AF65-F5344CB8AC3E}">
        <p14:creationId xmlns:p14="http://schemas.microsoft.com/office/powerpoint/2010/main" val="13900139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8_Compariso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0071879-FE12-23E6-6632-187CB1D2B01F}"/>
              </a:ext>
            </a:extLst>
          </p:cNvPr>
          <p:cNvSpPr/>
          <p:nvPr userDrawn="1"/>
        </p:nvSpPr>
        <p:spPr>
          <a:xfrm>
            <a:off x="0" y="1286999"/>
            <a:ext cx="12236995" cy="543828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19" name="Rectangle 18">
            <a:extLst>
              <a:ext uri="{FF2B5EF4-FFF2-40B4-BE49-F238E27FC236}">
                <a16:creationId xmlns:a16="http://schemas.microsoft.com/office/drawing/2014/main" id="{DFC60BD3-C6B7-6258-A355-7C35D2523320}"/>
              </a:ext>
            </a:extLst>
          </p:cNvPr>
          <p:cNvSpPr/>
          <p:nvPr userDrawn="1"/>
        </p:nvSpPr>
        <p:spPr>
          <a:xfrm>
            <a:off x="0" y="1149616"/>
            <a:ext cx="12192001" cy="4571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A400"/>
              </a:solidFill>
            </a:endParaRPr>
          </a:p>
        </p:txBody>
      </p:sp>
      <p:pic>
        <p:nvPicPr>
          <p:cNvPr id="12" name="Picture 11">
            <a:extLst>
              <a:ext uri="{FF2B5EF4-FFF2-40B4-BE49-F238E27FC236}">
                <a16:creationId xmlns:a16="http://schemas.microsoft.com/office/drawing/2014/main" id="{1E766C0D-9C26-1700-88B1-2F903088D2B0}"/>
              </a:ext>
            </a:extLst>
          </p:cNvPr>
          <p:cNvPicPr>
            <a:picLocks noChangeAspect="1"/>
          </p:cNvPicPr>
          <p:nvPr userDrawn="1"/>
        </p:nvPicPr>
        <p:blipFill rotWithShape="1">
          <a:blip r:embed="rId2"/>
          <a:srcRect t="5053" r="9055" b="18904"/>
          <a:stretch/>
        </p:blipFill>
        <p:spPr>
          <a:xfrm>
            <a:off x="80861" y="55814"/>
            <a:ext cx="9243589" cy="1025631"/>
          </a:xfrm>
          <a:prstGeom prst="rect">
            <a:avLst/>
          </a:prstGeom>
        </p:spPr>
      </p:pic>
      <p:pic>
        <p:nvPicPr>
          <p:cNvPr id="13" name="Picture 12" descr="A close-up of a logo&#10;&#10;Description automatically generated">
            <a:extLst>
              <a:ext uri="{FF2B5EF4-FFF2-40B4-BE49-F238E27FC236}">
                <a16:creationId xmlns:a16="http://schemas.microsoft.com/office/drawing/2014/main" id="{909B1B36-189A-7577-B8F6-71F48B902B9A}"/>
              </a:ext>
            </a:extLst>
          </p:cNvPr>
          <p:cNvPicPr>
            <a:picLocks noChangeAspect="1"/>
          </p:cNvPicPr>
          <p:nvPr userDrawn="1"/>
        </p:nvPicPr>
        <p:blipFill>
          <a:blip r:embed="rId3"/>
          <a:stretch>
            <a:fillRect/>
          </a:stretch>
        </p:blipFill>
        <p:spPr>
          <a:xfrm>
            <a:off x="9232927" y="132716"/>
            <a:ext cx="2864960" cy="846465"/>
          </a:xfrm>
          <a:prstGeom prst="rect">
            <a:avLst/>
          </a:prstGeom>
        </p:spPr>
      </p:pic>
      <p:sp>
        <p:nvSpPr>
          <p:cNvPr id="24" name="Rectangle 23">
            <a:extLst>
              <a:ext uri="{FF2B5EF4-FFF2-40B4-BE49-F238E27FC236}">
                <a16:creationId xmlns:a16="http://schemas.microsoft.com/office/drawing/2014/main" id="{71CC8173-D1BB-9CEE-B02C-EBCF1BA54EAE}"/>
              </a:ext>
            </a:extLst>
          </p:cNvPr>
          <p:cNvSpPr/>
          <p:nvPr userDrawn="1"/>
        </p:nvSpPr>
        <p:spPr>
          <a:xfrm flipV="1">
            <a:off x="0" y="6771229"/>
            <a:ext cx="12192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16534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943BA-EC9F-4B8E-B60C-C1CA90BC16FB}"/>
              </a:ext>
            </a:extLst>
          </p:cNvPr>
          <p:cNvSpPr>
            <a:spLocks noGrp="1"/>
          </p:cNvSpPr>
          <p:nvPr>
            <p:ph type="title"/>
          </p:nvPr>
        </p:nvSpPr>
        <p:spPr>
          <a:xfrm>
            <a:off x="839788" y="365125"/>
            <a:ext cx="10515600" cy="1325563"/>
          </a:xfrm>
        </p:spPr>
        <p:txBody>
          <a:bodyPr/>
          <a:lstStyle/>
          <a:p>
            <a:r>
              <a:rPr lang="en-GB"/>
              <a:t>Click to edit Master title style</a:t>
            </a:r>
            <a:endParaRPr lang="x-none"/>
          </a:p>
        </p:txBody>
      </p:sp>
      <p:sp>
        <p:nvSpPr>
          <p:cNvPr id="3" name="Text Placeholder 2">
            <a:extLst>
              <a:ext uri="{FF2B5EF4-FFF2-40B4-BE49-F238E27FC236}">
                <a16:creationId xmlns:a16="http://schemas.microsoft.com/office/drawing/2014/main" id="{D1163340-AB74-7193-E47A-471854F2D6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E2ECC9D-FA8D-EDB7-050C-91961477B73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5" name="Text Placeholder 4">
            <a:extLst>
              <a:ext uri="{FF2B5EF4-FFF2-40B4-BE49-F238E27FC236}">
                <a16:creationId xmlns:a16="http://schemas.microsoft.com/office/drawing/2014/main" id="{A6042EF4-E835-4998-2CC5-482756E9FC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AEC903F-2AE1-7E08-1AA2-95091696480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7" name="Date Placeholder 6">
            <a:extLst>
              <a:ext uri="{FF2B5EF4-FFF2-40B4-BE49-F238E27FC236}">
                <a16:creationId xmlns:a16="http://schemas.microsoft.com/office/drawing/2014/main" id="{9F00502D-7E26-7B73-991B-1EFA725CC627}"/>
              </a:ext>
            </a:extLst>
          </p:cNvPr>
          <p:cNvSpPr>
            <a:spLocks noGrp="1"/>
          </p:cNvSpPr>
          <p:nvPr>
            <p:ph type="dt" sz="half" idx="10"/>
          </p:nvPr>
        </p:nvSpPr>
        <p:spPr/>
        <p:txBody>
          <a:bodyPr/>
          <a:lstStyle/>
          <a:p>
            <a:fld id="{D1028508-28C4-444E-B522-D804D5355C6F}" type="datetimeFigureOut">
              <a:rPr lang="x-none" smtClean="0"/>
              <a:t>28-Sep-25</a:t>
            </a:fld>
            <a:endParaRPr lang="x-none"/>
          </a:p>
        </p:txBody>
      </p:sp>
      <p:sp>
        <p:nvSpPr>
          <p:cNvPr id="8" name="Footer Placeholder 7">
            <a:extLst>
              <a:ext uri="{FF2B5EF4-FFF2-40B4-BE49-F238E27FC236}">
                <a16:creationId xmlns:a16="http://schemas.microsoft.com/office/drawing/2014/main" id="{DF488629-786F-B58C-3839-C23CB97B7CBC}"/>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id="{8629BCD2-466D-6330-1F4F-E33D11FC953B}"/>
              </a:ext>
            </a:extLst>
          </p:cNvPr>
          <p:cNvSpPr>
            <a:spLocks noGrp="1"/>
          </p:cNvSpPr>
          <p:nvPr>
            <p:ph type="sldNum" sz="quarter" idx="12"/>
          </p:nvPr>
        </p:nvSpPr>
        <p:spPr/>
        <p:txBody>
          <a:bodyPr/>
          <a:lstStyle/>
          <a:p>
            <a:fld id="{93013F5B-0CB8-284D-B88B-2C9766842346}" type="slidenum">
              <a:rPr lang="x-none" smtClean="0"/>
              <a:t>‹#›</a:t>
            </a:fld>
            <a:endParaRPr lang="x-none"/>
          </a:p>
        </p:txBody>
      </p:sp>
    </p:spTree>
    <p:extLst>
      <p:ext uri="{BB962C8B-B14F-4D97-AF65-F5344CB8AC3E}">
        <p14:creationId xmlns:p14="http://schemas.microsoft.com/office/powerpoint/2010/main" val="11330612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8B469-69FA-24FC-EB04-1651EFBEA8CA}"/>
              </a:ext>
            </a:extLst>
          </p:cNvPr>
          <p:cNvSpPr>
            <a:spLocks noGrp="1"/>
          </p:cNvSpPr>
          <p:nvPr>
            <p:ph type="title"/>
          </p:nvPr>
        </p:nvSpPr>
        <p:spPr/>
        <p:txBody>
          <a:bodyPr/>
          <a:lstStyle/>
          <a:p>
            <a:r>
              <a:rPr lang="en-GB"/>
              <a:t>Click to edit Master title style</a:t>
            </a:r>
            <a:endParaRPr lang="x-none"/>
          </a:p>
        </p:txBody>
      </p:sp>
      <p:sp>
        <p:nvSpPr>
          <p:cNvPr id="3" name="Date Placeholder 2">
            <a:extLst>
              <a:ext uri="{FF2B5EF4-FFF2-40B4-BE49-F238E27FC236}">
                <a16:creationId xmlns:a16="http://schemas.microsoft.com/office/drawing/2014/main" id="{3E4AAF18-3B2C-0C41-2D2A-4C2884EFF117}"/>
              </a:ext>
            </a:extLst>
          </p:cNvPr>
          <p:cNvSpPr>
            <a:spLocks noGrp="1"/>
          </p:cNvSpPr>
          <p:nvPr>
            <p:ph type="dt" sz="half" idx="10"/>
          </p:nvPr>
        </p:nvSpPr>
        <p:spPr/>
        <p:txBody>
          <a:bodyPr/>
          <a:lstStyle/>
          <a:p>
            <a:fld id="{D1028508-28C4-444E-B522-D804D5355C6F}" type="datetimeFigureOut">
              <a:rPr lang="x-none" smtClean="0"/>
              <a:t>28-Sep-25</a:t>
            </a:fld>
            <a:endParaRPr lang="x-none"/>
          </a:p>
        </p:txBody>
      </p:sp>
      <p:sp>
        <p:nvSpPr>
          <p:cNvPr id="4" name="Footer Placeholder 3">
            <a:extLst>
              <a:ext uri="{FF2B5EF4-FFF2-40B4-BE49-F238E27FC236}">
                <a16:creationId xmlns:a16="http://schemas.microsoft.com/office/drawing/2014/main" id="{273A8263-A191-6D56-CBFC-7A62921809BC}"/>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id="{0E1A4565-2AB1-8E84-00D7-C53B1EB8BA96}"/>
              </a:ext>
            </a:extLst>
          </p:cNvPr>
          <p:cNvSpPr>
            <a:spLocks noGrp="1"/>
          </p:cNvSpPr>
          <p:nvPr>
            <p:ph type="sldNum" sz="quarter" idx="12"/>
          </p:nvPr>
        </p:nvSpPr>
        <p:spPr/>
        <p:txBody>
          <a:bodyPr/>
          <a:lstStyle/>
          <a:p>
            <a:fld id="{93013F5B-0CB8-284D-B88B-2C9766842346}" type="slidenum">
              <a:rPr lang="x-none" smtClean="0"/>
              <a:t>‹#›</a:t>
            </a:fld>
            <a:endParaRPr lang="x-none"/>
          </a:p>
        </p:txBody>
      </p:sp>
    </p:spTree>
    <p:extLst>
      <p:ext uri="{BB962C8B-B14F-4D97-AF65-F5344CB8AC3E}">
        <p14:creationId xmlns:p14="http://schemas.microsoft.com/office/powerpoint/2010/main" val="7180746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DE449C-B156-9FCB-CEC7-0ACA7A1CC112}"/>
              </a:ext>
            </a:extLst>
          </p:cNvPr>
          <p:cNvSpPr>
            <a:spLocks noGrp="1"/>
          </p:cNvSpPr>
          <p:nvPr>
            <p:ph type="dt" sz="half" idx="10"/>
          </p:nvPr>
        </p:nvSpPr>
        <p:spPr/>
        <p:txBody>
          <a:bodyPr/>
          <a:lstStyle/>
          <a:p>
            <a:fld id="{D1028508-28C4-444E-B522-D804D5355C6F}" type="datetimeFigureOut">
              <a:rPr lang="x-none" smtClean="0"/>
              <a:t>28-Sep-25</a:t>
            </a:fld>
            <a:endParaRPr lang="x-none"/>
          </a:p>
        </p:txBody>
      </p:sp>
      <p:sp>
        <p:nvSpPr>
          <p:cNvPr id="3" name="Footer Placeholder 2">
            <a:extLst>
              <a:ext uri="{FF2B5EF4-FFF2-40B4-BE49-F238E27FC236}">
                <a16:creationId xmlns:a16="http://schemas.microsoft.com/office/drawing/2014/main" id="{C63763F5-B0A4-3C7E-73E5-EA457205D839}"/>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id="{B9904488-BFBD-E43A-BE57-80CECFA401DD}"/>
              </a:ext>
            </a:extLst>
          </p:cNvPr>
          <p:cNvSpPr>
            <a:spLocks noGrp="1"/>
          </p:cNvSpPr>
          <p:nvPr>
            <p:ph type="sldNum" sz="quarter" idx="12"/>
          </p:nvPr>
        </p:nvSpPr>
        <p:spPr/>
        <p:txBody>
          <a:bodyPr/>
          <a:lstStyle/>
          <a:p>
            <a:fld id="{93013F5B-0CB8-284D-B88B-2C9766842346}" type="slidenum">
              <a:rPr lang="x-none" smtClean="0"/>
              <a:t>‹#›</a:t>
            </a:fld>
            <a:endParaRPr lang="x-none"/>
          </a:p>
        </p:txBody>
      </p:sp>
    </p:spTree>
    <p:extLst>
      <p:ext uri="{BB962C8B-B14F-4D97-AF65-F5344CB8AC3E}">
        <p14:creationId xmlns:p14="http://schemas.microsoft.com/office/powerpoint/2010/main" val="17276499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8FB96-5734-DAEF-4107-85DCA839464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x-none"/>
          </a:p>
        </p:txBody>
      </p:sp>
      <p:sp>
        <p:nvSpPr>
          <p:cNvPr id="3" name="Content Placeholder 2">
            <a:extLst>
              <a:ext uri="{FF2B5EF4-FFF2-40B4-BE49-F238E27FC236}">
                <a16:creationId xmlns:a16="http://schemas.microsoft.com/office/drawing/2014/main" id="{B4BE9AB2-B598-7CA4-9355-43B7E11910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Text Placeholder 3">
            <a:extLst>
              <a:ext uri="{FF2B5EF4-FFF2-40B4-BE49-F238E27FC236}">
                <a16:creationId xmlns:a16="http://schemas.microsoft.com/office/drawing/2014/main" id="{6389B0CA-1A71-0B06-0B6D-00FE2E58D5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54CFEFC-7D00-9A59-0864-1C54DC939218}"/>
              </a:ext>
            </a:extLst>
          </p:cNvPr>
          <p:cNvSpPr>
            <a:spLocks noGrp="1"/>
          </p:cNvSpPr>
          <p:nvPr>
            <p:ph type="dt" sz="half" idx="10"/>
          </p:nvPr>
        </p:nvSpPr>
        <p:spPr/>
        <p:txBody>
          <a:bodyPr/>
          <a:lstStyle/>
          <a:p>
            <a:fld id="{D1028508-28C4-444E-B522-D804D5355C6F}" type="datetimeFigureOut">
              <a:rPr lang="x-none" smtClean="0"/>
              <a:t>28-Sep-25</a:t>
            </a:fld>
            <a:endParaRPr lang="x-none"/>
          </a:p>
        </p:txBody>
      </p:sp>
      <p:sp>
        <p:nvSpPr>
          <p:cNvPr id="6" name="Footer Placeholder 5">
            <a:extLst>
              <a:ext uri="{FF2B5EF4-FFF2-40B4-BE49-F238E27FC236}">
                <a16:creationId xmlns:a16="http://schemas.microsoft.com/office/drawing/2014/main" id="{6F14935B-EAD7-D165-EDCE-6EF46CDA13CD}"/>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FD313524-6400-C6E2-7B03-043920333CE7}"/>
              </a:ext>
            </a:extLst>
          </p:cNvPr>
          <p:cNvSpPr>
            <a:spLocks noGrp="1"/>
          </p:cNvSpPr>
          <p:nvPr>
            <p:ph type="sldNum" sz="quarter" idx="12"/>
          </p:nvPr>
        </p:nvSpPr>
        <p:spPr/>
        <p:txBody>
          <a:bodyPr/>
          <a:lstStyle/>
          <a:p>
            <a:fld id="{93013F5B-0CB8-284D-B88B-2C9766842346}" type="slidenum">
              <a:rPr lang="x-none" smtClean="0"/>
              <a:t>‹#›</a:t>
            </a:fld>
            <a:endParaRPr lang="x-none"/>
          </a:p>
        </p:txBody>
      </p:sp>
    </p:spTree>
    <p:extLst>
      <p:ext uri="{BB962C8B-B14F-4D97-AF65-F5344CB8AC3E}">
        <p14:creationId xmlns:p14="http://schemas.microsoft.com/office/powerpoint/2010/main" val="2606707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67DC4-C74F-F560-0549-BB0625BA734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x-none"/>
          </a:p>
        </p:txBody>
      </p:sp>
      <p:sp>
        <p:nvSpPr>
          <p:cNvPr id="3" name="Picture Placeholder 2">
            <a:extLst>
              <a:ext uri="{FF2B5EF4-FFF2-40B4-BE49-F238E27FC236}">
                <a16:creationId xmlns:a16="http://schemas.microsoft.com/office/drawing/2014/main" id="{8B60EABB-BA1C-890B-E1DA-23B5B14BC8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a:extLst>
              <a:ext uri="{FF2B5EF4-FFF2-40B4-BE49-F238E27FC236}">
                <a16:creationId xmlns:a16="http://schemas.microsoft.com/office/drawing/2014/main" id="{055B9FE2-3323-D13F-2DED-44D7BB2146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F7171D5-60DC-7040-3160-402662BA8457}"/>
              </a:ext>
            </a:extLst>
          </p:cNvPr>
          <p:cNvSpPr>
            <a:spLocks noGrp="1"/>
          </p:cNvSpPr>
          <p:nvPr>
            <p:ph type="dt" sz="half" idx="10"/>
          </p:nvPr>
        </p:nvSpPr>
        <p:spPr/>
        <p:txBody>
          <a:bodyPr/>
          <a:lstStyle/>
          <a:p>
            <a:fld id="{D1028508-28C4-444E-B522-D804D5355C6F}" type="datetimeFigureOut">
              <a:rPr lang="x-none" smtClean="0"/>
              <a:t>28-Sep-25</a:t>
            </a:fld>
            <a:endParaRPr lang="x-none"/>
          </a:p>
        </p:txBody>
      </p:sp>
      <p:sp>
        <p:nvSpPr>
          <p:cNvPr id="6" name="Footer Placeholder 5">
            <a:extLst>
              <a:ext uri="{FF2B5EF4-FFF2-40B4-BE49-F238E27FC236}">
                <a16:creationId xmlns:a16="http://schemas.microsoft.com/office/drawing/2014/main" id="{985BFC39-97F1-23FE-E1C4-460010934CB7}"/>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AE8A0231-DA9F-D58C-2194-1B436CB74072}"/>
              </a:ext>
            </a:extLst>
          </p:cNvPr>
          <p:cNvSpPr>
            <a:spLocks noGrp="1"/>
          </p:cNvSpPr>
          <p:nvPr>
            <p:ph type="sldNum" sz="quarter" idx="12"/>
          </p:nvPr>
        </p:nvSpPr>
        <p:spPr/>
        <p:txBody>
          <a:bodyPr/>
          <a:lstStyle/>
          <a:p>
            <a:fld id="{93013F5B-0CB8-284D-B88B-2C9766842346}" type="slidenum">
              <a:rPr lang="x-none" smtClean="0"/>
              <a:t>‹#›</a:t>
            </a:fld>
            <a:endParaRPr lang="x-none"/>
          </a:p>
        </p:txBody>
      </p:sp>
    </p:spTree>
    <p:extLst>
      <p:ext uri="{BB962C8B-B14F-4D97-AF65-F5344CB8AC3E}">
        <p14:creationId xmlns:p14="http://schemas.microsoft.com/office/powerpoint/2010/main" val="112058699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E8822-4559-BF08-E7CA-6FC05A8EEADE}"/>
              </a:ext>
            </a:extLst>
          </p:cNvPr>
          <p:cNvSpPr>
            <a:spLocks noGrp="1"/>
          </p:cNvSpPr>
          <p:nvPr>
            <p:ph type="title"/>
          </p:nvPr>
        </p:nvSpPr>
        <p:spPr/>
        <p:txBody>
          <a:bodyPr/>
          <a:lstStyle/>
          <a:p>
            <a:r>
              <a:rPr lang="en-GB"/>
              <a:t>Click to edit Master title style</a:t>
            </a:r>
            <a:endParaRPr lang="x-none"/>
          </a:p>
        </p:txBody>
      </p:sp>
      <p:sp>
        <p:nvSpPr>
          <p:cNvPr id="3" name="Vertical Text Placeholder 2">
            <a:extLst>
              <a:ext uri="{FF2B5EF4-FFF2-40B4-BE49-F238E27FC236}">
                <a16:creationId xmlns:a16="http://schemas.microsoft.com/office/drawing/2014/main" id="{91CDBBB7-AE37-2BE0-17E7-B88B7BA998B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Date Placeholder 3">
            <a:extLst>
              <a:ext uri="{FF2B5EF4-FFF2-40B4-BE49-F238E27FC236}">
                <a16:creationId xmlns:a16="http://schemas.microsoft.com/office/drawing/2014/main" id="{58A0E6A4-59A2-88D0-7EB2-20A6033FDD67}"/>
              </a:ext>
            </a:extLst>
          </p:cNvPr>
          <p:cNvSpPr>
            <a:spLocks noGrp="1"/>
          </p:cNvSpPr>
          <p:nvPr>
            <p:ph type="dt" sz="half" idx="10"/>
          </p:nvPr>
        </p:nvSpPr>
        <p:spPr/>
        <p:txBody>
          <a:bodyPr/>
          <a:lstStyle/>
          <a:p>
            <a:fld id="{D1028508-28C4-444E-B522-D804D5355C6F}" type="datetimeFigureOut">
              <a:rPr lang="x-none" smtClean="0"/>
              <a:t>28-Sep-25</a:t>
            </a:fld>
            <a:endParaRPr lang="x-none"/>
          </a:p>
        </p:txBody>
      </p:sp>
      <p:sp>
        <p:nvSpPr>
          <p:cNvPr id="5" name="Footer Placeholder 4">
            <a:extLst>
              <a:ext uri="{FF2B5EF4-FFF2-40B4-BE49-F238E27FC236}">
                <a16:creationId xmlns:a16="http://schemas.microsoft.com/office/drawing/2014/main" id="{9EA04BBF-1DEE-E32B-7D5D-2FAB05542A08}"/>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A144D3B3-2FE2-A50D-FBCF-6BC9482983A7}"/>
              </a:ext>
            </a:extLst>
          </p:cNvPr>
          <p:cNvSpPr>
            <a:spLocks noGrp="1"/>
          </p:cNvSpPr>
          <p:nvPr>
            <p:ph type="sldNum" sz="quarter" idx="12"/>
          </p:nvPr>
        </p:nvSpPr>
        <p:spPr/>
        <p:txBody>
          <a:bodyPr/>
          <a:lstStyle/>
          <a:p>
            <a:fld id="{93013F5B-0CB8-284D-B88B-2C9766842346}" type="slidenum">
              <a:rPr lang="x-none" smtClean="0"/>
              <a:t>‹#›</a:t>
            </a:fld>
            <a:endParaRPr lang="x-none"/>
          </a:p>
        </p:txBody>
      </p:sp>
    </p:spTree>
    <p:extLst>
      <p:ext uri="{BB962C8B-B14F-4D97-AF65-F5344CB8AC3E}">
        <p14:creationId xmlns:p14="http://schemas.microsoft.com/office/powerpoint/2010/main" val="6089250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D9C1B8-E73B-60E5-9E99-C0202485067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x-none"/>
          </a:p>
        </p:txBody>
      </p:sp>
      <p:sp>
        <p:nvSpPr>
          <p:cNvPr id="3" name="Vertical Text Placeholder 2">
            <a:extLst>
              <a:ext uri="{FF2B5EF4-FFF2-40B4-BE49-F238E27FC236}">
                <a16:creationId xmlns:a16="http://schemas.microsoft.com/office/drawing/2014/main" id="{3F630C4F-77F7-E374-0669-40A8D667279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Date Placeholder 3">
            <a:extLst>
              <a:ext uri="{FF2B5EF4-FFF2-40B4-BE49-F238E27FC236}">
                <a16:creationId xmlns:a16="http://schemas.microsoft.com/office/drawing/2014/main" id="{99FB6ED8-5F02-C99A-53A6-E5B360E03466}"/>
              </a:ext>
            </a:extLst>
          </p:cNvPr>
          <p:cNvSpPr>
            <a:spLocks noGrp="1"/>
          </p:cNvSpPr>
          <p:nvPr>
            <p:ph type="dt" sz="half" idx="10"/>
          </p:nvPr>
        </p:nvSpPr>
        <p:spPr/>
        <p:txBody>
          <a:bodyPr/>
          <a:lstStyle/>
          <a:p>
            <a:fld id="{D1028508-28C4-444E-B522-D804D5355C6F}" type="datetimeFigureOut">
              <a:rPr lang="x-none" smtClean="0"/>
              <a:t>28-Sep-25</a:t>
            </a:fld>
            <a:endParaRPr lang="x-none"/>
          </a:p>
        </p:txBody>
      </p:sp>
      <p:sp>
        <p:nvSpPr>
          <p:cNvPr id="5" name="Footer Placeholder 4">
            <a:extLst>
              <a:ext uri="{FF2B5EF4-FFF2-40B4-BE49-F238E27FC236}">
                <a16:creationId xmlns:a16="http://schemas.microsoft.com/office/drawing/2014/main" id="{AB4D9FDF-C1E4-41B9-BDE8-9917721069F0}"/>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1B2B692B-8256-E486-20FB-C6CC8DD77AD5}"/>
              </a:ext>
            </a:extLst>
          </p:cNvPr>
          <p:cNvSpPr>
            <a:spLocks noGrp="1"/>
          </p:cNvSpPr>
          <p:nvPr>
            <p:ph type="sldNum" sz="quarter" idx="12"/>
          </p:nvPr>
        </p:nvSpPr>
        <p:spPr/>
        <p:txBody>
          <a:bodyPr/>
          <a:lstStyle/>
          <a:p>
            <a:fld id="{93013F5B-0CB8-284D-B88B-2C9766842346}" type="slidenum">
              <a:rPr lang="x-none" smtClean="0"/>
              <a:t>‹#›</a:t>
            </a:fld>
            <a:endParaRPr lang="x-none"/>
          </a:p>
        </p:txBody>
      </p:sp>
    </p:spTree>
    <p:extLst>
      <p:ext uri="{BB962C8B-B14F-4D97-AF65-F5344CB8AC3E}">
        <p14:creationId xmlns:p14="http://schemas.microsoft.com/office/powerpoint/2010/main" val="21505465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9FD25C9-E86F-B24A-2E09-38DADE2301C4}"/>
              </a:ext>
            </a:extLst>
          </p:cNvPr>
          <p:cNvSpPr/>
          <p:nvPr userDrawn="1"/>
        </p:nvSpPr>
        <p:spPr>
          <a:xfrm>
            <a:off x="0" y="0"/>
            <a:ext cx="6546683" cy="170814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2E5E826-D724-2D8D-3EF0-19277E8F644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5147" b="29543"/>
          <a:stretch/>
        </p:blipFill>
        <p:spPr>
          <a:xfrm>
            <a:off x="11412" y="1255327"/>
            <a:ext cx="6535271" cy="5602673"/>
          </a:xfrm>
          <a:prstGeom prst="rect">
            <a:avLst/>
          </a:prstGeom>
        </p:spPr>
      </p:pic>
      <p:sp>
        <p:nvSpPr>
          <p:cNvPr id="10" name="Title 4">
            <a:extLst>
              <a:ext uri="{FF2B5EF4-FFF2-40B4-BE49-F238E27FC236}">
                <a16:creationId xmlns:a16="http://schemas.microsoft.com/office/drawing/2014/main" id="{5AED0AF9-F474-D247-4F03-B2FF92977694}"/>
              </a:ext>
            </a:extLst>
          </p:cNvPr>
          <p:cNvSpPr txBox="1">
            <a:spLocks/>
          </p:cNvSpPr>
          <p:nvPr userDrawn="1"/>
        </p:nvSpPr>
        <p:spPr>
          <a:xfrm>
            <a:off x="577062" y="304499"/>
            <a:ext cx="5281169" cy="111064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000" b="1" dirty="0">
                <a:solidFill>
                  <a:srgbClr val="FF0000"/>
                </a:solidFill>
                <a:latin typeface="CorisandeBold" charset="0"/>
                <a:ea typeface="CorisandeBold" charset="0"/>
                <a:cs typeface="CorisandeBold" charset="0"/>
              </a:rPr>
              <a:t>Thank</a:t>
            </a:r>
            <a:r>
              <a:rPr lang="en-US" sz="8000" b="1" dirty="0">
                <a:latin typeface="CorisandeBold" charset="0"/>
                <a:ea typeface="CorisandeBold" charset="0"/>
                <a:cs typeface="CorisandeBold" charset="0"/>
              </a:rPr>
              <a:t> </a:t>
            </a:r>
            <a:r>
              <a:rPr lang="en-US" sz="8000" b="1" dirty="0">
                <a:solidFill>
                  <a:srgbClr val="A3B54A"/>
                </a:solidFill>
                <a:latin typeface="CorisandeBold" charset="0"/>
                <a:ea typeface="CorisandeBold" charset="0"/>
                <a:cs typeface="CorisandeBold" charset="0"/>
              </a:rPr>
              <a:t>You</a:t>
            </a:r>
          </a:p>
        </p:txBody>
      </p:sp>
      <p:pic>
        <p:nvPicPr>
          <p:cNvPr id="11" name="Picture 10" descr="A black rectangular sign with white text&#10;&#10;Description automatically generated">
            <a:extLst>
              <a:ext uri="{FF2B5EF4-FFF2-40B4-BE49-F238E27FC236}">
                <a16:creationId xmlns:a16="http://schemas.microsoft.com/office/drawing/2014/main" id="{F48DAD6F-D0BF-B1D6-A82B-5C8842037F2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542989" y="574390"/>
            <a:ext cx="2563239" cy="906196"/>
          </a:xfrm>
          <a:prstGeom prst="rect">
            <a:avLst/>
          </a:prstGeom>
        </p:spPr>
      </p:pic>
      <p:pic>
        <p:nvPicPr>
          <p:cNvPr id="12" name="Picture 11" descr="A lion holding a spear and a shield with text&#10;&#10;Description automatically generated">
            <a:extLst>
              <a:ext uri="{FF2B5EF4-FFF2-40B4-BE49-F238E27FC236}">
                <a16:creationId xmlns:a16="http://schemas.microsoft.com/office/drawing/2014/main" id="{42EA21C3-59E1-EE69-5617-2C96E4C7564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535160" y="660916"/>
            <a:ext cx="2380888" cy="841728"/>
          </a:xfrm>
          <a:prstGeom prst="rect">
            <a:avLst/>
          </a:prstGeom>
        </p:spPr>
      </p:pic>
      <p:pic>
        <p:nvPicPr>
          <p:cNvPr id="17" name="Picture 16">
            <a:extLst>
              <a:ext uri="{FF2B5EF4-FFF2-40B4-BE49-F238E27FC236}">
                <a16:creationId xmlns:a16="http://schemas.microsoft.com/office/drawing/2014/main" id="{93AE7AAC-D97E-783A-7A5F-9AB7CE575AAA}"/>
              </a:ext>
            </a:extLst>
          </p:cNvPr>
          <p:cNvPicPr>
            <a:picLocks noChangeAspect="1"/>
          </p:cNvPicPr>
          <p:nvPr userDrawn="1"/>
        </p:nvPicPr>
        <p:blipFill>
          <a:blip r:embed="rId5"/>
          <a:stretch>
            <a:fillRect/>
          </a:stretch>
        </p:blipFill>
        <p:spPr>
          <a:xfrm flipV="1">
            <a:off x="7019188" y="6174224"/>
            <a:ext cx="4861588" cy="45719"/>
          </a:xfrm>
          <a:prstGeom prst="rect">
            <a:avLst/>
          </a:prstGeom>
        </p:spPr>
      </p:pic>
      <p:pic>
        <p:nvPicPr>
          <p:cNvPr id="4" name="Picture 3">
            <a:extLst>
              <a:ext uri="{FF2B5EF4-FFF2-40B4-BE49-F238E27FC236}">
                <a16:creationId xmlns:a16="http://schemas.microsoft.com/office/drawing/2014/main" id="{5AA4667E-1C5F-19B7-DE5C-AAF2959313B1}"/>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956281" y="2292994"/>
            <a:ext cx="1498399" cy="925664"/>
          </a:xfrm>
          <a:prstGeom prst="rect">
            <a:avLst/>
          </a:prstGeom>
        </p:spPr>
      </p:pic>
      <p:pic>
        <p:nvPicPr>
          <p:cNvPr id="18" name="Picture 17" descr="A logo with green letters and a black background&#10;&#10;Description automatically generated">
            <a:extLst>
              <a:ext uri="{FF2B5EF4-FFF2-40B4-BE49-F238E27FC236}">
                <a16:creationId xmlns:a16="http://schemas.microsoft.com/office/drawing/2014/main" id="{E99E9AA1-5052-3FE5-4FD4-BD3249AAFABA}"/>
              </a:ext>
            </a:extLst>
          </p:cNvPr>
          <p:cNvPicPr>
            <a:picLocks noChangeAspect="1"/>
          </p:cNvPicPr>
          <p:nvPr userDrawn="1"/>
        </p:nvPicPr>
        <p:blipFill>
          <a:blip r:embed="rId7"/>
          <a:stretch>
            <a:fillRect/>
          </a:stretch>
        </p:blipFill>
        <p:spPr>
          <a:xfrm>
            <a:off x="8943682" y="4400746"/>
            <a:ext cx="1012599" cy="448983"/>
          </a:xfrm>
          <a:prstGeom prst="rect">
            <a:avLst/>
          </a:prstGeom>
        </p:spPr>
      </p:pic>
      <p:pic>
        <p:nvPicPr>
          <p:cNvPr id="20" name="Picture 19" descr="A black and white logo&#10;&#10;Description automatically generated">
            <a:extLst>
              <a:ext uri="{FF2B5EF4-FFF2-40B4-BE49-F238E27FC236}">
                <a16:creationId xmlns:a16="http://schemas.microsoft.com/office/drawing/2014/main" id="{97548F84-88DB-D35A-6D6F-2304222AC5C5}"/>
              </a:ext>
            </a:extLst>
          </p:cNvPr>
          <p:cNvPicPr>
            <a:picLocks noChangeAspect="1"/>
          </p:cNvPicPr>
          <p:nvPr userDrawn="1"/>
        </p:nvPicPr>
        <p:blipFill>
          <a:blip r:embed="rId8"/>
          <a:stretch>
            <a:fillRect/>
          </a:stretch>
        </p:blipFill>
        <p:spPr>
          <a:xfrm>
            <a:off x="7019189" y="4456692"/>
            <a:ext cx="1285788" cy="312033"/>
          </a:xfrm>
          <a:prstGeom prst="rect">
            <a:avLst/>
          </a:prstGeom>
        </p:spPr>
      </p:pic>
      <p:pic>
        <p:nvPicPr>
          <p:cNvPr id="22" name="Picture 21" descr="A red and green sign with a black background&#10;&#10;Description automatically generated">
            <a:extLst>
              <a:ext uri="{FF2B5EF4-FFF2-40B4-BE49-F238E27FC236}">
                <a16:creationId xmlns:a16="http://schemas.microsoft.com/office/drawing/2014/main" id="{79E75FB0-FF3F-8081-1DA7-E5952638543F}"/>
              </a:ext>
            </a:extLst>
          </p:cNvPr>
          <p:cNvPicPr>
            <a:picLocks noChangeAspect="1"/>
          </p:cNvPicPr>
          <p:nvPr userDrawn="1"/>
        </p:nvPicPr>
        <p:blipFill>
          <a:blip r:embed="rId9"/>
          <a:stretch>
            <a:fillRect/>
          </a:stretch>
        </p:blipFill>
        <p:spPr>
          <a:xfrm>
            <a:off x="8700781" y="5143306"/>
            <a:ext cx="1498399" cy="490260"/>
          </a:xfrm>
          <a:prstGeom prst="rect">
            <a:avLst/>
          </a:prstGeom>
        </p:spPr>
      </p:pic>
      <p:pic>
        <p:nvPicPr>
          <p:cNvPr id="24" name="Picture 23">
            <a:extLst>
              <a:ext uri="{FF2B5EF4-FFF2-40B4-BE49-F238E27FC236}">
                <a16:creationId xmlns:a16="http://schemas.microsoft.com/office/drawing/2014/main" id="{513F41E1-188D-EF49-1010-02DED0A12D6A}"/>
              </a:ext>
            </a:extLst>
          </p:cNvPr>
          <p:cNvPicPr>
            <a:picLocks noChangeAspect="1"/>
          </p:cNvPicPr>
          <p:nvPr userDrawn="1"/>
        </p:nvPicPr>
        <p:blipFill>
          <a:blip r:embed="rId10"/>
          <a:stretch>
            <a:fillRect/>
          </a:stretch>
        </p:blipFill>
        <p:spPr>
          <a:xfrm>
            <a:off x="10382377" y="4386030"/>
            <a:ext cx="1498399" cy="539678"/>
          </a:xfrm>
          <a:prstGeom prst="rect">
            <a:avLst/>
          </a:prstGeom>
        </p:spPr>
      </p:pic>
      <p:sp>
        <p:nvSpPr>
          <p:cNvPr id="25" name="Rectangle 24">
            <a:extLst>
              <a:ext uri="{FF2B5EF4-FFF2-40B4-BE49-F238E27FC236}">
                <a16:creationId xmlns:a16="http://schemas.microsoft.com/office/drawing/2014/main" id="{D88E318B-74AF-A51F-B9F4-87913A308027}"/>
              </a:ext>
            </a:extLst>
          </p:cNvPr>
          <p:cNvSpPr/>
          <p:nvPr userDrawn="1"/>
        </p:nvSpPr>
        <p:spPr>
          <a:xfrm flipV="1">
            <a:off x="7018127" y="3862104"/>
            <a:ext cx="4861588" cy="45719"/>
          </a:xfrm>
          <a:prstGeom prst="rect">
            <a:avLst/>
          </a:prstGeom>
          <a:solidFill>
            <a:srgbClr val="CF1F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solidFill>
                <a:srgbClr val="CF1F41"/>
              </a:solidFill>
            </a:endParaRPr>
          </a:p>
        </p:txBody>
      </p:sp>
      <p:pic>
        <p:nvPicPr>
          <p:cNvPr id="2" name="Picture 1" descr="A close-up of a logo&#10;&#10;Description automatically generated">
            <a:extLst>
              <a:ext uri="{FF2B5EF4-FFF2-40B4-BE49-F238E27FC236}">
                <a16:creationId xmlns:a16="http://schemas.microsoft.com/office/drawing/2014/main" id="{4B117B68-7F7C-392E-CE9E-B92AA2138FB2}"/>
              </a:ext>
            </a:extLst>
          </p:cNvPr>
          <p:cNvPicPr>
            <a:picLocks noChangeAspect="1"/>
          </p:cNvPicPr>
          <p:nvPr userDrawn="1"/>
        </p:nvPicPr>
        <p:blipFill>
          <a:blip r:embed="rId11"/>
          <a:stretch>
            <a:fillRect/>
          </a:stretch>
        </p:blipFill>
        <p:spPr>
          <a:xfrm>
            <a:off x="1573533" y="1396879"/>
            <a:ext cx="3098771" cy="915546"/>
          </a:xfrm>
          <a:prstGeom prst="rect">
            <a:avLst/>
          </a:prstGeom>
        </p:spPr>
      </p:pic>
      <p:pic>
        <p:nvPicPr>
          <p:cNvPr id="3" name="Picture 2" descr="A logo with a globe and flags&#10;&#10;Description automatically generated">
            <a:extLst>
              <a:ext uri="{FF2B5EF4-FFF2-40B4-BE49-F238E27FC236}">
                <a16:creationId xmlns:a16="http://schemas.microsoft.com/office/drawing/2014/main" id="{5A2D165A-3255-D25B-61CA-61D8460A6E1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7027566" y="2242875"/>
            <a:ext cx="782309" cy="838635"/>
          </a:xfrm>
          <a:prstGeom prst="rect">
            <a:avLst/>
          </a:prstGeom>
        </p:spPr>
      </p:pic>
    </p:spTree>
    <p:extLst>
      <p:ext uri="{BB962C8B-B14F-4D97-AF65-F5344CB8AC3E}">
        <p14:creationId xmlns:p14="http://schemas.microsoft.com/office/powerpoint/2010/main" val="2866479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AB539-68AD-EA67-195C-94C565B69E0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x-none"/>
          </a:p>
        </p:txBody>
      </p:sp>
      <p:sp>
        <p:nvSpPr>
          <p:cNvPr id="3" name="Subtitle 2">
            <a:extLst>
              <a:ext uri="{FF2B5EF4-FFF2-40B4-BE49-F238E27FC236}">
                <a16:creationId xmlns:a16="http://schemas.microsoft.com/office/drawing/2014/main" id="{77014AC5-A5F9-2DAF-DC49-3FB64D27F9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x-none"/>
          </a:p>
        </p:txBody>
      </p:sp>
      <p:sp>
        <p:nvSpPr>
          <p:cNvPr id="4" name="Date Placeholder 3">
            <a:extLst>
              <a:ext uri="{FF2B5EF4-FFF2-40B4-BE49-F238E27FC236}">
                <a16:creationId xmlns:a16="http://schemas.microsoft.com/office/drawing/2014/main" id="{F245B138-ABFE-4438-429D-AE375E19727A}"/>
              </a:ext>
            </a:extLst>
          </p:cNvPr>
          <p:cNvSpPr>
            <a:spLocks noGrp="1"/>
          </p:cNvSpPr>
          <p:nvPr>
            <p:ph type="dt" sz="half" idx="10"/>
          </p:nvPr>
        </p:nvSpPr>
        <p:spPr/>
        <p:txBody>
          <a:bodyPr/>
          <a:lstStyle/>
          <a:p>
            <a:fld id="{D1028508-28C4-444E-B522-D804D5355C6F}" type="datetimeFigureOut">
              <a:rPr lang="x-none" smtClean="0"/>
              <a:t>28-Sep-25</a:t>
            </a:fld>
            <a:endParaRPr lang="x-none"/>
          </a:p>
        </p:txBody>
      </p:sp>
      <p:sp>
        <p:nvSpPr>
          <p:cNvPr id="5" name="Footer Placeholder 4">
            <a:extLst>
              <a:ext uri="{FF2B5EF4-FFF2-40B4-BE49-F238E27FC236}">
                <a16:creationId xmlns:a16="http://schemas.microsoft.com/office/drawing/2014/main" id="{F60E893C-2F5F-3A8E-59D4-D7B31892A377}"/>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7C16A5C8-FE33-8475-2B8E-2102B195558E}"/>
              </a:ext>
            </a:extLst>
          </p:cNvPr>
          <p:cNvSpPr>
            <a:spLocks noGrp="1"/>
          </p:cNvSpPr>
          <p:nvPr>
            <p:ph type="sldNum" sz="quarter" idx="12"/>
          </p:nvPr>
        </p:nvSpPr>
        <p:spPr/>
        <p:txBody>
          <a:bodyPr/>
          <a:lstStyle/>
          <a:p>
            <a:fld id="{93013F5B-0CB8-284D-B88B-2C9766842346}" type="slidenum">
              <a:rPr lang="x-none" smtClean="0"/>
              <a:t>‹#›</a:t>
            </a:fld>
            <a:endParaRPr lang="x-none"/>
          </a:p>
        </p:txBody>
      </p:sp>
      <p:sp>
        <p:nvSpPr>
          <p:cNvPr id="7" name="AutoShape 2" descr="A black background with red green and white letters&#10;&#10;Description automatically generated"/>
          <p:cNvSpPr>
            <a:spLocks noChangeAspect="1" noChangeArrowheads="1"/>
          </p:cNvSpPr>
          <p:nvPr userDrawn="1"/>
        </p:nvSpPr>
        <p:spPr bwMode="auto">
          <a:xfrm>
            <a:off x="212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330273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0071879-FE12-23E6-6632-187CB1D2B01F}"/>
              </a:ext>
            </a:extLst>
          </p:cNvPr>
          <p:cNvSpPr/>
          <p:nvPr userDrawn="1"/>
        </p:nvSpPr>
        <p:spPr>
          <a:xfrm>
            <a:off x="-5805" y="1286999"/>
            <a:ext cx="12192000" cy="467600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4" name="Rectangle 3">
            <a:extLst>
              <a:ext uri="{FF2B5EF4-FFF2-40B4-BE49-F238E27FC236}">
                <a16:creationId xmlns:a16="http://schemas.microsoft.com/office/drawing/2014/main" id="{03AC2BC7-E02D-7D62-342D-42E3759816A2}"/>
              </a:ext>
            </a:extLst>
          </p:cNvPr>
          <p:cNvSpPr/>
          <p:nvPr userDrawn="1"/>
        </p:nvSpPr>
        <p:spPr>
          <a:xfrm flipV="1">
            <a:off x="20052" y="5917282"/>
            <a:ext cx="12192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FC60BD3-C6B7-6258-A355-7C35D2523320}"/>
              </a:ext>
            </a:extLst>
          </p:cNvPr>
          <p:cNvSpPr/>
          <p:nvPr userDrawn="1"/>
        </p:nvSpPr>
        <p:spPr>
          <a:xfrm>
            <a:off x="0" y="1149616"/>
            <a:ext cx="12192001" cy="4571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A400"/>
              </a:solidFill>
            </a:endParaRPr>
          </a:p>
        </p:txBody>
      </p:sp>
      <p:pic>
        <p:nvPicPr>
          <p:cNvPr id="2" name="Picture 1">
            <a:extLst>
              <a:ext uri="{FF2B5EF4-FFF2-40B4-BE49-F238E27FC236}">
                <a16:creationId xmlns:a16="http://schemas.microsoft.com/office/drawing/2014/main" id="{EB36AB05-1985-9283-0AA8-34332C55B8D5}"/>
              </a:ext>
            </a:extLst>
          </p:cNvPr>
          <p:cNvPicPr>
            <a:picLocks noChangeAspect="1"/>
          </p:cNvPicPr>
          <p:nvPr userDrawn="1"/>
        </p:nvPicPr>
        <p:blipFill rotWithShape="1">
          <a:blip r:embed="rId2"/>
          <a:srcRect t="5053" r="9055"/>
          <a:stretch/>
        </p:blipFill>
        <p:spPr>
          <a:xfrm>
            <a:off x="20052" y="129745"/>
            <a:ext cx="9243589" cy="1008435"/>
          </a:xfrm>
          <a:prstGeom prst="rect">
            <a:avLst/>
          </a:prstGeom>
        </p:spPr>
      </p:pic>
      <p:pic>
        <p:nvPicPr>
          <p:cNvPr id="5" name="Picture 4" descr="A close-up of a logo&#10;&#10;Description automatically generated">
            <a:extLst>
              <a:ext uri="{FF2B5EF4-FFF2-40B4-BE49-F238E27FC236}">
                <a16:creationId xmlns:a16="http://schemas.microsoft.com/office/drawing/2014/main" id="{4B51F234-E4E7-5EBC-73A7-80F1E57FA024}"/>
              </a:ext>
            </a:extLst>
          </p:cNvPr>
          <p:cNvPicPr>
            <a:picLocks noChangeAspect="1"/>
          </p:cNvPicPr>
          <p:nvPr userDrawn="1"/>
        </p:nvPicPr>
        <p:blipFill>
          <a:blip r:embed="rId3"/>
          <a:stretch>
            <a:fillRect/>
          </a:stretch>
        </p:blipFill>
        <p:spPr>
          <a:xfrm>
            <a:off x="9232927" y="132716"/>
            <a:ext cx="2864960" cy="846465"/>
          </a:xfrm>
          <a:prstGeom prst="rect">
            <a:avLst/>
          </a:prstGeom>
        </p:spPr>
      </p:pic>
      <p:pic>
        <p:nvPicPr>
          <p:cNvPr id="6" name="Picture 5" descr="A lion holding a spear and a shield with text&#10;&#10;Description automatically generated">
            <a:extLst>
              <a:ext uri="{FF2B5EF4-FFF2-40B4-BE49-F238E27FC236}">
                <a16:creationId xmlns:a16="http://schemas.microsoft.com/office/drawing/2014/main" id="{5053575E-2BF3-7030-E32E-613C8C8E3B4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4539" y="6007639"/>
            <a:ext cx="1785248" cy="631149"/>
          </a:xfrm>
          <a:prstGeom prst="rect">
            <a:avLst/>
          </a:prstGeom>
        </p:spPr>
      </p:pic>
      <p:pic>
        <p:nvPicPr>
          <p:cNvPr id="7" name="Picture 6" descr="A black rectangular sign with white text&#10;&#10;Description automatically generated">
            <a:extLst>
              <a:ext uri="{FF2B5EF4-FFF2-40B4-BE49-F238E27FC236}">
                <a16:creationId xmlns:a16="http://schemas.microsoft.com/office/drawing/2014/main" id="{67DAC0FB-3CE4-261E-762D-2A8ED30A1BDC}"/>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720789" y="6113367"/>
            <a:ext cx="1884458" cy="666222"/>
          </a:xfrm>
          <a:prstGeom prst="rect">
            <a:avLst/>
          </a:prstGeom>
        </p:spPr>
      </p:pic>
      <p:pic>
        <p:nvPicPr>
          <p:cNvPr id="8" name="Picture 7">
            <a:extLst>
              <a:ext uri="{FF2B5EF4-FFF2-40B4-BE49-F238E27FC236}">
                <a16:creationId xmlns:a16="http://schemas.microsoft.com/office/drawing/2014/main" id="{A64D3BC9-236D-CC72-948C-61D64D88A80A}"/>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742854" y="6099387"/>
            <a:ext cx="1101063" cy="680202"/>
          </a:xfrm>
          <a:prstGeom prst="rect">
            <a:avLst/>
          </a:prstGeom>
        </p:spPr>
      </p:pic>
      <p:pic>
        <p:nvPicPr>
          <p:cNvPr id="9" name="Picture 8" descr="A black text on a white background&#10;&#10;Description automatically generated">
            <a:extLst>
              <a:ext uri="{FF2B5EF4-FFF2-40B4-BE49-F238E27FC236}">
                <a16:creationId xmlns:a16="http://schemas.microsoft.com/office/drawing/2014/main" id="{B7A9FCEB-2333-5F60-ACF2-3BA1BA6A6EF5}"/>
              </a:ext>
            </a:extLst>
          </p:cNvPr>
          <p:cNvPicPr>
            <a:picLocks noChangeAspect="1"/>
          </p:cNvPicPr>
          <p:nvPr userDrawn="1"/>
        </p:nvPicPr>
        <p:blipFill>
          <a:blip r:embed="rId7"/>
          <a:stretch>
            <a:fillRect/>
          </a:stretch>
        </p:blipFill>
        <p:spPr>
          <a:xfrm>
            <a:off x="5919976" y="6128057"/>
            <a:ext cx="1629800" cy="706626"/>
          </a:xfrm>
          <a:prstGeom prst="rect">
            <a:avLst/>
          </a:prstGeom>
        </p:spPr>
      </p:pic>
      <p:pic>
        <p:nvPicPr>
          <p:cNvPr id="10" name="Picture 9" descr="A logo for a company&#10;&#10;Description automatically generated">
            <a:extLst>
              <a:ext uri="{FF2B5EF4-FFF2-40B4-BE49-F238E27FC236}">
                <a16:creationId xmlns:a16="http://schemas.microsoft.com/office/drawing/2014/main" id="{70B70C05-B32A-BD07-825E-70DF26C8DD02}"/>
              </a:ext>
            </a:extLst>
          </p:cNvPr>
          <p:cNvPicPr>
            <a:picLocks noChangeAspect="1"/>
          </p:cNvPicPr>
          <p:nvPr userDrawn="1"/>
        </p:nvPicPr>
        <p:blipFill rotWithShape="1">
          <a:blip r:embed="rId8"/>
          <a:srcRect l="17924" t="18888" r="11254" b="15459"/>
          <a:stretch/>
        </p:blipFill>
        <p:spPr>
          <a:xfrm>
            <a:off x="7658935" y="6156373"/>
            <a:ext cx="1109382" cy="533823"/>
          </a:xfrm>
          <a:prstGeom prst="rect">
            <a:avLst/>
          </a:prstGeom>
        </p:spPr>
      </p:pic>
      <p:pic>
        <p:nvPicPr>
          <p:cNvPr id="11" name="Picture 10" descr="A logo with a map and text&#10;&#10;Description automatically generated">
            <a:extLst>
              <a:ext uri="{FF2B5EF4-FFF2-40B4-BE49-F238E27FC236}">
                <a16:creationId xmlns:a16="http://schemas.microsoft.com/office/drawing/2014/main" id="{BBDE4DA4-41CA-6B89-6034-674D9E6D8539}"/>
              </a:ext>
            </a:extLst>
          </p:cNvPr>
          <p:cNvPicPr>
            <a:picLocks noChangeAspect="1"/>
          </p:cNvPicPr>
          <p:nvPr userDrawn="1"/>
        </p:nvPicPr>
        <p:blipFill>
          <a:blip r:embed="rId9"/>
          <a:stretch>
            <a:fillRect/>
          </a:stretch>
        </p:blipFill>
        <p:spPr>
          <a:xfrm>
            <a:off x="10294776" y="5983112"/>
            <a:ext cx="1897224" cy="813096"/>
          </a:xfrm>
          <a:prstGeom prst="rect">
            <a:avLst/>
          </a:prstGeom>
        </p:spPr>
      </p:pic>
      <p:pic>
        <p:nvPicPr>
          <p:cNvPr id="12" name="Picture 11" descr="A red and green logo&#10;&#10;Description automatically generated">
            <a:extLst>
              <a:ext uri="{FF2B5EF4-FFF2-40B4-BE49-F238E27FC236}">
                <a16:creationId xmlns:a16="http://schemas.microsoft.com/office/drawing/2014/main" id="{12C23408-E9FF-362E-D7DE-6647974E465C}"/>
              </a:ext>
            </a:extLst>
          </p:cNvPr>
          <p:cNvPicPr>
            <a:picLocks noChangeAspect="1"/>
          </p:cNvPicPr>
          <p:nvPr userDrawn="1"/>
        </p:nvPicPr>
        <p:blipFill>
          <a:blip r:embed="rId10"/>
          <a:stretch>
            <a:fillRect/>
          </a:stretch>
        </p:blipFill>
        <p:spPr>
          <a:xfrm>
            <a:off x="8844376" y="6081496"/>
            <a:ext cx="1488102" cy="537637"/>
          </a:xfrm>
          <a:prstGeom prst="rect">
            <a:avLst/>
          </a:prstGeom>
        </p:spPr>
      </p:pic>
      <p:pic>
        <p:nvPicPr>
          <p:cNvPr id="13" name="Picture 12" descr="A logo with a globe and flags&#10;&#10;Description automatically generated">
            <a:extLst>
              <a:ext uri="{FF2B5EF4-FFF2-40B4-BE49-F238E27FC236}">
                <a16:creationId xmlns:a16="http://schemas.microsoft.com/office/drawing/2014/main" id="{CC5BE134-1803-E774-EA91-934E911C7A59}"/>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3778296" y="6128057"/>
            <a:ext cx="634517" cy="680202"/>
          </a:xfrm>
          <a:prstGeom prst="rect">
            <a:avLst/>
          </a:prstGeom>
        </p:spPr>
      </p:pic>
    </p:spTree>
    <p:extLst>
      <p:ext uri="{BB962C8B-B14F-4D97-AF65-F5344CB8AC3E}">
        <p14:creationId xmlns:p14="http://schemas.microsoft.com/office/powerpoint/2010/main" val="201217545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32FCF23-3ED7-9D28-FB00-71028BB8DF2D}"/>
              </a:ext>
            </a:extLst>
          </p:cNvPr>
          <p:cNvSpPr/>
          <p:nvPr userDrawn="1"/>
        </p:nvSpPr>
        <p:spPr>
          <a:xfrm>
            <a:off x="-2260" y="1141151"/>
            <a:ext cx="12192000" cy="48188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20" name="Parallelogram 19">
            <a:extLst>
              <a:ext uri="{FF2B5EF4-FFF2-40B4-BE49-F238E27FC236}">
                <a16:creationId xmlns:a16="http://schemas.microsoft.com/office/drawing/2014/main" id="{7F0ED01A-F421-A60E-9873-FA45A29635F5}"/>
              </a:ext>
            </a:extLst>
          </p:cNvPr>
          <p:cNvSpPr/>
          <p:nvPr userDrawn="1"/>
        </p:nvSpPr>
        <p:spPr>
          <a:xfrm>
            <a:off x="5722324" y="299198"/>
            <a:ext cx="995341" cy="801681"/>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rPr>
              <a:t>  </a:t>
            </a:r>
          </a:p>
        </p:txBody>
      </p:sp>
      <p:sp>
        <p:nvSpPr>
          <p:cNvPr id="26" name="Parallelogram 25">
            <a:extLst>
              <a:ext uri="{FF2B5EF4-FFF2-40B4-BE49-F238E27FC236}">
                <a16:creationId xmlns:a16="http://schemas.microsoft.com/office/drawing/2014/main" id="{B145BECA-2020-611B-2015-2A24F6E838E1}"/>
              </a:ext>
            </a:extLst>
          </p:cNvPr>
          <p:cNvSpPr/>
          <p:nvPr userDrawn="1"/>
        </p:nvSpPr>
        <p:spPr>
          <a:xfrm rot="10800000">
            <a:off x="11402290" y="86603"/>
            <a:ext cx="452826" cy="581694"/>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33" name="Picture 32">
            <a:extLst>
              <a:ext uri="{FF2B5EF4-FFF2-40B4-BE49-F238E27FC236}">
                <a16:creationId xmlns:a16="http://schemas.microsoft.com/office/drawing/2014/main" id="{D271E897-5B7E-0721-BD50-FCBAA5653B4F}"/>
              </a:ext>
            </a:extLst>
          </p:cNvPr>
          <p:cNvPicPr>
            <a:picLocks noChangeAspect="1"/>
          </p:cNvPicPr>
          <p:nvPr userDrawn="1"/>
        </p:nvPicPr>
        <p:blipFill rotWithShape="1">
          <a:blip r:embed="rId2"/>
          <a:srcRect t="5053" r="9055"/>
          <a:stretch/>
        </p:blipFill>
        <p:spPr>
          <a:xfrm>
            <a:off x="-1" y="202212"/>
            <a:ext cx="8164186" cy="935968"/>
          </a:xfrm>
          <a:prstGeom prst="rect">
            <a:avLst/>
          </a:prstGeom>
        </p:spPr>
      </p:pic>
      <p:sp>
        <p:nvSpPr>
          <p:cNvPr id="2" name="Rectangle 1">
            <a:extLst>
              <a:ext uri="{FF2B5EF4-FFF2-40B4-BE49-F238E27FC236}">
                <a16:creationId xmlns:a16="http://schemas.microsoft.com/office/drawing/2014/main" id="{25B7E050-A7B4-79EE-5588-880578B38426}"/>
              </a:ext>
            </a:extLst>
          </p:cNvPr>
          <p:cNvSpPr/>
          <p:nvPr userDrawn="1"/>
        </p:nvSpPr>
        <p:spPr>
          <a:xfrm flipV="1">
            <a:off x="20052" y="5917282"/>
            <a:ext cx="12192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lion holding a spear and a shield with text&#10;&#10;Description automatically generated">
            <a:extLst>
              <a:ext uri="{FF2B5EF4-FFF2-40B4-BE49-F238E27FC236}">
                <a16:creationId xmlns:a16="http://schemas.microsoft.com/office/drawing/2014/main" id="{66192FB2-2BE4-E6CA-BA8A-07AF4A99C477}"/>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9457" y="6141118"/>
            <a:ext cx="1591929" cy="562804"/>
          </a:xfrm>
          <a:prstGeom prst="rect">
            <a:avLst/>
          </a:prstGeom>
        </p:spPr>
      </p:pic>
      <p:pic>
        <p:nvPicPr>
          <p:cNvPr id="4" name="Picture 3" descr="A black rectangular sign with white text&#10;&#10;Description automatically generated">
            <a:extLst>
              <a:ext uri="{FF2B5EF4-FFF2-40B4-BE49-F238E27FC236}">
                <a16:creationId xmlns:a16="http://schemas.microsoft.com/office/drawing/2014/main" id="{2891D99A-B20A-D100-3ACA-390C158E9CAC}"/>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820123" y="6141119"/>
            <a:ext cx="1591929" cy="562803"/>
          </a:xfrm>
          <a:prstGeom prst="rect">
            <a:avLst/>
          </a:prstGeom>
        </p:spPr>
      </p:pic>
      <p:pic>
        <p:nvPicPr>
          <p:cNvPr id="5" name="Picture 4">
            <a:extLst>
              <a:ext uri="{FF2B5EF4-FFF2-40B4-BE49-F238E27FC236}">
                <a16:creationId xmlns:a16="http://schemas.microsoft.com/office/drawing/2014/main" id="{F0C857B7-9209-48BD-C56B-29C34C85BFB6}"/>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418700" y="6123460"/>
            <a:ext cx="983590" cy="607631"/>
          </a:xfrm>
          <a:prstGeom prst="rect">
            <a:avLst/>
          </a:prstGeom>
        </p:spPr>
      </p:pic>
      <p:pic>
        <p:nvPicPr>
          <p:cNvPr id="6" name="Picture 5" descr="A logo on a black background&#10;&#10;Description automatically generated">
            <a:extLst>
              <a:ext uri="{FF2B5EF4-FFF2-40B4-BE49-F238E27FC236}">
                <a16:creationId xmlns:a16="http://schemas.microsoft.com/office/drawing/2014/main" id="{6625561F-77D6-08E9-DD08-563F35F80EE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1300" t="19766" r="161" b="24546"/>
          <a:stretch/>
        </p:blipFill>
        <p:spPr>
          <a:xfrm>
            <a:off x="5634603" y="6141118"/>
            <a:ext cx="983590" cy="607872"/>
          </a:xfrm>
          <a:prstGeom prst="rect">
            <a:avLst/>
          </a:prstGeom>
        </p:spPr>
      </p:pic>
      <p:pic>
        <p:nvPicPr>
          <p:cNvPr id="8" name="Picture 7" descr="A logo with a globe and flags&#10;&#10;Description automatically generated">
            <a:extLst>
              <a:ext uri="{FF2B5EF4-FFF2-40B4-BE49-F238E27FC236}">
                <a16:creationId xmlns:a16="http://schemas.microsoft.com/office/drawing/2014/main" id="{A7DED024-E1DB-01B1-7501-75F931C895BD}"/>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8305269" y="6126738"/>
            <a:ext cx="568151" cy="609058"/>
          </a:xfrm>
          <a:prstGeom prst="rect">
            <a:avLst/>
          </a:prstGeom>
        </p:spPr>
      </p:pic>
      <p:sp>
        <p:nvSpPr>
          <p:cNvPr id="9" name="AutoShape 2" descr="A black background with red green and white letters&#10;&#10;Description automatically generated"/>
          <p:cNvSpPr>
            <a:spLocks noChangeAspect="1" noChangeArrowheads="1"/>
          </p:cNvSpPr>
          <p:nvPr userDrawn="1"/>
        </p:nvSpPr>
        <p:spPr bwMode="auto">
          <a:xfrm>
            <a:off x="212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4" descr="A black background with red green and white letters&#10;&#10;Description automatically generated"/>
          <p:cNvSpPr>
            <a:spLocks noChangeAspect="1" noChangeArrowheads="1"/>
          </p:cNvSpPr>
          <p:nvPr userDrawn="1"/>
        </p:nvSpPr>
        <p:spPr bwMode="auto">
          <a:xfrm>
            <a:off x="36512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6" descr="A black background with red green and white letters&#10;&#10;Description automatically generated"/>
          <p:cNvSpPr>
            <a:spLocks noChangeAspect="1" noChangeArrowheads="1"/>
          </p:cNvSpPr>
          <p:nvPr userDrawn="1"/>
        </p:nvSpPr>
        <p:spPr bwMode="auto">
          <a:xfrm>
            <a:off x="51752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8" descr="A black background with red green and white letters&#10;&#10;Description automatically generated"/>
          <p:cNvSpPr>
            <a:spLocks noChangeAspect="1" noChangeArrowheads="1"/>
          </p:cNvSpPr>
          <p:nvPr userDrawn="1"/>
        </p:nvSpPr>
        <p:spPr bwMode="auto">
          <a:xfrm>
            <a:off x="66992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10" descr="A black background with red green and white letters&#10;&#10;Description automatically generated"/>
          <p:cNvSpPr>
            <a:spLocks noChangeAspect="1" noChangeArrowheads="1"/>
          </p:cNvSpPr>
          <p:nvPr userDrawn="1"/>
        </p:nvSpPr>
        <p:spPr bwMode="auto">
          <a:xfrm>
            <a:off x="82232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12" descr="A black background with red green and white letters&#10;&#10;Description automatically generated"/>
          <p:cNvSpPr>
            <a:spLocks noChangeAspect="1" noChangeArrowheads="1"/>
          </p:cNvSpPr>
          <p:nvPr userDrawn="1"/>
        </p:nvSpPr>
        <p:spPr bwMode="auto">
          <a:xfrm>
            <a:off x="97472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5" name="Picture 14" descr="A close-up of a logo&#10;&#10;Description automatically generated">
            <a:extLst>
              <a:ext uri="{FF2B5EF4-FFF2-40B4-BE49-F238E27FC236}">
                <a16:creationId xmlns:a16="http://schemas.microsoft.com/office/drawing/2014/main" id="{A8BFA11C-7D06-798D-CABC-1597A9D54E95}"/>
              </a:ext>
            </a:extLst>
          </p:cNvPr>
          <p:cNvPicPr>
            <a:picLocks noChangeAspect="1"/>
          </p:cNvPicPr>
          <p:nvPr userDrawn="1"/>
        </p:nvPicPr>
        <p:blipFill>
          <a:blip r:embed="rId8"/>
          <a:stretch>
            <a:fillRect/>
          </a:stretch>
        </p:blipFill>
        <p:spPr>
          <a:xfrm>
            <a:off x="8232161" y="187567"/>
            <a:ext cx="3843955" cy="801680"/>
          </a:xfrm>
          <a:prstGeom prst="rect">
            <a:avLst/>
          </a:prstGeom>
        </p:spPr>
      </p:pic>
      <p:sp>
        <p:nvSpPr>
          <p:cNvPr id="18" name="Rectangle 17">
            <a:extLst>
              <a:ext uri="{FF2B5EF4-FFF2-40B4-BE49-F238E27FC236}">
                <a16:creationId xmlns:a16="http://schemas.microsoft.com/office/drawing/2014/main" id="{7005B131-D2A9-542D-360C-9CDD420315E5}"/>
              </a:ext>
            </a:extLst>
          </p:cNvPr>
          <p:cNvSpPr/>
          <p:nvPr userDrawn="1"/>
        </p:nvSpPr>
        <p:spPr>
          <a:xfrm>
            <a:off x="0" y="1080822"/>
            <a:ext cx="12192001" cy="4571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A400"/>
              </a:solidFill>
            </a:endParaRPr>
          </a:p>
        </p:txBody>
      </p:sp>
    </p:spTree>
    <p:extLst>
      <p:ext uri="{BB962C8B-B14F-4D97-AF65-F5344CB8AC3E}">
        <p14:creationId xmlns:p14="http://schemas.microsoft.com/office/powerpoint/2010/main" val="29623694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0071879-FE12-23E6-6632-187CB1D2B01F}"/>
              </a:ext>
            </a:extLst>
          </p:cNvPr>
          <p:cNvSpPr/>
          <p:nvPr userDrawn="1"/>
        </p:nvSpPr>
        <p:spPr>
          <a:xfrm>
            <a:off x="-5805" y="1286999"/>
            <a:ext cx="12192000" cy="467600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4" name="Rectangle 3">
            <a:extLst>
              <a:ext uri="{FF2B5EF4-FFF2-40B4-BE49-F238E27FC236}">
                <a16:creationId xmlns:a16="http://schemas.microsoft.com/office/drawing/2014/main" id="{03AC2BC7-E02D-7D62-342D-42E3759816A2}"/>
              </a:ext>
            </a:extLst>
          </p:cNvPr>
          <p:cNvSpPr/>
          <p:nvPr userDrawn="1"/>
        </p:nvSpPr>
        <p:spPr>
          <a:xfrm flipV="1">
            <a:off x="20052" y="5917282"/>
            <a:ext cx="12192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lion holding a spear and a shield with text&#10;&#10;Description automatically generated">
            <a:extLst>
              <a:ext uri="{FF2B5EF4-FFF2-40B4-BE49-F238E27FC236}">
                <a16:creationId xmlns:a16="http://schemas.microsoft.com/office/drawing/2014/main" id="{58AA3B24-9DD8-CC5E-84A8-45A1C999A98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9457" y="6141118"/>
            <a:ext cx="1591929" cy="562804"/>
          </a:xfrm>
          <a:prstGeom prst="rect">
            <a:avLst/>
          </a:prstGeom>
        </p:spPr>
      </p:pic>
      <p:pic>
        <p:nvPicPr>
          <p:cNvPr id="6" name="Picture 5" descr="A black rectangular sign with white text&#10;&#10;Description automatically generated">
            <a:extLst>
              <a:ext uri="{FF2B5EF4-FFF2-40B4-BE49-F238E27FC236}">
                <a16:creationId xmlns:a16="http://schemas.microsoft.com/office/drawing/2014/main" id="{F95F3D9F-B9C3-6AC1-369F-29921490AB1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20123" y="6141119"/>
            <a:ext cx="1591929" cy="562803"/>
          </a:xfrm>
          <a:prstGeom prst="rect">
            <a:avLst/>
          </a:prstGeom>
        </p:spPr>
      </p:pic>
      <p:pic>
        <p:nvPicPr>
          <p:cNvPr id="7" name="Picture 6">
            <a:extLst>
              <a:ext uri="{FF2B5EF4-FFF2-40B4-BE49-F238E27FC236}">
                <a16:creationId xmlns:a16="http://schemas.microsoft.com/office/drawing/2014/main" id="{FE8D8390-7DDE-82E0-58C0-BA87EB021A6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418700" y="6123460"/>
            <a:ext cx="983590" cy="607631"/>
          </a:xfrm>
          <a:prstGeom prst="rect">
            <a:avLst/>
          </a:prstGeom>
        </p:spPr>
      </p:pic>
      <p:pic>
        <p:nvPicPr>
          <p:cNvPr id="8" name="Picture 7" descr="A logo on a black background&#10;&#10;Description automatically generated">
            <a:extLst>
              <a:ext uri="{FF2B5EF4-FFF2-40B4-BE49-F238E27FC236}">
                <a16:creationId xmlns:a16="http://schemas.microsoft.com/office/drawing/2014/main" id="{2EB58242-B24D-A454-4E80-7E7ED6C3182E}"/>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1300" t="19766" r="161" b="24546"/>
          <a:stretch/>
        </p:blipFill>
        <p:spPr>
          <a:xfrm>
            <a:off x="5634603" y="6141118"/>
            <a:ext cx="983590" cy="607872"/>
          </a:xfrm>
          <a:prstGeom prst="rect">
            <a:avLst/>
          </a:prstGeom>
        </p:spPr>
      </p:pic>
      <p:pic>
        <p:nvPicPr>
          <p:cNvPr id="11" name="Picture 10" descr="A logo with a globe and flags&#10;&#10;Description automatically generated">
            <a:extLst>
              <a:ext uri="{FF2B5EF4-FFF2-40B4-BE49-F238E27FC236}">
                <a16:creationId xmlns:a16="http://schemas.microsoft.com/office/drawing/2014/main" id="{E7F88707-9797-53E1-194E-C97D6259B083}"/>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8305269" y="6126738"/>
            <a:ext cx="568151" cy="609058"/>
          </a:xfrm>
          <a:prstGeom prst="rect">
            <a:avLst/>
          </a:prstGeom>
        </p:spPr>
      </p:pic>
      <p:pic>
        <p:nvPicPr>
          <p:cNvPr id="16" name="Picture 15" descr="A blue rectangle with white border&#10;&#10;Description automatically generated">
            <a:extLst>
              <a:ext uri="{FF2B5EF4-FFF2-40B4-BE49-F238E27FC236}">
                <a16:creationId xmlns:a16="http://schemas.microsoft.com/office/drawing/2014/main" id="{AC1130E9-728F-ECFE-0ED0-189BACA7AFCE}"/>
              </a:ext>
            </a:extLst>
          </p:cNvPr>
          <p:cNvPicPr>
            <a:picLocks noChangeAspect="1"/>
          </p:cNvPicPr>
          <p:nvPr userDrawn="1"/>
        </p:nvPicPr>
        <p:blipFill rotWithShape="1">
          <a:blip r:embed="rId7"/>
          <a:srcRect r="14775"/>
          <a:stretch/>
        </p:blipFill>
        <p:spPr>
          <a:xfrm>
            <a:off x="0" y="109010"/>
            <a:ext cx="7832556" cy="1129426"/>
          </a:xfrm>
          <a:prstGeom prst="rect">
            <a:avLst/>
          </a:prstGeom>
        </p:spPr>
      </p:pic>
      <p:pic>
        <p:nvPicPr>
          <p:cNvPr id="17" name="Picture 16" descr="A close-up of a logo&#10;&#10;Description automatically generated">
            <a:extLst>
              <a:ext uri="{FF2B5EF4-FFF2-40B4-BE49-F238E27FC236}">
                <a16:creationId xmlns:a16="http://schemas.microsoft.com/office/drawing/2014/main" id="{B2349D29-AAF0-9C06-DDFA-8C8F363CE751}"/>
              </a:ext>
            </a:extLst>
          </p:cNvPr>
          <p:cNvPicPr>
            <a:picLocks noChangeAspect="1"/>
          </p:cNvPicPr>
          <p:nvPr userDrawn="1"/>
        </p:nvPicPr>
        <p:blipFill>
          <a:blip r:embed="rId8"/>
          <a:stretch>
            <a:fillRect/>
          </a:stretch>
        </p:blipFill>
        <p:spPr>
          <a:xfrm>
            <a:off x="7782933" y="167047"/>
            <a:ext cx="4271775" cy="890905"/>
          </a:xfrm>
          <a:prstGeom prst="rect">
            <a:avLst/>
          </a:prstGeom>
        </p:spPr>
      </p:pic>
      <p:sp>
        <p:nvSpPr>
          <p:cNvPr id="19" name="Rectangle 18">
            <a:extLst>
              <a:ext uri="{FF2B5EF4-FFF2-40B4-BE49-F238E27FC236}">
                <a16:creationId xmlns:a16="http://schemas.microsoft.com/office/drawing/2014/main" id="{DFC60BD3-C6B7-6258-A355-7C35D2523320}"/>
              </a:ext>
            </a:extLst>
          </p:cNvPr>
          <p:cNvSpPr/>
          <p:nvPr userDrawn="1"/>
        </p:nvSpPr>
        <p:spPr>
          <a:xfrm>
            <a:off x="0" y="1149616"/>
            <a:ext cx="12192001" cy="4571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A400"/>
              </a:solidFill>
            </a:endParaRPr>
          </a:p>
        </p:txBody>
      </p:sp>
    </p:spTree>
    <p:extLst>
      <p:ext uri="{BB962C8B-B14F-4D97-AF65-F5344CB8AC3E}">
        <p14:creationId xmlns:p14="http://schemas.microsoft.com/office/powerpoint/2010/main" val="97098256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161BD59-1E9E-11F1-CD76-A3C4DB0F2855}"/>
              </a:ext>
            </a:extLst>
          </p:cNvPr>
          <p:cNvSpPr/>
          <p:nvPr userDrawn="1"/>
        </p:nvSpPr>
        <p:spPr>
          <a:xfrm>
            <a:off x="0" y="1237662"/>
            <a:ext cx="12192000" cy="472534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3" name="Rectangle 2">
            <a:extLst>
              <a:ext uri="{FF2B5EF4-FFF2-40B4-BE49-F238E27FC236}">
                <a16:creationId xmlns:a16="http://schemas.microsoft.com/office/drawing/2014/main" id="{4E3EFC94-34A9-4DE0-71A9-994620DFA873}"/>
              </a:ext>
            </a:extLst>
          </p:cNvPr>
          <p:cNvSpPr/>
          <p:nvPr userDrawn="1"/>
        </p:nvSpPr>
        <p:spPr>
          <a:xfrm flipV="1">
            <a:off x="20052" y="5917282"/>
            <a:ext cx="12192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lion holding a spear and a shield with text&#10;&#10;Description automatically generated">
            <a:extLst>
              <a:ext uri="{FF2B5EF4-FFF2-40B4-BE49-F238E27FC236}">
                <a16:creationId xmlns:a16="http://schemas.microsoft.com/office/drawing/2014/main" id="{FB1500D0-7556-2B03-06DF-195A3289A7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9457" y="6141118"/>
            <a:ext cx="1591929" cy="562804"/>
          </a:xfrm>
          <a:prstGeom prst="rect">
            <a:avLst/>
          </a:prstGeom>
        </p:spPr>
      </p:pic>
      <p:pic>
        <p:nvPicPr>
          <p:cNvPr id="5" name="Picture 4" descr="A black rectangular sign with white text&#10;&#10;Description automatically generated">
            <a:extLst>
              <a:ext uri="{FF2B5EF4-FFF2-40B4-BE49-F238E27FC236}">
                <a16:creationId xmlns:a16="http://schemas.microsoft.com/office/drawing/2014/main" id="{F3EEB0D6-00D7-D632-55AB-DB9C2166244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20123" y="6141119"/>
            <a:ext cx="1591929" cy="562803"/>
          </a:xfrm>
          <a:prstGeom prst="rect">
            <a:avLst/>
          </a:prstGeom>
        </p:spPr>
      </p:pic>
      <p:pic>
        <p:nvPicPr>
          <p:cNvPr id="6" name="Picture 5">
            <a:extLst>
              <a:ext uri="{FF2B5EF4-FFF2-40B4-BE49-F238E27FC236}">
                <a16:creationId xmlns:a16="http://schemas.microsoft.com/office/drawing/2014/main" id="{0BFE79F0-8BBD-C007-47CE-B3412D51B5B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418700" y="6123460"/>
            <a:ext cx="983590" cy="607631"/>
          </a:xfrm>
          <a:prstGeom prst="rect">
            <a:avLst/>
          </a:prstGeom>
        </p:spPr>
      </p:pic>
      <p:pic>
        <p:nvPicPr>
          <p:cNvPr id="7" name="Picture 6" descr="A logo on a black background&#10;&#10;Description automatically generated">
            <a:extLst>
              <a:ext uri="{FF2B5EF4-FFF2-40B4-BE49-F238E27FC236}">
                <a16:creationId xmlns:a16="http://schemas.microsoft.com/office/drawing/2014/main" id="{6DEA57D0-7216-D995-31FC-F0EAB75E46AB}"/>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1300" t="19766" r="161" b="24546"/>
          <a:stretch/>
        </p:blipFill>
        <p:spPr>
          <a:xfrm>
            <a:off x="5634603" y="6141118"/>
            <a:ext cx="983590" cy="607872"/>
          </a:xfrm>
          <a:prstGeom prst="rect">
            <a:avLst/>
          </a:prstGeom>
        </p:spPr>
      </p:pic>
      <p:pic>
        <p:nvPicPr>
          <p:cNvPr id="8" name="Picture 7" descr="A logo with a globe and flags&#10;&#10;Description automatically generated">
            <a:extLst>
              <a:ext uri="{FF2B5EF4-FFF2-40B4-BE49-F238E27FC236}">
                <a16:creationId xmlns:a16="http://schemas.microsoft.com/office/drawing/2014/main" id="{60B2B914-ADF4-133A-15E3-BB743F6CA3AB}"/>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8305269" y="6126738"/>
            <a:ext cx="568151" cy="609058"/>
          </a:xfrm>
          <a:prstGeom prst="rect">
            <a:avLst/>
          </a:prstGeom>
        </p:spPr>
      </p:pic>
      <p:sp>
        <p:nvSpPr>
          <p:cNvPr id="2" name="AutoShape 2" descr="A black background with red green and white letters&#10;&#10;Description automatically generated"/>
          <p:cNvSpPr>
            <a:spLocks noChangeAspect="1" noChangeArrowheads="1"/>
          </p:cNvSpPr>
          <p:nvPr userDrawn="1"/>
        </p:nvSpPr>
        <p:spPr bwMode="auto">
          <a:xfrm>
            <a:off x="21272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5" name="Picture 14" descr="A blue rectangle with white border&#10;&#10;Description automatically generated">
            <a:extLst>
              <a:ext uri="{FF2B5EF4-FFF2-40B4-BE49-F238E27FC236}">
                <a16:creationId xmlns:a16="http://schemas.microsoft.com/office/drawing/2014/main" id="{6610B005-DBFE-D80F-4132-BD084C30DC40}"/>
              </a:ext>
            </a:extLst>
          </p:cNvPr>
          <p:cNvPicPr>
            <a:picLocks noChangeAspect="1"/>
          </p:cNvPicPr>
          <p:nvPr userDrawn="1"/>
        </p:nvPicPr>
        <p:blipFill rotWithShape="1">
          <a:blip r:embed="rId7"/>
          <a:srcRect r="14775"/>
          <a:stretch/>
        </p:blipFill>
        <p:spPr>
          <a:xfrm>
            <a:off x="0" y="108235"/>
            <a:ext cx="7832556" cy="1129426"/>
          </a:xfrm>
          <a:prstGeom prst="rect">
            <a:avLst/>
          </a:prstGeom>
        </p:spPr>
      </p:pic>
      <p:pic>
        <p:nvPicPr>
          <p:cNvPr id="17" name="Picture 16" descr="A close-up of a logo&#10;&#10;Description automatically generated">
            <a:extLst>
              <a:ext uri="{FF2B5EF4-FFF2-40B4-BE49-F238E27FC236}">
                <a16:creationId xmlns:a16="http://schemas.microsoft.com/office/drawing/2014/main" id="{C84BA3EB-A978-6311-D8D5-B431CF9130F7}"/>
              </a:ext>
            </a:extLst>
          </p:cNvPr>
          <p:cNvPicPr>
            <a:picLocks noChangeAspect="1"/>
          </p:cNvPicPr>
          <p:nvPr userDrawn="1"/>
        </p:nvPicPr>
        <p:blipFill>
          <a:blip r:embed="rId8"/>
          <a:stretch>
            <a:fillRect/>
          </a:stretch>
        </p:blipFill>
        <p:spPr>
          <a:xfrm>
            <a:off x="7799502" y="131495"/>
            <a:ext cx="4271775" cy="890905"/>
          </a:xfrm>
          <a:prstGeom prst="rect">
            <a:avLst/>
          </a:prstGeom>
        </p:spPr>
      </p:pic>
      <p:sp>
        <p:nvSpPr>
          <p:cNvPr id="18" name="Rectangle 17">
            <a:extLst>
              <a:ext uri="{FF2B5EF4-FFF2-40B4-BE49-F238E27FC236}">
                <a16:creationId xmlns:a16="http://schemas.microsoft.com/office/drawing/2014/main" id="{BBAA90BF-901C-C2CC-BE75-631D3BB4BB18}"/>
              </a:ext>
            </a:extLst>
          </p:cNvPr>
          <p:cNvSpPr/>
          <p:nvPr userDrawn="1"/>
        </p:nvSpPr>
        <p:spPr>
          <a:xfrm>
            <a:off x="0" y="1080822"/>
            <a:ext cx="12192001" cy="4571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A400"/>
              </a:solidFill>
            </a:endParaRPr>
          </a:p>
        </p:txBody>
      </p:sp>
    </p:spTree>
    <p:extLst>
      <p:ext uri="{BB962C8B-B14F-4D97-AF65-F5344CB8AC3E}">
        <p14:creationId xmlns:p14="http://schemas.microsoft.com/office/powerpoint/2010/main" val="240829742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0" name="Parallelogram 19">
            <a:extLst>
              <a:ext uri="{FF2B5EF4-FFF2-40B4-BE49-F238E27FC236}">
                <a16:creationId xmlns:a16="http://schemas.microsoft.com/office/drawing/2014/main" id="{7F0ED01A-F421-A60E-9873-FA45A29635F5}"/>
              </a:ext>
            </a:extLst>
          </p:cNvPr>
          <p:cNvSpPr/>
          <p:nvPr userDrawn="1"/>
        </p:nvSpPr>
        <p:spPr>
          <a:xfrm>
            <a:off x="5722324" y="299198"/>
            <a:ext cx="995341" cy="801681"/>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rPr>
              <a:t>  </a:t>
            </a:r>
          </a:p>
        </p:txBody>
      </p:sp>
      <p:sp>
        <p:nvSpPr>
          <p:cNvPr id="26" name="Parallelogram 25">
            <a:extLst>
              <a:ext uri="{FF2B5EF4-FFF2-40B4-BE49-F238E27FC236}">
                <a16:creationId xmlns:a16="http://schemas.microsoft.com/office/drawing/2014/main" id="{B145BECA-2020-611B-2015-2A24F6E838E1}"/>
              </a:ext>
            </a:extLst>
          </p:cNvPr>
          <p:cNvSpPr/>
          <p:nvPr userDrawn="1"/>
        </p:nvSpPr>
        <p:spPr>
          <a:xfrm rot="10800000">
            <a:off x="11402290" y="86603"/>
            <a:ext cx="452826" cy="581694"/>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7" name="Rectangle 26">
            <a:extLst>
              <a:ext uri="{FF2B5EF4-FFF2-40B4-BE49-F238E27FC236}">
                <a16:creationId xmlns:a16="http://schemas.microsoft.com/office/drawing/2014/main" id="{17B3AFBF-147F-E0CF-B606-9CEC7C4767FF}"/>
              </a:ext>
            </a:extLst>
          </p:cNvPr>
          <p:cNvSpPr/>
          <p:nvPr userDrawn="1"/>
        </p:nvSpPr>
        <p:spPr>
          <a:xfrm>
            <a:off x="11678653" y="86603"/>
            <a:ext cx="513347" cy="5816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C6A2C68-7239-70B8-FEF4-90C3A614C4E8}"/>
              </a:ext>
            </a:extLst>
          </p:cNvPr>
          <p:cNvSpPr/>
          <p:nvPr userDrawn="1"/>
        </p:nvSpPr>
        <p:spPr>
          <a:xfrm>
            <a:off x="0" y="1237661"/>
            <a:ext cx="12192000" cy="467962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sp>
        <p:nvSpPr>
          <p:cNvPr id="4" name="Rectangle 3">
            <a:extLst>
              <a:ext uri="{FF2B5EF4-FFF2-40B4-BE49-F238E27FC236}">
                <a16:creationId xmlns:a16="http://schemas.microsoft.com/office/drawing/2014/main" id="{D1CC6E0F-7419-1B87-3F71-4E5F1B81F93B}"/>
              </a:ext>
            </a:extLst>
          </p:cNvPr>
          <p:cNvSpPr/>
          <p:nvPr userDrawn="1"/>
        </p:nvSpPr>
        <p:spPr>
          <a:xfrm flipV="1">
            <a:off x="20052" y="5917282"/>
            <a:ext cx="12192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lion holding a spear and a shield with text&#10;&#10;Description automatically generated">
            <a:extLst>
              <a:ext uri="{FF2B5EF4-FFF2-40B4-BE49-F238E27FC236}">
                <a16:creationId xmlns:a16="http://schemas.microsoft.com/office/drawing/2014/main" id="{0CE20A23-515C-FEC6-47CE-360BD6D3967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9457" y="6141118"/>
            <a:ext cx="1591929" cy="562804"/>
          </a:xfrm>
          <a:prstGeom prst="rect">
            <a:avLst/>
          </a:prstGeom>
        </p:spPr>
      </p:pic>
      <p:pic>
        <p:nvPicPr>
          <p:cNvPr id="6" name="Picture 5" descr="A black rectangular sign with white text&#10;&#10;Description automatically generated">
            <a:extLst>
              <a:ext uri="{FF2B5EF4-FFF2-40B4-BE49-F238E27FC236}">
                <a16:creationId xmlns:a16="http://schemas.microsoft.com/office/drawing/2014/main" id="{F75A7F98-554E-57F5-F539-5EEE21E5363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20123" y="6141119"/>
            <a:ext cx="1591929" cy="562803"/>
          </a:xfrm>
          <a:prstGeom prst="rect">
            <a:avLst/>
          </a:prstGeom>
        </p:spPr>
      </p:pic>
      <p:pic>
        <p:nvPicPr>
          <p:cNvPr id="8" name="Picture 7">
            <a:extLst>
              <a:ext uri="{FF2B5EF4-FFF2-40B4-BE49-F238E27FC236}">
                <a16:creationId xmlns:a16="http://schemas.microsoft.com/office/drawing/2014/main" id="{0DE829BD-53FD-2878-178A-F0D76A875B38}"/>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418700" y="6123460"/>
            <a:ext cx="983590" cy="607631"/>
          </a:xfrm>
          <a:prstGeom prst="rect">
            <a:avLst/>
          </a:prstGeom>
        </p:spPr>
      </p:pic>
      <p:pic>
        <p:nvPicPr>
          <p:cNvPr id="9" name="Picture 8" descr="A logo on a black background&#10;&#10;Description automatically generated">
            <a:extLst>
              <a:ext uri="{FF2B5EF4-FFF2-40B4-BE49-F238E27FC236}">
                <a16:creationId xmlns:a16="http://schemas.microsoft.com/office/drawing/2014/main" id="{CC47A60A-8484-C10B-ED16-7B490DBEA046}"/>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1300" t="19766" r="161" b="24546"/>
          <a:stretch/>
        </p:blipFill>
        <p:spPr>
          <a:xfrm>
            <a:off x="5634603" y="6141118"/>
            <a:ext cx="983590" cy="607872"/>
          </a:xfrm>
          <a:prstGeom prst="rect">
            <a:avLst/>
          </a:prstGeom>
        </p:spPr>
      </p:pic>
      <p:pic>
        <p:nvPicPr>
          <p:cNvPr id="10" name="Picture 9" descr="A logo with a globe and flags&#10;&#10;Description automatically generated">
            <a:extLst>
              <a:ext uri="{FF2B5EF4-FFF2-40B4-BE49-F238E27FC236}">
                <a16:creationId xmlns:a16="http://schemas.microsoft.com/office/drawing/2014/main" id="{3D4ADBED-1DA0-13DF-BFE0-2DDB1543E5C7}"/>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8305269" y="6126738"/>
            <a:ext cx="568151" cy="609058"/>
          </a:xfrm>
          <a:prstGeom prst="rect">
            <a:avLst/>
          </a:prstGeom>
        </p:spPr>
      </p:pic>
      <p:pic>
        <p:nvPicPr>
          <p:cNvPr id="16" name="Picture 15">
            <a:extLst>
              <a:ext uri="{FF2B5EF4-FFF2-40B4-BE49-F238E27FC236}">
                <a16:creationId xmlns:a16="http://schemas.microsoft.com/office/drawing/2014/main" id="{73A0C874-E791-2754-986E-DA59EBEA6E03}"/>
              </a:ext>
            </a:extLst>
          </p:cNvPr>
          <p:cNvPicPr>
            <a:picLocks noChangeAspect="1"/>
          </p:cNvPicPr>
          <p:nvPr userDrawn="1"/>
        </p:nvPicPr>
        <p:blipFill rotWithShape="1">
          <a:blip r:embed="rId7"/>
          <a:srcRect t="5053" r="9055"/>
          <a:stretch/>
        </p:blipFill>
        <p:spPr>
          <a:xfrm>
            <a:off x="-1" y="202212"/>
            <a:ext cx="8164186" cy="935968"/>
          </a:xfrm>
          <a:prstGeom prst="rect">
            <a:avLst/>
          </a:prstGeom>
        </p:spPr>
      </p:pic>
      <p:pic>
        <p:nvPicPr>
          <p:cNvPr id="19" name="Picture 18" descr="A close-up of a logo&#10;&#10;Description automatically generated">
            <a:extLst>
              <a:ext uri="{FF2B5EF4-FFF2-40B4-BE49-F238E27FC236}">
                <a16:creationId xmlns:a16="http://schemas.microsoft.com/office/drawing/2014/main" id="{6C0F4F3F-7F26-1FE5-9E62-7E3EF8FB50F2}"/>
              </a:ext>
            </a:extLst>
          </p:cNvPr>
          <p:cNvPicPr>
            <a:picLocks noChangeAspect="1"/>
          </p:cNvPicPr>
          <p:nvPr userDrawn="1"/>
        </p:nvPicPr>
        <p:blipFill>
          <a:blip r:embed="rId8"/>
          <a:stretch>
            <a:fillRect/>
          </a:stretch>
        </p:blipFill>
        <p:spPr>
          <a:xfrm>
            <a:off x="8232161" y="187567"/>
            <a:ext cx="3843955" cy="801680"/>
          </a:xfrm>
          <a:prstGeom prst="rect">
            <a:avLst/>
          </a:prstGeom>
        </p:spPr>
      </p:pic>
      <p:sp>
        <p:nvSpPr>
          <p:cNvPr id="21" name="Rectangle 20">
            <a:extLst>
              <a:ext uri="{FF2B5EF4-FFF2-40B4-BE49-F238E27FC236}">
                <a16:creationId xmlns:a16="http://schemas.microsoft.com/office/drawing/2014/main" id="{3CFF0A14-2E50-7955-A6F8-FC0D122BE9D8}"/>
              </a:ext>
            </a:extLst>
          </p:cNvPr>
          <p:cNvSpPr/>
          <p:nvPr userDrawn="1"/>
        </p:nvSpPr>
        <p:spPr>
          <a:xfrm>
            <a:off x="0" y="1080822"/>
            <a:ext cx="12192001" cy="4571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A400"/>
              </a:solidFill>
            </a:endParaRPr>
          </a:p>
        </p:txBody>
      </p:sp>
    </p:spTree>
    <p:extLst>
      <p:ext uri="{BB962C8B-B14F-4D97-AF65-F5344CB8AC3E}">
        <p14:creationId xmlns:p14="http://schemas.microsoft.com/office/powerpoint/2010/main" val="301254153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FDE20-59D7-2170-E7A3-EC439C89FD8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x-none"/>
          </a:p>
        </p:txBody>
      </p:sp>
      <p:sp>
        <p:nvSpPr>
          <p:cNvPr id="3" name="Text Placeholder 2">
            <a:extLst>
              <a:ext uri="{FF2B5EF4-FFF2-40B4-BE49-F238E27FC236}">
                <a16:creationId xmlns:a16="http://schemas.microsoft.com/office/drawing/2014/main" id="{8BCB9A4C-8509-8261-3B3E-60047154E1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3B76582-B084-F1CB-D400-1B09A24071F9}"/>
              </a:ext>
            </a:extLst>
          </p:cNvPr>
          <p:cNvSpPr>
            <a:spLocks noGrp="1"/>
          </p:cNvSpPr>
          <p:nvPr>
            <p:ph type="dt" sz="half" idx="10"/>
          </p:nvPr>
        </p:nvSpPr>
        <p:spPr/>
        <p:txBody>
          <a:bodyPr/>
          <a:lstStyle/>
          <a:p>
            <a:fld id="{D1028508-28C4-444E-B522-D804D5355C6F}" type="datetimeFigureOut">
              <a:rPr lang="x-none" smtClean="0"/>
              <a:t>28-Sep-25</a:t>
            </a:fld>
            <a:endParaRPr lang="x-none"/>
          </a:p>
        </p:txBody>
      </p:sp>
      <p:sp>
        <p:nvSpPr>
          <p:cNvPr id="5" name="Footer Placeholder 4">
            <a:extLst>
              <a:ext uri="{FF2B5EF4-FFF2-40B4-BE49-F238E27FC236}">
                <a16:creationId xmlns:a16="http://schemas.microsoft.com/office/drawing/2014/main" id="{7974ABFC-9AD3-CA42-CBBD-2EF2E8D00E26}"/>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40DB2BB0-AD20-A507-55D7-062A60A45101}"/>
              </a:ext>
            </a:extLst>
          </p:cNvPr>
          <p:cNvSpPr>
            <a:spLocks noGrp="1"/>
          </p:cNvSpPr>
          <p:nvPr>
            <p:ph type="sldNum" sz="quarter" idx="12"/>
          </p:nvPr>
        </p:nvSpPr>
        <p:spPr/>
        <p:txBody>
          <a:bodyPr/>
          <a:lstStyle/>
          <a:p>
            <a:fld id="{93013F5B-0CB8-284D-B88B-2C9766842346}" type="slidenum">
              <a:rPr lang="x-none" smtClean="0"/>
              <a:t>‹#›</a:t>
            </a:fld>
            <a:endParaRPr lang="x-none"/>
          </a:p>
        </p:txBody>
      </p:sp>
    </p:spTree>
    <p:extLst>
      <p:ext uri="{BB962C8B-B14F-4D97-AF65-F5344CB8AC3E}">
        <p14:creationId xmlns:p14="http://schemas.microsoft.com/office/powerpoint/2010/main" val="277440483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9FD25C9-E86F-B24A-2E09-38DADE2301C4}"/>
              </a:ext>
            </a:extLst>
          </p:cNvPr>
          <p:cNvSpPr/>
          <p:nvPr userDrawn="1"/>
        </p:nvSpPr>
        <p:spPr>
          <a:xfrm>
            <a:off x="-77551" y="-53158"/>
            <a:ext cx="6546683" cy="170814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2E5E826-D724-2D8D-3EF0-19277E8F644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5147" b="29543"/>
          <a:stretch/>
        </p:blipFill>
        <p:spPr>
          <a:xfrm>
            <a:off x="-95109" y="1233793"/>
            <a:ext cx="6567254" cy="5630092"/>
          </a:xfrm>
          <a:prstGeom prst="rect">
            <a:avLst/>
          </a:prstGeom>
        </p:spPr>
      </p:pic>
      <p:sp>
        <p:nvSpPr>
          <p:cNvPr id="10" name="Title 4">
            <a:extLst>
              <a:ext uri="{FF2B5EF4-FFF2-40B4-BE49-F238E27FC236}">
                <a16:creationId xmlns:a16="http://schemas.microsoft.com/office/drawing/2014/main" id="{5AED0AF9-F474-D247-4F03-B2FF92977694}"/>
              </a:ext>
            </a:extLst>
          </p:cNvPr>
          <p:cNvSpPr txBox="1">
            <a:spLocks/>
          </p:cNvSpPr>
          <p:nvPr userDrawn="1"/>
        </p:nvSpPr>
        <p:spPr>
          <a:xfrm>
            <a:off x="577062" y="304499"/>
            <a:ext cx="5281169" cy="111064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000" b="1" dirty="0">
                <a:solidFill>
                  <a:srgbClr val="FF0000"/>
                </a:solidFill>
                <a:latin typeface="CorisandeBold" charset="0"/>
                <a:ea typeface="CorisandeBold" charset="0"/>
                <a:cs typeface="CorisandeBold" charset="0"/>
              </a:rPr>
              <a:t>Thank</a:t>
            </a:r>
            <a:r>
              <a:rPr lang="en-US" sz="8000" b="1" dirty="0">
                <a:latin typeface="CorisandeBold" charset="0"/>
                <a:ea typeface="CorisandeBold" charset="0"/>
                <a:cs typeface="CorisandeBold" charset="0"/>
              </a:rPr>
              <a:t> </a:t>
            </a:r>
            <a:r>
              <a:rPr lang="en-US" sz="8000" b="1" dirty="0">
                <a:solidFill>
                  <a:srgbClr val="A3B54A"/>
                </a:solidFill>
                <a:latin typeface="CorisandeBold" charset="0"/>
                <a:ea typeface="CorisandeBold" charset="0"/>
                <a:cs typeface="CorisandeBold" charset="0"/>
              </a:rPr>
              <a:t>You</a:t>
            </a:r>
          </a:p>
        </p:txBody>
      </p:sp>
      <p:pic>
        <p:nvPicPr>
          <p:cNvPr id="11" name="Picture 10" descr="A black rectangular sign with white text&#10;&#10;Description automatically generated">
            <a:extLst>
              <a:ext uri="{FF2B5EF4-FFF2-40B4-BE49-F238E27FC236}">
                <a16:creationId xmlns:a16="http://schemas.microsoft.com/office/drawing/2014/main" id="{F48DAD6F-D0BF-B1D6-A82B-5C8842037F2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542989" y="574390"/>
            <a:ext cx="2563239" cy="906196"/>
          </a:xfrm>
          <a:prstGeom prst="rect">
            <a:avLst/>
          </a:prstGeom>
        </p:spPr>
      </p:pic>
      <p:pic>
        <p:nvPicPr>
          <p:cNvPr id="12" name="Picture 11" descr="A lion holding a spear and a shield with text&#10;&#10;Description automatically generated">
            <a:extLst>
              <a:ext uri="{FF2B5EF4-FFF2-40B4-BE49-F238E27FC236}">
                <a16:creationId xmlns:a16="http://schemas.microsoft.com/office/drawing/2014/main" id="{42EA21C3-59E1-EE69-5617-2C96E4C7564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535160" y="660916"/>
            <a:ext cx="2380888" cy="841728"/>
          </a:xfrm>
          <a:prstGeom prst="rect">
            <a:avLst/>
          </a:prstGeom>
        </p:spPr>
      </p:pic>
      <p:pic>
        <p:nvPicPr>
          <p:cNvPr id="17" name="Picture 16">
            <a:extLst>
              <a:ext uri="{FF2B5EF4-FFF2-40B4-BE49-F238E27FC236}">
                <a16:creationId xmlns:a16="http://schemas.microsoft.com/office/drawing/2014/main" id="{93AE7AAC-D97E-783A-7A5F-9AB7CE575AAA}"/>
              </a:ext>
            </a:extLst>
          </p:cNvPr>
          <p:cNvPicPr>
            <a:picLocks noChangeAspect="1"/>
          </p:cNvPicPr>
          <p:nvPr userDrawn="1"/>
        </p:nvPicPr>
        <p:blipFill>
          <a:blip r:embed="rId5"/>
          <a:stretch>
            <a:fillRect/>
          </a:stretch>
        </p:blipFill>
        <p:spPr>
          <a:xfrm flipV="1">
            <a:off x="7019188" y="6519378"/>
            <a:ext cx="4861588" cy="45719"/>
          </a:xfrm>
          <a:prstGeom prst="rect">
            <a:avLst/>
          </a:prstGeom>
        </p:spPr>
      </p:pic>
      <p:pic>
        <p:nvPicPr>
          <p:cNvPr id="4" name="Picture 3">
            <a:extLst>
              <a:ext uri="{FF2B5EF4-FFF2-40B4-BE49-F238E27FC236}">
                <a16:creationId xmlns:a16="http://schemas.microsoft.com/office/drawing/2014/main" id="{5AA4667E-1C5F-19B7-DE5C-AAF2959313B1}"/>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462359" y="2203527"/>
            <a:ext cx="1498399" cy="925664"/>
          </a:xfrm>
          <a:prstGeom prst="rect">
            <a:avLst/>
          </a:prstGeom>
        </p:spPr>
      </p:pic>
      <p:pic>
        <p:nvPicPr>
          <p:cNvPr id="5" name="Picture 4" descr="A logo on a black background&#10;&#10;Description automatically generated">
            <a:extLst>
              <a:ext uri="{FF2B5EF4-FFF2-40B4-BE49-F238E27FC236}">
                <a16:creationId xmlns:a16="http://schemas.microsoft.com/office/drawing/2014/main" id="{A4DEDF51-3E44-BE6D-750C-B60AD397F02A}"/>
              </a:ext>
            </a:extLst>
          </p:cNvPr>
          <p:cNvPicPr>
            <a:picLocks noChangeAspect="1"/>
          </p:cNvPicPr>
          <p:nvPr userDrawn="1"/>
        </p:nvPicPr>
        <p:blipFill rotWithShape="1">
          <a:blip r:embed="rId7">
            <a:extLst>
              <a:ext uri="{28A0092B-C50C-407E-A947-70E740481C1C}">
                <a14:useLocalDpi xmlns:a14="http://schemas.microsoft.com/office/drawing/2010/main" val="0"/>
              </a:ext>
            </a:extLst>
          </a:blip>
          <a:srcRect l="1300" t="19766" r="161" b="24546"/>
          <a:stretch/>
        </p:blipFill>
        <p:spPr>
          <a:xfrm>
            <a:off x="6785615" y="2229417"/>
            <a:ext cx="1447615" cy="894646"/>
          </a:xfrm>
          <a:prstGeom prst="rect">
            <a:avLst/>
          </a:prstGeom>
        </p:spPr>
      </p:pic>
      <p:pic>
        <p:nvPicPr>
          <p:cNvPr id="6" name="Picture 5" descr="A logo with a globe and flags&#10;&#10;Description automatically generated">
            <a:extLst>
              <a:ext uri="{FF2B5EF4-FFF2-40B4-BE49-F238E27FC236}">
                <a16:creationId xmlns:a16="http://schemas.microsoft.com/office/drawing/2014/main" id="{0649CDFC-C0F6-1E49-FCE6-2203E8A5231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8916048" y="2234900"/>
            <a:ext cx="863493" cy="925664"/>
          </a:xfrm>
          <a:prstGeom prst="rect">
            <a:avLst/>
          </a:prstGeom>
        </p:spPr>
      </p:pic>
      <p:pic>
        <p:nvPicPr>
          <p:cNvPr id="18" name="Picture 17" descr="A logo with green letters and a black background&#10;&#10;Description automatically generated">
            <a:extLst>
              <a:ext uri="{FF2B5EF4-FFF2-40B4-BE49-F238E27FC236}">
                <a16:creationId xmlns:a16="http://schemas.microsoft.com/office/drawing/2014/main" id="{E99E9AA1-5052-3FE5-4FD4-BD3249AAFABA}"/>
              </a:ext>
            </a:extLst>
          </p:cNvPr>
          <p:cNvPicPr>
            <a:picLocks noChangeAspect="1"/>
          </p:cNvPicPr>
          <p:nvPr userDrawn="1"/>
        </p:nvPicPr>
        <p:blipFill>
          <a:blip r:embed="rId9"/>
          <a:stretch>
            <a:fillRect/>
          </a:stretch>
        </p:blipFill>
        <p:spPr>
          <a:xfrm>
            <a:off x="8943682" y="4745900"/>
            <a:ext cx="1012599" cy="448983"/>
          </a:xfrm>
          <a:prstGeom prst="rect">
            <a:avLst/>
          </a:prstGeom>
        </p:spPr>
      </p:pic>
      <p:pic>
        <p:nvPicPr>
          <p:cNvPr id="20" name="Picture 19" descr="A black and white logo&#10;&#10;Description automatically generated">
            <a:extLst>
              <a:ext uri="{FF2B5EF4-FFF2-40B4-BE49-F238E27FC236}">
                <a16:creationId xmlns:a16="http://schemas.microsoft.com/office/drawing/2014/main" id="{97548F84-88DB-D35A-6D6F-2304222AC5C5}"/>
              </a:ext>
            </a:extLst>
          </p:cNvPr>
          <p:cNvPicPr>
            <a:picLocks noChangeAspect="1"/>
          </p:cNvPicPr>
          <p:nvPr userDrawn="1"/>
        </p:nvPicPr>
        <p:blipFill>
          <a:blip r:embed="rId10"/>
          <a:stretch>
            <a:fillRect/>
          </a:stretch>
        </p:blipFill>
        <p:spPr>
          <a:xfrm>
            <a:off x="7019189" y="4801846"/>
            <a:ext cx="1285788" cy="312033"/>
          </a:xfrm>
          <a:prstGeom prst="rect">
            <a:avLst/>
          </a:prstGeom>
        </p:spPr>
      </p:pic>
      <p:pic>
        <p:nvPicPr>
          <p:cNvPr id="22" name="Picture 21" descr="A red and green sign with a black background&#10;&#10;Description automatically generated">
            <a:extLst>
              <a:ext uri="{FF2B5EF4-FFF2-40B4-BE49-F238E27FC236}">
                <a16:creationId xmlns:a16="http://schemas.microsoft.com/office/drawing/2014/main" id="{79E75FB0-FF3F-8081-1DA7-E5952638543F}"/>
              </a:ext>
            </a:extLst>
          </p:cNvPr>
          <p:cNvPicPr>
            <a:picLocks noChangeAspect="1"/>
          </p:cNvPicPr>
          <p:nvPr userDrawn="1"/>
        </p:nvPicPr>
        <p:blipFill>
          <a:blip r:embed="rId11"/>
          <a:stretch>
            <a:fillRect/>
          </a:stretch>
        </p:blipFill>
        <p:spPr>
          <a:xfrm>
            <a:off x="8700781" y="5488460"/>
            <a:ext cx="1498399" cy="490260"/>
          </a:xfrm>
          <a:prstGeom prst="rect">
            <a:avLst/>
          </a:prstGeom>
        </p:spPr>
      </p:pic>
      <p:pic>
        <p:nvPicPr>
          <p:cNvPr id="24" name="Picture 23">
            <a:extLst>
              <a:ext uri="{FF2B5EF4-FFF2-40B4-BE49-F238E27FC236}">
                <a16:creationId xmlns:a16="http://schemas.microsoft.com/office/drawing/2014/main" id="{513F41E1-188D-EF49-1010-02DED0A12D6A}"/>
              </a:ext>
            </a:extLst>
          </p:cNvPr>
          <p:cNvPicPr>
            <a:picLocks noChangeAspect="1"/>
          </p:cNvPicPr>
          <p:nvPr userDrawn="1"/>
        </p:nvPicPr>
        <p:blipFill>
          <a:blip r:embed="rId12"/>
          <a:stretch>
            <a:fillRect/>
          </a:stretch>
        </p:blipFill>
        <p:spPr>
          <a:xfrm>
            <a:off x="10382377" y="4731184"/>
            <a:ext cx="1498399" cy="539678"/>
          </a:xfrm>
          <a:prstGeom prst="rect">
            <a:avLst/>
          </a:prstGeom>
        </p:spPr>
      </p:pic>
      <p:sp>
        <p:nvSpPr>
          <p:cNvPr id="25" name="Rectangle 24">
            <a:extLst>
              <a:ext uri="{FF2B5EF4-FFF2-40B4-BE49-F238E27FC236}">
                <a16:creationId xmlns:a16="http://schemas.microsoft.com/office/drawing/2014/main" id="{D88E318B-74AF-A51F-B9F4-87913A308027}"/>
              </a:ext>
            </a:extLst>
          </p:cNvPr>
          <p:cNvSpPr/>
          <p:nvPr userDrawn="1"/>
        </p:nvSpPr>
        <p:spPr>
          <a:xfrm flipV="1">
            <a:off x="6972779" y="4016829"/>
            <a:ext cx="4861588" cy="45719"/>
          </a:xfrm>
          <a:prstGeom prst="rect">
            <a:avLst/>
          </a:prstGeom>
          <a:solidFill>
            <a:srgbClr val="CF1F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solidFill>
                <a:srgbClr val="CF1F41"/>
              </a:solidFill>
            </a:endParaRPr>
          </a:p>
        </p:txBody>
      </p:sp>
      <p:pic>
        <p:nvPicPr>
          <p:cNvPr id="13" name="Picture 12" descr="A close-up of a logo&#10;&#10;Description automatically generated">
            <a:extLst>
              <a:ext uri="{FF2B5EF4-FFF2-40B4-BE49-F238E27FC236}">
                <a16:creationId xmlns:a16="http://schemas.microsoft.com/office/drawing/2014/main" id="{27133082-0F3A-1DC0-5C83-83B6534F0DFC}"/>
              </a:ext>
            </a:extLst>
          </p:cNvPr>
          <p:cNvPicPr>
            <a:picLocks noChangeAspect="1"/>
          </p:cNvPicPr>
          <p:nvPr userDrawn="1"/>
        </p:nvPicPr>
        <p:blipFill>
          <a:blip r:embed="rId13"/>
          <a:stretch>
            <a:fillRect/>
          </a:stretch>
        </p:blipFill>
        <p:spPr>
          <a:xfrm>
            <a:off x="1432023" y="1534547"/>
            <a:ext cx="3682526" cy="768013"/>
          </a:xfrm>
          <a:prstGeom prst="rect">
            <a:avLst/>
          </a:prstGeom>
        </p:spPr>
      </p:pic>
    </p:spTree>
    <p:extLst>
      <p:ext uri="{BB962C8B-B14F-4D97-AF65-F5344CB8AC3E}">
        <p14:creationId xmlns:p14="http://schemas.microsoft.com/office/powerpoint/2010/main" val="2447297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5" Type="http://schemas.openxmlformats.org/officeDocument/2006/relationships/slideLayout" Target="../slideLayouts/slideLayout32.xml"/><Relationship Id="rId4" Type="http://schemas.openxmlformats.org/officeDocument/2006/relationships/slideLayout" Target="../slideLayouts/slideLayout31.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48B17C-620D-A957-2F62-BA0106BA9E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x-none"/>
          </a:p>
        </p:txBody>
      </p:sp>
      <p:sp>
        <p:nvSpPr>
          <p:cNvPr id="3" name="Text Placeholder 2">
            <a:extLst>
              <a:ext uri="{FF2B5EF4-FFF2-40B4-BE49-F238E27FC236}">
                <a16:creationId xmlns:a16="http://schemas.microsoft.com/office/drawing/2014/main" id="{23D107B7-9ADA-6EB4-C74C-85CC7388F0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Date Placeholder 3">
            <a:extLst>
              <a:ext uri="{FF2B5EF4-FFF2-40B4-BE49-F238E27FC236}">
                <a16:creationId xmlns:a16="http://schemas.microsoft.com/office/drawing/2014/main" id="{0AE0F61F-60CF-CA76-5A14-F005141212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028508-28C4-444E-B522-D804D5355C6F}" type="datetimeFigureOut">
              <a:rPr lang="x-none" smtClean="0"/>
              <a:t>28/09/2025</a:t>
            </a:fld>
            <a:endParaRPr lang="x-none"/>
          </a:p>
        </p:txBody>
      </p:sp>
      <p:sp>
        <p:nvSpPr>
          <p:cNvPr id="5" name="Footer Placeholder 4">
            <a:extLst>
              <a:ext uri="{FF2B5EF4-FFF2-40B4-BE49-F238E27FC236}">
                <a16:creationId xmlns:a16="http://schemas.microsoft.com/office/drawing/2014/main" id="{7957FC5E-DDAF-A6D2-8344-BF0E6468F6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id="{4FB0686D-7881-D458-F01C-46E3BD4D50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013F5B-0CB8-284D-B88B-2C9766842346}" type="slidenum">
              <a:rPr lang="x-none" smtClean="0"/>
              <a:t>‹#›</a:t>
            </a:fld>
            <a:endParaRPr lang="x-none"/>
          </a:p>
        </p:txBody>
      </p:sp>
    </p:spTree>
    <p:extLst>
      <p:ext uri="{BB962C8B-B14F-4D97-AF65-F5344CB8AC3E}">
        <p14:creationId xmlns:p14="http://schemas.microsoft.com/office/powerpoint/2010/main" val="4085081547"/>
      </p:ext>
    </p:extLst>
  </p:cSld>
  <p:clrMap bg1="lt1" tx1="dk1" bg2="lt2" tx2="dk2" accent1="accent1" accent2="accent2" accent3="accent3" accent4="accent4" accent5="accent5" accent6="accent6" hlink="hlink" folHlink="folHlink"/>
  <p:sldLayoutIdLst>
    <p:sldLayoutId id="2147483649" r:id="rId1"/>
    <p:sldLayoutId id="2147483663" r:id="rId2"/>
    <p:sldLayoutId id="2147483660" r:id="rId3"/>
    <p:sldLayoutId id="2147483668" r:id="rId4"/>
    <p:sldLayoutId id="2147483669" r:id="rId5"/>
    <p:sldLayoutId id="2147483653" r:id="rId6"/>
    <p:sldLayoutId id="2147483654" r:id="rId7"/>
    <p:sldLayoutId id="2147483655" r:id="rId8"/>
    <p:sldLayoutId id="2147483656" r:id="rId9"/>
    <p:sldLayoutId id="2147483657" r:id="rId10"/>
    <p:sldLayoutId id="2147483658" r:id="rId11"/>
    <p:sldLayoutId id="2147483659" r:id="rId12"/>
    <p:sldLayoutId id="2147483664" r:id="rId13"/>
    <p:sldLayoutId id="214748370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48B17C-620D-A957-2F62-BA0106BA9E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x-none"/>
          </a:p>
        </p:txBody>
      </p:sp>
      <p:sp>
        <p:nvSpPr>
          <p:cNvPr id="3" name="Text Placeholder 2">
            <a:extLst>
              <a:ext uri="{FF2B5EF4-FFF2-40B4-BE49-F238E27FC236}">
                <a16:creationId xmlns:a16="http://schemas.microsoft.com/office/drawing/2014/main" id="{23D107B7-9ADA-6EB4-C74C-85CC7388F0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Date Placeholder 3">
            <a:extLst>
              <a:ext uri="{FF2B5EF4-FFF2-40B4-BE49-F238E27FC236}">
                <a16:creationId xmlns:a16="http://schemas.microsoft.com/office/drawing/2014/main" id="{0AE0F61F-60CF-CA76-5A14-F005141212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028508-28C4-444E-B522-D804D5355C6F}" type="datetimeFigureOut">
              <a:rPr lang="x-none" smtClean="0"/>
              <a:t>28-Sep-25</a:t>
            </a:fld>
            <a:endParaRPr lang="x-none"/>
          </a:p>
        </p:txBody>
      </p:sp>
      <p:sp>
        <p:nvSpPr>
          <p:cNvPr id="5" name="Footer Placeholder 4">
            <a:extLst>
              <a:ext uri="{FF2B5EF4-FFF2-40B4-BE49-F238E27FC236}">
                <a16:creationId xmlns:a16="http://schemas.microsoft.com/office/drawing/2014/main" id="{7957FC5E-DDAF-A6D2-8344-BF0E6468F6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id="{4FB0686D-7881-D458-F01C-46E3BD4D50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013F5B-0CB8-284D-B88B-2C9766842346}" type="slidenum">
              <a:rPr lang="x-none" smtClean="0"/>
              <a:t>‹#›</a:t>
            </a:fld>
            <a:endParaRPr lang="x-none"/>
          </a:p>
        </p:txBody>
      </p:sp>
    </p:spTree>
    <p:extLst>
      <p:ext uri="{BB962C8B-B14F-4D97-AF65-F5344CB8AC3E}">
        <p14:creationId xmlns:p14="http://schemas.microsoft.com/office/powerpoint/2010/main" val="2446519611"/>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48B17C-620D-A957-2F62-BA0106BA9E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x-none"/>
          </a:p>
        </p:txBody>
      </p:sp>
      <p:sp>
        <p:nvSpPr>
          <p:cNvPr id="3" name="Text Placeholder 2">
            <a:extLst>
              <a:ext uri="{FF2B5EF4-FFF2-40B4-BE49-F238E27FC236}">
                <a16:creationId xmlns:a16="http://schemas.microsoft.com/office/drawing/2014/main" id="{23D107B7-9ADA-6EB4-C74C-85CC7388F0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Date Placeholder 3">
            <a:extLst>
              <a:ext uri="{FF2B5EF4-FFF2-40B4-BE49-F238E27FC236}">
                <a16:creationId xmlns:a16="http://schemas.microsoft.com/office/drawing/2014/main" id="{0AE0F61F-60CF-CA76-5A14-F005141212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028508-28C4-444E-B522-D804D5355C6F}" type="datetimeFigureOut">
              <a:rPr lang="x-none" smtClean="0"/>
              <a:t>28-Sep-25</a:t>
            </a:fld>
            <a:endParaRPr lang="x-none"/>
          </a:p>
        </p:txBody>
      </p:sp>
      <p:sp>
        <p:nvSpPr>
          <p:cNvPr id="5" name="Footer Placeholder 4">
            <a:extLst>
              <a:ext uri="{FF2B5EF4-FFF2-40B4-BE49-F238E27FC236}">
                <a16:creationId xmlns:a16="http://schemas.microsoft.com/office/drawing/2014/main" id="{7957FC5E-DDAF-A6D2-8344-BF0E6468F6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id="{4FB0686D-7881-D458-F01C-46E3BD4D50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013F5B-0CB8-284D-B88B-2C9766842346}" type="slidenum">
              <a:rPr lang="x-none" smtClean="0"/>
              <a:t>‹#›</a:t>
            </a:fld>
            <a:endParaRPr lang="x-none"/>
          </a:p>
        </p:txBody>
      </p:sp>
    </p:spTree>
    <p:extLst>
      <p:ext uri="{BB962C8B-B14F-4D97-AF65-F5344CB8AC3E}">
        <p14:creationId xmlns:p14="http://schemas.microsoft.com/office/powerpoint/2010/main" val="260029852"/>
      </p:ext>
    </p:extLst>
  </p:cSld>
  <p:clrMap bg1="lt1" tx1="dk1" bg2="lt2" tx2="dk2" accent1="accent1" accent2="accent2" accent3="accent3" accent4="accent4" accent5="accent5" accent6="accent6" hlink="hlink" folHlink="folHlink"/>
  <p:sldLayoutIdLst>
    <p:sldLayoutId id="2147483671" r:id="rId1"/>
    <p:sldLayoutId id="2147483687" r:id="rId2"/>
    <p:sldLayoutId id="2147483672" r:id="rId3"/>
    <p:sldLayoutId id="2147483673" r:id="rId4"/>
    <p:sldLayoutId id="2147483674" r:id="rId5"/>
    <p:sldLayoutId id="2147483675" r:id="rId6"/>
    <p:sldLayoutId id="2147483677" r:id="rId7"/>
    <p:sldLayoutId id="214748368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5.svg"/></Relationships>
</file>

<file path=ppt/slides/_rels/slide4.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5.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3">
            <a:extLst>
              <a:ext uri="{FF2B5EF4-FFF2-40B4-BE49-F238E27FC236}">
                <a16:creationId xmlns:a16="http://schemas.microsoft.com/office/drawing/2014/main" id="{E69E5EE2-17B2-B89A-0441-F5A2448FB538}"/>
              </a:ext>
            </a:extLst>
          </p:cNvPr>
          <p:cNvSpPr txBox="1">
            <a:spLocks/>
          </p:cNvSpPr>
          <p:nvPr/>
        </p:nvSpPr>
        <p:spPr>
          <a:xfrm>
            <a:off x="397751" y="2688449"/>
            <a:ext cx="5199486" cy="414741"/>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b="1" dirty="0">
                <a:solidFill>
                  <a:schemeClr val="bg1"/>
                </a:solidFill>
              </a:rPr>
              <a:t>Presentation</a:t>
            </a:r>
          </a:p>
        </p:txBody>
      </p:sp>
      <p:sp>
        <p:nvSpPr>
          <p:cNvPr id="3" name="Subtitle 3">
            <a:extLst>
              <a:ext uri="{FF2B5EF4-FFF2-40B4-BE49-F238E27FC236}">
                <a16:creationId xmlns:a16="http://schemas.microsoft.com/office/drawing/2014/main" id="{EBF97FC1-4ABC-4669-1519-05AE8F36602C}"/>
              </a:ext>
            </a:extLst>
          </p:cNvPr>
          <p:cNvSpPr txBox="1">
            <a:spLocks/>
          </p:cNvSpPr>
          <p:nvPr/>
        </p:nvSpPr>
        <p:spPr>
          <a:xfrm>
            <a:off x="365524" y="3429000"/>
            <a:ext cx="5199486" cy="414741"/>
          </a:xfrm>
          <a:prstGeom prst="rect">
            <a:avLst/>
          </a:prstGeom>
        </p:spPr>
        <p:txBody>
          <a:bodyPr vert="horz" lIns="91440" tIns="45720" rIns="91440" bIns="45720" rtlCol="0" anchor="t">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800" b="1" dirty="0">
              <a:solidFill>
                <a:schemeClr val="accent4">
                  <a:lumMod val="20000"/>
                  <a:lumOff val="80000"/>
                </a:schemeClr>
              </a:solidFill>
            </a:endParaRPr>
          </a:p>
        </p:txBody>
      </p:sp>
      <p:sp>
        <p:nvSpPr>
          <p:cNvPr id="5" name="TextBox 4"/>
          <p:cNvSpPr txBox="1"/>
          <p:nvPr/>
        </p:nvSpPr>
        <p:spPr>
          <a:xfrm>
            <a:off x="669303" y="3843741"/>
            <a:ext cx="7598004" cy="1384995"/>
          </a:xfrm>
          <a:prstGeom prst="rect">
            <a:avLst/>
          </a:prstGeom>
          <a:noFill/>
        </p:spPr>
        <p:txBody>
          <a:bodyPr wrap="square" rtlCol="0">
            <a:spAutoFit/>
          </a:bodyPr>
          <a:lstStyle/>
          <a:p>
            <a:pPr algn="ctr"/>
            <a:r>
              <a:rPr lang="en-US" sz="2800" b="1" dirty="0">
                <a:solidFill>
                  <a:schemeClr val="bg1"/>
                </a:solidFill>
              </a:rPr>
              <a:t>Harnessing Synergies Between Tuberculosis and Primary Health Care Toward Universal Health Coverage</a:t>
            </a:r>
          </a:p>
        </p:txBody>
      </p:sp>
    </p:spTree>
    <p:extLst>
      <p:ext uri="{BB962C8B-B14F-4D97-AF65-F5344CB8AC3E}">
        <p14:creationId xmlns:p14="http://schemas.microsoft.com/office/powerpoint/2010/main" val="2604941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5269" y="175551"/>
            <a:ext cx="7489767" cy="646331"/>
          </a:xfrm>
          <a:prstGeom prst="rect">
            <a:avLst/>
          </a:prstGeom>
          <a:noFill/>
        </p:spPr>
        <p:txBody>
          <a:bodyPr wrap="square" rtlCol="0">
            <a:spAutoFit/>
          </a:bodyPr>
          <a:lstStyle/>
          <a:p>
            <a:r>
              <a:rPr lang="en-US" sz="3600" b="1" dirty="0">
                <a:solidFill>
                  <a:schemeClr val="bg1"/>
                </a:solidFill>
              </a:rPr>
              <a:t>Outline</a:t>
            </a:r>
          </a:p>
        </p:txBody>
      </p:sp>
      <p:grpSp>
        <p:nvGrpSpPr>
          <p:cNvPr id="3" name="Group 2">
            <a:extLst>
              <a:ext uri="{FF2B5EF4-FFF2-40B4-BE49-F238E27FC236}">
                <a16:creationId xmlns:a16="http://schemas.microsoft.com/office/drawing/2014/main" id="{BD5D689E-AC63-0718-C68E-3BC1E482894D}"/>
              </a:ext>
            </a:extLst>
          </p:cNvPr>
          <p:cNvGrpSpPr/>
          <p:nvPr/>
        </p:nvGrpSpPr>
        <p:grpSpPr>
          <a:xfrm>
            <a:off x="8647064" y="1772622"/>
            <a:ext cx="3637181" cy="665019"/>
            <a:chOff x="859784" y="1395344"/>
            <a:chExt cx="4849573" cy="886692"/>
          </a:xfrm>
        </p:grpSpPr>
        <p:sp>
          <p:nvSpPr>
            <p:cNvPr id="4" name="Rectangle 5">
              <a:extLst>
                <a:ext uri="{FF2B5EF4-FFF2-40B4-BE49-F238E27FC236}">
                  <a16:creationId xmlns:a16="http://schemas.microsoft.com/office/drawing/2014/main" id="{4DE7B845-2F39-0B72-3260-40D573B659DA}"/>
                </a:ext>
              </a:extLst>
            </p:cNvPr>
            <p:cNvSpPr/>
            <p:nvPr/>
          </p:nvSpPr>
          <p:spPr>
            <a:xfrm>
              <a:off x="1142191" y="1633519"/>
              <a:ext cx="4045044" cy="648517"/>
            </a:xfrm>
            <a:custGeom>
              <a:avLst/>
              <a:gdLst>
                <a:gd name="connsiteX0" fmla="*/ 0 w 3456709"/>
                <a:gd name="connsiteY0" fmla="*/ 0 h 499661"/>
                <a:gd name="connsiteX1" fmla="*/ 3456709 w 3456709"/>
                <a:gd name="connsiteY1" fmla="*/ 0 h 499661"/>
                <a:gd name="connsiteX2" fmla="*/ 3456709 w 3456709"/>
                <a:gd name="connsiteY2" fmla="*/ 499661 h 499661"/>
                <a:gd name="connsiteX3" fmla="*/ 0 w 3456709"/>
                <a:gd name="connsiteY3" fmla="*/ 499661 h 499661"/>
                <a:gd name="connsiteX4" fmla="*/ 0 w 3456709"/>
                <a:gd name="connsiteY4" fmla="*/ 0 h 499661"/>
                <a:gd name="connsiteX0" fmla="*/ 0 w 3952895"/>
                <a:gd name="connsiteY0" fmla="*/ 0 h 648517"/>
                <a:gd name="connsiteX1" fmla="*/ 3456709 w 3952895"/>
                <a:gd name="connsiteY1" fmla="*/ 0 h 648517"/>
                <a:gd name="connsiteX2" fmla="*/ 3952895 w 3952895"/>
                <a:gd name="connsiteY2" fmla="*/ 648517 h 648517"/>
                <a:gd name="connsiteX3" fmla="*/ 0 w 3952895"/>
                <a:gd name="connsiteY3" fmla="*/ 499661 h 648517"/>
                <a:gd name="connsiteX4" fmla="*/ 0 w 3952895"/>
                <a:gd name="connsiteY4" fmla="*/ 0 h 648517"/>
                <a:gd name="connsiteX0" fmla="*/ 0 w 3952895"/>
                <a:gd name="connsiteY0" fmla="*/ 0 h 648517"/>
                <a:gd name="connsiteX1" fmla="*/ 3456709 w 3952895"/>
                <a:gd name="connsiteY1" fmla="*/ 0 h 648517"/>
                <a:gd name="connsiteX2" fmla="*/ 3952895 w 3952895"/>
                <a:gd name="connsiteY2" fmla="*/ 648517 h 648517"/>
                <a:gd name="connsiteX3" fmla="*/ 7089 w 3952895"/>
                <a:gd name="connsiteY3" fmla="*/ 442954 h 648517"/>
                <a:gd name="connsiteX4" fmla="*/ 0 w 3952895"/>
                <a:gd name="connsiteY4" fmla="*/ 0 h 648517"/>
                <a:gd name="connsiteX0" fmla="*/ 92149 w 4045044"/>
                <a:gd name="connsiteY0" fmla="*/ 0 h 648517"/>
                <a:gd name="connsiteX1" fmla="*/ 3548858 w 4045044"/>
                <a:gd name="connsiteY1" fmla="*/ 0 h 648517"/>
                <a:gd name="connsiteX2" fmla="*/ 4045044 w 4045044"/>
                <a:gd name="connsiteY2" fmla="*/ 648517 h 648517"/>
                <a:gd name="connsiteX3" fmla="*/ 0 w 4045044"/>
                <a:gd name="connsiteY3" fmla="*/ 435865 h 648517"/>
                <a:gd name="connsiteX4" fmla="*/ 92149 w 4045044"/>
                <a:gd name="connsiteY4" fmla="*/ 0 h 648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5044" h="648517">
                  <a:moveTo>
                    <a:pt x="92149" y="0"/>
                  </a:moveTo>
                  <a:lnTo>
                    <a:pt x="3548858" y="0"/>
                  </a:lnTo>
                  <a:lnTo>
                    <a:pt x="4045044" y="648517"/>
                  </a:lnTo>
                  <a:lnTo>
                    <a:pt x="0" y="435865"/>
                  </a:lnTo>
                  <a:lnTo>
                    <a:pt x="92149" y="0"/>
                  </a:lnTo>
                  <a:close/>
                </a:path>
              </a:pathLst>
            </a:custGeom>
            <a:solidFill>
              <a:schemeClr val="bg1"/>
            </a:solidFill>
            <a:ln>
              <a:noFill/>
            </a:ln>
            <a:effectLst>
              <a:outerShdw blurRad="254000" dist="165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6" name="Group 5">
              <a:extLst>
                <a:ext uri="{FF2B5EF4-FFF2-40B4-BE49-F238E27FC236}">
                  <a16:creationId xmlns:a16="http://schemas.microsoft.com/office/drawing/2014/main" id="{B0478FAA-8135-477F-AE84-0D4551636218}"/>
                </a:ext>
              </a:extLst>
            </p:cNvPr>
            <p:cNvGrpSpPr/>
            <p:nvPr/>
          </p:nvGrpSpPr>
          <p:grpSpPr>
            <a:xfrm>
              <a:off x="859784" y="1395344"/>
              <a:ext cx="4849573" cy="886692"/>
              <a:chOff x="859784" y="1395344"/>
              <a:chExt cx="4849573" cy="886692"/>
            </a:xfrm>
          </p:grpSpPr>
          <p:sp>
            <p:nvSpPr>
              <p:cNvPr id="7" name="Rectangle 6">
                <a:extLst>
                  <a:ext uri="{FF2B5EF4-FFF2-40B4-BE49-F238E27FC236}">
                    <a16:creationId xmlns:a16="http://schemas.microsoft.com/office/drawing/2014/main" id="{367B61CE-ABD8-75D6-7D08-59705EFE894F}"/>
                  </a:ext>
                </a:extLst>
              </p:cNvPr>
              <p:cNvSpPr/>
              <p:nvPr/>
            </p:nvSpPr>
            <p:spPr>
              <a:xfrm>
                <a:off x="859784" y="1395344"/>
                <a:ext cx="3831264" cy="886691"/>
              </a:xfrm>
              <a:prstGeom prst="rect">
                <a:avLst/>
              </a:prstGeom>
              <a:gradFill>
                <a:gsLst>
                  <a:gs pos="5000">
                    <a:srgbClr val="002033"/>
                  </a:gs>
                  <a:gs pos="100000">
                    <a:schemeClr val="bg1">
                      <a:lumMod val="5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Call to action</a:t>
                </a:r>
              </a:p>
              <a:p>
                <a:pPr algn="ctr"/>
                <a:endParaRPr lang="en-US" sz="1350" dirty="0"/>
              </a:p>
            </p:txBody>
          </p:sp>
          <p:grpSp>
            <p:nvGrpSpPr>
              <p:cNvPr id="8" name="Group 7">
                <a:extLst>
                  <a:ext uri="{FF2B5EF4-FFF2-40B4-BE49-F238E27FC236}">
                    <a16:creationId xmlns:a16="http://schemas.microsoft.com/office/drawing/2014/main" id="{6A6551E1-00E3-4BD8-CF59-821269570DBA}"/>
                  </a:ext>
                </a:extLst>
              </p:cNvPr>
              <p:cNvGrpSpPr/>
              <p:nvPr/>
            </p:nvGrpSpPr>
            <p:grpSpPr>
              <a:xfrm>
                <a:off x="4691048" y="1395345"/>
                <a:ext cx="1018309" cy="886691"/>
                <a:chOff x="4691049" y="1395345"/>
                <a:chExt cx="1018309" cy="886691"/>
              </a:xfrm>
            </p:grpSpPr>
            <p:sp>
              <p:nvSpPr>
                <p:cNvPr id="9" name="Arrow: Pentagon 73">
                  <a:extLst>
                    <a:ext uri="{FF2B5EF4-FFF2-40B4-BE49-F238E27FC236}">
                      <a16:creationId xmlns:a16="http://schemas.microsoft.com/office/drawing/2014/main" id="{649320B1-8137-65F7-4209-0DC2DD431F6C}"/>
                    </a:ext>
                  </a:extLst>
                </p:cNvPr>
                <p:cNvSpPr/>
                <p:nvPr/>
              </p:nvSpPr>
              <p:spPr>
                <a:xfrm>
                  <a:off x="4691049" y="1395345"/>
                  <a:ext cx="1018309" cy="886691"/>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100" b="1" dirty="0"/>
                    <a:t>01</a:t>
                  </a:r>
                </a:p>
              </p:txBody>
            </p:sp>
            <p:sp>
              <p:nvSpPr>
                <p:cNvPr id="10" name="Rectangle 9">
                  <a:extLst>
                    <a:ext uri="{FF2B5EF4-FFF2-40B4-BE49-F238E27FC236}">
                      <a16:creationId xmlns:a16="http://schemas.microsoft.com/office/drawing/2014/main" id="{5E9CB4EB-1D3B-67D8-760A-9B064E6B1489}"/>
                    </a:ext>
                  </a:extLst>
                </p:cNvPr>
                <p:cNvSpPr/>
                <p:nvPr/>
              </p:nvSpPr>
              <p:spPr>
                <a:xfrm>
                  <a:off x="4691049" y="1395345"/>
                  <a:ext cx="91440" cy="886691"/>
                </a:xfrm>
                <a:prstGeom prst="rect">
                  <a:avLst/>
                </a:prstGeom>
                <a:solidFill>
                  <a:schemeClr val="tx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00" b="1" dirty="0">
                    <a:solidFill>
                      <a:schemeClr val="tx1">
                        <a:lumMod val="85000"/>
                        <a:lumOff val="15000"/>
                      </a:schemeClr>
                    </a:solidFill>
                  </a:endParaRPr>
                </a:p>
              </p:txBody>
            </p:sp>
          </p:grpSp>
        </p:grpSp>
      </p:grpSp>
      <p:grpSp>
        <p:nvGrpSpPr>
          <p:cNvPr id="11" name="Group 10">
            <a:extLst>
              <a:ext uri="{FF2B5EF4-FFF2-40B4-BE49-F238E27FC236}">
                <a16:creationId xmlns:a16="http://schemas.microsoft.com/office/drawing/2014/main" id="{24F9C922-3EC8-BBEC-DBFB-9586475C5E38}"/>
              </a:ext>
            </a:extLst>
          </p:cNvPr>
          <p:cNvGrpSpPr/>
          <p:nvPr/>
        </p:nvGrpSpPr>
        <p:grpSpPr>
          <a:xfrm>
            <a:off x="644838" y="2640425"/>
            <a:ext cx="3637181" cy="665018"/>
            <a:chOff x="859784" y="2573522"/>
            <a:chExt cx="4849574" cy="886691"/>
          </a:xfrm>
        </p:grpSpPr>
        <p:sp>
          <p:nvSpPr>
            <p:cNvPr id="12" name="Rectangle 5">
              <a:extLst>
                <a:ext uri="{FF2B5EF4-FFF2-40B4-BE49-F238E27FC236}">
                  <a16:creationId xmlns:a16="http://schemas.microsoft.com/office/drawing/2014/main" id="{B8ABF702-7CE7-AC02-15D4-C8775635D8A2}"/>
                </a:ext>
              </a:extLst>
            </p:cNvPr>
            <p:cNvSpPr/>
            <p:nvPr/>
          </p:nvSpPr>
          <p:spPr>
            <a:xfrm>
              <a:off x="1142191" y="2811696"/>
              <a:ext cx="4045044" cy="648517"/>
            </a:xfrm>
            <a:custGeom>
              <a:avLst/>
              <a:gdLst>
                <a:gd name="connsiteX0" fmla="*/ 0 w 3456709"/>
                <a:gd name="connsiteY0" fmla="*/ 0 h 499661"/>
                <a:gd name="connsiteX1" fmla="*/ 3456709 w 3456709"/>
                <a:gd name="connsiteY1" fmla="*/ 0 h 499661"/>
                <a:gd name="connsiteX2" fmla="*/ 3456709 w 3456709"/>
                <a:gd name="connsiteY2" fmla="*/ 499661 h 499661"/>
                <a:gd name="connsiteX3" fmla="*/ 0 w 3456709"/>
                <a:gd name="connsiteY3" fmla="*/ 499661 h 499661"/>
                <a:gd name="connsiteX4" fmla="*/ 0 w 3456709"/>
                <a:gd name="connsiteY4" fmla="*/ 0 h 499661"/>
                <a:gd name="connsiteX0" fmla="*/ 0 w 3952895"/>
                <a:gd name="connsiteY0" fmla="*/ 0 h 648517"/>
                <a:gd name="connsiteX1" fmla="*/ 3456709 w 3952895"/>
                <a:gd name="connsiteY1" fmla="*/ 0 h 648517"/>
                <a:gd name="connsiteX2" fmla="*/ 3952895 w 3952895"/>
                <a:gd name="connsiteY2" fmla="*/ 648517 h 648517"/>
                <a:gd name="connsiteX3" fmla="*/ 0 w 3952895"/>
                <a:gd name="connsiteY3" fmla="*/ 499661 h 648517"/>
                <a:gd name="connsiteX4" fmla="*/ 0 w 3952895"/>
                <a:gd name="connsiteY4" fmla="*/ 0 h 648517"/>
                <a:gd name="connsiteX0" fmla="*/ 0 w 3952895"/>
                <a:gd name="connsiteY0" fmla="*/ 0 h 648517"/>
                <a:gd name="connsiteX1" fmla="*/ 3456709 w 3952895"/>
                <a:gd name="connsiteY1" fmla="*/ 0 h 648517"/>
                <a:gd name="connsiteX2" fmla="*/ 3952895 w 3952895"/>
                <a:gd name="connsiteY2" fmla="*/ 648517 h 648517"/>
                <a:gd name="connsiteX3" fmla="*/ 7089 w 3952895"/>
                <a:gd name="connsiteY3" fmla="*/ 442954 h 648517"/>
                <a:gd name="connsiteX4" fmla="*/ 0 w 3952895"/>
                <a:gd name="connsiteY4" fmla="*/ 0 h 648517"/>
                <a:gd name="connsiteX0" fmla="*/ 92149 w 4045044"/>
                <a:gd name="connsiteY0" fmla="*/ 0 h 648517"/>
                <a:gd name="connsiteX1" fmla="*/ 3548858 w 4045044"/>
                <a:gd name="connsiteY1" fmla="*/ 0 h 648517"/>
                <a:gd name="connsiteX2" fmla="*/ 4045044 w 4045044"/>
                <a:gd name="connsiteY2" fmla="*/ 648517 h 648517"/>
                <a:gd name="connsiteX3" fmla="*/ 0 w 4045044"/>
                <a:gd name="connsiteY3" fmla="*/ 435865 h 648517"/>
                <a:gd name="connsiteX4" fmla="*/ 92149 w 4045044"/>
                <a:gd name="connsiteY4" fmla="*/ 0 h 648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5044" h="648517">
                  <a:moveTo>
                    <a:pt x="92149" y="0"/>
                  </a:moveTo>
                  <a:lnTo>
                    <a:pt x="3548858" y="0"/>
                  </a:lnTo>
                  <a:lnTo>
                    <a:pt x="4045044" y="648517"/>
                  </a:lnTo>
                  <a:lnTo>
                    <a:pt x="0" y="435865"/>
                  </a:lnTo>
                  <a:lnTo>
                    <a:pt x="92149" y="0"/>
                  </a:lnTo>
                  <a:close/>
                </a:path>
              </a:pathLst>
            </a:custGeom>
            <a:solidFill>
              <a:schemeClr val="bg1"/>
            </a:solidFill>
            <a:ln>
              <a:noFill/>
            </a:ln>
            <a:effectLst>
              <a:outerShdw blurRad="254000" dist="165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3" name="Group 12">
              <a:extLst>
                <a:ext uri="{FF2B5EF4-FFF2-40B4-BE49-F238E27FC236}">
                  <a16:creationId xmlns:a16="http://schemas.microsoft.com/office/drawing/2014/main" id="{FE6C7FB5-5F21-6FAC-CE69-0C545E787064}"/>
                </a:ext>
              </a:extLst>
            </p:cNvPr>
            <p:cNvGrpSpPr/>
            <p:nvPr/>
          </p:nvGrpSpPr>
          <p:grpSpPr>
            <a:xfrm>
              <a:off x="859784" y="2573522"/>
              <a:ext cx="4849574" cy="886691"/>
              <a:chOff x="859784" y="2573522"/>
              <a:chExt cx="4849574" cy="886691"/>
            </a:xfrm>
          </p:grpSpPr>
          <p:sp>
            <p:nvSpPr>
              <p:cNvPr id="14" name="Rectangle 13">
                <a:extLst>
                  <a:ext uri="{FF2B5EF4-FFF2-40B4-BE49-F238E27FC236}">
                    <a16:creationId xmlns:a16="http://schemas.microsoft.com/office/drawing/2014/main" id="{E88890F7-343B-8F3E-FDBB-0923F77F7344}"/>
                  </a:ext>
                </a:extLst>
              </p:cNvPr>
              <p:cNvSpPr/>
              <p:nvPr/>
            </p:nvSpPr>
            <p:spPr>
              <a:xfrm>
                <a:off x="859784" y="2573522"/>
                <a:ext cx="3831265" cy="886691"/>
              </a:xfrm>
              <a:prstGeom prst="rect">
                <a:avLst/>
              </a:prstGeom>
              <a:gradFill>
                <a:gsLst>
                  <a:gs pos="5000">
                    <a:srgbClr val="002033"/>
                  </a:gs>
                  <a:gs pos="100000">
                    <a:schemeClr val="bg1">
                      <a:lumMod val="5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Definition of terms</a:t>
                </a:r>
              </a:p>
              <a:p>
                <a:pPr algn="ctr"/>
                <a:endParaRPr lang="en-US" sz="1350" dirty="0"/>
              </a:p>
            </p:txBody>
          </p:sp>
          <p:grpSp>
            <p:nvGrpSpPr>
              <p:cNvPr id="15" name="Group 14">
                <a:extLst>
                  <a:ext uri="{FF2B5EF4-FFF2-40B4-BE49-F238E27FC236}">
                    <a16:creationId xmlns:a16="http://schemas.microsoft.com/office/drawing/2014/main" id="{05154907-AC82-B890-E884-160CD694520D}"/>
                  </a:ext>
                </a:extLst>
              </p:cNvPr>
              <p:cNvGrpSpPr/>
              <p:nvPr/>
            </p:nvGrpSpPr>
            <p:grpSpPr>
              <a:xfrm>
                <a:off x="4691049" y="2573522"/>
                <a:ext cx="1018309" cy="886691"/>
                <a:chOff x="4691049" y="2573522"/>
                <a:chExt cx="1018309" cy="886691"/>
              </a:xfrm>
            </p:grpSpPr>
            <p:sp>
              <p:nvSpPr>
                <p:cNvPr id="16" name="Arrow: Pentagon 65">
                  <a:extLst>
                    <a:ext uri="{FF2B5EF4-FFF2-40B4-BE49-F238E27FC236}">
                      <a16:creationId xmlns:a16="http://schemas.microsoft.com/office/drawing/2014/main" id="{A5C24304-7067-DBE4-30FE-EF74FE3DFD87}"/>
                    </a:ext>
                  </a:extLst>
                </p:cNvPr>
                <p:cNvSpPr/>
                <p:nvPr/>
              </p:nvSpPr>
              <p:spPr>
                <a:xfrm>
                  <a:off x="4691049" y="2573522"/>
                  <a:ext cx="1018309" cy="886691"/>
                </a:xfrm>
                <a:prstGeom prst="homePlat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100" b="1" dirty="0">
                      <a:solidFill>
                        <a:schemeClr val="tx1">
                          <a:lumMod val="85000"/>
                          <a:lumOff val="15000"/>
                        </a:schemeClr>
                      </a:solidFill>
                    </a:rPr>
                    <a:t>02</a:t>
                  </a:r>
                </a:p>
              </p:txBody>
            </p:sp>
            <p:sp>
              <p:nvSpPr>
                <p:cNvPr id="17" name="Rectangle 16">
                  <a:extLst>
                    <a:ext uri="{FF2B5EF4-FFF2-40B4-BE49-F238E27FC236}">
                      <a16:creationId xmlns:a16="http://schemas.microsoft.com/office/drawing/2014/main" id="{15766808-82A5-BCDB-2F2B-AD4FE7D9A65F}"/>
                    </a:ext>
                  </a:extLst>
                </p:cNvPr>
                <p:cNvSpPr/>
                <p:nvPr/>
              </p:nvSpPr>
              <p:spPr>
                <a:xfrm>
                  <a:off x="4691049" y="2573522"/>
                  <a:ext cx="91440" cy="886691"/>
                </a:xfrm>
                <a:prstGeom prst="rect">
                  <a:avLst/>
                </a:prstGeom>
                <a:solidFill>
                  <a:schemeClr val="tx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00" b="1" dirty="0">
                    <a:solidFill>
                      <a:schemeClr val="tx1">
                        <a:lumMod val="85000"/>
                        <a:lumOff val="15000"/>
                      </a:schemeClr>
                    </a:solidFill>
                  </a:endParaRPr>
                </a:p>
              </p:txBody>
            </p:sp>
          </p:grpSp>
        </p:grpSp>
      </p:grpSp>
      <p:grpSp>
        <p:nvGrpSpPr>
          <p:cNvPr id="18" name="Group 17">
            <a:extLst>
              <a:ext uri="{FF2B5EF4-FFF2-40B4-BE49-F238E27FC236}">
                <a16:creationId xmlns:a16="http://schemas.microsoft.com/office/drawing/2014/main" id="{4D163E30-FA6A-93F9-9DD8-EF9DB0356B03}"/>
              </a:ext>
            </a:extLst>
          </p:cNvPr>
          <p:cNvGrpSpPr/>
          <p:nvPr/>
        </p:nvGrpSpPr>
        <p:grpSpPr>
          <a:xfrm>
            <a:off x="644838" y="3646446"/>
            <a:ext cx="3637181" cy="665018"/>
            <a:chOff x="859784" y="3751699"/>
            <a:chExt cx="4849574" cy="886691"/>
          </a:xfrm>
        </p:grpSpPr>
        <p:sp>
          <p:nvSpPr>
            <p:cNvPr id="19" name="Rectangle 5">
              <a:extLst>
                <a:ext uri="{FF2B5EF4-FFF2-40B4-BE49-F238E27FC236}">
                  <a16:creationId xmlns:a16="http://schemas.microsoft.com/office/drawing/2014/main" id="{AD5A772E-745F-4E9F-36A0-6C6CE28758D1}"/>
                </a:ext>
              </a:extLst>
            </p:cNvPr>
            <p:cNvSpPr/>
            <p:nvPr/>
          </p:nvSpPr>
          <p:spPr>
            <a:xfrm>
              <a:off x="1142191" y="3989873"/>
              <a:ext cx="4045044" cy="648517"/>
            </a:xfrm>
            <a:custGeom>
              <a:avLst/>
              <a:gdLst>
                <a:gd name="connsiteX0" fmla="*/ 0 w 3456709"/>
                <a:gd name="connsiteY0" fmla="*/ 0 h 499661"/>
                <a:gd name="connsiteX1" fmla="*/ 3456709 w 3456709"/>
                <a:gd name="connsiteY1" fmla="*/ 0 h 499661"/>
                <a:gd name="connsiteX2" fmla="*/ 3456709 w 3456709"/>
                <a:gd name="connsiteY2" fmla="*/ 499661 h 499661"/>
                <a:gd name="connsiteX3" fmla="*/ 0 w 3456709"/>
                <a:gd name="connsiteY3" fmla="*/ 499661 h 499661"/>
                <a:gd name="connsiteX4" fmla="*/ 0 w 3456709"/>
                <a:gd name="connsiteY4" fmla="*/ 0 h 499661"/>
                <a:gd name="connsiteX0" fmla="*/ 0 w 3952895"/>
                <a:gd name="connsiteY0" fmla="*/ 0 h 648517"/>
                <a:gd name="connsiteX1" fmla="*/ 3456709 w 3952895"/>
                <a:gd name="connsiteY1" fmla="*/ 0 h 648517"/>
                <a:gd name="connsiteX2" fmla="*/ 3952895 w 3952895"/>
                <a:gd name="connsiteY2" fmla="*/ 648517 h 648517"/>
                <a:gd name="connsiteX3" fmla="*/ 0 w 3952895"/>
                <a:gd name="connsiteY3" fmla="*/ 499661 h 648517"/>
                <a:gd name="connsiteX4" fmla="*/ 0 w 3952895"/>
                <a:gd name="connsiteY4" fmla="*/ 0 h 648517"/>
                <a:gd name="connsiteX0" fmla="*/ 0 w 3952895"/>
                <a:gd name="connsiteY0" fmla="*/ 0 h 648517"/>
                <a:gd name="connsiteX1" fmla="*/ 3456709 w 3952895"/>
                <a:gd name="connsiteY1" fmla="*/ 0 h 648517"/>
                <a:gd name="connsiteX2" fmla="*/ 3952895 w 3952895"/>
                <a:gd name="connsiteY2" fmla="*/ 648517 h 648517"/>
                <a:gd name="connsiteX3" fmla="*/ 7089 w 3952895"/>
                <a:gd name="connsiteY3" fmla="*/ 442954 h 648517"/>
                <a:gd name="connsiteX4" fmla="*/ 0 w 3952895"/>
                <a:gd name="connsiteY4" fmla="*/ 0 h 648517"/>
                <a:gd name="connsiteX0" fmla="*/ 92149 w 4045044"/>
                <a:gd name="connsiteY0" fmla="*/ 0 h 648517"/>
                <a:gd name="connsiteX1" fmla="*/ 3548858 w 4045044"/>
                <a:gd name="connsiteY1" fmla="*/ 0 h 648517"/>
                <a:gd name="connsiteX2" fmla="*/ 4045044 w 4045044"/>
                <a:gd name="connsiteY2" fmla="*/ 648517 h 648517"/>
                <a:gd name="connsiteX3" fmla="*/ 0 w 4045044"/>
                <a:gd name="connsiteY3" fmla="*/ 435865 h 648517"/>
                <a:gd name="connsiteX4" fmla="*/ 92149 w 4045044"/>
                <a:gd name="connsiteY4" fmla="*/ 0 h 648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5044" h="648517">
                  <a:moveTo>
                    <a:pt x="92149" y="0"/>
                  </a:moveTo>
                  <a:lnTo>
                    <a:pt x="3548858" y="0"/>
                  </a:lnTo>
                  <a:lnTo>
                    <a:pt x="4045044" y="648517"/>
                  </a:lnTo>
                  <a:lnTo>
                    <a:pt x="0" y="435865"/>
                  </a:lnTo>
                  <a:lnTo>
                    <a:pt x="92149" y="0"/>
                  </a:lnTo>
                  <a:close/>
                </a:path>
              </a:pathLst>
            </a:custGeom>
            <a:solidFill>
              <a:schemeClr val="bg1"/>
            </a:solidFill>
            <a:ln>
              <a:noFill/>
            </a:ln>
            <a:effectLst>
              <a:outerShdw blurRad="254000" dist="165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20" name="Group 19">
              <a:extLst>
                <a:ext uri="{FF2B5EF4-FFF2-40B4-BE49-F238E27FC236}">
                  <a16:creationId xmlns:a16="http://schemas.microsoft.com/office/drawing/2014/main" id="{B5D779AF-5DDA-BD53-A749-78500062E5A6}"/>
                </a:ext>
              </a:extLst>
            </p:cNvPr>
            <p:cNvGrpSpPr/>
            <p:nvPr/>
          </p:nvGrpSpPr>
          <p:grpSpPr>
            <a:xfrm>
              <a:off x="859784" y="3751699"/>
              <a:ext cx="4849574" cy="886691"/>
              <a:chOff x="859784" y="3751699"/>
              <a:chExt cx="4849574" cy="886691"/>
            </a:xfrm>
          </p:grpSpPr>
          <p:sp>
            <p:nvSpPr>
              <p:cNvPr id="21" name="Rectangle 20">
                <a:extLst>
                  <a:ext uri="{FF2B5EF4-FFF2-40B4-BE49-F238E27FC236}">
                    <a16:creationId xmlns:a16="http://schemas.microsoft.com/office/drawing/2014/main" id="{E15DF7AE-F867-901F-ABCC-E6E109D7D83D}"/>
                  </a:ext>
                </a:extLst>
              </p:cNvPr>
              <p:cNvSpPr/>
              <p:nvPr/>
            </p:nvSpPr>
            <p:spPr>
              <a:xfrm>
                <a:off x="859784" y="3751699"/>
                <a:ext cx="3831265" cy="886691"/>
              </a:xfrm>
              <a:prstGeom prst="rect">
                <a:avLst/>
              </a:prstGeom>
              <a:gradFill flip="none" rotWithShape="1">
                <a:gsLst>
                  <a:gs pos="5000">
                    <a:srgbClr val="002033"/>
                  </a:gs>
                  <a:gs pos="100000">
                    <a:schemeClr val="bg1">
                      <a:lumMod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a:p>
                <a:pPr algn="ctr"/>
                <a:r>
                  <a:rPr lang="en-US" b="1" dirty="0"/>
                  <a:t>Global commitments (Alma-Ata, Astana, UNHLM)</a:t>
                </a:r>
              </a:p>
              <a:p>
                <a:pPr algn="ctr"/>
                <a:endParaRPr lang="en-US" sz="1350" dirty="0"/>
              </a:p>
            </p:txBody>
          </p:sp>
          <p:grpSp>
            <p:nvGrpSpPr>
              <p:cNvPr id="22" name="Group 21">
                <a:extLst>
                  <a:ext uri="{FF2B5EF4-FFF2-40B4-BE49-F238E27FC236}">
                    <a16:creationId xmlns:a16="http://schemas.microsoft.com/office/drawing/2014/main" id="{E665B566-9FB9-1A9E-FD81-A505102B9DD1}"/>
                  </a:ext>
                </a:extLst>
              </p:cNvPr>
              <p:cNvGrpSpPr/>
              <p:nvPr/>
            </p:nvGrpSpPr>
            <p:grpSpPr>
              <a:xfrm>
                <a:off x="4691049" y="3751699"/>
                <a:ext cx="1018309" cy="886691"/>
                <a:chOff x="4691049" y="3751699"/>
                <a:chExt cx="1018309" cy="886691"/>
              </a:xfrm>
            </p:grpSpPr>
            <p:sp>
              <p:nvSpPr>
                <p:cNvPr id="23" name="Arrow: Pentagon 58">
                  <a:extLst>
                    <a:ext uri="{FF2B5EF4-FFF2-40B4-BE49-F238E27FC236}">
                      <a16:creationId xmlns:a16="http://schemas.microsoft.com/office/drawing/2014/main" id="{AF227541-95B6-EEF8-9103-DBF1595E91BD}"/>
                    </a:ext>
                  </a:extLst>
                </p:cNvPr>
                <p:cNvSpPr/>
                <p:nvPr/>
              </p:nvSpPr>
              <p:spPr>
                <a:xfrm>
                  <a:off x="4691049" y="3751699"/>
                  <a:ext cx="1018309" cy="886691"/>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100" b="1" dirty="0"/>
                    <a:t>03</a:t>
                  </a:r>
                </a:p>
              </p:txBody>
            </p:sp>
            <p:sp>
              <p:nvSpPr>
                <p:cNvPr id="24" name="Rectangle 23">
                  <a:extLst>
                    <a:ext uri="{FF2B5EF4-FFF2-40B4-BE49-F238E27FC236}">
                      <a16:creationId xmlns:a16="http://schemas.microsoft.com/office/drawing/2014/main" id="{530A3A69-10DF-4490-B3CF-B519FDC652DB}"/>
                    </a:ext>
                  </a:extLst>
                </p:cNvPr>
                <p:cNvSpPr/>
                <p:nvPr/>
              </p:nvSpPr>
              <p:spPr>
                <a:xfrm>
                  <a:off x="4691049" y="3751699"/>
                  <a:ext cx="91440" cy="886691"/>
                </a:xfrm>
                <a:prstGeom prst="rect">
                  <a:avLst/>
                </a:prstGeom>
                <a:solidFill>
                  <a:schemeClr val="tx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00" b="1" dirty="0">
                    <a:solidFill>
                      <a:schemeClr val="tx1">
                        <a:lumMod val="85000"/>
                        <a:lumOff val="15000"/>
                      </a:schemeClr>
                    </a:solidFill>
                  </a:endParaRPr>
                </a:p>
              </p:txBody>
            </p:sp>
          </p:grpSp>
        </p:grpSp>
      </p:grpSp>
      <p:grpSp>
        <p:nvGrpSpPr>
          <p:cNvPr id="25" name="Group 24">
            <a:extLst>
              <a:ext uri="{FF2B5EF4-FFF2-40B4-BE49-F238E27FC236}">
                <a16:creationId xmlns:a16="http://schemas.microsoft.com/office/drawing/2014/main" id="{FD1974A5-1E46-F592-B3E5-6FCD967BD48E}"/>
              </a:ext>
            </a:extLst>
          </p:cNvPr>
          <p:cNvGrpSpPr/>
          <p:nvPr/>
        </p:nvGrpSpPr>
        <p:grpSpPr>
          <a:xfrm>
            <a:off x="644838" y="4554658"/>
            <a:ext cx="3637181" cy="665018"/>
            <a:chOff x="859784" y="4929876"/>
            <a:chExt cx="4849574" cy="886691"/>
          </a:xfrm>
        </p:grpSpPr>
        <p:sp>
          <p:nvSpPr>
            <p:cNvPr id="26" name="Rectangle 5">
              <a:extLst>
                <a:ext uri="{FF2B5EF4-FFF2-40B4-BE49-F238E27FC236}">
                  <a16:creationId xmlns:a16="http://schemas.microsoft.com/office/drawing/2014/main" id="{4A07D847-A309-FDD4-98A0-343B05100EA5}"/>
                </a:ext>
              </a:extLst>
            </p:cNvPr>
            <p:cNvSpPr/>
            <p:nvPr/>
          </p:nvSpPr>
          <p:spPr>
            <a:xfrm>
              <a:off x="1142191" y="5168050"/>
              <a:ext cx="4045044" cy="648517"/>
            </a:xfrm>
            <a:custGeom>
              <a:avLst/>
              <a:gdLst>
                <a:gd name="connsiteX0" fmla="*/ 0 w 3456709"/>
                <a:gd name="connsiteY0" fmla="*/ 0 h 499661"/>
                <a:gd name="connsiteX1" fmla="*/ 3456709 w 3456709"/>
                <a:gd name="connsiteY1" fmla="*/ 0 h 499661"/>
                <a:gd name="connsiteX2" fmla="*/ 3456709 w 3456709"/>
                <a:gd name="connsiteY2" fmla="*/ 499661 h 499661"/>
                <a:gd name="connsiteX3" fmla="*/ 0 w 3456709"/>
                <a:gd name="connsiteY3" fmla="*/ 499661 h 499661"/>
                <a:gd name="connsiteX4" fmla="*/ 0 w 3456709"/>
                <a:gd name="connsiteY4" fmla="*/ 0 h 499661"/>
                <a:gd name="connsiteX0" fmla="*/ 0 w 3952895"/>
                <a:gd name="connsiteY0" fmla="*/ 0 h 648517"/>
                <a:gd name="connsiteX1" fmla="*/ 3456709 w 3952895"/>
                <a:gd name="connsiteY1" fmla="*/ 0 h 648517"/>
                <a:gd name="connsiteX2" fmla="*/ 3952895 w 3952895"/>
                <a:gd name="connsiteY2" fmla="*/ 648517 h 648517"/>
                <a:gd name="connsiteX3" fmla="*/ 0 w 3952895"/>
                <a:gd name="connsiteY3" fmla="*/ 499661 h 648517"/>
                <a:gd name="connsiteX4" fmla="*/ 0 w 3952895"/>
                <a:gd name="connsiteY4" fmla="*/ 0 h 648517"/>
                <a:gd name="connsiteX0" fmla="*/ 0 w 3952895"/>
                <a:gd name="connsiteY0" fmla="*/ 0 h 648517"/>
                <a:gd name="connsiteX1" fmla="*/ 3456709 w 3952895"/>
                <a:gd name="connsiteY1" fmla="*/ 0 h 648517"/>
                <a:gd name="connsiteX2" fmla="*/ 3952895 w 3952895"/>
                <a:gd name="connsiteY2" fmla="*/ 648517 h 648517"/>
                <a:gd name="connsiteX3" fmla="*/ 7089 w 3952895"/>
                <a:gd name="connsiteY3" fmla="*/ 442954 h 648517"/>
                <a:gd name="connsiteX4" fmla="*/ 0 w 3952895"/>
                <a:gd name="connsiteY4" fmla="*/ 0 h 648517"/>
                <a:gd name="connsiteX0" fmla="*/ 92149 w 4045044"/>
                <a:gd name="connsiteY0" fmla="*/ 0 h 648517"/>
                <a:gd name="connsiteX1" fmla="*/ 3548858 w 4045044"/>
                <a:gd name="connsiteY1" fmla="*/ 0 h 648517"/>
                <a:gd name="connsiteX2" fmla="*/ 4045044 w 4045044"/>
                <a:gd name="connsiteY2" fmla="*/ 648517 h 648517"/>
                <a:gd name="connsiteX3" fmla="*/ 0 w 4045044"/>
                <a:gd name="connsiteY3" fmla="*/ 435865 h 648517"/>
                <a:gd name="connsiteX4" fmla="*/ 92149 w 4045044"/>
                <a:gd name="connsiteY4" fmla="*/ 0 h 648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5044" h="648517">
                  <a:moveTo>
                    <a:pt x="92149" y="0"/>
                  </a:moveTo>
                  <a:lnTo>
                    <a:pt x="3548858" y="0"/>
                  </a:lnTo>
                  <a:lnTo>
                    <a:pt x="4045044" y="648517"/>
                  </a:lnTo>
                  <a:lnTo>
                    <a:pt x="0" y="435865"/>
                  </a:lnTo>
                  <a:lnTo>
                    <a:pt x="92149" y="0"/>
                  </a:lnTo>
                  <a:close/>
                </a:path>
              </a:pathLst>
            </a:custGeom>
            <a:solidFill>
              <a:schemeClr val="bg1"/>
            </a:solidFill>
            <a:ln>
              <a:noFill/>
            </a:ln>
            <a:effectLst>
              <a:outerShdw blurRad="254000" dist="165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27" name="Group 26">
              <a:extLst>
                <a:ext uri="{FF2B5EF4-FFF2-40B4-BE49-F238E27FC236}">
                  <a16:creationId xmlns:a16="http://schemas.microsoft.com/office/drawing/2014/main" id="{DD5C7C92-3A2A-E3BC-FC47-E6DEADD40F6F}"/>
                </a:ext>
              </a:extLst>
            </p:cNvPr>
            <p:cNvGrpSpPr/>
            <p:nvPr/>
          </p:nvGrpSpPr>
          <p:grpSpPr>
            <a:xfrm>
              <a:off x="859784" y="4929876"/>
              <a:ext cx="4849574" cy="886691"/>
              <a:chOff x="859784" y="4929876"/>
              <a:chExt cx="4849574" cy="886691"/>
            </a:xfrm>
          </p:grpSpPr>
          <p:sp>
            <p:nvSpPr>
              <p:cNvPr id="28" name="Rectangle 27">
                <a:extLst>
                  <a:ext uri="{FF2B5EF4-FFF2-40B4-BE49-F238E27FC236}">
                    <a16:creationId xmlns:a16="http://schemas.microsoft.com/office/drawing/2014/main" id="{044B18ED-F38D-EDF5-8A18-FE6A1B8D4DE7}"/>
                  </a:ext>
                </a:extLst>
              </p:cNvPr>
              <p:cNvSpPr/>
              <p:nvPr/>
            </p:nvSpPr>
            <p:spPr>
              <a:xfrm>
                <a:off x="859784" y="4929876"/>
                <a:ext cx="3831265" cy="886691"/>
              </a:xfrm>
              <a:prstGeom prst="rect">
                <a:avLst/>
              </a:prstGeom>
              <a:gradFill flip="none" rotWithShape="1">
                <a:gsLst>
                  <a:gs pos="5000">
                    <a:srgbClr val="002033"/>
                  </a:gs>
                  <a:gs pos="100000">
                    <a:schemeClr val="bg1">
                      <a:lumMod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PHC  approach and core components</a:t>
                </a:r>
              </a:p>
              <a:p>
                <a:pPr algn="ctr"/>
                <a:endParaRPr lang="en-US" sz="1350" dirty="0"/>
              </a:p>
            </p:txBody>
          </p:sp>
          <p:grpSp>
            <p:nvGrpSpPr>
              <p:cNvPr id="29" name="Group 28">
                <a:extLst>
                  <a:ext uri="{FF2B5EF4-FFF2-40B4-BE49-F238E27FC236}">
                    <a16:creationId xmlns:a16="http://schemas.microsoft.com/office/drawing/2014/main" id="{C647D0C7-A129-4560-83B3-139AC96FCC8F}"/>
                  </a:ext>
                </a:extLst>
              </p:cNvPr>
              <p:cNvGrpSpPr/>
              <p:nvPr/>
            </p:nvGrpSpPr>
            <p:grpSpPr>
              <a:xfrm>
                <a:off x="4691049" y="4929876"/>
                <a:ext cx="1018309" cy="886691"/>
                <a:chOff x="4691049" y="4929876"/>
                <a:chExt cx="1018309" cy="886691"/>
              </a:xfrm>
            </p:grpSpPr>
            <p:sp>
              <p:nvSpPr>
                <p:cNvPr id="30" name="Arrow: Pentagon 51">
                  <a:extLst>
                    <a:ext uri="{FF2B5EF4-FFF2-40B4-BE49-F238E27FC236}">
                      <a16:creationId xmlns:a16="http://schemas.microsoft.com/office/drawing/2014/main" id="{C98A8E2D-954C-EA25-07CA-0072D6EB0FB2}"/>
                    </a:ext>
                  </a:extLst>
                </p:cNvPr>
                <p:cNvSpPr/>
                <p:nvPr/>
              </p:nvSpPr>
              <p:spPr>
                <a:xfrm>
                  <a:off x="4691049" y="4929876"/>
                  <a:ext cx="1018309" cy="886691"/>
                </a:xfrm>
                <a:prstGeom prst="homePlat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100" b="1" dirty="0">
                      <a:solidFill>
                        <a:schemeClr val="tx1">
                          <a:lumMod val="85000"/>
                          <a:lumOff val="15000"/>
                        </a:schemeClr>
                      </a:solidFill>
                    </a:rPr>
                    <a:t>04</a:t>
                  </a:r>
                </a:p>
              </p:txBody>
            </p:sp>
            <p:sp>
              <p:nvSpPr>
                <p:cNvPr id="31" name="Rectangle 30">
                  <a:extLst>
                    <a:ext uri="{FF2B5EF4-FFF2-40B4-BE49-F238E27FC236}">
                      <a16:creationId xmlns:a16="http://schemas.microsoft.com/office/drawing/2014/main" id="{B3D67647-E24D-7EF1-8F6F-263D4A990874}"/>
                    </a:ext>
                  </a:extLst>
                </p:cNvPr>
                <p:cNvSpPr/>
                <p:nvPr/>
              </p:nvSpPr>
              <p:spPr>
                <a:xfrm>
                  <a:off x="4691049" y="4929876"/>
                  <a:ext cx="91440" cy="886691"/>
                </a:xfrm>
                <a:prstGeom prst="rect">
                  <a:avLst/>
                </a:prstGeom>
                <a:solidFill>
                  <a:schemeClr val="tx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00" b="1" dirty="0">
                    <a:solidFill>
                      <a:schemeClr val="tx1">
                        <a:lumMod val="85000"/>
                        <a:lumOff val="15000"/>
                      </a:schemeClr>
                    </a:solidFill>
                  </a:endParaRPr>
                </a:p>
              </p:txBody>
            </p:sp>
          </p:grpSp>
        </p:grpSp>
      </p:grpSp>
      <p:grpSp>
        <p:nvGrpSpPr>
          <p:cNvPr id="32" name="Group 31">
            <a:extLst>
              <a:ext uri="{FF2B5EF4-FFF2-40B4-BE49-F238E27FC236}">
                <a16:creationId xmlns:a16="http://schemas.microsoft.com/office/drawing/2014/main" id="{816DAA6D-87EF-B8BE-B547-EA8507E86192}"/>
              </a:ext>
            </a:extLst>
          </p:cNvPr>
          <p:cNvGrpSpPr/>
          <p:nvPr/>
        </p:nvGrpSpPr>
        <p:grpSpPr>
          <a:xfrm>
            <a:off x="4861982" y="1683307"/>
            <a:ext cx="3637181" cy="665018"/>
            <a:chOff x="6482643" y="1395345"/>
            <a:chExt cx="4849574" cy="886691"/>
          </a:xfrm>
        </p:grpSpPr>
        <p:sp>
          <p:nvSpPr>
            <p:cNvPr id="33" name="Rectangle 5">
              <a:extLst>
                <a:ext uri="{FF2B5EF4-FFF2-40B4-BE49-F238E27FC236}">
                  <a16:creationId xmlns:a16="http://schemas.microsoft.com/office/drawing/2014/main" id="{E47BFF6E-3A69-EC2C-B25C-49A2CBE3FC1A}"/>
                </a:ext>
              </a:extLst>
            </p:cNvPr>
            <p:cNvSpPr/>
            <p:nvPr/>
          </p:nvSpPr>
          <p:spPr>
            <a:xfrm>
              <a:off x="6765050" y="1633519"/>
              <a:ext cx="4045044" cy="648517"/>
            </a:xfrm>
            <a:custGeom>
              <a:avLst/>
              <a:gdLst>
                <a:gd name="connsiteX0" fmla="*/ 0 w 3456709"/>
                <a:gd name="connsiteY0" fmla="*/ 0 h 499661"/>
                <a:gd name="connsiteX1" fmla="*/ 3456709 w 3456709"/>
                <a:gd name="connsiteY1" fmla="*/ 0 h 499661"/>
                <a:gd name="connsiteX2" fmla="*/ 3456709 w 3456709"/>
                <a:gd name="connsiteY2" fmla="*/ 499661 h 499661"/>
                <a:gd name="connsiteX3" fmla="*/ 0 w 3456709"/>
                <a:gd name="connsiteY3" fmla="*/ 499661 h 499661"/>
                <a:gd name="connsiteX4" fmla="*/ 0 w 3456709"/>
                <a:gd name="connsiteY4" fmla="*/ 0 h 499661"/>
                <a:gd name="connsiteX0" fmla="*/ 0 w 3952895"/>
                <a:gd name="connsiteY0" fmla="*/ 0 h 648517"/>
                <a:gd name="connsiteX1" fmla="*/ 3456709 w 3952895"/>
                <a:gd name="connsiteY1" fmla="*/ 0 h 648517"/>
                <a:gd name="connsiteX2" fmla="*/ 3952895 w 3952895"/>
                <a:gd name="connsiteY2" fmla="*/ 648517 h 648517"/>
                <a:gd name="connsiteX3" fmla="*/ 0 w 3952895"/>
                <a:gd name="connsiteY3" fmla="*/ 499661 h 648517"/>
                <a:gd name="connsiteX4" fmla="*/ 0 w 3952895"/>
                <a:gd name="connsiteY4" fmla="*/ 0 h 648517"/>
                <a:gd name="connsiteX0" fmla="*/ 0 w 3952895"/>
                <a:gd name="connsiteY0" fmla="*/ 0 h 648517"/>
                <a:gd name="connsiteX1" fmla="*/ 3456709 w 3952895"/>
                <a:gd name="connsiteY1" fmla="*/ 0 h 648517"/>
                <a:gd name="connsiteX2" fmla="*/ 3952895 w 3952895"/>
                <a:gd name="connsiteY2" fmla="*/ 648517 h 648517"/>
                <a:gd name="connsiteX3" fmla="*/ 7089 w 3952895"/>
                <a:gd name="connsiteY3" fmla="*/ 442954 h 648517"/>
                <a:gd name="connsiteX4" fmla="*/ 0 w 3952895"/>
                <a:gd name="connsiteY4" fmla="*/ 0 h 648517"/>
                <a:gd name="connsiteX0" fmla="*/ 92149 w 4045044"/>
                <a:gd name="connsiteY0" fmla="*/ 0 h 648517"/>
                <a:gd name="connsiteX1" fmla="*/ 3548858 w 4045044"/>
                <a:gd name="connsiteY1" fmla="*/ 0 h 648517"/>
                <a:gd name="connsiteX2" fmla="*/ 4045044 w 4045044"/>
                <a:gd name="connsiteY2" fmla="*/ 648517 h 648517"/>
                <a:gd name="connsiteX3" fmla="*/ 0 w 4045044"/>
                <a:gd name="connsiteY3" fmla="*/ 435865 h 648517"/>
                <a:gd name="connsiteX4" fmla="*/ 92149 w 4045044"/>
                <a:gd name="connsiteY4" fmla="*/ 0 h 648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5044" h="648517">
                  <a:moveTo>
                    <a:pt x="92149" y="0"/>
                  </a:moveTo>
                  <a:lnTo>
                    <a:pt x="3548858" y="0"/>
                  </a:lnTo>
                  <a:lnTo>
                    <a:pt x="4045044" y="648517"/>
                  </a:lnTo>
                  <a:lnTo>
                    <a:pt x="0" y="435865"/>
                  </a:lnTo>
                  <a:lnTo>
                    <a:pt x="92149" y="0"/>
                  </a:lnTo>
                  <a:close/>
                </a:path>
              </a:pathLst>
            </a:custGeom>
            <a:solidFill>
              <a:schemeClr val="bg1"/>
            </a:solidFill>
            <a:ln>
              <a:noFill/>
            </a:ln>
            <a:effectLst>
              <a:outerShdw blurRad="254000" dist="165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34" name="Group 33">
              <a:extLst>
                <a:ext uri="{FF2B5EF4-FFF2-40B4-BE49-F238E27FC236}">
                  <a16:creationId xmlns:a16="http://schemas.microsoft.com/office/drawing/2014/main" id="{7C03B48C-AA7D-E2B6-3916-F39A13AA0FDA}"/>
                </a:ext>
              </a:extLst>
            </p:cNvPr>
            <p:cNvGrpSpPr/>
            <p:nvPr/>
          </p:nvGrpSpPr>
          <p:grpSpPr>
            <a:xfrm>
              <a:off x="6482643" y="1395345"/>
              <a:ext cx="4849574" cy="886691"/>
              <a:chOff x="6482643" y="1395345"/>
              <a:chExt cx="4849574" cy="886691"/>
            </a:xfrm>
          </p:grpSpPr>
          <p:sp>
            <p:nvSpPr>
              <p:cNvPr id="35" name="Rectangle 34">
                <a:extLst>
                  <a:ext uri="{FF2B5EF4-FFF2-40B4-BE49-F238E27FC236}">
                    <a16:creationId xmlns:a16="http://schemas.microsoft.com/office/drawing/2014/main" id="{FBF773A9-863A-463A-CC4B-8444DFD33AE9}"/>
                  </a:ext>
                </a:extLst>
              </p:cNvPr>
              <p:cNvSpPr/>
              <p:nvPr/>
            </p:nvSpPr>
            <p:spPr>
              <a:xfrm>
                <a:off x="6482643" y="1395345"/>
                <a:ext cx="3831265" cy="886691"/>
              </a:xfrm>
              <a:prstGeom prst="rect">
                <a:avLst/>
              </a:prstGeom>
              <a:gradFill flip="none" rotWithShape="1">
                <a:gsLst>
                  <a:gs pos="5000">
                    <a:srgbClr val="002033"/>
                  </a:gs>
                  <a:gs pos="100000">
                    <a:schemeClr val="bg1">
                      <a:lumMod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a:p>
                <a:pPr algn="ctr"/>
                <a:r>
                  <a:rPr lang="en-US" b="1" dirty="0"/>
                  <a:t>Why PHC matters for UHC and TB</a:t>
                </a:r>
              </a:p>
              <a:p>
                <a:pPr algn="ctr"/>
                <a:endParaRPr lang="en-US" sz="1350" dirty="0"/>
              </a:p>
            </p:txBody>
          </p:sp>
          <p:grpSp>
            <p:nvGrpSpPr>
              <p:cNvPr id="36" name="Group 35">
                <a:extLst>
                  <a:ext uri="{FF2B5EF4-FFF2-40B4-BE49-F238E27FC236}">
                    <a16:creationId xmlns:a16="http://schemas.microsoft.com/office/drawing/2014/main" id="{DE5A322D-59F2-8FF5-A8F0-1D54B658505D}"/>
                  </a:ext>
                </a:extLst>
              </p:cNvPr>
              <p:cNvGrpSpPr/>
              <p:nvPr/>
            </p:nvGrpSpPr>
            <p:grpSpPr>
              <a:xfrm>
                <a:off x="10313908" y="1395345"/>
                <a:ext cx="1018309" cy="886691"/>
                <a:chOff x="10313908" y="1395345"/>
                <a:chExt cx="1018309" cy="886691"/>
              </a:xfrm>
            </p:grpSpPr>
            <p:sp>
              <p:nvSpPr>
                <p:cNvPr id="37" name="Arrow: Pentagon 44">
                  <a:extLst>
                    <a:ext uri="{FF2B5EF4-FFF2-40B4-BE49-F238E27FC236}">
                      <a16:creationId xmlns:a16="http://schemas.microsoft.com/office/drawing/2014/main" id="{883CFE02-9437-3E1B-445F-07F3E0EC81FE}"/>
                    </a:ext>
                  </a:extLst>
                </p:cNvPr>
                <p:cNvSpPr/>
                <p:nvPr/>
              </p:nvSpPr>
              <p:spPr>
                <a:xfrm>
                  <a:off x="10313908" y="1395345"/>
                  <a:ext cx="1018309" cy="886691"/>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100" b="1" dirty="0">
                      <a:solidFill>
                        <a:schemeClr val="tx1">
                          <a:lumMod val="85000"/>
                          <a:lumOff val="15000"/>
                        </a:schemeClr>
                      </a:solidFill>
                    </a:rPr>
                    <a:t>05</a:t>
                  </a:r>
                </a:p>
              </p:txBody>
            </p:sp>
            <p:sp>
              <p:nvSpPr>
                <p:cNvPr id="38" name="Rectangle 37">
                  <a:extLst>
                    <a:ext uri="{FF2B5EF4-FFF2-40B4-BE49-F238E27FC236}">
                      <a16:creationId xmlns:a16="http://schemas.microsoft.com/office/drawing/2014/main" id="{938455F7-7A40-4DE7-6611-7ECF1902828A}"/>
                    </a:ext>
                  </a:extLst>
                </p:cNvPr>
                <p:cNvSpPr/>
                <p:nvPr/>
              </p:nvSpPr>
              <p:spPr>
                <a:xfrm>
                  <a:off x="10313908" y="1395345"/>
                  <a:ext cx="91440" cy="886691"/>
                </a:xfrm>
                <a:prstGeom prst="rect">
                  <a:avLst/>
                </a:prstGeom>
                <a:solidFill>
                  <a:schemeClr val="tx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00" b="1" dirty="0">
                    <a:solidFill>
                      <a:schemeClr val="tx1">
                        <a:lumMod val="85000"/>
                        <a:lumOff val="15000"/>
                      </a:schemeClr>
                    </a:solidFill>
                  </a:endParaRPr>
                </a:p>
              </p:txBody>
            </p:sp>
          </p:grpSp>
        </p:grpSp>
      </p:grpSp>
      <p:grpSp>
        <p:nvGrpSpPr>
          <p:cNvPr id="39" name="Group 38">
            <a:extLst>
              <a:ext uri="{FF2B5EF4-FFF2-40B4-BE49-F238E27FC236}">
                <a16:creationId xmlns:a16="http://schemas.microsoft.com/office/drawing/2014/main" id="{FA73BE16-8279-AB7A-3D44-39D2CAB16110}"/>
              </a:ext>
            </a:extLst>
          </p:cNvPr>
          <p:cNvGrpSpPr/>
          <p:nvPr/>
        </p:nvGrpSpPr>
        <p:grpSpPr>
          <a:xfrm>
            <a:off x="4861982" y="2640425"/>
            <a:ext cx="3637181" cy="665018"/>
            <a:chOff x="6482643" y="2573522"/>
            <a:chExt cx="4849574" cy="886691"/>
          </a:xfrm>
        </p:grpSpPr>
        <p:sp>
          <p:nvSpPr>
            <p:cNvPr id="40" name="Rectangle 5">
              <a:extLst>
                <a:ext uri="{FF2B5EF4-FFF2-40B4-BE49-F238E27FC236}">
                  <a16:creationId xmlns:a16="http://schemas.microsoft.com/office/drawing/2014/main" id="{E97FB444-E3E5-4B27-3AAF-DAAF01A6B270}"/>
                </a:ext>
              </a:extLst>
            </p:cNvPr>
            <p:cNvSpPr/>
            <p:nvPr/>
          </p:nvSpPr>
          <p:spPr>
            <a:xfrm>
              <a:off x="6765050" y="2811696"/>
              <a:ext cx="4045044" cy="648517"/>
            </a:xfrm>
            <a:custGeom>
              <a:avLst/>
              <a:gdLst>
                <a:gd name="connsiteX0" fmla="*/ 0 w 3456709"/>
                <a:gd name="connsiteY0" fmla="*/ 0 h 499661"/>
                <a:gd name="connsiteX1" fmla="*/ 3456709 w 3456709"/>
                <a:gd name="connsiteY1" fmla="*/ 0 h 499661"/>
                <a:gd name="connsiteX2" fmla="*/ 3456709 w 3456709"/>
                <a:gd name="connsiteY2" fmla="*/ 499661 h 499661"/>
                <a:gd name="connsiteX3" fmla="*/ 0 w 3456709"/>
                <a:gd name="connsiteY3" fmla="*/ 499661 h 499661"/>
                <a:gd name="connsiteX4" fmla="*/ 0 w 3456709"/>
                <a:gd name="connsiteY4" fmla="*/ 0 h 499661"/>
                <a:gd name="connsiteX0" fmla="*/ 0 w 3952895"/>
                <a:gd name="connsiteY0" fmla="*/ 0 h 648517"/>
                <a:gd name="connsiteX1" fmla="*/ 3456709 w 3952895"/>
                <a:gd name="connsiteY1" fmla="*/ 0 h 648517"/>
                <a:gd name="connsiteX2" fmla="*/ 3952895 w 3952895"/>
                <a:gd name="connsiteY2" fmla="*/ 648517 h 648517"/>
                <a:gd name="connsiteX3" fmla="*/ 0 w 3952895"/>
                <a:gd name="connsiteY3" fmla="*/ 499661 h 648517"/>
                <a:gd name="connsiteX4" fmla="*/ 0 w 3952895"/>
                <a:gd name="connsiteY4" fmla="*/ 0 h 648517"/>
                <a:gd name="connsiteX0" fmla="*/ 0 w 3952895"/>
                <a:gd name="connsiteY0" fmla="*/ 0 h 648517"/>
                <a:gd name="connsiteX1" fmla="*/ 3456709 w 3952895"/>
                <a:gd name="connsiteY1" fmla="*/ 0 h 648517"/>
                <a:gd name="connsiteX2" fmla="*/ 3952895 w 3952895"/>
                <a:gd name="connsiteY2" fmla="*/ 648517 h 648517"/>
                <a:gd name="connsiteX3" fmla="*/ 7089 w 3952895"/>
                <a:gd name="connsiteY3" fmla="*/ 442954 h 648517"/>
                <a:gd name="connsiteX4" fmla="*/ 0 w 3952895"/>
                <a:gd name="connsiteY4" fmla="*/ 0 h 648517"/>
                <a:gd name="connsiteX0" fmla="*/ 92149 w 4045044"/>
                <a:gd name="connsiteY0" fmla="*/ 0 h 648517"/>
                <a:gd name="connsiteX1" fmla="*/ 3548858 w 4045044"/>
                <a:gd name="connsiteY1" fmla="*/ 0 h 648517"/>
                <a:gd name="connsiteX2" fmla="*/ 4045044 w 4045044"/>
                <a:gd name="connsiteY2" fmla="*/ 648517 h 648517"/>
                <a:gd name="connsiteX3" fmla="*/ 0 w 4045044"/>
                <a:gd name="connsiteY3" fmla="*/ 435865 h 648517"/>
                <a:gd name="connsiteX4" fmla="*/ 92149 w 4045044"/>
                <a:gd name="connsiteY4" fmla="*/ 0 h 648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5044" h="648517">
                  <a:moveTo>
                    <a:pt x="92149" y="0"/>
                  </a:moveTo>
                  <a:lnTo>
                    <a:pt x="3548858" y="0"/>
                  </a:lnTo>
                  <a:lnTo>
                    <a:pt x="4045044" y="648517"/>
                  </a:lnTo>
                  <a:lnTo>
                    <a:pt x="0" y="435865"/>
                  </a:lnTo>
                  <a:lnTo>
                    <a:pt x="92149" y="0"/>
                  </a:lnTo>
                  <a:close/>
                </a:path>
              </a:pathLst>
            </a:custGeom>
            <a:solidFill>
              <a:schemeClr val="bg1"/>
            </a:solidFill>
            <a:ln>
              <a:noFill/>
            </a:ln>
            <a:effectLst>
              <a:outerShdw blurRad="254000" dist="165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41" name="Group 40">
              <a:extLst>
                <a:ext uri="{FF2B5EF4-FFF2-40B4-BE49-F238E27FC236}">
                  <a16:creationId xmlns:a16="http://schemas.microsoft.com/office/drawing/2014/main" id="{7D93DE1D-03E9-70E2-2E95-979BD97F2FDD}"/>
                </a:ext>
              </a:extLst>
            </p:cNvPr>
            <p:cNvGrpSpPr/>
            <p:nvPr/>
          </p:nvGrpSpPr>
          <p:grpSpPr>
            <a:xfrm>
              <a:off x="6482643" y="2573522"/>
              <a:ext cx="4849574" cy="886691"/>
              <a:chOff x="6482643" y="2573522"/>
              <a:chExt cx="4849574" cy="886691"/>
            </a:xfrm>
          </p:grpSpPr>
          <p:sp>
            <p:nvSpPr>
              <p:cNvPr id="42" name="Rectangle 41">
                <a:extLst>
                  <a:ext uri="{FF2B5EF4-FFF2-40B4-BE49-F238E27FC236}">
                    <a16:creationId xmlns:a16="http://schemas.microsoft.com/office/drawing/2014/main" id="{4D956054-C30F-34D8-2D2E-9E99F82CB4B0}"/>
                  </a:ext>
                </a:extLst>
              </p:cNvPr>
              <p:cNvSpPr/>
              <p:nvPr/>
            </p:nvSpPr>
            <p:spPr>
              <a:xfrm>
                <a:off x="6482643" y="2573522"/>
                <a:ext cx="3831265" cy="886691"/>
              </a:xfrm>
              <a:prstGeom prst="rect">
                <a:avLst/>
              </a:prstGeom>
              <a:gradFill flip="none" rotWithShape="1">
                <a:gsLst>
                  <a:gs pos="5000">
                    <a:srgbClr val="002033"/>
                  </a:gs>
                  <a:gs pos="100000">
                    <a:schemeClr val="bg1">
                      <a:lumMod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a:p>
                <a:pPr algn="ctr"/>
                <a:r>
                  <a:rPr lang="en-US" b="1" dirty="0"/>
                  <a:t>Synergies between PHC and TB response</a:t>
                </a:r>
              </a:p>
              <a:p>
                <a:pPr algn="ctr"/>
                <a:endParaRPr lang="en-US" sz="1350" dirty="0"/>
              </a:p>
            </p:txBody>
          </p:sp>
          <p:grpSp>
            <p:nvGrpSpPr>
              <p:cNvPr id="43" name="Group 42">
                <a:extLst>
                  <a:ext uri="{FF2B5EF4-FFF2-40B4-BE49-F238E27FC236}">
                    <a16:creationId xmlns:a16="http://schemas.microsoft.com/office/drawing/2014/main" id="{DDE518B5-8EA5-66B0-1786-716D2550F995}"/>
                  </a:ext>
                </a:extLst>
              </p:cNvPr>
              <p:cNvGrpSpPr/>
              <p:nvPr/>
            </p:nvGrpSpPr>
            <p:grpSpPr>
              <a:xfrm>
                <a:off x="10313908" y="2573522"/>
                <a:ext cx="1018309" cy="886691"/>
                <a:chOff x="10313908" y="2573522"/>
                <a:chExt cx="1018309" cy="886691"/>
              </a:xfrm>
            </p:grpSpPr>
            <p:sp>
              <p:nvSpPr>
                <p:cNvPr id="44" name="Arrow: Pentagon 37">
                  <a:extLst>
                    <a:ext uri="{FF2B5EF4-FFF2-40B4-BE49-F238E27FC236}">
                      <a16:creationId xmlns:a16="http://schemas.microsoft.com/office/drawing/2014/main" id="{C754E9E6-FB8B-425B-DF70-AB65B7337421}"/>
                    </a:ext>
                  </a:extLst>
                </p:cNvPr>
                <p:cNvSpPr/>
                <p:nvPr/>
              </p:nvSpPr>
              <p:spPr>
                <a:xfrm>
                  <a:off x="10313908" y="2573522"/>
                  <a:ext cx="1018309" cy="886691"/>
                </a:xfrm>
                <a:prstGeom prst="homePlat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100" b="1" dirty="0"/>
                    <a:t>06</a:t>
                  </a:r>
                </a:p>
              </p:txBody>
            </p:sp>
            <p:sp>
              <p:nvSpPr>
                <p:cNvPr id="45" name="Rectangle 44">
                  <a:extLst>
                    <a:ext uri="{FF2B5EF4-FFF2-40B4-BE49-F238E27FC236}">
                      <a16:creationId xmlns:a16="http://schemas.microsoft.com/office/drawing/2014/main" id="{964D22DC-D0FD-05FF-A37A-948B32585814}"/>
                    </a:ext>
                  </a:extLst>
                </p:cNvPr>
                <p:cNvSpPr/>
                <p:nvPr/>
              </p:nvSpPr>
              <p:spPr>
                <a:xfrm>
                  <a:off x="10313908" y="2573522"/>
                  <a:ext cx="91440" cy="886691"/>
                </a:xfrm>
                <a:prstGeom prst="rect">
                  <a:avLst/>
                </a:prstGeom>
                <a:solidFill>
                  <a:schemeClr val="tx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00" b="1" dirty="0">
                    <a:solidFill>
                      <a:schemeClr val="tx1">
                        <a:lumMod val="85000"/>
                        <a:lumOff val="15000"/>
                      </a:schemeClr>
                    </a:solidFill>
                  </a:endParaRPr>
                </a:p>
              </p:txBody>
            </p:sp>
          </p:grpSp>
        </p:grpSp>
      </p:grpSp>
      <p:grpSp>
        <p:nvGrpSpPr>
          <p:cNvPr id="46" name="Group 45">
            <a:extLst>
              <a:ext uri="{FF2B5EF4-FFF2-40B4-BE49-F238E27FC236}">
                <a16:creationId xmlns:a16="http://schemas.microsoft.com/office/drawing/2014/main" id="{63CD1F5B-7781-1410-9B21-D1E234C07596}"/>
              </a:ext>
            </a:extLst>
          </p:cNvPr>
          <p:cNvGrpSpPr/>
          <p:nvPr/>
        </p:nvGrpSpPr>
        <p:grpSpPr>
          <a:xfrm>
            <a:off x="4861982" y="3597542"/>
            <a:ext cx="3637181" cy="665018"/>
            <a:chOff x="6482643" y="3751699"/>
            <a:chExt cx="4849574" cy="886691"/>
          </a:xfrm>
        </p:grpSpPr>
        <p:sp>
          <p:nvSpPr>
            <p:cNvPr id="47" name="Rectangle 5">
              <a:extLst>
                <a:ext uri="{FF2B5EF4-FFF2-40B4-BE49-F238E27FC236}">
                  <a16:creationId xmlns:a16="http://schemas.microsoft.com/office/drawing/2014/main" id="{A26477F5-B55A-8F9D-E180-433F20E927A3}"/>
                </a:ext>
              </a:extLst>
            </p:cNvPr>
            <p:cNvSpPr/>
            <p:nvPr/>
          </p:nvSpPr>
          <p:spPr>
            <a:xfrm>
              <a:off x="6765050" y="3989873"/>
              <a:ext cx="4045044" cy="648517"/>
            </a:xfrm>
            <a:custGeom>
              <a:avLst/>
              <a:gdLst>
                <a:gd name="connsiteX0" fmla="*/ 0 w 3456709"/>
                <a:gd name="connsiteY0" fmla="*/ 0 h 499661"/>
                <a:gd name="connsiteX1" fmla="*/ 3456709 w 3456709"/>
                <a:gd name="connsiteY1" fmla="*/ 0 h 499661"/>
                <a:gd name="connsiteX2" fmla="*/ 3456709 w 3456709"/>
                <a:gd name="connsiteY2" fmla="*/ 499661 h 499661"/>
                <a:gd name="connsiteX3" fmla="*/ 0 w 3456709"/>
                <a:gd name="connsiteY3" fmla="*/ 499661 h 499661"/>
                <a:gd name="connsiteX4" fmla="*/ 0 w 3456709"/>
                <a:gd name="connsiteY4" fmla="*/ 0 h 499661"/>
                <a:gd name="connsiteX0" fmla="*/ 0 w 3952895"/>
                <a:gd name="connsiteY0" fmla="*/ 0 h 648517"/>
                <a:gd name="connsiteX1" fmla="*/ 3456709 w 3952895"/>
                <a:gd name="connsiteY1" fmla="*/ 0 h 648517"/>
                <a:gd name="connsiteX2" fmla="*/ 3952895 w 3952895"/>
                <a:gd name="connsiteY2" fmla="*/ 648517 h 648517"/>
                <a:gd name="connsiteX3" fmla="*/ 0 w 3952895"/>
                <a:gd name="connsiteY3" fmla="*/ 499661 h 648517"/>
                <a:gd name="connsiteX4" fmla="*/ 0 w 3952895"/>
                <a:gd name="connsiteY4" fmla="*/ 0 h 648517"/>
                <a:gd name="connsiteX0" fmla="*/ 0 w 3952895"/>
                <a:gd name="connsiteY0" fmla="*/ 0 h 648517"/>
                <a:gd name="connsiteX1" fmla="*/ 3456709 w 3952895"/>
                <a:gd name="connsiteY1" fmla="*/ 0 h 648517"/>
                <a:gd name="connsiteX2" fmla="*/ 3952895 w 3952895"/>
                <a:gd name="connsiteY2" fmla="*/ 648517 h 648517"/>
                <a:gd name="connsiteX3" fmla="*/ 7089 w 3952895"/>
                <a:gd name="connsiteY3" fmla="*/ 442954 h 648517"/>
                <a:gd name="connsiteX4" fmla="*/ 0 w 3952895"/>
                <a:gd name="connsiteY4" fmla="*/ 0 h 648517"/>
                <a:gd name="connsiteX0" fmla="*/ 92149 w 4045044"/>
                <a:gd name="connsiteY0" fmla="*/ 0 h 648517"/>
                <a:gd name="connsiteX1" fmla="*/ 3548858 w 4045044"/>
                <a:gd name="connsiteY1" fmla="*/ 0 h 648517"/>
                <a:gd name="connsiteX2" fmla="*/ 4045044 w 4045044"/>
                <a:gd name="connsiteY2" fmla="*/ 648517 h 648517"/>
                <a:gd name="connsiteX3" fmla="*/ 0 w 4045044"/>
                <a:gd name="connsiteY3" fmla="*/ 435865 h 648517"/>
                <a:gd name="connsiteX4" fmla="*/ 92149 w 4045044"/>
                <a:gd name="connsiteY4" fmla="*/ 0 h 648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5044" h="648517">
                  <a:moveTo>
                    <a:pt x="92149" y="0"/>
                  </a:moveTo>
                  <a:lnTo>
                    <a:pt x="3548858" y="0"/>
                  </a:lnTo>
                  <a:lnTo>
                    <a:pt x="4045044" y="648517"/>
                  </a:lnTo>
                  <a:lnTo>
                    <a:pt x="0" y="435865"/>
                  </a:lnTo>
                  <a:lnTo>
                    <a:pt x="92149" y="0"/>
                  </a:lnTo>
                  <a:close/>
                </a:path>
              </a:pathLst>
            </a:custGeom>
            <a:solidFill>
              <a:schemeClr val="bg1"/>
            </a:solidFill>
            <a:ln>
              <a:noFill/>
            </a:ln>
            <a:effectLst>
              <a:outerShdw blurRad="254000" dist="165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48" name="Group 47">
              <a:extLst>
                <a:ext uri="{FF2B5EF4-FFF2-40B4-BE49-F238E27FC236}">
                  <a16:creationId xmlns:a16="http://schemas.microsoft.com/office/drawing/2014/main" id="{015AE567-97BF-C90D-396E-CE9693FCF22C}"/>
                </a:ext>
              </a:extLst>
            </p:cNvPr>
            <p:cNvGrpSpPr/>
            <p:nvPr/>
          </p:nvGrpSpPr>
          <p:grpSpPr>
            <a:xfrm>
              <a:off x="6482643" y="3751699"/>
              <a:ext cx="4849574" cy="886691"/>
              <a:chOff x="6482643" y="3751699"/>
              <a:chExt cx="4849574" cy="886691"/>
            </a:xfrm>
          </p:grpSpPr>
          <p:sp>
            <p:nvSpPr>
              <p:cNvPr id="49" name="Rectangle 48">
                <a:extLst>
                  <a:ext uri="{FF2B5EF4-FFF2-40B4-BE49-F238E27FC236}">
                    <a16:creationId xmlns:a16="http://schemas.microsoft.com/office/drawing/2014/main" id="{FEDD1053-BF36-FAD4-E471-5401EF40173B}"/>
                  </a:ext>
                </a:extLst>
              </p:cNvPr>
              <p:cNvSpPr/>
              <p:nvPr/>
            </p:nvSpPr>
            <p:spPr>
              <a:xfrm>
                <a:off x="6482643" y="3751699"/>
                <a:ext cx="3831265" cy="886691"/>
              </a:xfrm>
              <a:prstGeom prst="rect">
                <a:avLst/>
              </a:prstGeom>
              <a:gradFill flip="none" rotWithShape="1">
                <a:gsLst>
                  <a:gs pos="5000">
                    <a:srgbClr val="002033"/>
                  </a:gs>
                  <a:gs pos="100000">
                    <a:schemeClr val="bg1">
                      <a:lumMod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a:p>
                <a:pPr algn="ctr"/>
                <a:r>
                  <a:rPr lang="en-US" b="1" dirty="0"/>
                  <a:t>Integration of health services</a:t>
                </a:r>
              </a:p>
              <a:p>
                <a:pPr algn="ctr"/>
                <a:endParaRPr lang="en-US" sz="1350" dirty="0"/>
              </a:p>
            </p:txBody>
          </p:sp>
          <p:grpSp>
            <p:nvGrpSpPr>
              <p:cNvPr id="50" name="Group 49">
                <a:extLst>
                  <a:ext uri="{FF2B5EF4-FFF2-40B4-BE49-F238E27FC236}">
                    <a16:creationId xmlns:a16="http://schemas.microsoft.com/office/drawing/2014/main" id="{F2C0A44B-74FA-4534-FB2D-5E59FA606FC8}"/>
                  </a:ext>
                </a:extLst>
              </p:cNvPr>
              <p:cNvGrpSpPr/>
              <p:nvPr/>
            </p:nvGrpSpPr>
            <p:grpSpPr>
              <a:xfrm>
                <a:off x="10313908" y="3751699"/>
                <a:ext cx="1018309" cy="886691"/>
                <a:chOff x="10313908" y="3751699"/>
                <a:chExt cx="1018309" cy="886691"/>
              </a:xfrm>
            </p:grpSpPr>
            <p:sp>
              <p:nvSpPr>
                <p:cNvPr id="51" name="Arrow: Pentagon 30">
                  <a:extLst>
                    <a:ext uri="{FF2B5EF4-FFF2-40B4-BE49-F238E27FC236}">
                      <a16:creationId xmlns:a16="http://schemas.microsoft.com/office/drawing/2014/main" id="{D1FF21FE-6A25-6747-6B2A-C730B5F01E0B}"/>
                    </a:ext>
                  </a:extLst>
                </p:cNvPr>
                <p:cNvSpPr/>
                <p:nvPr/>
              </p:nvSpPr>
              <p:spPr>
                <a:xfrm>
                  <a:off x="10313908" y="3751699"/>
                  <a:ext cx="1018309" cy="886691"/>
                </a:xfrm>
                <a:prstGeom prst="homePlate">
                  <a:avLst/>
                </a:prstGeom>
                <a:solidFill>
                  <a:srgbClr val="F595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100" b="1" dirty="0">
                      <a:solidFill>
                        <a:schemeClr val="tx1">
                          <a:lumMod val="85000"/>
                          <a:lumOff val="15000"/>
                        </a:schemeClr>
                      </a:solidFill>
                    </a:rPr>
                    <a:t>07</a:t>
                  </a:r>
                </a:p>
              </p:txBody>
            </p:sp>
            <p:sp>
              <p:nvSpPr>
                <p:cNvPr id="52" name="Rectangle 51">
                  <a:extLst>
                    <a:ext uri="{FF2B5EF4-FFF2-40B4-BE49-F238E27FC236}">
                      <a16:creationId xmlns:a16="http://schemas.microsoft.com/office/drawing/2014/main" id="{57B47ADD-C17E-C6C2-58AA-8DFEC9CE0447}"/>
                    </a:ext>
                  </a:extLst>
                </p:cNvPr>
                <p:cNvSpPr/>
                <p:nvPr/>
              </p:nvSpPr>
              <p:spPr>
                <a:xfrm>
                  <a:off x="10313908" y="3751699"/>
                  <a:ext cx="91440" cy="886691"/>
                </a:xfrm>
                <a:prstGeom prst="rect">
                  <a:avLst/>
                </a:prstGeom>
                <a:solidFill>
                  <a:schemeClr val="tx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00" b="1" dirty="0">
                    <a:solidFill>
                      <a:schemeClr val="tx1">
                        <a:lumMod val="85000"/>
                        <a:lumOff val="15000"/>
                      </a:schemeClr>
                    </a:solidFill>
                  </a:endParaRPr>
                </a:p>
              </p:txBody>
            </p:sp>
          </p:grpSp>
        </p:grpSp>
      </p:grpSp>
      <p:grpSp>
        <p:nvGrpSpPr>
          <p:cNvPr id="53" name="Group 52">
            <a:extLst>
              <a:ext uri="{FF2B5EF4-FFF2-40B4-BE49-F238E27FC236}">
                <a16:creationId xmlns:a16="http://schemas.microsoft.com/office/drawing/2014/main" id="{69E07545-07CE-C770-380D-C539895EC96A}"/>
              </a:ext>
            </a:extLst>
          </p:cNvPr>
          <p:cNvGrpSpPr/>
          <p:nvPr/>
        </p:nvGrpSpPr>
        <p:grpSpPr>
          <a:xfrm>
            <a:off x="4861982" y="4554658"/>
            <a:ext cx="3637181" cy="665018"/>
            <a:chOff x="6482643" y="4929876"/>
            <a:chExt cx="4849574" cy="886691"/>
          </a:xfrm>
        </p:grpSpPr>
        <p:sp>
          <p:nvSpPr>
            <p:cNvPr id="54" name="Rectangle 5">
              <a:extLst>
                <a:ext uri="{FF2B5EF4-FFF2-40B4-BE49-F238E27FC236}">
                  <a16:creationId xmlns:a16="http://schemas.microsoft.com/office/drawing/2014/main" id="{7D21D3FB-8F8E-4B4F-70B4-18161C90208E}"/>
                </a:ext>
              </a:extLst>
            </p:cNvPr>
            <p:cNvSpPr/>
            <p:nvPr/>
          </p:nvSpPr>
          <p:spPr>
            <a:xfrm>
              <a:off x="6765050" y="5168050"/>
              <a:ext cx="4045044" cy="648517"/>
            </a:xfrm>
            <a:custGeom>
              <a:avLst/>
              <a:gdLst>
                <a:gd name="connsiteX0" fmla="*/ 0 w 3456709"/>
                <a:gd name="connsiteY0" fmla="*/ 0 h 499661"/>
                <a:gd name="connsiteX1" fmla="*/ 3456709 w 3456709"/>
                <a:gd name="connsiteY1" fmla="*/ 0 h 499661"/>
                <a:gd name="connsiteX2" fmla="*/ 3456709 w 3456709"/>
                <a:gd name="connsiteY2" fmla="*/ 499661 h 499661"/>
                <a:gd name="connsiteX3" fmla="*/ 0 w 3456709"/>
                <a:gd name="connsiteY3" fmla="*/ 499661 h 499661"/>
                <a:gd name="connsiteX4" fmla="*/ 0 w 3456709"/>
                <a:gd name="connsiteY4" fmla="*/ 0 h 499661"/>
                <a:gd name="connsiteX0" fmla="*/ 0 w 3952895"/>
                <a:gd name="connsiteY0" fmla="*/ 0 h 648517"/>
                <a:gd name="connsiteX1" fmla="*/ 3456709 w 3952895"/>
                <a:gd name="connsiteY1" fmla="*/ 0 h 648517"/>
                <a:gd name="connsiteX2" fmla="*/ 3952895 w 3952895"/>
                <a:gd name="connsiteY2" fmla="*/ 648517 h 648517"/>
                <a:gd name="connsiteX3" fmla="*/ 0 w 3952895"/>
                <a:gd name="connsiteY3" fmla="*/ 499661 h 648517"/>
                <a:gd name="connsiteX4" fmla="*/ 0 w 3952895"/>
                <a:gd name="connsiteY4" fmla="*/ 0 h 648517"/>
                <a:gd name="connsiteX0" fmla="*/ 0 w 3952895"/>
                <a:gd name="connsiteY0" fmla="*/ 0 h 648517"/>
                <a:gd name="connsiteX1" fmla="*/ 3456709 w 3952895"/>
                <a:gd name="connsiteY1" fmla="*/ 0 h 648517"/>
                <a:gd name="connsiteX2" fmla="*/ 3952895 w 3952895"/>
                <a:gd name="connsiteY2" fmla="*/ 648517 h 648517"/>
                <a:gd name="connsiteX3" fmla="*/ 7089 w 3952895"/>
                <a:gd name="connsiteY3" fmla="*/ 442954 h 648517"/>
                <a:gd name="connsiteX4" fmla="*/ 0 w 3952895"/>
                <a:gd name="connsiteY4" fmla="*/ 0 h 648517"/>
                <a:gd name="connsiteX0" fmla="*/ 92149 w 4045044"/>
                <a:gd name="connsiteY0" fmla="*/ 0 h 648517"/>
                <a:gd name="connsiteX1" fmla="*/ 3548858 w 4045044"/>
                <a:gd name="connsiteY1" fmla="*/ 0 h 648517"/>
                <a:gd name="connsiteX2" fmla="*/ 4045044 w 4045044"/>
                <a:gd name="connsiteY2" fmla="*/ 648517 h 648517"/>
                <a:gd name="connsiteX3" fmla="*/ 0 w 4045044"/>
                <a:gd name="connsiteY3" fmla="*/ 435865 h 648517"/>
                <a:gd name="connsiteX4" fmla="*/ 92149 w 4045044"/>
                <a:gd name="connsiteY4" fmla="*/ 0 h 648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5044" h="648517">
                  <a:moveTo>
                    <a:pt x="92149" y="0"/>
                  </a:moveTo>
                  <a:lnTo>
                    <a:pt x="3548858" y="0"/>
                  </a:lnTo>
                  <a:lnTo>
                    <a:pt x="4045044" y="648517"/>
                  </a:lnTo>
                  <a:lnTo>
                    <a:pt x="0" y="435865"/>
                  </a:lnTo>
                  <a:lnTo>
                    <a:pt x="92149" y="0"/>
                  </a:lnTo>
                  <a:close/>
                </a:path>
              </a:pathLst>
            </a:custGeom>
            <a:solidFill>
              <a:schemeClr val="bg1"/>
            </a:solidFill>
            <a:ln>
              <a:noFill/>
            </a:ln>
            <a:effectLst>
              <a:outerShdw blurRad="254000" dist="165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55" name="Group 54">
              <a:extLst>
                <a:ext uri="{FF2B5EF4-FFF2-40B4-BE49-F238E27FC236}">
                  <a16:creationId xmlns:a16="http://schemas.microsoft.com/office/drawing/2014/main" id="{57DA5845-1DD7-C7FC-DB87-F682F800B98D}"/>
                </a:ext>
              </a:extLst>
            </p:cNvPr>
            <p:cNvGrpSpPr/>
            <p:nvPr/>
          </p:nvGrpSpPr>
          <p:grpSpPr>
            <a:xfrm>
              <a:off x="6482643" y="4929876"/>
              <a:ext cx="4849574" cy="886691"/>
              <a:chOff x="6482643" y="4929876"/>
              <a:chExt cx="4849574" cy="886691"/>
            </a:xfrm>
          </p:grpSpPr>
          <p:sp>
            <p:nvSpPr>
              <p:cNvPr id="56" name="Rectangle 55">
                <a:extLst>
                  <a:ext uri="{FF2B5EF4-FFF2-40B4-BE49-F238E27FC236}">
                    <a16:creationId xmlns:a16="http://schemas.microsoft.com/office/drawing/2014/main" id="{B8CC0EB7-F1EC-7F2D-B28C-D09C7A47E19E}"/>
                  </a:ext>
                </a:extLst>
              </p:cNvPr>
              <p:cNvSpPr/>
              <p:nvPr/>
            </p:nvSpPr>
            <p:spPr>
              <a:xfrm>
                <a:off x="6482643" y="4929876"/>
                <a:ext cx="3831265" cy="886691"/>
              </a:xfrm>
              <a:prstGeom prst="rect">
                <a:avLst/>
              </a:prstGeom>
              <a:gradFill flip="none" rotWithShape="1">
                <a:gsLst>
                  <a:gs pos="5000">
                    <a:srgbClr val="002033"/>
                  </a:gs>
                  <a:gs pos="100000">
                    <a:schemeClr val="bg1">
                      <a:lumMod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a:p>
                <a:pPr algn="ctr"/>
                <a:r>
                  <a:rPr lang="en-US" sz="1600" b="1" dirty="0"/>
                  <a:t>Enablers and barriers to the synergistic actions for the PHC approach</a:t>
                </a:r>
              </a:p>
              <a:p>
                <a:pPr algn="ctr"/>
                <a:endParaRPr lang="en-US" sz="1350" dirty="0"/>
              </a:p>
            </p:txBody>
          </p:sp>
          <p:grpSp>
            <p:nvGrpSpPr>
              <p:cNvPr id="57" name="Group 56">
                <a:extLst>
                  <a:ext uri="{FF2B5EF4-FFF2-40B4-BE49-F238E27FC236}">
                    <a16:creationId xmlns:a16="http://schemas.microsoft.com/office/drawing/2014/main" id="{505E3C99-433C-11EB-307E-D578C0FE3551}"/>
                  </a:ext>
                </a:extLst>
              </p:cNvPr>
              <p:cNvGrpSpPr/>
              <p:nvPr/>
            </p:nvGrpSpPr>
            <p:grpSpPr>
              <a:xfrm>
                <a:off x="10313908" y="4929876"/>
                <a:ext cx="1018309" cy="886691"/>
                <a:chOff x="10313908" y="4929876"/>
                <a:chExt cx="1018309" cy="886691"/>
              </a:xfrm>
            </p:grpSpPr>
            <p:sp>
              <p:nvSpPr>
                <p:cNvPr id="58" name="Arrow: Pentagon 7">
                  <a:extLst>
                    <a:ext uri="{FF2B5EF4-FFF2-40B4-BE49-F238E27FC236}">
                      <a16:creationId xmlns:a16="http://schemas.microsoft.com/office/drawing/2014/main" id="{0A7A3FBB-27F7-E7AB-9412-F1073890D530}"/>
                    </a:ext>
                  </a:extLst>
                </p:cNvPr>
                <p:cNvSpPr/>
                <p:nvPr/>
              </p:nvSpPr>
              <p:spPr>
                <a:xfrm>
                  <a:off x="10313908" y="4929876"/>
                  <a:ext cx="1018309" cy="886691"/>
                </a:xfrm>
                <a:prstGeom prst="homePlate">
                  <a:avLst/>
                </a:prstGeom>
                <a:solidFill>
                  <a:srgbClr val="9416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100" b="1" dirty="0"/>
                    <a:t>08</a:t>
                  </a:r>
                </a:p>
              </p:txBody>
            </p:sp>
            <p:sp>
              <p:nvSpPr>
                <p:cNvPr id="59" name="Rectangle 58">
                  <a:extLst>
                    <a:ext uri="{FF2B5EF4-FFF2-40B4-BE49-F238E27FC236}">
                      <a16:creationId xmlns:a16="http://schemas.microsoft.com/office/drawing/2014/main" id="{648D3D2D-825C-B07A-12E0-C21B8CA06498}"/>
                    </a:ext>
                  </a:extLst>
                </p:cNvPr>
                <p:cNvSpPr/>
                <p:nvPr/>
              </p:nvSpPr>
              <p:spPr>
                <a:xfrm>
                  <a:off x="10313908" y="4929876"/>
                  <a:ext cx="91440" cy="886691"/>
                </a:xfrm>
                <a:prstGeom prst="rect">
                  <a:avLst/>
                </a:prstGeom>
                <a:solidFill>
                  <a:schemeClr val="tx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00" b="1" dirty="0">
                    <a:solidFill>
                      <a:schemeClr val="tx1">
                        <a:lumMod val="85000"/>
                        <a:lumOff val="15000"/>
                      </a:schemeClr>
                    </a:solidFill>
                  </a:endParaRPr>
                </a:p>
              </p:txBody>
            </p:sp>
          </p:grpSp>
        </p:grpSp>
      </p:grpSp>
      <p:grpSp>
        <p:nvGrpSpPr>
          <p:cNvPr id="62" name="Group 61">
            <a:extLst>
              <a:ext uri="{FF2B5EF4-FFF2-40B4-BE49-F238E27FC236}">
                <a16:creationId xmlns:a16="http://schemas.microsoft.com/office/drawing/2014/main" id="{D9133F2C-CDD5-FED7-5D6D-61B612B60E35}"/>
              </a:ext>
            </a:extLst>
          </p:cNvPr>
          <p:cNvGrpSpPr/>
          <p:nvPr/>
        </p:nvGrpSpPr>
        <p:grpSpPr>
          <a:xfrm>
            <a:off x="644838" y="1839002"/>
            <a:ext cx="3637181" cy="665018"/>
            <a:chOff x="859784" y="1395345"/>
            <a:chExt cx="4849574" cy="886691"/>
          </a:xfrm>
        </p:grpSpPr>
        <p:sp>
          <p:nvSpPr>
            <p:cNvPr id="63" name="Rectangle 5">
              <a:extLst>
                <a:ext uri="{FF2B5EF4-FFF2-40B4-BE49-F238E27FC236}">
                  <a16:creationId xmlns:a16="http://schemas.microsoft.com/office/drawing/2014/main" id="{E26D3EF0-1E39-EDD3-484D-9523E1B77CF3}"/>
                </a:ext>
              </a:extLst>
            </p:cNvPr>
            <p:cNvSpPr/>
            <p:nvPr/>
          </p:nvSpPr>
          <p:spPr>
            <a:xfrm>
              <a:off x="1142191" y="1633519"/>
              <a:ext cx="4045044" cy="648517"/>
            </a:xfrm>
            <a:custGeom>
              <a:avLst/>
              <a:gdLst>
                <a:gd name="connsiteX0" fmla="*/ 0 w 3456709"/>
                <a:gd name="connsiteY0" fmla="*/ 0 h 499661"/>
                <a:gd name="connsiteX1" fmla="*/ 3456709 w 3456709"/>
                <a:gd name="connsiteY1" fmla="*/ 0 h 499661"/>
                <a:gd name="connsiteX2" fmla="*/ 3456709 w 3456709"/>
                <a:gd name="connsiteY2" fmla="*/ 499661 h 499661"/>
                <a:gd name="connsiteX3" fmla="*/ 0 w 3456709"/>
                <a:gd name="connsiteY3" fmla="*/ 499661 h 499661"/>
                <a:gd name="connsiteX4" fmla="*/ 0 w 3456709"/>
                <a:gd name="connsiteY4" fmla="*/ 0 h 499661"/>
                <a:gd name="connsiteX0" fmla="*/ 0 w 3952895"/>
                <a:gd name="connsiteY0" fmla="*/ 0 h 648517"/>
                <a:gd name="connsiteX1" fmla="*/ 3456709 w 3952895"/>
                <a:gd name="connsiteY1" fmla="*/ 0 h 648517"/>
                <a:gd name="connsiteX2" fmla="*/ 3952895 w 3952895"/>
                <a:gd name="connsiteY2" fmla="*/ 648517 h 648517"/>
                <a:gd name="connsiteX3" fmla="*/ 0 w 3952895"/>
                <a:gd name="connsiteY3" fmla="*/ 499661 h 648517"/>
                <a:gd name="connsiteX4" fmla="*/ 0 w 3952895"/>
                <a:gd name="connsiteY4" fmla="*/ 0 h 648517"/>
                <a:gd name="connsiteX0" fmla="*/ 0 w 3952895"/>
                <a:gd name="connsiteY0" fmla="*/ 0 h 648517"/>
                <a:gd name="connsiteX1" fmla="*/ 3456709 w 3952895"/>
                <a:gd name="connsiteY1" fmla="*/ 0 h 648517"/>
                <a:gd name="connsiteX2" fmla="*/ 3952895 w 3952895"/>
                <a:gd name="connsiteY2" fmla="*/ 648517 h 648517"/>
                <a:gd name="connsiteX3" fmla="*/ 7089 w 3952895"/>
                <a:gd name="connsiteY3" fmla="*/ 442954 h 648517"/>
                <a:gd name="connsiteX4" fmla="*/ 0 w 3952895"/>
                <a:gd name="connsiteY4" fmla="*/ 0 h 648517"/>
                <a:gd name="connsiteX0" fmla="*/ 92149 w 4045044"/>
                <a:gd name="connsiteY0" fmla="*/ 0 h 648517"/>
                <a:gd name="connsiteX1" fmla="*/ 3548858 w 4045044"/>
                <a:gd name="connsiteY1" fmla="*/ 0 h 648517"/>
                <a:gd name="connsiteX2" fmla="*/ 4045044 w 4045044"/>
                <a:gd name="connsiteY2" fmla="*/ 648517 h 648517"/>
                <a:gd name="connsiteX3" fmla="*/ 0 w 4045044"/>
                <a:gd name="connsiteY3" fmla="*/ 435865 h 648517"/>
                <a:gd name="connsiteX4" fmla="*/ 92149 w 4045044"/>
                <a:gd name="connsiteY4" fmla="*/ 0 h 648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5044" h="648517">
                  <a:moveTo>
                    <a:pt x="92149" y="0"/>
                  </a:moveTo>
                  <a:lnTo>
                    <a:pt x="3548858" y="0"/>
                  </a:lnTo>
                  <a:lnTo>
                    <a:pt x="4045044" y="648517"/>
                  </a:lnTo>
                  <a:lnTo>
                    <a:pt x="0" y="435865"/>
                  </a:lnTo>
                  <a:lnTo>
                    <a:pt x="92149" y="0"/>
                  </a:lnTo>
                  <a:close/>
                </a:path>
              </a:pathLst>
            </a:custGeom>
            <a:solidFill>
              <a:schemeClr val="bg1"/>
            </a:solidFill>
            <a:ln>
              <a:noFill/>
            </a:ln>
            <a:effectLst>
              <a:outerShdw blurRad="254000" dist="165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64" name="Group 63">
              <a:extLst>
                <a:ext uri="{FF2B5EF4-FFF2-40B4-BE49-F238E27FC236}">
                  <a16:creationId xmlns:a16="http://schemas.microsoft.com/office/drawing/2014/main" id="{183D3086-61E5-8B51-DC87-7AB44303900D}"/>
                </a:ext>
              </a:extLst>
            </p:cNvPr>
            <p:cNvGrpSpPr/>
            <p:nvPr/>
          </p:nvGrpSpPr>
          <p:grpSpPr>
            <a:xfrm>
              <a:off x="859784" y="1395345"/>
              <a:ext cx="4849574" cy="886691"/>
              <a:chOff x="859784" y="1395345"/>
              <a:chExt cx="4849574" cy="886691"/>
            </a:xfrm>
          </p:grpSpPr>
          <p:sp>
            <p:nvSpPr>
              <p:cNvPr id="65" name="Rectangle 64">
                <a:extLst>
                  <a:ext uri="{FF2B5EF4-FFF2-40B4-BE49-F238E27FC236}">
                    <a16:creationId xmlns:a16="http://schemas.microsoft.com/office/drawing/2014/main" id="{91DE3E04-2AE0-BF98-912A-2972CAF30FDC}"/>
                  </a:ext>
                </a:extLst>
              </p:cNvPr>
              <p:cNvSpPr/>
              <p:nvPr/>
            </p:nvSpPr>
            <p:spPr>
              <a:xfrm>
                <a:off x="859784" y="1395345"/>
                <a:ext cx="3831265" cy="886691"/>
              </a:xfrm>
              <a:prstGeom prst="rect">
                <a:avLst/>
              </a:prstGeom>
              <a:gradFill>
                <a:gsLst>
                  <a:gs pos="5000">
                    <a:srgbClr val="002033"/>
                  </a:gs>
                  <a:gs pos="100000">
                    <a:schemeClr val="bg1">
                      <a:lumMod val="5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Introduction</a:t>
                </a:r>
              </a:p>
              <a:p>
                <a:pPr algn="ctr"/>
                <a:endParaRPr lang="en-US" sz="1350" dirty="0"/>
              </a:p>
            </p:txBody>
          </p:sp>
          <p:grpSp>
            <p:nvGrpSpPr>
              <p:cNvPr id="66" name="Group 65">
                <a:extLst>
                  <a:ext uri="{FF2B5EF4-FFF2-40B4-BE49-F238E27FC236}">
                    <a16:creationId xmlns:a16="http://schemas.microsoft.com/office/drawing/2014/main" id="{3FC24167-9F78-19FF-2E50-9B11A50EECBE}"/>
                  </a:ext>
                </a:extLst>
              </p:cNvPr>
              <p:cNvGrpSpPr/>
              <p:nvPr/>
            </p:nvGrpSpPr>
            <p:grpSpPr>
              <a:xfrm>
                <a:off x="4691049" y="1395345"/>
                <a:ext cx="1018309" cy="886691"/>
                <a:chOff x="4691049" y="1395345"/>
                <a:chExt cx="1018309" cy="886691"/>
              </a:xfrm>
            </p:grpSpPr>
            <p:sp>
              <p:nvSpPr>
                <p:cNvPr id="67" name="Arrow: Pentagon 73">
                  <a:extLst>
                    <a:ext uri="{FF2B5EF4-FFF2-40B4-BE49-F238E27FC236}">
                      <a16:creationId xmlns:a16="http://schemas.microsoft.com/office/drawing/2014/main" id="{60BCA185-A1C7-2C05-E09B-E0C68AF13DF4}"/>
                    </a:ext>
                  </a:extLst>
                </p:cNvPr>
                <p:cNvSpPr/>
                <p:nvPr/>
              </p:nvSpPr>
              <p:spPr>
                <a:xfrm>
                  <a:off x="4691049" y="1395345"/>
                  <a:ext cx="1018309" cy="886691"/>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100" b="1" dirty="0"/>
                    <a:t>01</a:t>
                  </a:r>
                </a:p>
              </p:txBody>
            </p:sp>
            <p:sp>
              <p:nvSpPr>
                <p:cNvPr id="68" name="Rectangle 67">
                  <a:extLst>
                    <a:ext uri="{FF2B5EF4-FFF2-40B4-BE49-F238E27FC236}">
                      <a16:creationId xmlns:a16="http://schemas.microsoft.com/office/drawing/2014/main" id="{EBEC9B9A-1115-DC26-B599-04FBC04E7AC4}"/>
                    </a:ext>
                  </a:extLst>
                </p:cNvPr>
                <p:cNvSpPr/>
                <p:nvPr/>
              </p:nvSpPr>
              <p:spPr>
                <a:xfrm>
                  <a:off x="4691049" y="1395345"/>
                  <a:ext cx="91440" cy="886691"/>
                </a:xfrm>
                <a:prstGeom prst="rect">
                  <a:avLst/>
                </a:prstGeom>
                <a:solidFill>
                  <a:schemeClr val="tx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00" b="1" dirty="0">
                    <a:solidFill>
                      <a:schemeClr val="tx1">
                        <a:lumMod val="85000"/>
                        <a:lumOff val="15000"/>
                      </a:schemeClr>
                    </a:solidFill>
                  </a:endParaRPr>
                </a:p>
              </p:txBody>
            </p:sp>
          </p:grpSp>
        </p:grpSp>
      </p:grpSp>
      <p:grpSp>
        <p:nvGrpSpPr>
          <p:cNvPr id="69" name="Group 68">
            <a:extLst>
              <a:ext uri="{FF2B5EF4-FFF2-40B4-BE49-F238E27FC236}">
                <a16:creationId xmlns:a16="http://schemas.microsoft.com/office/drawing/2014/main" id="{76FF6E11-6FBA-E828-FB64-0CE3CEF179C6}"/>
              </a:ext>
            </a:extLst>
          </p:cNvPr>
          <p:cNvGrpSpPr/>
          <p:nvPr/>
        </p:nvGrpSpPr>
        <p:grpSpPr>
          <a:xfrm>
            <a:off x="8673715" y="2819055"/>
            <a:ext cx="3637181" cy="665018"/>
            <a:chOff x="859784" y="2573522"/>
            <a:chExt cx="4849574" cy="886691"/>
          </a:xfrm>
        </p:grpSpPr>
        <p:sp>
          <p:nvSpPr>
            <p:cNvPr id="70" name="Rectangle 5">
              <a:extLst>
                <a:ext uri="{FF2B5EF4-FFF2-40B4-BE49-F238E27FC236}">
                  <a16:creationId xmlns:a16="http://schemas.microsoft.com/office/drawing/2014/main" id="{7815C571-B99A-8D37-E3C2-AC38C5F034E9}"/>
                </a:ext>
              </a:extLst>
            </p:cNvPr>
            <p:cNvSpPr/>
            <p:nvPr/>
          </p:nvSpPr>
          <p:spPr>
            <a:xfrm>
              <a:off x="1142191" y="2811696"/>
              <a:ext cx="4045044" cy="648517"/>
            </a:xfrm>
            <a:custGeom>
              <a:avLst/>
              <a:gdLst>
                <a:gd name="connsiteX0" fmla="*/ 0 w 3456709"/>
                <a:gd name="connsiteY0" fmla="*/ 0 h 499661"/>
                <a:gd name="connsiteX1" fmla="*/ 3456709 w 3456709"/>
                <a:gd name="connsiteY1" fmla="*/ 0 h 499661"/>
                <a:gd name="connsiteX2" fmla="*/ 3456709 w 3456709"/>
                <a:gd name="connsiteY2" fmla="*/ 499661 h 499661"/>
                <a:gd name="connsiteX3" fmla="*/ 0 w 3456709"/>
                <a:gd name="connsiteY3" fmla="*/ 499661 h 499661"/>
                <a:gd name="connsiteX4" fmla="*/ 0 w 3456709"/>
                <a:gd name="connsiteY4" fmla="*/ 0 h 499661"/>
                <a:gd name="connsiteX0" fmla="*/ 0 w 3952895"/>
                <a:gd name="connsiteY0" fmla="*/ 0 h 648517"/>
                <a:gd name="connsiteX1" fmla="*/ 3456709 w 3952895"/>
                <a:gd name="connsiteY1" fmla="*/ 0 h 648517"/>
                <a:gd name="connsiteX2" fmla="*/ 3952895 w 3952895"/>
                <a:gd name="connsiteY2" fmla="*/ 648517 h 648517"/>
                <a:gd name="connsiteX3" fmla="*/ 0 w 3952895"/>
                <a:gd name="connsiteY3" fmla="*/ 499661 h 648517"/>
                <a:gd name="connsiteX4" fmla="*/ 0 w 3952895"/>
                <a:gd name="connsiteY4" fmla="*/ 0 h 648517"/>
                <a:gd name="connsiteX0" fmla="*/ 0 w 3952895"/>
                <a:gd name="connsiteY0" fmla="*/ 0 h 648517"/>
                <a:gd name="connsiteX1" fmla="*/ 3456709 w 3952895"/>
                <a:gd name="connsiteY1" fmla="*/ 0 h 648517"/>
                <a:gd name="connsiteX2" fmla="*/ 3952895 w 3952895"/>
                <a:gd name="connsiteY2" fmla="*/ 648517 h 648517"/>
                <a:gd name="connsiteX3" fmla="*/ 7089 w 3952895"/>
                <a:gd name="connsiteY3" fmla="*/ 442954 h 648517"/>
                <a:gd name="connsiteX4" fmla="*/ 0 w 3952895"/>
                <a:gd name="connsiteY4" fmla="*/ 0 h 648517"/>
                <a:gd name="connsiteX0" fmla="*/ 92149 w 4045044"/>
                <a:gd name="connsiteY0" fmla="*/ 0 h 648517"/>
                <a:gd name="connsiteX1" fmla="*/ 3548858 w 4045044"/>
                <a:gd name="connsiteY1" fmla="*/ 0 h 648517"/>
                <a:gd name="connsiteX2" fmla="*/ 4045044 w 4045044"/>
                <a:gd name="connsiteY2" fmla="*/ 648517 h 648517"/>
                <a:gd name="connsiteX3" fmla="*/ 0 w 4045044"/>
                <a:gd name="connsiteY3" fmla="*/ 435865 h 648517"/>
                <a:gd name="connsiteX4" fmla="*/ 92149 w 4045044"/>
                <a:gd name="connsiteY4" fmla="*/ 0 h 648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5044" h="648517">
                  <a:moveTo>
                    <a:pt x="92149" y="0"/>
                  </a:moveTo>
                  <a:lnTo>
                    <a:pt x="3548858" y="0"/>
                  </a:lnTo>
                  <a:lnTo>
                    <a:pt x="4045044" y="648517"/>
                  </a:lnTo>
                  <a:lnTo>
                    <a:pt x="0" y="435865"/>
                  </a:lnTo>
                  <a:lnTo>
                    <a:pt x="92149" y="0"/>
                  </a:lnTo>
                  <a:close/>
                </a:path>
              </a:pathLst>
            </a:custGeom>
            <a:solidFill>
              <a:schemeClr val="bg1"/>
            </a:solidFill>
            <a:ln>
              <a:noFill/>
            </a:ln>
            <a:effectLst>
              <a:outerShdw blurRad="254000" dist="165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71" name="Group 70">
              <a:extLst>
                <a:ext uri="{FF2B5EF4-FFF2-40B4-BE49-F238E27FC236}">
                  <a16:creationId xmlns:a16="http://schemas.microsoft.com/office/drawing/2014/main" id="{F610267D-D851-D176-3436-2611E5D711E4}"/>
                </a:ext>
              </a:extLst>
            </p:cNvPr>
            <p:cNvGrpSpPr/>
            <p:nvPr/>
          </p:nvGrpSpPr>
          <p:grpSpPr>
            <a:xfrm>
              <a:off x="859784" y="2573522"/>
              <a:ext cx="4849574" cy="886691"/>
              <a:chOff x="859784" y="2573522"/>
              <a:chExt cx="4849574" cy="886691"/>
            </a:xfrm>
          </p:grpSpPr>
          <p:sp>
            <p:nvSpPr>
              <p:cNvPr id="72" name="Rectangle 71">
                <a:extLst>
                  <a:ext uri="{FF2B5EF4-FFF2-40B4-BE49-F238E27FC236}">
                    <a16:creationId xmlns:a16="http://schemas.microsoft.com/office/drawing/2014/main" id="{4928F663-DABC-4F7B-267F-850B58273996}"/>
                  </a:ext>
                </a:extLst>
              </p:cNvPr>
              <p:cNvSpPr/>
              <p:nvPr/>
            </p:nvSpPr>
            <p:spPr>
              <a:xfrm>
                <a:off x="859784" y="2573522"/>
                <a:ext cx="3831265" cy="886691"/>
              </a:xfrm>
              <a:prstGeom prst="rect">
                <a:avLst/>
              </a:prstGeom>
              <a:gradFill>
                <a:gsLst>
                  <a:gs pos="5000">
                    <a:srgbClr val="002033"/>
                  </a:gs>
                  <a:gs pos="100000">
                    <a:schemeClr val="bg1">
                      <a:lumMod val="5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Kenyan situation</a:t>
                </a:r>
              </a:p>
              <a:p>
                <a:pPr algn="ctr"/>
                <a:endParaRPr lang="en-US" sz="1350" dirty="0"/>
              </a:p>
            </p:txBody>
          </p:sp>
          <p:grpSp>
            <p:nvGrpSpPr>
              <p:cNvPr id="73" name="Group 72">
                <a:extLst>
                  <a:ext uri="{FF2B5EF4-FFF2-40B4-BE49-F238E27FC236}">
                    <a16:creationId xmlns:a16="http://schemas.microsoft.com/office/drawing/2014/main" id="{AB56F9E9-AAAA-258D-8408-F885CBDC330D}"/>
                  </a:ext>
                </a:extLst>
              </p:cNvPr>
              <p:cNvGrpSpPr/>
              <p:nvPr/>
            </p:nvGrpSpPr>
            <p:grpSpPr>
              <a:xfrm>
                <a:off x="4691049" y="2573522"/>
                <a:ext cx="1018309" cy="886691"/>
                <a:chOff x="4691049" y="2573522"/>
                <a:chExt cx="1018309" cy="886691"/>
              </a:xfrm>
            </p:grpSpPr>
            <p:sp>
              <p:nvSpPr>
                <p:cNvPr id="74" name="Arrow: Pentagon 65">
                  <a:extLst>
                    <a:ext uri="{FF2B5EF4-FFF2-40B4-BE49-F238E27FC236}">
                      <a16:creationId xmlns:a16="http://schemas.microsoft.com/office/drawing/2014/main" id="{1BC0F118-322E-7E60-268D-3CB368569064}"/>
                    </a:ext>
                  </a:extLst>
                </p:cNvPr>
                <p:cNvSpPr/>
                <p:nvPr/>
              </p:nvSpPr>
              <p:spPr>
                <a:xfrm>
                  <a:off x="4691049" y="2573522"/>
                  <a:ext cx="1018309" cy="886691"/>
                </a:xfrm>
                <a:prstGeom prst="homePlat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100" b="1" dirty="0">
                      <a:solidFill>
                        <a:schemeClr val="tx1">
                          <a:lumMod val="85000"/>
                          <a:lumOff val="15000"/>
                        </a:schemeClr>
                      </a:solidFill>
                    </a:rPr>
                    <a:t>02</a:t>
                  </a:r>
                </a:p>
              </p:txBody>
            </p:sp>
            <p:sp>
              <p:nvSpPr>
                <p:cNvPr id="75" name="Rectangle 74">
                  <a:extLst>
                    <a:ext uri="{FF2B5EF4-FFF2-40B4-BE49-F238E27FC236}">
                      <a16:creationId xmlns:a16="http://schemas.microsoft.com/office/drawing/2014/main" id="{8D107699-0B49-07AF-E970-B4AF287E2D87}"/>
                    </a:ext>
                  </a:extLst>
                </p:cNvPr>
                <p:cNvSpPr/>
                <p:nvPr/>
              </p:nvSpPr>
              <p:spPr>
                <a:xfrm>
                  <a:off x="4691049" y="2573522"/>
                  <a:ext cx="91440" cy="886691"/>
                </a:xfrm>
                <a:prstGeom prst="rect">
                  <a:avLst/>
                </a:prstGeom>
                <a:solidFill>
                  <a:schemeClr val="tx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00" b="1" dirty="0">
                    <a:solidFill>
                      <a:schemeClr val="tx1">
                        <a:lumMod val="85000"/>
                        <a:lumOff val="15000"/>
                      </a:schemeClr>
                    </a:solidFill>
                  </a:endParaRPr>
                </a:p>
              </p:txBody>
            </p:sp>
          </p:grpSp>
        </p:grpSp>
      </p:grpSp>
      <p:grpSp>
        <p:nvGrpSpPr>
          <p:cNvPr id="76" name="Group 75">
            <a:extLst>
              <a:ext uri="{FF2B5EF4-FFF2-40B4-BE49-F238E27FC236}">
                <a16:creationId xmlns:a16="http://schemas.microsoft.com/office/drawing/2014/main" id="{8741D3C1-4DA5-4781-E154-02C01CEF9055}"/>
              </a:ext>
            </a:extLst>
          </p:cNvPr>
          <p:cNvGrpSpPr/>
          <p:nvPr/>
        </p:nvGrpSpPr>
        <p:grpSpPr>
          <a:xfrm>
            <a:off x="8647064" y="3978955"/>
            <a:ext cx="3637181" cy="665018"/>
            <a:chOff x="859784" y="3751699"/>
            <a:chExt cx="4849574" cy="886691"/>
          </a:xfrm>
        </p:grpSpPr>
        <p:sp>
          <p:nvSpPr>
            <p:cNvPr id="77" name="Rectangle 5">
              <a:extLst>
                <a:ext uri="{FF2B5EF4-FFF2-40B4-BE49-F238E27FC236}">
                  <a16:creationId xmlns:a16="http://schemas.microsoft.com/office/drawing/2014/main" id="{2796F309-E7DD-47A8-F4DF-90F32024CDE2}"/>
                </a:ext>
              </a:extLst>
            </p:cNvPr>
            <p:cNvSpPr/>
            <p:nvPr/>
          </p:nvSpPr>
          <p:spPr>
            <a:xfrm>
              <a:off x="1142191" y="3989873"/>
              <a:ext cx="4045044" cy="648517"/>
            </a:xfrm>
            <a:custGeom>
              <a:avLst/>
              <a:gdLst>
                <a:gd name="connsiteX0" fmla="*/ 0 w 3456709"/>
                <a:gd name="connsiteY0" fmla="*/ 0 h 499661"/>
                <a:gd name="connsiteX1" fmla="*/ 3456709 w 3456709"/>
                <a:gd name="connsiteY1" fmla="*/ 0 h 499661"/>
                <a:gd name="connsiteX2" fmla="*/ 3456709 w 3456709"/>
                <a:gd name="connsiteY2" fmla="*/ 499661 h 499661"/>
                <a:gd name="connsiteX3" fmla="*/ 0 w 3456709"/>
                <a:gd name="connsiteY3" fmla="*/ 499661 h 499661"/>
                <a:gd name="connsiteX4" fmla="*/ 0 w 3456709"/>
                <a:gd name="connsiteY4" fmla="*/ 0 h 499661"/>
                <a:gd name="connsiteX0" fmla="*/ 0 w 3952895"/>
                <a:gd name="connsiteY0" fmla="*/ 0 h 648517"/>
                <a:gd name="connsiteX1" fmla="*/ 3456709 w 3952895"/>
                <a:gd name="connsiteY1" fmla="*/ 0 h 648517"/>
                <a:gd name="connsiteX2" fmla="*/ 3952895 w 3952895"/>
                <a:gd name="connsiteY2" fmla="*/ 648517 h 648517"/>
                <a:gd name="connsiteX3" fmla="*/ 0 w 3952895"/>
                <a:gd name="connsiteY3" fmla="*/ 499661 h 648517"/>
                <a:gd name="connsiteX4" fmla="*/ 0 w 3952895"/>
                <a:gd name="connsiteY4" fmla="*/ 0 h 648517"/>
                <a:gd name="connsiteX0" fmla="*/ 0 w 3952895"/>
                <a:gd name="connsiteY0" fmla="*/ 0 h 648517"/>
                <a:gd name="connsiteX1" fmla="*/ 3456709 w 3952895"/>
                <a:gd name="connsiteY1" fmla="*/ 0 h 648517"/>
                <a:gd name="connsiteX2" fmla="*/ 3952895 w 3952895"/>
                <a:gd name="connsiteY2" fmla="*/ 648517 h 648517"/>
                <a:gd name="connsiteX3" fmla="*/ 7089 w 3952895"/>
                <a:gd name="connsiteY3" fmla="*/ 442954 h 648517"/>
                <a:gd name="connsiteX4" fmla="*/ 0 w 3952895"/>
                <a:gd name="connsiteY4" fmla="*/ 0 h 648517"/>
                <a:gd name="connsiteX0" fmla="*/ 92149 w 4045044"/>
                <a:gd name="connsiteY0" fmla="*/ 0 h 648517"/>
                <a:gd name="connsiteX1" fmla="*/ 3548858 w 4045044"/>
                <a:gd name="connsiteY1" fmla="*/ 0 h 648517"/>
                <a:gd name="connsiteX2" fmla="*/ 4045044 w 4045044"/>
                <a:gd name="connsiteY2" fmla="*/ 648517 h 648517"/>
                <a:gd name="connsiteX3" fmla="*/ 0 w 4045044"/>
                <a:gd name="connsiteY3" fmla="*/ 435865 h 648517"/>
                <a:gd name="connsiteX4" fmla="*/ 92149 w 4045044"/>
                <a:gd name="connsiteY4" fmla="*/ 0 h 648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5044" h="648517">
                  <a:moveTo>
                    <a:pt x="92149" y="0"/>
                  </a:moveTo>
                  <a:lnTo>
                    <a:pt x="3548858" y="0"/>
                  </a:lnTo>
                  <a:lnTo>
                    <a:pt x="4045044" y="648517"/>
                  </a:lnTo>
                  <a:lnTo>
                    <a:pt x="0" y="435865"/>
                  </a:lnTo>
                  <a:lnTo>
                    <a:pt x="92149" y="0"/>
                  </a:lnTo>
                  <a:close/>
                </a:path>
              </a:pathLst>
            </a:custGeom>
            <a:solidFill>
              <a:schemeClr val="bg1"/>
            </a:solidFill>
            <a:ln>
              <a:noFill/>
            </a:ln>
            <a:effectLst>
              <a:outerShdw blurRad="254000" dist="165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78" name="Group 77">
              <a:extLst>
                <a:ext uri="{FF2B5EF4-FFF2-40B4-BE49-F238E27FC236}">
                  <a16:creationId xmlns:a16="http://schemas.microsoft.com/office/drawing/2014/main" id="{27299D4D-A999-9E23-F781-D76F9025DAA1}"/>
                </a:ext>
              </a:extLst>
            </p:cNvPr>
            <p:cNvGrpSpPr/>
            <p:nvPr/>
          </p:nvGrpSpPr>
          <p:grpSpPr>
            <a:xfrm>
              <a:off x="859784" y="3751699"/>
              <a:ext cx="4849574" cy="886691"/>
              <a:chOff x="859784" y="3751699"/>
              <a:chExt cx="4849574" cy="886691"/>
            </a:xfrm>
          </p:grpSpPr>
          <p:sp>
            <p:nvSpPr>
              <p:cNvPr id="79" name="Rectangle 78">
                <a:extLst>
                  <a:ext uri="{FF2B5EF4-FFF2-40B4-BE49-F238E27FC236}">
                    <a16:creationId xmlns:a16="http://schemas.microsoft.com/office/drawing/2014/main" id="{92C5E216-4C06-778E-A381-E82FB3DC71D8}"/>
                  </a:ext>
                </a:extLst>
              </p:cNvPr>
              <p:cNvSpPr/>
              <p:nvPr/>
            </p:nvSpPr>
            <p:spPr>
              <a:xfrm>
                <a:off x="859784" y="3751699"/>
                <a:ext cx="3831265" cy="886691"/>
              </a:xfrm>
              <a:prstGeom prst="rect">
                <a:avLst/>
              </a:prstGeom>
              <a:gradFill flip="none" rotWithShape="1">
                <a:gsLst>
                  <a:gs pos="5000">
                    <a:srgbClr val="002033"/>
                  </a:gs>
                  <a:gs pos="100000">
                    <a:schemeClr val="bg1">
                      <a:lumMod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a:p>
                <a:pPr algn="ctr"/>
                <a:r>
                  <a:rPr lang="en-US" b="1" dirty="0"/>
                  <a:t>Conclusion</a:t>
                </a:r>
              </a:p>
              <a:p>
                <a:pPr algn="ctr"/>
                <a:endParaRPr lang="en-US" sz="1400" dirty="0"/>
              </a:p>
              <a:p>
                <a:pPr algn="ctr"/>
                <a:endParaRPr lang="en-US" sz="1350" dirty="0"/>
              </a:p>
            </p:txBody>
          </p:sp>
          <p:grpSp>
            <p:nvGrpSpPr>
              <p:cNvPr id="80" name="Group 79">
                <a:extLst>
                  <a:ext uri="{FF2B5EF4-FFF2-40B4-BE49-F238E27FC236}">
                    <a16:creationId xmlns:a16="http://schemas.microsoft.com/office/drawing/2014/main" id="{96431F5E-9FD3-51EF-B63B-83A4514F23C2}"/>
                  </a:ext>
                </a:extLst>
              </p:cNvPr>
              <p:cNvGrpSpPr/>
              <p:nvPr/>
            </p:nvGrpSpPr>
            <p:grpSpPr>
              <a:xfrm>
                <a:off x="4691049" y="3751699"/>
                <a:ext cx="1018309" cy="886691"/>
                <a:chOff x="4691049" y="3751699"/>
                <a:chExt cx="1018309" cy="886691"/>
              </a:xfrm>
            </p:grpSpPr>
            <p:sp>
              <p:nvSpPr>
                <p:cNvPr id="81" name="Arrow: Pentagon 58">
                  <a:extLst>
                    <a:ext uri="{FF2B5EF4-FFF2-40B4-BE49-F238E27FC236}">
                      <a16:creationId xmlns:a16="http://schemas.microsoft.com/office/drawing/2014/main" id="{C795CE66-AB9D-198A-621B-E4257377796F}"/>
                    </a:ext>
                  </a:extLst>
                </p:cNvPr>
                <p:cNvSpPr/>
                <p:nvPr/>
              </p:nvSpPr>
              <p:spPr>
                <a:xfrm>
                  <a:off x="4691049" y="3751699"/>
                  <a:ext cx="1018309" cy="886691"/>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100" b="1" dirty="0"/>
                    <a:t>03</a:t>
                  </a:r>
                </a:p>
              </p:txBody>
            </p:sp>
            <p:sp>
              <p:nvSpPr>
                <p:cNvPr id="82" name="Rectangle 81">
                  <a:extLst>
                    <a:ext uri="{FF2B5EF4-FFF2-40B4-BE49-F238E27FC236}">
                      <a16:creationId xmlns:a16="http://schemas.microsoft.com/office/drawing/2014/main" id="{AF24EB6A-3CEC-24D8-6DD1-A5610288B424}"/>
                    </a:ext>
                  </a:extLst>
                </p:cNvPr>
                <p:cNvSpPr/>
                <p:nvPr/>
              </p:nvSpPr>
              <p:spPr>
                <a:xfrm>
                  <a:off x="4691049" y="3751699"/>
                  <a:ext cx="91440" cy="886691"/>
                </a:xfrm>
                <a:prstGeom prst="rect">
                  <a:avLst/>
                </a:prstGeom>
                <a:solidFill>
                  <a:schemeClr val="tx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00" b="1" dirty="0">
                    <a:solidFill>
                      <a:schemeClr val="tx1">
                        <a:lumMod val="85000"/>
                        <a:lumOff val="15000"/>
                      </a:schemeClr>
                    </a:solidFill>
                  </a:endParaRPr>
                </a:p>
              </p:txBody>
            </p:sp>
          </p:grpSp>
        </p:grpSp>
      </p:grpSp>
    </p:spTree>
    <p:extLst>
      <p:ext uri="{BB962C8B-B14F-4D97-AF65-F5344CB8AC3E}">
        <p14:creationId xmlns:p14="http://schemas.microsoft.com/office/powerpoint/2010/main" val="3040491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70001" y="236675"/>
            <a:ext cx="7489767" cy="646331"/>
          </a:xfrm>
          <a:prstGeom prst="rect">
            <a:avLst/>
          </a:prstGeom>
          <a:noFill/>
        </p:spPr>
        <p:txBody>
          <a:bodyPr wrap="square" rtlCol="0">
            <a:spAutoFit/>
          </a:bodyPr>
          <a:lstStyle/>
          <a:p>
            <a:r>
              <a:rPr lang="en-US" sz="3600" b="1" dirty="0">
                <a:solidFill>
                  <a:schemeClr val="bg1"/>
                </a:solidFill>
              </a:rPr>
              <a:t>Introduction</a:t>
            </a:r>
          </a:p>
        </p:txBody>
      </p:sp>
      <p:sp>
        <p:nvSpPr>
          <p:cNvPr id="5" name="TextBox 4"/>
          <p:cNvSpPr txBox="1"/>
          <p:nvPr/>
        </p:nvSpPr>
        <p:spPr>
          <a:xfrm>
            <a:off x="540327" y="1272231"/>
            <a:ext cx="11296768" cy="892552"/>
          </a:xfrm>
          <a:prstGeom prst="rect">
            <a:avLst/>
          </a:prstGeom>
          <a:noFill/>
        </p:spPr>
        <p:txBody>
          <a:bodyPr wrap="square" rtlCol="0">
            <a:spAutoFit/>
          </a:bodyPr>
          <a:lstStyle/>
          <a:p>
            <a:pPr lvl="0"/>
            <a:endParaRPr lang="en-US" sz="2400" dirty="0"/>
          </a:p>
          <a:p>
            <a:pPr marL="914400" lvl="1" indent="-457200" algn="just">
              <a:buFont typeface="Arial" panose="020B0604020202020204" pitchFamily="34" charset="0"/>
              <a:buChar char="•"/>
            </a:pPr>
            <a:endParaRPr lang="en-US" sz="2800" dirty="0">
              <a:solidFill>
                <a:srgbClr val="002060"/>
              </a:solidFill>
            </a:endParaRPr>
          </a:p>
        </p:txBody>
      </p:sp>
      <p:pic>
        <p:nvPicPr>
          <p:cNvPr id="3" name="Picture 2" descr="A pink and white rectangular object&#10;&#10;AI-generated content may be incorrect.">
            <a:extLst>
              <a:ext uri="{FF2B5EF4-FFF2-40B4-BE49-F238E27FC236}">
                <a16:creationId xmlns:a16="http://schemas.microsoft.com/office/drawing/2014/main" id="{1D6651EF-BDF4-1E82-36B9-37CF115469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1298" y="1096022"/>
            <a:ext cx="6910121" cy="5477305"/>
          </a:xfrm>
          <a:prstGeom prst="rect">
            <a:avLst/>
          </a:prstGeom>
        </p:spPr>
      </p:pic>
      <p:pic>
        <p:nvPicPr>
          <p:cNvPr id="4" name="Graphic 3" descr="Brainstorm">
            <a:extLst>
              <a:ext uri="{FF2B5EF4-FFF2-40B4-BE49-F238E27FC236}">
                <a16:creationId xmlns:a16="http://schemas.microsoft.com/office/drawing/2014/main" id="{F6ABAC70-6B46-9011-B849-D58C6BC5C97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110653" y="113429"/>
            <a:ext cx="859348" cy="859348"/>
          </a:xfrm>
          <a:prstGeom prst="rect">
            <a:avLst/>
          </a:prstGeom>
        </p:spPr>
      </p:pic>
      <p:sp>
        <p:nvSpPr>
          <p:cNvPr id="7" name="TextBox 6">
            <a:extLst>
              <a:ext uri="{FF2B5EF4-FFF2-40B4-BE49-F238E27FC236}">
                <a16:creationId xmlns:a16="http://schemas.microsoft.com/office/drawing/2014/main" id="{22B62CA6-636B-08EC-A5AE-B61DC8267EB1}"/>
              </a:ext>
            </a:extLst>
          </p:cNvPr>
          <p:cNvSpPr txBox="1"/>
          <p:nvPr/>
        </p:nvSpPr>
        <p:spPr>
          <a:xfrm>
            <a:off x="354905" y="1869896"/>
            <a:ext cx="5407540" cy="4678204"/>
          </a:xfrm>
          <a:prstGeom prst="rect">
            <a:avLst/>
          </a:prstGeom>
          <a:noFill/>
        </p:spPr>
        <p:txBody>
          <a:bodyPr wrap="square" rtlCol="0">
            <a:spAutoFit/>
          </a:bodyPr>
          <a:lstStyle/>
          <a:p>
            <a:r>
              <a:rPr lang="en-US" sz="2000" b="1" dirty="0" smtClean="0"/>
              <a:t>Tuberculosis (TB) remains a major global health challenge- </a:t>
            </a:r>
          </a:p>
          <a:p>
            <a:endParaRPr lang="en-US" sz="2000" b="1" dirty="0"/>
          </a:p>
          <a:p>
            <a:pPr marL="742950" lvl="1" indent="-285750">
              <a:buFont typeface="Arial" panose="020B0604020202020204" pitchFamily="34" charset="0"/>
              <a:buChar char="•"/>
            </a:pPr>
            <a:r>
              <a:rPr lang="en-US" sz="2000" dirty="0"/>
              <a:t>Leading cause of death from an infectious </a:t>
            </a:r>
            <a:r>
              <a:rPr lang="en-US" sz="2000" dirty="0"/>
              <a:t>disease with over </a:t>
            </a:r>
            <a:r>
              <a:rPr lang="en-US" sz="2000" b="1" dirty="0"/>
              <a:t>10 million cases</a:t>
            </a:r>
            <a:r>
              <a:rPr lang="en-US" sz="2000" dirty="0"/>
              <a:t> and </a:t>
            </a:r>
            <a:r>
              <a:rPr lang="en-US" sz="2000" b="1" dirty="0"/>
              <a:t>1.25 million deaths</a:t>
            </a:r>
            <a:r>
              <a:rPr lang="en-US" sz="2000" dirty="0"/>
              <a:t> reported in 2023 alone. </a:t>
            </a:r>
          </a:p>
          <a:p>
            <a:pPr marL="742950" lvl="1" indent="-285750">
              <a:buFont typeface="Arial" panose="020B0604020202020204" pitchFamily="34" charset="0"/>
              <a:buChar char="•"/>
            </a:pPr>
            <a:endParaRPr lang="en-US" sz="2000" dirty="0"/>
          </a:p>
          <a:p>
            <a:pPr marL="800100" lvl="1" indent="-342900">
              <a:buFont typeface="Arial" panose="020B0604020202020204" pitchFamily="34" charset="0"/>
              <a:buChar char="•"/>
            </a:pPr>
            <a:r>
              <a:rPr lang="en-US" sz="2000" dirty="0"/>
              <a:t>Despite being preventable and curable, TB continues to disproportionately affect populations in low- and middle-income countries, particularly those facing poverty, poor living conditions, and limited access to healthcare.</a:t>
            </a:r>
          </a:p>
          <a:p>
            <a:endParaRPr lang="en-US" sz="2000" b="1" dirty="0"/>
          </a:p>
          <a:p>
            <a:endParaRPr lang="en-US" dirty="0"/>
          </a:p>
        </p:txBody>
      </p:sp>
      <p:pic>
        <p:nvPicPr>
          <p:cNvPr id="8" name="Picture 7" descr="A yellow rectangular object with black background&#10;&#10;AI-generated content may be incorrect.">
            <a:extLst>
              <a:ext uri="{FF2B5EF4-FFF2-40B4-BE49-F238E27FC236}">
                <a16:creationId xmlns:a16="http://schemas.microsoft.com/office/drawing/2014/main" id="{23F244AD-54BB-A85A-068D-518EB33EEB9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28879" y="1049483"/>
            <a:ext cx="6039773" cy="4173470"/>
          </a:xfrm>
          <a:prstGeom prst="rect">
            <a:avLst/>
          </a:prstGeom>
        </p:spPr>
      </p:pic>
      <p:sp>
        <p:nvSpPr>
          <p:cNvPr id="9" name="TextBox 8">
            <a:extLst>
              <a:ext uri="{FF2B5EF4-FFF2-40B4-BE49-F238E27FC236}">
                <a16:creationId xmlns:a16="http://schemas.microsoft.com/office/drawing/2014/main" id="{38709B53-6675-05CF-1C11-E4B082E04601}"/>
              </a:ext>
            </a:extLst>
          </p:cNvPr>
          <p:cNvSpPr txBox="1"/>
          <p:nvPr/>
        </p:nvSpPr>
        <p:spPr>
          <a:xfrm>
            <a:off x="6914914" y="1843855"/>
            <a:ext cx="4261086" cy="2862322"/>
          </a:xfrm>
          <a:prstGeom prst="rect">
            <a:avLst/>
          </a:prstGeom>
          <a:noFill/>
        </p:spPr>
        <p:txBody>
          <a:bodyPr wrap="square" rtlCol="0">
            <a:spAutoFit/>
          </a:bodyPr>
          <a:lstStyle/>
          <a:p>
            <a:pPr lvl="0"/>
            <a:r>
              <a:rPr lang="en-US" sz="2000" b="1" dirty="0"/>
              <a:t>Social determinants worsen TB’s spread and impact</a:t>
            </a:r>
          </a:p>
          <a:p>
            <a:pPr lvl="0"/>
            <a:endParaRPr lang="en-US" sz="2000" b="1" dirty="0"/>
          </a:p>
          <a:p>
            <a:pPr marL="742950" lvl="1" indent="-285750">
              <a:buFont typeface="Arial" panose="020B0604020202020204" pitchFamily="34" charset="0"/>
              <a:buChar char="•"/>
            </a:pPr>
            <a:r>
              <a:rPr lang="en-US" sz="2000" dirty="0"/>
              <a:t>Poverty, food insecurity </a:t>
            </a:r>
            <a:r>
              <a:rPr lang="en-US" sz="2000" dirty="0" smtClean="0"/>
              <a:t>and  </a:t>
            </a:r>
            <a:r>
              <a:rPr lang="en-US" sz="2000" dirty="0"/>
              <a:t>malnutrition, overcrowding and limited healthcare access.</a:t>
            </a:r>
          </a:p>
          <a:p>
            <a:pPr marL="742950" lvl="1" indent="-285750">
              <a:buFont typeface="Arial" panose="020B0604020202020204" pitchFamily="34" charset="0"/>
              <a:buChar char="•"/>
            </a:pPr>
            <a:r>
              <a:rPr lang="en-US" sz="2000" dirty="0"/>
              <a:t>Highlights the need for a comprehensive, whole-of-society response.</a:t>
            </a:r>
          </a:p>
        </p:txBody>
      </p:sp>
    </p:spTree>
    <p:extLst>
      <p:ext uri="{BB962C8B-B14F-4D97-AF65-F5344CB8AC3E}">
        <p14:creationId xmlns:p14="http://schemas.microsoft.com/office/powerpoint/2010/main" val="3901817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AF0BC-ECB0-B8E0-CA4F-4CEBA70D954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0178CC-932D-7F61-ED76-421A90E9383D}"/>
              </a:ext>
            </a:extLst>
          </p:cNvPr>
          <p:cNvSpPr txBox="1"/>
          <p:nvPr/>
        </p:nvSpPr>
        <p:spPr>
          <a:xfrm>
            <a:off x="970001" y="236675"/>
            <a:ext cx="7489767" cy="646331"/>
          </a:xfrm>
          <a:prstGeom prst="rect">
            <a:avLst/>
          </a:prstGeom>
          <a:noFill/>
        </p:spPr>
        <p:txBody>
          <a:bodyPr wrap="square" rtlCol="0">
            <a:spAutoFit/>
          </a:bodyPr>
          <a:lstStyle/>
          <a:p>
            <a:r>
              <a:rPr lang="en-US" sz="3600" b="1" dirty="0">
                <a:solidFill>
                  <a:schemeClr val="bg1"/>
                </a:solidFill>
              </a:rPr>
              <a:t>Introduction</a:t>
            </a:r>
          </a:p>
        </p:txBody>
      </p:sp>
      <p:sp>
        <p:nvSpPr>
          <p:cNvPr id="5" name="TextBox 4">
            <a:extLst>
              <a:ext uri="{FF2B5EF4-FFF2-40B4-BE49-F238E27FC236}">
                <a16:creationId xmlns:a16="http://schemas.microsoft.com/office/drawing/2014/main" id="{620DE9D3-8314-6CA0-D684-C2C217963C59}"/>
              </a:ext>
            </a:extLst>
          </p:cNvPr>
          <p:cNvSpPr txBox="1"/>
          <p:nvPr/>
        </p:nvSpPr>
        <p:spPr>
          <a:xfrm>
            <a:off x="540327" y="1272231"/>
            <a:ext cx="11296768" cy="892552"/>
          </a:xfrm>
          <a:prstGeom prst="rect">
            <a:avLst/>
          </a:prstGeom>
          <a:noFill/>
        </p:spPr>
        <p:txBody>
          <a:bodyPr wrap="square" rtlCol="0">
            <a:spAutoFit/>
          </a:bodyPr>
          <a:lstStyle/>
          <a:p>
            <a:pPr lvl="0"/>
            <a:endParaRPr lang="en-US" sz="2400" dirty="0"/>
          </a:p>
          <a:p>
            <a:pPr marL="914400" lvl="1" indent="-457200" algn="just">
              <a:buFont typeface="Arial" panose="020B0604020202020204" pitchFamily="34" charset="0"/>
              <a:buChar char="•"/>
            </a:pPr>
            <a:endParaRPr lang="en-US" sz="2800" dirty="0">
              <a:solidFill>
                <a:srgbClr val="002060"/>
              </a:solidFill>
            </a:endParaRPr>
          </a:p>
        </p:txBody>
      </p:sp>
      <p:pic>
        <p:nvPicPr>
          <p:cNvPr id="4" name="Graphic 3" descr="Brainstorm">
            <a:extLst>
              <a:ext uri="{FF2B5EF4-FFF2-40B4-BE49-F238E27FC236}">
                <a16:creationId xmlns:a16="http://schemas.microsoft.com/office/drawing/2014/main" id="{E2A82B8A-9F06-167E-BE28-E28E109A14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110653" y="113429"/>
            <a:ext cx="859348" cy="859348"/>
          </a:xfrm>
          <a:prstGeom prst="rect">
            <a:avLst/>
          </a:prstGeom>
        </p:spPr>
      </p:pic>
      <p:pic>
        <p:nvPicPr>
          <p:cNvPr id="6" name="Picture 5" descr="A blue and white map&#10;&#10;AI-generated content may be incorrect.">
            <a:extLst>
              <a:ext uri="{FF2B5EF4-FFF2-40B4-BE49-F238E27FC236}">
                <a16:creationId xmlns:a16="http://schemas.microsoft.com/office/drawing/2014/main" id="{A6049D58-3A78-232B-255D-1DAA1F7509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362001"/>
            <a:ext cx="6134165" cy="4223767"/>
          </a:xfrm>
          <a:prstGeom prst="rect">
            <a:avLst/>
          </a:prstGeom>
        </p:spPr>
      </p:pic>
      <p:sp>
        <p:nvSpPr>
          <p:cNvPr id="11" name="TextBox 10">
            <a:extLst>
              <a:ext uri="{FF2B5EF4-FFF2-40B4-BE49-F238E27FC236}">
                <a16:creationId xmlns:a16="http://schemas.microsoft.com/office/drawing/2014/main" id="{907D5FFF-4885-3F28-1DD6-1F43FE34FAD2}"/>
              </a:ext>
            </a:extLst>
          </p:cNvPr>
          <p:cNvSpPr txBox="1"/>
          <p:nvPr/>
        </p:nvSpPr>
        <p:spPr>
          <a:xfrm>
            <a:off x="970001" y="1901371"/>
            <a:ext cx="4037428" cy="2554545"/>
          </a:xfrm>
          <a:prstGeom prst="rect">
            <a:avLst/>
          </a:prstGeom>
          <a:noFill/>
        </p:spPr>
        <p:txBody>
          <a:bodyPr wrap="square" rtlCol="0">
            <a:spAutoFit/>
          </a:bodyPr>
          <a:lstStyle/>
          <a:p>
            <a:r>
              <a:rPr lang="en-US" b="1" dirty="0" smtClean="0"/>
              <a:t>WHO’s End TB Strategy</a:t>
            </a:r>
          </a:p>
          <a:p>
            <a:pPr marL="742950" lvl="1" indent="-285750">
              <a:buFont typeface="Arial" panose="020B0604020202020204" pitchFamily="34" charset="0"/>
              <a:buChar char="•"/>
            </a:pPr>
            <a:r>
              <a:rPr lang="en-US" dirty="0" smtClean="0"/>
              <a:t>Focuses on integrated, people-centered care, strong policies, and research-driven innovations.</a:t>
            </a:r>
          </a:p>
          <a:p>
            <a:pPr marL="742950" lvl="1" indent="-285750">
              <a:buFont typeface="Arial" panose="020B0604020202020204" pitchFamily="34" charset="0"/>
              <a:buChar char="•"/>
            </a:pPr>
            <a:r>
              <a:rPr lang="en-US" dirty="0" smtClean="0"/>
              <a:t>Emphasizes government leadership, civil society empowerment, and human rights.</a:t>
            </a:r>
          </a:p>
          <a:p>
            <a:endParaRPr lang="en-US" sz="1600" dirty="0"/>
          </a:p>
        </p:txBody>
      </p:sp>
      <p:pic>
        <p:nvPicPr>
          <p:cNvPr id="12" name="Picture 11" descr="A yellow rectangular object with black background&#10;&#10;AI-generated content may be incorrect.">
            <a:extLst>
              <a:ext uri="{FF2B5EF4-FFF2-40B4-BE49-F238E27FC236}">
                <a16:creationId xmlns:a16="http://schemas.microsoft.com/office/drawing/2014/main" id="{945B988D-1A7A-22E6-20A6-B3A3FDACC50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45740" y="1362001"/>
            <a:ext cx="6489257" cy="4468272"/>
          </a:xfrm>
          <a:prstGeom prst="rect">
            <a:avLst/>
          </a:prstGeom>
        </p:spPr>
      </p:pic>
      <p:sp>
        <p:nvSpPr>
          <p:cNvPr id="13" name="TextBox 12">
            <a:extLst>
              <a:ext uri="{FF2B5EF4-FFF2-40B4-BE49-F238E27FC236}">
                <a16:creationId xmlns:a16="http://schemas.microsoft.com/office/drawing/2014/main" id="{F2480BC1-15F6-C8A7-93FC-BA2E81E2F383}"/>
              </a:ext>
            </a:extLst>
          </p:cNvPr>
          <p:cNvSpPr txBox="1"/>
          <p:nvPr/>
        </p:nvSpPr>
        <p:spPr>
          <a:xfrm>
            <a:off x="6931984" y="2055868"/>
            <a:ext cx="4516768" cy="3170099"/>
          </a:xfrm>
          <a:prstGeom prst="rect">
            <a:avLst/>
          </a:prstGeom>
          <a:noFill/>
        </p:spPr>
        <p:txBody>
          <a:bodyPr wrap="square" rtlCol="0">
            <a:spAutoFit/>
          </a:bodyPr>
          <a:lstStyle/>
          <a:p>
            <a:pPr marL="285750" indent="-285750">
              <a:buFont typeface="Arial" panose="020B0604020202020204" pitchFamily="34" charset="0"/>
              <a:buChar char="•"/>
            </a:pPr>
            <a:r>
              <a:rPr lang="en-US" sz="2000" dirty="0"/>
              <a:t>Progress towards ending TB is slow and the world is off-track to meet key targets.</a:t>
            </a:r>
          </a:p>
          <a:p>
            <a:pPr marL="285750" indent="-285750">
              <a:buFont typeface="Arial" panose="020B0604020202020204" pitchFamily="34" charset="0"/>
              <a:buChar char="•"/>
            </a:pPr>
            <a:r>
              <a:rPr lang="en-US" sz="2000" dirty="0"/>
              <a:t>This requires intensified global action to address the significant gaps in TB efforts</a:t>
            </a:r>
          </a:p>
          <a:p>
            <a:pPr marL="285750" indent="-285750">
              <a:buFont typeface="Arial" panose="020B0604020202020204" pitchFamily="34" charset="0"/>
              <a:buChar char="•"/>
            </a:pPr>
            <a:r>
              <a:rPr lang="en-US" sz="2000" dirty="0"/>
              <a:t>These gaps include; </a:t>
            </a:r>
          </a:p>
          <a:p>
            <a:pPr marL="742950" lvl="1" indent="-285750">
              <a:buFont typeface="Arial" panose="020B0604020202020204" pitchFamily="34" charset="0"/>
              <a:buChar char="•"/>
            </a:pPr>
            <a:r>
              <a:rPr lang="en-US" sz="2000" dirty="0"/>
              <a:t>Inadequate funding </a:t>
            </a:r>
          </a:p>
          <a:p>
            <a:pPr marL="742950" lvl="1" indent="-285750">
              <a:buFont typeface="Arial" panose="020B0604020202020204" pitchFamily="34" charset="0"/>
              <a:buChar char="•"/>
            </a:pPr>
            <a:r>
              <a:rPr lang="en-US" sz="2000" dirty="0"/>
              <a:t>fragmented financing, especially in LMICs.</a:t>
            </a:r>
          </a:p>
        </p:txBody>
      </p:sp>
    </p:spTree>
    <p:extLst>
      <p:ext uri="{BB962C8B-B14F-4D97-AF65-F5344CB8AC3E}">
        <p14:creationId xmlns:p14="http://schemas.microsoft.com/office/powerpoint/2010/main" val="1034225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B00A3-5376-3DFB-04A1-F3C3AFE5392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176C6BC-B547-81F9-9CC9-AFEA8DEF8BE1}"/>
              </a:ext>
            </a:extLst>
          </p:cNvPr>
          <p:cNvSpPr txBox="1"/>
          <p:nvPr/>
        </p:nvSpPr>
        <p:spPr>
          <a:xfrm>
            <a:off x="970001" y="236675"/>
            <a:ext cx="7489767" cy="646331"/>
          </a:xfrm>
          <a:prstGeom prst="rect">
            <a:avLst/>
          </a:prstGeom>
          <a:noFill/>
        </p:spPr>
        <p:txBody>
          <a:bodyPr wrap="square" rtlCol="0">
            <a:spAutoFit/>
          </a:bodyPr>
          <a:lstStyle/>
          <a:p>
            <a:r>
              <a:rPr lang="en-US" sz="3600" b="1" dirty="0">
                <a:solidFill>
                  <a:schemeClr val="bg1"/>
                </a:solidFill>
              </a:rPr>
              <a:t>Introduction</a:t>
            </a:r>
          </a:p>
        </p:txBody>
      </p:sp>
      <p:sp>
        <p:nvSpPr>
          <p:cNvPr id="5" name="TextBox 4">
            <a:extLst>
              <a:ext uri="{FF2B5EF4-FFF2-40B4-BE49-F238E27FC236}">
                <a16:creationId xmlns:a16="http://schemas.microsoft.com/office/drawing/2014/main" id="{F76D6FFE-DF33-E10B-094C-6D3E6E0F511F}"/>
              </a:ext>
            </a:extLst>
          </p:cNvPr>
          <p:cNvSpPr txBox="1"/>
          <p:nvPr/>
        </p:nvSpPr>
        <p:spPr>
          <a:xfrm>
            <a:off x="540327" y="1272231"/>
            <a:ext cx="11296768" cy="892552"/>
          </a:xfrm>
          <a:prstGeom prst="rect">
            <a:avLst/>
          </a:prstGeom>
          <a:noFill/>
        </p:spPr>
        <p:txBody>
          <a:bodyPr wrap="square" rtlCol="0">
            <a:spAutoFit/>
          </a:bodyPr>
          <a:lstStyle/>
          <a:p>
            <a:pPr lvl="0"/>
            <a:endParaRPr lang="en-US" sz="2400" dirty="0"/>
          </a:p>
          <a:p>
            <a:pPr marL="914400" lvl="1" indent="-457200" algn="just">
              <a:buFont typeface="Arial" panose="020B0604020202020204" pitchFamily="34" charset="0"/>
              <a:buChar char="•"/>
            </a:pPr>
            <a:endParaRPr lang="en-US" sz="2800" dirty="0">
              <a:solidFill>
                <a:srgbClr val="002060"/>
              </a:solidFill>
            </a:endParaRPr>
          </a:p>
        </p:txBody>
      </p:sp>
      <p:pic>
        <p:nvPicPr>
          <p:cNvPr id="4" name="Graphic 3" descr="Brainstorm">
            <a:extLst>
              <a:ext uri="{FF2B5EF4-FFF2-40B4-BE49-F238E27FC236}">
                <a16:creationId xmlns:a16="http://schemas.microsoft.com/office/drawing/2014/main" id="{079B05BF-E051-77CD-B634-0604A6C3A6E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110653" y="113429"/>
            <a:ext cx="859348" cy="859348"/>
          </a:xfrm>
          <a:prstGeom prst="rect">
            <a:avLst/>
          </a:prstGeom>
        </p:spPr>
      </p:pic>
      <p:pic>
        <p:nvPicPr>
          <p:cNvPr id="6" name="Picture 5" descr="A blue and white map&#10;&#10;AI-generated content may be incorrect.">
            <a:extLst>
              <a:ext uri="{FF2B5EF4-FFF2-40B4-BE49-F238E27FC236}">
                <a16:creationId xmlns:a16="http://schemas.microsoft.com/office/drawing/2014/main" id="{D7FD11DB-5D6F-8377-A349-F5B40A99A6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3298" y="622397"/>
            <a:ext cx="11990717" cy="5640380"/>
          </a:xfrm>
          <a:prstGeom prst="rect">
            <a:avLst/>
          </a:prstGeom>
        </p:spPr>
      </p:pic>
      <p:sp>
        <p:nvSpPr>
          <p:cNvPr id="3" name="Rectangle 2"/>
          <p:cNvSpPr/>
          <p:nvPr/>
        </p:nvSpPr>
        <p:spPr>
          <a:xfrm>
            <a:off x="1173191" y="1720840"/>
            <a:ext cx="9040483" cy="3046988"/>
          </a:xfrm>
          <a:prstGeom prst="rect">
            <a:avLst/>
          </a:prstGeom>
        </p:spPr>
        <p:txBody>
          <a:bodyPr wrap="square">
            <a:spAutoFit/>
          </a:bodyPr>
          <a:lstStyle/>
          <a:p>
            <a:r>
              <a:rPr lang="en-US" sz="2400" b="1" dirty="0"/>
              <a:t>Aligning TB responses with PHC principles creates strategic opportunities to:</a:t>
            </a:r>
          </a:p>
          <a:p>
            <a:pPr marL="285750" indent="-285750">
              <a:buFont typeface="Arial" panose="020B0604020202020204" pitchFamily="34" charset="0"/>
              <a:buChar char="•"/>
            </a:pPr>
            <a:r>
              <a:rPr lang="en-US" sz="2400" dirty="0"/>
              <a:t>Improve early detection and treatment </a:t>
            </a:r>
          </a:p>
          <a:p>
            <a:pPr marL="285750" indent="-285750">
              <a:buFont typeface="Arial" panose="020B0604020202020204" pitchFamily="34" charset="0"/>
              <a:buChar char="•"/>
            </a:pPr>
            <a:r>
              <a:rPr lang="en-US" sz="2400" dirty="0"/>
              <a:t>Strengthen community-based care and follow-up</a:t>
            </a:r>
          </a:p>
          <a:p>
            <a:pPr marL="285750" indent="-285750">
              <a:buFont typeface="Arial" panose="020B0604020202020204" pitchFamily="34" charset="0"/>
              <a:buChar char="•"/>
            </a:pPr>
            <a:r>
              <a:rPr lang="en-US" sz="2400" dirty="0"/>
              <a:t>Enhance data systems for better surveillance and decision-making</a:t>
            </a:r>
          </a:p>
          <a:p>
            <a:pPr marL="285750" indent="-285750">
              <a:buFont typeface="Arial" panose="020B0604020202020204" pitchFamily="34" charset="0"/>
              <a:buChar char="•"/>
            </a:pPr>
            <a:r>
              <a:rPr lang="en-US" sz="2400" dirty="0"/>
              <a:t>Reduce fragmentation and improve efficiency across health programs</a:t>
            </a:r>
          </a:p>
          <a:p>
            <a:pPr marL="285750" indent="-285750">
              <a:buFont typeface="Arial" panose="020B0604020202020204" pitchFamily="34" charset="0"/>
              <a:buChar char="•"/>
            </a:pPr>
            <a:r>
              <a:rPr lang="en-US" sz="2400" dirty="0" smtClean="0"/>
              <a:t>Build </a:t>
            </a:r>
            <a:r>
              <a:rPr lang="en-US" sz="2400" dirty="0"/>
              <a:t>stronger, more resilient health systems capable of addressing multiple health challenges simultaneously</a:t>
            </a:r>
            <a:r>
              <a:rPr lang="en-US" dirty="0"/>
              <a:t>.</a:t>
            </a:r>
            <a:endParaRPr lang="en-US" dirty="0"/>
          </a:p>
        </p:txBody>
      </p:sp>
    </p:spTree>
    <p:extLst>
      <p:ext uri="{BB962C8B-B14F-4D97-AF65-F5344CB8AC3E}">
        <p14:creationId xmlns:p14="http://schemas.microsoft.com/office/powerpoint/2010/main" val="3788018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AF0BC-ECB0-B8E0-CA4F-4CEBA70D954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0178CC-932D-7F61-ED76-421A90E9383D}"/>
              </a:ext>
            </a:extLst>
          </p:cNvPr>
          <p:cNvSpPr txBox="1"/>
          <p:nvPr/>
        </p:nvSpPr>
        <p:spPr>
          <a:xfrm>
            <a:off x="970001" y="236675"/>
            <a:ext cx="7489767" cy="646331"/>
          </a:xfrm>
          <a:prstGeom prst="rect">
            <a:avLst/>
          </a:prstGeom>
          <a:noFill/>
        </p:spPr>
        <p:txBody>
          <a:bodyPr wrap="square" rtlCol="0">
            <a:spAutoFit/>
          </a:bodyPr>
          <a:lstStyle/>
          <a:p>
            <a:r>
              <a:rPr lang="en-US" sz="3600" b="1" dirty="0">
                <a:solidFill>
                  <a:schemeClr val="bg1"/>
                </a:solidFill>
              </a:rPr>
              <a:t>Introduction</a:t>
            </a:r>
          </a:p>
        </p:txBody>
      </p:sp>
      <p:sp>
        <p:nvSpPr>
          <p:cNvPr id="5" name="TextBox 4">
            <a:extLst>
              <a:ext uri="{FF2B5EF4-FFF2-40B4-BE49-F238E27FC236}">
                <a16:creationId xmlns:a16="http://schemas.microsoft.com/office/drawing/2014/main" id="{620DE9D3-8314-6CA0-D684-C2C217963C59}"/>
              </a:ext>
            </a:extLst>
          </p:cNvPr>
          <p:cNvSpPr txBox="1"/>
          <p:nvPr/>
        </p:nvSpPr>
        <p:spPr>
          <a:xfrm>
            <a:off x="540327" y="1272231"/>
            <a:ext cx="11296768" cy="892552"/>
          </a:xfrm>
          <a:prstGeom prst="rect">
            <a:avLst/>
          </a:prstGeom>
          <a:noFill/>
        </p:spPr>
        <p:txBody>
          <a:bodyPr wrap="square" rtlCol="0">
            <a:spAutoFit/>
          </a:bodyPr>
          <a:lstStyle/>
          <a:p>
            <a:pPr lvl="0"/>
            <a:endParaRPr lang="en-US" sz="2400" dirty="0"/>
          </a:p>
          <a:p>
            <a:pPr marL="914400" lvl="1" indent="-457200" algn="just">
              <a:buFont typeface="Arial" panose="020B0604020202020204" pitchFamily="34" charset="0"/>
              <a:buChar char="•"/>
            </a:pPr>
            <a:endParaRPr lang="en-US" sz="2800" dirty="0">
              <a:solidFill>
                <a:srgbClr val="002060"/>
              </a:solidFill>
            </a:endParaRPr>
          </a:p>
        </p:txBody>
      </p:sp>
      <p:pic>
        <p:nvPicPr>
          <p:cNvPr id="4" name="Graphic 3" descr="Brainstorm">
            <a:extLst>
              <a:ext uri="{FF2B5EF4-FFF2-40B4-BE49-F238E27FC236}">
                <a16:creationId xmlns:a16="http://schemas.microsoft.com/office/drawing/2014/main" id="{E2A82B8A-9F06-167E-BE28-E28E109A14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110653" y="113429"/>
            <a:ext cx="859348" cy="859348"/>
          </a:xfrm>
          <a:prstGeom prst="rect">
            <a:avLst/>
          </a:prstGeom>
        </p:spPr>
      </p:pic>
      <p:pic>
        <p:nvPicPr>
          <p:cNvPr id="9" name="Picture 8" descr="A blue and white map&#10;&#10;AI-generated content may be incorrect.">
            <a:extLst>
              <a:ext uri="{FF2B5EF4-FFF2-40B4-BE49-F238E27FC236}">
                <a16:creationId xmlns:a16="http://schemas.microsoft.com/office/drawing/2014/main" id="{D7FD11DB-5D6F-8377-A349-F5B40A99A6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0113" y="1159381"/>
            <a:ext cx="10516367" cy="5172407"/>
          </a:xfrm>
          <a:prstGeom prst="rect">
            <a:avLst/>
          </a:prstGeom>
        </p:spPr>
      </p:pic>
      <p:sp>
        <p:nvSpPr>
          <p:cNvPr id="3" name="Rectangle 2"/>
          <p:cNvSpPr/>
          <p:nvPr/>
        </p:nvSpPr>
        <p:spPr>
          <a:xfrm>
            <a:off x="1966822" y="2191109"/>
            <a:ext cx="8497978" cy="2308324"/>
          </a:xfrm>
          <a:prstGeom prst="rect">
            <a:avLst/>
          </a:prstGeom>
        </p:spPr>
        <p:txBody>
          <a:bodyPr wrap="square">
            <a:spAutoFit/>
          </a:bodyPr>
          <a:lstStyle/>
          <a:p>
            <a:pPr marL="285750" indent="-285750">
              <a:buFont typeface="Arial" panose="020B0604020202020204" pitchFamily="34" charset="0"/>
              <a:buChar char="•"/>
            </a:pPr>
            <a:r>
              <a:rPr lang="en-US" sz="2400" dirty="0"/>
              <a:t>Primary Health Care (PHC) approach is crucial since it integrates TB services into broader health systems for efficiency, ensures accessible, affordable, and person-centered TB care, and </a:t>
            </a:r>
            <a:r>
              <a:rPr lang="en-US" sz="2400" dirty="0" smtClean="0"/>
              <a:t>addresses </a:t>
            </a:r>
            <a:r>
              <a:rPr lang="en-US" sz="2400" dirty="0"/>
              <a:t>other health needs alongside TB.</a:t>
            </a:r>
          </a:p>
          <a:p>
            <a:pPr marL="285750" indent="-285750">
              <a:buFont typeface="Arial" panose="020B0604020202020204" pitchFamily="34" charset="0"/>
              <a:buChar char="•"/>
            </a:pPr>
            <a:r>
              <a:rPr lang="en-US" sz="2400" dirty="0"/>
              <a:t>There is urgent need to prioritize PHC to end the </a:t>
            </a:r>
            <a:r>
              <a:rPr lang="en-US" sz="2400" dirty="0" smtClean="0"/>
              <a:t>global </a:t>
            </a:r>
            <a:r>
              <a:rPr lang="en-US" sz="2400" dirty="0"/>
              <a:t>TB epidemic</a:t>
            </a:r>
            <a:endParaRPr lang="en-US" sz="2400" dirty="0"/>
          </a:p>
        </p:txBody>
      </p:sp>
    </p:spTree>
    <p:extLst>
      <p:ext uri="{BB962C8B-B14F-4D97-AF65-F5344CB8AC3E}">
        <p14:creationId xmlns:p14="http://schemas.microsoft.com/office/powerpoint/2010/main" val="362622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53512"/>
            <a:ext cx="7489767" cy="1200329"/>
          </a:xfrm>
          <a:prstGeom prst="rect">
            <a:avLst/>
          </a:prstGeom>
          <a:noFill/>
        </p:spPr>
        <p:txBody>
          <a:bodyPr wrap="square" rtlCol="0">
            <a:spAutoFit/>
          </a:bodyPr>
          <a:lstStyle/>
          <a:p>
            <a:r>
              <a:rPr lang="en-US" sz="3600" b="1" dirty="0">
                <a:solidFill>
                  <a:schemeClr val="bg1"/>
                </a:solidFill>
              </a:rPr>
              <a:t>Definition of terms </a:t>
            </a:r>
          </a:p>
          <a:p>
            <a:r>
              <a:rPr lang="en-US" sz="3600" dirty="0">
                <a:solidFill>
                  <a:schemeClr val="bg1"/>
                </a:solidFill>
              </a:rPr>
              <a:t> 2</a:t>
            </a:r>
          </a:p>
        </p:txBody>
      </p:sp>
      <p:grpSp>
        <p:nvGrpSpPr>
          <p:cNvPr id="3" name="Group 2">
            <a:extLst>
              <a:ext uri="{FF2B5EF4-FFF2-40B4-BE49-F238E27FC236}">
                <a16:creationId xmlns:a16="http://schemas.microsoft.com/office/drawing/2014/main" id="{6D6CA0F4-8E54-03BC-183B-7C0014116E91}"/>
              </a:ext>
            </a:extLst>
          </p:cNvPr>
          <p:cNvGrpSpPr/>
          <p:nvPr/>
        </p:nvGrpSpPr>
        <p:grpSpPr>
          <a:xfrm>
            <a:off x="423922" y="1449411"/>
            <a:ext cx="4542472" cy="1803770"/>
            <a:chOff x="423922" y="1449411"/>
            <a:chExt cx="3831221" cy="1803770"/>
          </a:xfrm>
        </p:grpSpPr>
        <p:grpSp>
          <p:nvGrpSpPr>
            <p:cNvPr id="4" name="Group 3">
              <a:extLst>
                <a:ext uri="{FF2B5EF4-FFF2-40B4-BE49-F238E27FC236}">
                  <a16:creationId xmlns:a16="http://schemas.microsoft.com/office/drawing/2014/main" id="{4540EB32-28C4-851A-DB10-2CC1568FFBA0}"/>
                </a:ext>
              </a:extLst>
            </p:cNvPr>
            <p:cNvGrpSpPr/>
            <p:nvPr/>
          </p:nvGrpSpPr>
          <p:grpSpPr>
            <a:xfrm>
              <a:off x="423922" y="1751097"/>
              <a:ext cx="2631795" cy="619133"/>
              <a:chOff x="423922" y="1751097"/>
              <a:chExt cx="2631795" cy="619133"/>
            </a:xfrm>
          </p:grpSpPr>
          <p:sp>
            <p:nvSpPr>
              <p:cNvPr id="12" name="Rectangle 11">
                <a:extLst>
                  <a:ext uri="{FF2B5EF4-FFF2-40B4-BE49-F238E27FC236}">
                    <a16:creationId xmlns:a16="http://schemas.microsoft.com/office/drawing/2014/main" id="{5000C784-7D9C-1B78-A58A-5C487A50A1F2}"/>
                  </a:ext>
                </a:extLst>
              </p:cNvPr>
              <p:cNvSpPr/>
              <p:nvPr/>
            </p:nvSpPr>
            <p:spPr>
              <a:xfrm>
                <a:off x="423922" y="1751097"/>
                <a:ext cx="1034488" cy="4681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Rectangle: Rounded Corners 7">
                <a:extLst>
                  <a:ext uri="{FF2B5EF4-FFF2-40B4-BE49-F238E27FC236}">
                    <a16:creationId xmlns:a16="http://schemas.microsoft.com/office/drawing/2014/main" id="{43B56505-4602-7281-3847-FCE00E8E1D95}"/>
                  </a:ext>
                </a:extLst>
              </p:cNvPr>
              <p:cNvSpPr/>
              <p:nvPr/>
            </p:nvSpPr>
            <p:spPr>
              <a:xfrm>
                <a:off x="423922" y="2062257"/>
                <a:ext cx="2631795" cy="307973"/>
              </a:xfrm>
              <a:prstGeom prst="roundRect">
                <a:avLst>
                  <a:gd name="adj" fmla="val 5000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sp>
          <p:nvSpPr>
            <p:cNvPr id="6" name="Rectangle 5">
              <a:extLst>
                <a:ext uri="{FF2B5EF4-FFF2-40B4-BE49-F238E27FC236}">
                  <a16:creationId xmlns:a16="http://schemas.microsoft.com/office/drawing/2014/main" id="{F811B0E3-8305-0587-AE18-5311D9CF71BC}"/>
                </a:ext>
              </a:extLst>
            </p:cNvPr>
            <p:cNvSpPr/>
            <p:nvPr/>
          </p:nvSpPr>
          <p:spPr>
            <a:xfrm>
              <a:off x="653970" y="1679458"/>
              <a:ext cx="3601173" cy="1573723"/>
            </a:xfrm>
            <a:prstGeom prst="rect">
              <a:avLst/>
            </a:prstGeom>
            <a:solidFill>
              <a:schemeClr val="bg1">
                <a:lumMod val="8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tIns="68580" rIns="137160" rtlCol="0" anchor="t"/>
            <a:lstStyle/>
            <a:p>
              <a:pPr algn="r"/>
              <a:r>
                <a:rPr lang="en-US" b="1" dirty="0">
                  <a:solidFill>
                    <a:schemeClr val="bg1">
                      <a:lumMod val="50000"/>
                    </a:schemeClr>
                  </a:solidFill>
                </a:rPr>
                <a:t>01</a:t>
              </a:r>
            </a:p>
          </p:txBody>
        </p:sp>
        <p:grpSp>
          <p:nvGrpSpPr>
            <p:cNvPr id="7" name="Group 6">
              <a:extLst>
                <a:ext uri="{FF2B5EF4-FFF2-40B4-BE49-F238E27FC236}">
                  <a16:creationId xmlns:a16="http://schemas.microsoft.com/office/drawing/2014/main" id="{B8424AB9-F56E-D330-0862-5E7B15629295}"/>
                </a:ext>
              </a:extLst>
            </p:cNvPr>
            <p:cNvGrpSpPr/>
            <p:nvPr/>
          </p:nvGrpSpPr>
          <p:grpSpPr>
            <a:xfrm>
              <a:off x="423922" y="1449411"/>
              <a:ext cx="2631795" cy="612847"/>
              <a:chOff x="423922" y="1449411"/>
              <a:chExt cx="2631795" cy="612847"/>
            </a:xfrm>
          </p:grpSpPr>
          <p:sp>
            <p:nvSpPr>
              <p:cNvPr id="10" name="Rectangle: Rounded Corners 9">
                <a:extLst>
                  <a:ext uri="{FF2B5EF4-FFF2-40B4-BE49-F238E27FC236}">
                    <a16:creationId xmlns:a16="http://schemas.microsoft.com/office/drawing/2014/main" id="{23EC0A84-4DF5-4A4C-923F-A279488E36E6}"/>
                  </a:ext>
                </a:extLst>
              </p:cNvPr>
              <p:cNvSpPr/>
              <p:nvPr/>
            </p:nvSpPr>
            <p:spPr>
              <a:xfrm>
                <a:off x="423922" y="1449411"/>
                <a:ext cx="2631795" cy="612847"/>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Primary care</a:t>
                </a:r>
              </a:p>
            </p:txBody>
          </p:sp>
          <p:sp>
            <p:nvSpPr>
              <p:cNvPr id="11" name="Rectangle 10">
                <a:extLst>
                  <a:ext uri="{FF2B5EF4-FFF2-40B4-BE49-F238E27FC236}">
                    <a16:creationId xmlns:a16="http://schemas.microsoft.com/office/drawing/2014/main" id="{DDB86CE8-B9D1-861A-5200-1C5F7E0FCEBE}"/>
                  </a:ext>
                </a:extLst>
              </p:cNvPr>
              <p:cNvSpPr/>
              <p:nvPr/>
            </p:nvSpPr>
            <p:spPr>
              <a:xfrm>
                <a:off x="423922" y="1751097"/>
                <a:ext cx="313636" cy="3111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8" name="TextBox 7">
              <a:extLst>
                <a:ext uri="{FF2B5EF4-FFF2-40B4-BE49-F238E27FC236}">
                  <a16:creationId xmlns:a16="http://schemas.microsoft.com/office/drawing/2014/main" id="{5FE7090B-8DF3-BD39-EFB3-4C6A2319DB9E}"/>
                </a:ext>
              </a:extLst>
            </p:cNvPr>
            <p:cNvSpPr txBox="1"/>
            <p:nvPr/>
          </p:nvSpPr>
          <p:spPr>
            <a:xfrm>
              <a:off x="737558" y="2109842"/>
              <a:ext cx="3268208" cy="954107"/>
            </a:xfrm>
            <a:prstGeom prst="rect">
              <a:avLst/>
            </a:prstGeom>
            <a:noFill/>
          </p:spPr>
          <p:txBody>
            <a:bodyPr wrap="square" lIns="0" rIns="0" rtlCol="0" anchor="t">
              <a:spAutoFit/>
            </a:bodyPr>
            <a:lstStyle/>
            <a:p>
              <a:pPr algn="just"/>
              <a:r>
                <a:rPr lang="en-US" sz="1400" dirty="0"/>
                <a:t>A key process in the health system that supports first-contact, accessible, continued, comprehensive and coordinated patient-focused care.</a:t>
              </a:r>
              <a:endParaRPr lang="en-US" sz="1400" noProof="1">
                <a:solidFill>
                  <a:schemeClr val="tx1">
                    <a:lumMod val="65000"/>
                    <a:lumOff val="35000"/>
                  </a:schemeClr>
                </a:solidFill>
              </a:endParaRPr>
            </a:p>
          </p:txBody>
        </p:sp>
      </p:grpSp>
      <p:grpSp>
        <p:nvGrpSpPr>
          <p:cNvPr id="14" name="Group 13">
            <a:extLst>
              <a:ext uri="{FF2B5EF4-FFF2-40B4-BE49-F238E27FC236}">
                <a16:creationId xmlns:a16="http://schemas.microsoft.com/office/drawing/2014/main" id="{5214741C-8F4C-DC8D-29D4-B6D159054ED1}"/>
              </a:ext>
            </a:extLst>
          </p:cNvPr>
          <p:cNvGrpSpPr/>
          <p:nvPr/>
        </p:nvGrpSpPr>
        <p:grpSpPr>
          <a:xfrm>
            <a:off x="7476185" y="1459030"/>
            <a:ext cx="4560742" cy="2207942"/>
            <a:chOff x="423922" y="1449411"/>
            <a:chExt cx="3728664" cy="1771497"/>
          </a:xfrm>
        </p:grpSpPr>
        <p:grpSp>
          <p:nvGrpSpPr>
            <p:cNvPr id="15" name="Group 14">
              <a:extLst>
                <a:ext uri="{FF2B5EF4-FFF2-40B4-BE49-F238E27FC236}">
                  <a16:creationId xmlns:a16="http://schemas.microsoft.com/office/drawing/2014/main" id="{5C7AB0A4-F4DE-14CC-6A1D-6D532C381162}"/>
                </a:ext>
              </a:extLst>
            </p:cNvPr>
            <p:cNvGrpSpPr/>
            <p:nvPr/>
          </p:nvGrpSpPr>
          <p:grpSpPr>
            <a:xfrm>
              <a:off x="423922" y="1751097"/>
              <a:ext cx="2631795" cy="619133"/>
              <a:chOff x="423922" y="1751097"/>
              <a:chExt cx="2631795" cy="619133"/>
            </a:xfrm>
          </p:grpSpPr>
          <p:sp>
            <p:nvSpPr>
              <p:cNvPr id="22" name="Rectangle 21">
                <a:extLst>
                  <a:ext uri="{FF2B5EF4-FFF2-40B4-BE49-F238E27FC236}">
                    <a16:creationId xmlns:a16="http://schemas.microsoft.com/office/drawing/2014/main" id="{33E1A8A8-CAD6-4500-C575-EC16325A4FE1}"/>
                  </a:ext>
                </a:extLst>
              </p:cNvPr>
              <p:cNvSpPr/>
              <p:nvPr/>
            </p:nvSpPr>
            <p:spPr>
              <a:xfrm>
                <a:off x="423922" y="1751097"/>
                <a:ext cx="1034488" cy="4681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 name="Rectangle: Rounded Corners 7">
                <a:extLst>
                  <a:ext uri="{FF2B5EF4-FFF2-40B4-BE49-F238E27FC236}">
                    <a16:creationId xmlns:a16="http://schemas.microsoft.com/office/drawing/2014/main" id="{4FA88CE9-DB54-35DD-794C-49F81FE32AD8}"/>
                  </a:ext>
                </a:extLst>
              </p:cNvPr>
              <p:cNvSpPr/>
              <p:nvPr/>
            </p:nvSpPr>
            <p:spPr>
              <a:xfrm>
                <a:off x="423922" y="2062257"/>
                <a:ext cx="2631795" cy="307973"/>
              </a:xfrm>
              <a:prstGeom prst="roundRect">
                <a:avLst>
                  <a:gd name="adj" fmla="val 5000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sp>
          <p:nvSpPr>
            <p:cNvPr id="16" name="Rectangle 15">
              <a:extLst>
                <a:ext uri="{FF2B5EF4-FFF2-40B4-BE49-F238E27FC236}">
                  <a16:creationId xmlns:a16="http://schemas.microsoft.com/office/drawing/2014/main" id="{11715B1E-DBCD-206C-F949-D15C564B1EEA}"/>
                </a:ext>
              </a:extLst>
            </p:cNvPr>
            <p:cNvSpPr/>
            <p:nvPr/>
          </p:nvSpPr>
          <p:spPr>
            <a:xfrm>
              <a:off x="551413" y="1647185"/>
              <a:ext cx="3601173" cy="1573723"/>
            </a:xfrm>
            <a:prstGeom prst="rect">
              <a:avLst/>
            </a:prstGeom>
            <a:solidFill>
              <a:schemeClr val="bg1">
                <a:lumMod val="8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tIns="68580" rIns="137160" rtlCol="0" anchor="t"/>
            <a:lstStyle/>
            <a:p>
              <a:pPr algn="r"/>
              <a:r>
                <a:rPr lang="en-US" b="1" dirty="0">
                  <a:solidFill>
                    <a:schemeClr val="bg1">
                      <a:lumMod val="50000"/>
                    </a:schemeClr>
                  </a:solidFill>
                </a:rPr>
                <a:t>02</a:t>
              </a:r>
            </a:p>
          </p:txBody>
        </p:sp>
        <p:grpSp>
          <p:nvGrpSpPr>
            <p:cNvPr id="17" name="Group 16">
              <a:extLst>
                <a:ext uri="{FF2B5EF4-FFF2-40B4-BE49-F238E27FC236}">
                  <a16:creationId xmlns:a16="http://schemas.microsoft.com/office/drawing/2014/main" id="{CCC12BEA-DA5C-BA50-2023-0FB8AC2C9F65}"/>
                </a:ext>
              </a:extLst>
            </p:cNvPr>
            <p:cNvGrpSpPr/>
            <p:nvPr/>
          </p:nvGrpSpPr>
          <p:grpSpPr>
            <a:xfrm>
              <a:off x="423922" y="1449411"/>
              <a:ext cx="2631795" cy="612847"/>
              <a:chOff x="423922" y="1449411"/>
              <a:chExt cx="2631795" cy="612847"/>
            </a:xfrm>
          </p:grpSpPr>
          <p:sp>
            <p:nvSpPr>
              <p:cNvPr id="20" name="Rectangle: Rounded Corners 9">
                <a:extLst>
                  <a:ext uri="{FF2B5EF4-FFF2-40B4-BE49-F238E27FC236}">
                    <a16:creationId xmlns:a16="http://schemas.microsoft.com/office/drawing/2014/main" id="{E3826CCD-9817-46D7-4332-441690A9E4B7}"/>
                  </a:ext>
                </a:extLst>
              </p:cNvPr>
              <p:cNvSpPr/>
              <p:nvPr/>
            </p:nvSpPr>
            <p:spPr>
              <a:xfrm>
                <a:off x="423922" y="1449411"/>
                <a:ext cx="2631795" cy="612847"/>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Primary health care (PHC)</a:t>
                </a:r>
              </a:p>
            </p:txBody>
          </p:sp>
          <p:sp>
            <p:nvSpPr>
              <p:cNvPr id="21" name="Rectangle 20">
                <a:extLst>
                  <a:ext uri="{FF2B5EF4-FFF2-40B4-BE49-F238E27FC236}">
                    <a16:creationId xmlns:a16="http://schemas.microsoft.com/office/drawing/2014/main" id="{ADFD65A1-4301-D2DF-52B9-10D5CFFB091B}"/>
                  </a:ext>
                </a:extLst>
              </p:cNvPr>
              <p:cNvSpPr/>
              <p:nvPr/>
            </p:nvSpPr>
            <p:spPr>
              <a:xfrm>
                <a:off x="423922" y="1751097"/>
                <a:ext cx="313636" cy="3111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grpSp>
        <p:nvGrpSpPr>
          <p:cNvPr id="24" name="Group 23">
            <a:extLst>
              <a:ext uri="{FF2B5EF4-FFF2-40B4-BE49-F238E27FC236}">
                <a16:creationId xmlns:a16="http://schemas.microsoft.com/office/drawing/2014/main" id="{98946423-D7AE-CB67-490C-7919EF2CD70F}"/>
              </a:ext>
            </a:extLst>
          </p:cNvPr>
          <p:cNvGrpSpPr/>
          <p:nvPr/>
        </p:nvGrpSpPr>
        <p:grpSpPr>
          <a:xfrm>
            <a:off x="538945" y="3709777"/>
            <a:ext cx="4427449" cy="1829982"/>
            <a:chOff x="423922" y="1449411"/>
            <a:chExt cx="3831221" cy="1829982"/>
          </a:xfrm>
        </p:grpSpPr>
        <p:grpSp>
          <p:nvGrpSpPr>
            <p:cNvPr id="25" name="Group 24">
              <a:extLst>
                <a:ext uri="{FF2B5EF4-FFF2-40B4-BE49-F238E27FC236}">
                  <a16:creationId xmlns:a16="http://schemas.microsoft.com/office/drawing/2014/main" id="{D725F599-26A5-EFAA-E926-C18F98E21333}"/>
                </a:ext>
              </a:extLst>
            </p:cNvPr>
            <p:cNvGrpSpPr/>
            <p:nvPr/>
          </p:nvGrpSpPr>
          <p:grpSpPr>
            <a:xfrm>
              <a:off x="423922" y="1751097"/>
              <a:ext cx="2631795" cy="619133"/>
              <a:chOff x="423922" y="1751097"/>
              <a:chExt cx="2631795" cy="619133"/>
            </a:xfrm>
          </p:grpSpPr>
          <p:sp>
            <p:nvSpPr>
              <p:cNvPr id="32" name="Rectangle 31">
                <a:extLst>
                  <a:ext uri="{FF2B5EF4-FFF2-40B4-BE49-F238E27FC236}">
                    <a16:creationId xmlns:a16="http://schemas.microsoft.com/office/drawing/2014/main" id="{9D79265C-AE72-6406-A1F3-B36106C39F0D}"/>
                  </a:ext>
                </a:extLst>
              </p:cNvPr>
              <p:cNvSpPr/>
              <p:nvPr/>
            </p:nvSpPr>
            <p:spPr>
              <a:xfrm>
                <a:off x="423922" y="1751097"/>
                <a:ext cx="1034488" cy="4681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3" name="Rectangle: Rounded Corners 7">
                <a:extLst>
                  <a:ext uri="{FF2B5EF4-FFF2-40B4-BE49-F238E27FC236}">
                    <a16:creationId xmlns:a16="http://schemas.microsoft.com/office/drawing/2014/main" id="{651C0281-452E-16F2-D470-DA201698D7E9}"/>
                  </a:ext>
                </a:extLst>
              </p:cNvPr>
              <p:cNvSpPr/>
              <p:nvPr/>
            </p:nvSpPr>
            <p:spPr>
              <a:xfrm>
                <a:off x="423922" y="2062257"/>
                <a:ext cx="2631795" cy="307973"/>
              </a:xfrm>
              <a:prstGeom prst="roundRect">
                <a:avLst>
                  <a:gd name="adj" fmla="val 5000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sp>
          <p:nvSpPr>
            <p:cNvPr id="26" name="Rectangle 25">
              <a:extLst>
                <a:ext uri="{FF2B5EF4-FFF2-40B4-BE49-F238E27FC236}">
                  <a16:creationId xmlns:a16="http://schemas.microsoft.com/office/drawing/2014/main" id="{8C9607BC-0CA3-52AF-314A-44A22A87B8EA}"/>
                </a:ext>
              </a:extLst>
            </p:cNvPr>
            <p:cNvSpPr/>
            <p:nvPr/>
          </p:nvSpPr>
          <p:spPr>
            <a:xfrm>
              <a:off x="653970" y="1679458"/>
              <a:ext cx="3601173" cy="1573723"/>
            </a:xfrm>
            <a:prstGeom prst="rect">
              <a:avLst/>
            </a:prstGeom>
            <a:solidFill>
              <a:schemeClr val="bg1">
                <a:lumMod val="8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tIns="68580" rIns="137160" rtlCol="0" anchor="t"/>
            <a:lstStyle/>
            <a:p>
              <a:pPr algn="r"/>
              <a:r>
                <a:rPr lang="en-US" b="1" dirty="0">
                  <a:solidFill>
                    <a:schemeClr val="bg1">
                      <a:lumMod val="50000"/>
                    </a:schemeClr>
                  </a:solidFill>
                </a:rPr>
                <a:t>03</a:t>
              </a:r>
            </a:p>
          </p:txBody>
        </p:sp>
        <p:grpSp>
          <p:nvGrpSpPr>
            <p:cNvPr id="27" name="Group 26">
              <a:extLst>
                <a:ext uri="{FF2B5EF4-FFF2-40B4-BE49-F238E27FC236}">
                  <a16:creationId xmlns:a16="http://schemas.microsoft.com/office/drawing/2014/main" id="{2679C95E-6EF8-D6A7-7856-E08D323181E8}"/>
                </a:ext>
              </a:extLst>
            </p:cNvPr>
            <p:cNvGrpSpPr/>
            <p:nvPr/>
          </p:nvGrpSpPr>
          <p:grpSpPr>
            <a:xfrm>
              <a:off x="423922" y="1449411"/>
              <a:ext cx="2631795" cy="612847"/>
              <a:chOff x="423922" y="1449411"/>
              <a:chExt cx="2631795" cy="612847"/>
            </a:xfrm>
          </p:grpSpPr>
          <p:sp>
            <p:nvSpPr>
              <p:cNvPr id="30" name="Rectangle: Rounded Corners 9">
                <a:extLst>
                  <a:ext uri="{FF2B5EF4-FFF2-40B4-BE49-F238E27FC236}">
                    <a16:creationId xmlns:a16="http://schemas.microsoft.com/office/drawing/2014/main" id="{E920484A-FCC8-D10F-7A42-04B138D7DF41}"/>
                  </a:ext>
                </a:extLst>
              </p:cNvPr>
              <p:cNvSpPr/>
              <p:nvPr/>
            </p:nvSpPr>
            <p:spPr>
              <a:xfrm>
                <a:off x="423922" y="1449411"/>
                <a:ext cx="2631795" cy="612847"/>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PHC-oriented health system</a:t>
                </a:r>
              </a:p>
            </p:txBody>
          </p:sp>
          <p:sp>
            <p:nvSpPr>
              <p:cNvPr id="31" name="Rectangle 30">
                <a:extLst>
                  <a:ext uri="{FF2B5EF4-FFF2-40B4-BE49-F238E27FC236}">
                    <a16:creationId xmlns:a16="http://schemas.microsoft.com/office/drawing/2014/main" id="{C20FFD14-6685-EA7D-CEEE-0D562B9C46EB}"/>
                  </a:ext>
                </a:extLst>
              </p:cNvPr>
              <p:cNvSpPr/>
              <p:nvPr/>
            </p:nvSpPr>
            <p:spPr>
              <a:xfrm>
                <a:off x="423922" y="1751097"/>
                <a:ext cx="313636" cy="3111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28" name="TextBox 27">
              <a:extLst>
                <a:ext uri="{FF2B5EF4-FFF2-40B4-BE49-F238E27FC236}">
                  <a16:creationId xmlns:a16="http://schemas.microsoft.com/office/drawing/2014/main" id="{323B2494-1723-E328-2924-A0A874B26077}"/>
                </a:ext>
              </a:extLst>
            </p:cNvPr>
            <p:cNvSpPr txBox="1"/>
            <p:nvPr/>
          </p:nvSpPr>
          <p:spPr>
            <a:xfrm>
              <a:off x="737559" y="2109842"/>
              <a:ext cx="3402562" cy="1169551"/>
            </a:xfrm>
            <a:prstGeom prst="rect">
              <a:avLst/>
            </a:prstGeom>
            <a:noFill/>
          </p:spPr>
          <p:txBody>
            <a:bodyPr wrap="square" lIns="0" rIns="0" rtlCol="0" anchor="t">
              <a:spAutoFit/>
            </a:bodyPr>
            <a:lstStyle/>
            <a:p>
              <a:pPr algn="just"/>
              <a:r>
                <a:rPr lang="en-US" sz="1400" dirty="0"/>
                <a:t>A system organized to ensure the highest attainable health level, maximizing equity and solidarity. Comprises a core set of structural and functional elements that support UHC and equitable access to acceptable services.</a:t>
              </a:r>
              <a:endParaRPr lang="en-US" sz="1400" noProof="1">
                <a:solidFill>
                  <a:schemeClr val="tx1">
                    <a:lumMod val="65000"/>
                    <a:lumOff val="35000"/>
                  </a:schemeClr>
                </a:solidFill>
              </a:endParaRPr>
            </a:p>
          </p:txBody>
        </p:sp>
      </p:grpSp>
      <p:grpSp>
        <p:nvGrpSpPr>
          <p:cNvPr id="34" name="Group 33">
            <a:extLst>
              <a:ext uri="{FF2B5EF4-FFF2-40B4-BE49-F238E27FC236}">
                <a16:creationId xmlns:a16="http://schemas.microsoft.com/office/drawing/2014/main" id="{78811ADD-A040-7165-A407-375C89CCF45F}"/>
              </a:ext>
            </a:extLst>
          </p:cNvPr>
          <p:cNvGrpSpPr/>
          <p:nvPr/>
        </p:nvGrpSpPr>
        <p:grpSpPr>
          <a:xfrm>
            <a:off x="7319367" y="4039992"/>
            <a:ext cx="4717560" cy="2045426"/>
            <a:chOff x="423922" y="1449411"/>
            <a:chExt cx="3831221" cy="2045426"/>
          </a:xfrm>
        </p:grpSpPr>
        <p:grpSp>
          <p:nvGrpSpPr>
            <p:cNvPr id="35" name="Group 34">
              <a:extLst>
                <a:ext uri="{FF2B5EF4-FFF2-40B4-BE49-F238E27FC236}">
                  <a16:creationId xmlns:a16="http://schemas.microsoft.com/office/drawing/2014/main" id="{AE394C82-B6AF-88E6-BB4A-60CD29577549}"/>
                </a:ext>
              </a:extLst>
            </p:cNvPr>
            <p:cNvGrpSpPr/>
            <p:nvPr/>
          </p:nvGrpSpPr>
          <p:grpSpPr>
            <a:xfrm>
              <a:off x="423922" y="1751097"/>
              <a:ext cx="2631795" cy="619133"/>
              <a:chOff x="423922" y="1751097"/>
              <a:chExt cx="2631795" cy="619133"/>
            </a:xfrm>
          </p:grpSpPr>
          <p:sp>
            <p:nvSpPr>
              <p:cNvPr id="42" name="Rectangle 41">
                <a:extLst>
                  <a:ext uri="{FF2B5EF4-FFF2-40B4-BE49-F238E27FC236}">
                    <a16:creationId xmlns:a16="http://schemas.microsoft.com/office/drawing/2014/main" id="{B78B3E7D-5DFA-7580-1775-37A54A861A8E}"/>
                  </a:ext>
                </a:extLst>
              </p:cNvPr>
              <p:cNvSpPr/>
              <p:nvPr/>
            </p:nvSpPr>
            <p:spPr>
              <a:xfrm>
                <a:off x="423922" y="1751097"/>
                <a:ext cx="1034488" cy="4681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3" name="Rectangle: Rounded Corners 7">
                <a:extLst>
                  <a:ext uri="{FF2B5EF4-FFF2-40B4-BE49-F238E27FC236}">
                    <a16:creationId xmlns:a16="http://schemas.microsoft.com/office/drawing/2014/main" id="{88E90161-2440-D65A-E034-481725EE7369}"/>
                  </a:ext>
                </a:extLst>
              </p:cNvPr>
              <p:cNvSpPr/>
              <p:nvPr/>
            </p:nvSpPr>
            <p:spPr>
              <a:xfrm>
                <a:off x="423922" y="2062257"/>
                <a:ext cx="2631795" cy="307973"/>
              </a:xfrm>
              <a:prstGeom prst="roundRect">
                <a:avLst>
                  <a:gd name="adj" fmla="val 5000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sp>
          <p:nvSpPr>
            <p:cNvPr id="36" name="Rectangle 35">
              <a:extLst>
                <a:ext uri="{FF2B5EF4-FFF2-40B4-BE49-F238E27FC236}">
                  <a16:creationId xmlns:a16="http://schemas.microsoft.com/office/drawing/2014/main" id="{17ADEF7C-C565-0D7F-118A-3A366F39FD51}"/>
                </a:ext>
              </a:extLst>
            </p:cNvPr>
            <p:cNvSpPr/>
            <p:nvPr/>
          </p:nvSpPr>
          <p:spPr>
            <a:xfrm>
              <a:off x="653970" y="1679458"/>
              <a:ext cx="3601173" cy="1573723"/>
            </a:xfrm>
            <a:prstGeom prst="rect">
              <a:avLst/>
            </a:prstGeom>
            <a:solidFill>
              <a:schemeClr val="bg1">
                <a:lumMod val="8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tIns="68580" rIns="137160" rtlCol="0" anchor="t"/>
            <a:lstStyle/>
            <a:p>
              <a:pPr algn="r"/>
              <a:r>
                <a:rPr lang="en-US" b="1" dirty="0">
                  <a:solidFill>
                    <a:schemeClr val="bg1">
                      <a:lumMod val="50000"/>
                    </a:schemeClr>
                  </a:solidFill>
                </a:rPr>
                <a:t>04</a:t>
              </a:r>
            </a:p>
          </p:txBody>
        </p:sp>
        <p:grpSp>
          <p:nvGrpSpPr>
            <p:cNvPr id="37" name="Group 36">
              <a:extLst>
                <a:ext uri="{FF2B5EF4-FFF2-40B4-BE49-F238E27FC236}">
                  <a16:creationId xmlns:a16="http://schemas.microsoft.com/office/drawing/2014/main" id="{0FE3B45B-D125-B735-F5BB-11BD5E786242}"/>
                </a:ext>
              </a:extLst>
            </p:cNvPr>
            <p:cNvGrpSpPr/>
            <p:nvPr/>
          </p:nvGrpSpPr>
          <p:grpSpPr>
            <a:xfrm>
              <a:off x="423922" y="1449411"/>
              <a:ext cx="2631795" cy="612847"/>
              <a:chOff x="423922" y="1449411"/>
              <a:chExt cx="2631795" cy="612847"/>
            </a:xfrm>
          </p:grpSpPr>
          <p:sp>
            <p:nvSpPr>
              <p:cNvPr id="40" name="Rectangle: Rounded Corners 9">
                <a:extLst>
                  <a:ext uri="{FF2B5EF4-FFF2-40B4-BE49-F238E27FC236}">
                    <a16:creationId xmlns:a16="http://schemas.microsoft.com/office/drawing/2014/main" id="{116CF754-E78C-1448-E171-07F8399A320F}"/>
                  </a:ext>
                </a:extLst>
              </p:cNvPr>
              <p:cNvSpPr/>
              <p:nvPr/>
            </p:nvSpPr>
            <p:spPr>
              <a:xfrm>
                <a:off x="423922" y="1449411"/>
                <a:ext cx="2631795" cy="612847"/>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Universal health coverage (UHC)</a:t>
                </a:r>
              </a:p>
            </p:txBody>
          </p:sp>
          <p:sp>
            <p:nvSpPr>
              <p:cNvPr id="41" name="Rectangle 40">
                <a:extLst>
                  <a:ext uri="{FF2B5EF4-FFF2-40B4-BE49-F238E27FC236}">
                    <a16:creationId xmlns:a16="http://schemas.microsoft.com/office/drawing/2014/main" id="{76DF20CC-9E64-60D2-85D3-5D91567AA704}"/>
                  </a:ext>
                </a:extLst>
              </p:cNvPr>
              <p:cNvSpPr/>
              <p:nvPr/>
            </p:nvSpPr>
            <p:spPr>
              <a:xfrm>
                <a:off x="423922" y="1751097"/>
                <a:ext cx="313636" cy="3111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38" name="TextBox 37">
              <a:extLst>
                <a:ext uri="{FF2B5EF4-FFF2-40B4-BE49-F238E27FC236}">
                  <a16:creationId xmlns:a16="http://schemas.microsoft.com/office/drawing/2014/main" id="{CDD7E50F-F070-2F75-A19C-81CF567B3B4B}"/>
                </a:ext>
              </a:extLst>
            </p:cNvPr>
            <p:cNvSpPr txBox="1"/>
            <p:nvPr/>
          </p:nvSpPr>
          <p:spPr>
            <a:xfrm>
              <a:off x="737558" y="2109842"/>
              <a:ext cx="3437342" cy="1384995"/>
            </a:xfrm>
            <a:prstGeom prst="rect">
              <a:avLst/>
            </a:prstGeom>
            <a:noFill/>
          </p:spPr>
          <p:txBody>
            <a:bodyPr wrap="square" lIns="0" rIns="0" rtlCol="0" anchor="t">
              <a:spAutoFit/>
            </a:bodyPr>
            <a:lstStyle/>
            <a:p>
              <a:pPr algn="just"/>
              <a:r>
                <a:rPr lang="en-US" sz="1400" dirty="0"/>
                <a:t>Ensured </a:t>
              </a:r>
              <a:r>
                <a:rPr lang="en-US" sz="1400" b="1" dirty="0"/>
                <a:t>access for all </a:t>
              </a:r>
              <a:r>
                <a:rPr lang="en-US" sz="1400" dirty="0"/>
                <a:t>people to needed promotive, preventive, resuscitative, curative, rehabilitative and palliative health services that are of sufficient </a:t>
              </a:r>
              <a:r>
                <a:rPr lang="en-US" sz="1400" b="1" dirty="0"/>
                <a:t>quality</a:t>
              </a:r>
              <a:r>
                <a:rPr lang="en-US" sz="1400" dirty="0"/>
                <a:t> to be effective and that do not expose any users to </a:t>
              </a:r>
              <a:r>
                <a:rPr lang="en-US" sz="1400" b="1" dirty="0"/>
                <a:t>financial hardship</a:t>
              </a:r>
            </a:p>
            <a:p>
              <a:pPr algn="just"/>
              <a:endParaRPr lang="en-US" sz="1400" noProof="1">
                <a:solidFill>
                  <a:schemeClr val="tx1">
                    <a:lumMod val="65000"/>
                    <a:lumOff val="35000"/>
                  </a:schemeClr>
                </a:solidFill>
              </a:endParaRPr>
            </a:p>
          </p:txBody>
        </p:sp>
      </p:grpSp>
      <p:sp>
        <p:nvSpPr>
          <p:cNvPr id="44" name="TextBox 43">
            <a:extLst>
              <a:ext uri="{FF2B5EF4-FFF2-40B4-BE49-F238E27FC236}">
                <a16:creationId xmlns:a16="http://schemas.microsoft.com/office/drawing/2014/main" id="{ACE994DE-A418-FA4A-0E3C-F1EB031AE268}"/>
              </a:ext>
            </a:extLst>
          </p:cNvPr>
          <p:cNvSpPr txBox="1"/>
          <p:nvPr/>
        </p:nvSpPr>
        <p:spPr>
          <a:xfrm>
            <a:off x="7964204" y="2269339"/>
            <a:ext cx="3973916" cy="1661993"/>
          </a:xfrm>
          <a:prstGeom prst="rect">
            <a:avLst/>
          </a:prstGeom>
          <a:noFill/>
        </p:spPr>
        <p:txBody>
          <a:bodyPr wrap="square" rtlCol="0">
            <a:spAutoFit/>
          </a:bodyPr>
          <a:lstStyle/>
          <a:p>
            <a:r>
              <a:rPr lang="en-US" sz="1400" dirty="0"/>
              <a:t>A whole-of-society approach to health that aims to maximize the level and distribution of health and well-being through three components: primary care and essential public health functions as the core of integrated health services; multi-sectoral policy and action; and empowered people and communities.</a:t>
            </a:r>
          </a:p>
          <a:p>
            <a:endParaRPr lang="en-US" dirty="0"/>
          </a:p>
        </p:txBody>
      </p:sp>
    </p:spTree>
    <p:extLst>
      <p:ext uri="{BB962C8B-B14F-4D97-AF65-F5344CB8AC3E}">
        <p14:creationId xmlns:p14="http://schemas.microsoft.com/office/powerpoint/2010/main" val="4081243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F6D26-2487-DBB0-186F-20B6630C110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5EB9EBB-F769-DDAE-C86E-F1C96DC38FF1}"/>
              </a:ext>
            </a:extLst>
          </p:cNvPr>
          <p:cNvSpPr txBox="1"/>
          <p:nvPr/>
        </p:nvSpPr>
        <p:spPr>
          <a:xfrm>
            <a:off x="0" y="153512"/>
            <a:ext cx="7489767" cy="646331"/>
          </a:xfrm>
          <a:prstGeom prst="rect">
            <a:avLst/>
          </a:prstGeom>
          <a:noFill/>
        </p:spPr>
        <p:txBody>
          <a:bodyPr wrap="square" rtlCol="0">
            <a:spAutoFit/>
          </a:bodyPr>
          <a:lstStyle/>
          <a:p>
            <a:r>
              <a:rPr lang="en-US" sz="3600" b="1" dirty="0">
                <a:solidFill>
                  <a:schemeClr val="bg1"/>
                </a:solidFill>
              </a:rPr>
              <a:t>Components of UHC</a:t>
            </a:r>
            <a:endParaRPr lang="en-US" sz="3600" dirty="0">
              <a:solidFill>
                <a:schemeClr val="bg1"/>
              </a:solidFill>
            </a:endParaRPr>
          </a:p>
        </p:txBody>
      </p:sp>
      <p:pic>
        <p:nvPicPr>
          <p:cNvPr id="5" name="Picture 4">
            <a:extLst>
              <a:ext uri="{FF2B5EF4-FFF2-40B4-BE49-F238E27FC236}">
                <a16:creationId xmlns:a16="http://schemas.microsoft.com/office/drawing/2014/main" id="{9B3B87D6-4263-375E-AD2F-B59D40663AA2}"/>
              </a:ext>
            </a:extLst>
          </p:cNvPr>
          <p:cNvPicPr/>
          <p:nvPr/>
        </p:nvPicPr>
        <p:blipFill>
          <a:blip r:embed="rId2"/>
          <a:stretch>
            <a:fillRect/>
          </a:stretch>
        </p:blipFill>
        <p:spPr>
          <a:xfrm>
            <a:off x="1505132" y="1378857"/>
            <a:ext cx="6260011" cy="4444274"/>
          </a:xfrm>
          <a:prstGeom prst="rect">
            <a:avLst/>
          </a:prstGeom>
        </p:spPr>
      </p:pic>
    </p:spTree>
    <p:extLst>
      <p:ext uri="{BB962C8B-B14F-4D97-AF65-F5344CB8AC3E}">
        <p14:creationId xmlns:p14="http://schemas.microsoft.com/office/powerpoint/2010/main" val="4262566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47145"/>
            <a:ext cx="7564583" cy="2185214"/>
          </a:xfrm>
          <a:prstGeom prst="rect">
            <a:avLst/>
          </a:prstGeom>
          <a:noFill/>
        </p:spPr>
        <p:txBody>
          <a:bodyPr wrap="square" rtlCol="0">
            <a:spAutoFit/>
          </a:bodyPr>
          <a:lstStyle/>
          <a:p>
            <a:endParaRPr lang="en-US" sz="3200" b="1" dirty="0">
              <a:solidFill>
                <a:schemeClr val="bg1"/>
              </a:solidFill>
              <a:latin typeface="+mj-lt"/>
            </a:endParaRPr>
          </a:p>
          <a:p>
            <a:r>
              <a:rPr lang="en-US" sz="3200" b="1" dirty="0">
                <a:solidFill>
                  <a:schemeClr val="bg1"/>
                </a:solidFill>
              </a:rPr>
              <a:t>Global </a:t>
            </a:r>
            <a:r>
              <a:rPr lang="en-US" sz="3200" b="1" dirty="0" smtClean="0">
                <a:solidFill>
                  <a:schemeClr val="bg1"/>
                </a:solidFill>
              </a:rPr>
              <a:t>Commitments for PHC</a:t>
            </a:r>
            <a:endParaRPr lang="en-US" sz="3200" b="1" dirty="0">
              <a:solidFill>
                <a:schemeClr val="bg1"/>
              </a:solidFill>
            </a:endParaRPr>
          </a:p>
          <a:p>
            <a:endParaRPr lang="en-US" sz="3600" b="1" dirty="0">
              <a:solidFill>
                <a:schemeClr val="bg1"/>
              </a:solidFill>
            </a:endParaRPr>
          </a:p>
          <a:p>
            <a:endParaRPr lang="en-US" sz="3600" dirty="0">
              <a:solidFill>
                <a:schemeClr val="bg1"/>
              </a:solidFill>
            </a:endParaRPr>
          </a:p>
        </p:txBody>
      </p:sp>
      <p:sp>
        <p:nvSpPr>
          <p:cNvPr id="5" name="TextBox 4"/>
          <p:cNvSpPr txBox="1"/>
          <p:nvPr/>
        </p:nvSpPr>
        <p:spPr>
          <a:xfrm>
            <a:off x="895232" y="2583446"/>
            <a:ext cx="11296768" cy="1200329"/>
          </a:xfrm>
          <a:prstGeom prst="rect">
            <a:avLst/>
          </a:prstGeom>
          <a:noFill/>
        </p:spPr>
        <p:txBody>
          <a:bodyPr wrap="square" rtlCol="0">
            <a:spAutoFit/>
          </a:bodyPr>
          <a:lstStyle/>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 </a:t>
            </a:r>
            <a:endParaRPr lang="en-US" sz="2400" dirty="0">
              <a:solidFill>
                <a:srgbClr val="002060"/>
              </a:solidFill>
            </a:endParaRPr>
          </a:p>
        </p:txBody>
      </p:sp>
      <p:grpSp>
        <p:nvGrpSpPr>
          <p:cNvPr id="3" name="Group 2">
            <a:extLst>
              <a:ext uri="{FF2B5EF4-FFF2-40B4-BE49-F238E27FC236}">
                <a16:creationId xmlns:a16="http://schemas.microsoft.com/office/drawing/2014/main" id="{568BF572-DC56-9BC7-0AC7-ABB89959838E}"/>
              </a:ext>
            </a:extLst>
          </p:cNvPr>
          <p:cNvGrpSpPr/>
          <p:nvPr/>
        </p:nvGrpSpPr>
        <p:grpSpPr>
          <a:xfrm>
            <a:off x="709255" y="1633501"/>
            <a:ext cx="3611029" cy="3832426"/>
            <a:chOff x="709255" y="1633501"/>
            <a:chExt cx="3611029" cy="3832426"/>
          </a:xfrm>
        </p:grpSpPr>
        <p:sp>
          <p:nvSpPr>
            <p:cNvPr id="4" name="Freeform: Shape 55">
              <a:extLst>
                <a:ext uri="{FF2B5EF4-FFF2-40B4-BE49-F238E27FC236}">
                  <a16:creationId xmlns:a16="http://schemas.microsoft.com/office/drawing/2014/main" id="{CC1AB6D2-00AA-16ED-E010-C05194A5817E}"/>
                </a:ext>
              </a:extLst>
            </p:cNvPr>
            <p:cNvSpPr/>
            <p:nvPr/>
          </p:nvSpPr>
          <p:spPr>
            <a:xfrm>
              <a:off x="2875217" y="2813029"/>
              <a:ext cx="1445066" cy="975568"/>
            </a:xfrm>
            <a:custGeom>
              <a:avLst/>
              <a:gdLst>
                <a:gd name="connsiteX0" fmla="*/ 615523 w 1225296"/>
                <a:gd name="connsiteY0" fmla="*/ 0 h 710745"/>
                <a:gd name="connsiteX1" fmla="*/ 1225296 w 1225296"/>
                <a:gd name="connsiteY1" fmla="*/ 355372 h 710745"/>
                <a:gd name="connsiteX2" fmla="*/ 609772 w 1225296"/>
                <a:gd name="connsiteY2" fmla="*/ 710745 h 710745"/>
                <a:gd name="connsiteX3" fmla="*/ 0 w 1225296"/>
                <a:gd name="connsiteY3" fmla="*/ 355372 h 710745"/>
                <a:gd name="connsiteX0" fmla="*/ 615523 w 1225296"/>
                <a:gd name="connsiteY0" fmla="*/ 0 h 827201"/>
                <a:gd name="connsiteX1" fmla="*/ 1225296 w 1225296"/>
                <a:gd name="connsiteY1" fmla="*/ 355372 h 827201"/>
                <a:gd name="connsiteX2" fmla="*/ 609772 w 1225296"/>
                <a:gd name="connsiteY2" fmla="*/ 827201 h 827201"/>
                <a:gd name="connsiteX3" fmla="*/ 0 w 1225296"/>
                <a:gd name="connsiteY3" fmla="*/ 355372 h 827201"/>
                <a:gd name="connsiteX4" fmla="*/ 615523 w 1225296"/>
                <a:gd name="connsiteY4" fmla="*/ 0 h 827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5296" h="827201">
                  <a:moveTo>
                    <a:pt x="615523" y="0"/>
                  </a:moveTo>
                  <a:lnTo>
                    <a:pt x="1225296" y="355372"/>
                  </a:lnTo>
                  <a:lnTo>
                    <a:pt x="609772" y="827201"/>
                  </a:lnTo>
                  <a:lnTo>
                    <a:pt x="0" y="355372"/>
                  </a:lnTo>
                  <a:lnTo>
                    <a:pt x="615523" y="0"/>
                  </a:lnTo>
                  <a:close/>
                </a:path>
              </a:pathLst>
            </a:custGeom>
            <a:solidFill>
              <a:schemeClr val="accent5">
                <a:lumMod val="75000"/>
              </a:schemeClr>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sz="1350"/>
            </a:p>
          </p:txBody>
        </p:sp>
        <p:sp>
          <p:nvSpPr>
            <p:cNvPr id="7" name="Freeform: Shape 56">
              <a:extLst>
                <a:ext uri="{FF2B5EF4-FFF2-40B4-BE49-F238E27FC236}">
                  <a16:creationId xmlns:a16="http://schemas.microsoft.com/office/drawing/2014/main" id="{E732FE15-A8C7-0F0E-C27E-CF89456286D1}"/>
                </a:ext>
              </a:extLst>
            </p:cNvPr>
            <p:cNvSpPr/>
            <p:nvPr/>
          </p:nvSpPr>
          <p:spPr>
            <a:xfrm>
              <a:off x="3597751" y="3232142"/>
              <a:ext cx="722533" cy="995293"/>
            </a:xfrm>
            <a:custGeom>
              <a:avLst/>
              <a:gdLst>
                <a:gd name="connsiteX0" fmla="*/ 612648 w 612648"/>
                <a:gd name="connsiteY0" fmla="*/ 0 h 843926"/>
                <a:gd name="connsiteX1" fmla="*/ 612648 w 612648"/>
                <a:gd name="connsiteY1" fmla="*/ 493534 h 843926"/>
                <a:gd name="connsiteX2" fmla="*/ 0 w 612648"/>
                <a:gd name="connsiteY2" fmla="*/ 843926 h 843926"/>
                <a:gd name="connsiteX3" fmla="*/ 0 w 612648"/>
                <a:gd name="connsiteY3" fmla="*/ 350392 h 843926"/>
              </a:gdLst>
              <a:ahLst/>
              <a:cxnLst>
                <a:cxn ang="0">
                  <a:pos x="connsiteX0" y="connsiteY0"/>
                </a:cxn>
                <a:cxn ang="0">
                  <a:pos x="connsiteX1" y="connsiteY1"/>
                </a:cxn>
                <a:cxn ang="0">
                  <a:pos x="connsiteX2" y="connsiteY2"/>
                </a:cxn>
                <a:cxn ang="0">
                  <a:pos x="connsiteX3" y="connsiteY3"/>
                </a:cxn>
              </a:cxnLst>
              <a:rect l="l" t="t" r="r" b="b"/>
              <a:pathLst>
                <a:path w="612648" h="843926">
                  <a:moveTo>
                    <a:pt x="612648" y="0"/>
                  </a:moveTo>
                  <a:lnTo>
                    <a:pt x="612648" y="493534"/>
                  </a:lnTo>
                  <a:lnTo>
                    <a:pt x="0" y="843926"/>
                  </a:lnTo>
                  <a:lnTo>
                    <a:pt x="0" y="350392"/>
                  </a:lnTo>
                  <a:close/>
                </a:path>
              </a:pathLst>
            </a:custGeom>
            <a:solidFill>
              <a:schemeClr val="accent5">
                <a:lumMod val="50000"/>
              </a:schemeClr>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sz="1350"/>
            </a:p>
          </p:txBody>
        </p:sp>
        <p:sp>
          <p:nvSpPr>
            <p:cNvPr id="8" name="Freeform: Shape 57">
              <a:extLst>
                <a:ext uri="{FF2B5EF4-FFF2-40B4-BE49-F238E27FC236}">
                  <a16:creationId xmlns:a16="http://schemas.microsoft.com/office/drawing/2014/main" id="{80845758-7319-5C2C-E851-AE24E963C205}"/>
                </a:ext>
              </a:extLst>
            </p:cNvPr>
            <p:cNvSpPr/>
            <p:nvPr/>
          </p:nvSpPr>
          <p:spPr>
            <a:xfrm>
              <a:off x="2875218" y="3232142"/>
              <a:ext cx="722533" cy="995293"/>
            </a:xfrm>
            <a:custGeom>
              <a:avLst/>
              <a:gdLst>
                <a:gd name="connsiteX0" fmla="*/ 0 w 612648"/>
                <a:gd name="connsiteY0" fmla="*/ 0 h 843926"/>
                <a:gd name="connsiteX1" fmla="*/ 612648 w 612648"/>
                <a:gd name="connsiteY1" fmla="*/ 350392 h 843926"/>
                <a:gd name="connsiteX2" fmla="*/ 612648 w 612648"/>
                <a:gd name="connsiteY2" fmla="*/ 843926 h 843926"/>
                <a:gd name="connsiteX3" fmla="*/ 0 w 612648"/>
                <a:gd name="connsiteY3" fmla="*/ 493534 h 843926"/>
              </a:gdLst>
              <a:ahLst/>
              <a:cxnLst>
                <a:cxn ang="0">
                  <a:pos x="connsiteX0" y="connsiteY0"/>
                </a:cxn>
                <a:cxn ang="0">
                  <a:pos x="connsiteX1" y="connsiteY1"/>
                </a:cxn>
                <a:cxn ang="0">
                  <a:pos x="connsiteX2" y="connsiteY2"/>
                </a:cxn>
                <a:cxn ang="0">
                  <a:pos x="connsiteX3" y="connsiteY3"/>
                </a:cxn>
              </a:cxnLst>
              <a:rect l="l" t="t" r="r" b="b"/>
              <a:pathLst>
                <a:path w="612648" h="843926">
                  <a:moveTo>
                    <a:pt x="0" y="0"/>
                  </a:moveTo>
                  <a:lnTo>
                    <a:pt x="612648" y="350392"/>
                  </a:lnTo>
                  <a:lnTo>
                    <a:pt x="612648" y="843926"/>
                  </a:lnTo>
                  <a:lnTo>
                    <a:pt x="0" y="493534"/>
                  </a:lnTo>
                  <a:close/>
                </a:path>
              </a:pathLst>
            </a:custGeom>
            <a:solidFill>
              <a:schemeClr val="accent5"/>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sz="1350"/>
            </a:p>
          </p:txBody>
        </p:sp>
        <p:grpSp>
          <p:nvGrpSpPr>
            <p:cNvPr id="9" name="Group 8">
              <a:extLst>
                <a:ext uri="{FF2B5EF4-FFF2-40B4-BE49-F238E27FC236}">
                  <a16:creationId xmlns:a16="http://schemas.microsoft.com/office/drawing/2014/main" id="{ABB2E95C-8398-4F06-6B5B-58CFA2D1F2CF}"/>
                </a:ext>
              </a:extLst>
            </p:cNvPr>
            <p:cNvGrpSpPr/>
            <p:nvPr/>
          </p:nvGrpSpPr>
          <p:grpSpPr>
            <a:xfrm>
              <a:off x="3800099" y="2968580"/>
              <a:ext cx="313250" cy="345907"/>
              <a:chOff x="7334854" y="3940862"/>
              <a:chExt cx="265610" cy="293300"/>
            </a:xfrm>
          </p:grpSpPr>
          <p:sp>
            <p:nvSpPr>
              <p:cNvPr id="69" name="Freeform: Shape 246">
                <a:extLst>
                  <a:ext uri="{FF2B5EF4-FFF2-40B4-BE49-F238E27FC236}">
                    <a16:creationId xmlns:a16="http://schemas.microsoft.com/office/drawing/2014/main" id="{EE3D3175-26D4-1C03-0A02-5014400099E0}"/>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70" name="Oval 69">
                <a:extLst>
                  <a:ext uri="{FF2B5EF4-FFF2-40B4-BE49-F238E27FC236}">
                    <a16:creationId xmlns:a16="http://schemas.microsoft.com/office/drawing/2014/main" id="{19F9BEF2-A19E-8BFE-EF1D-FE6969975E4B}"/>
                  </a:ext>
                </a:extLst>
              </p:cNvPr>
              <p:cNvSpPr/>
              <p:nvPr/>
            </p:nvSpPr>
            <p:spPr>
              <a:xfrm>
                <a:off x="7334854" y="3940862"/>
                <a:ext cx="265610" cy="147017"/>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grpSp>
        <p:sp>
          <p:nvSpPr>
            <p:cNvPr id="10" name="Freeform: Shape 59">
              <a:extLst>
                <a:ext uri="{FF2B5EF4-FFF2-40B4-BE49-F238E27FC236}">
                  <a16:creationId xmlns:a16="http://schemas.microsoft.com/office/drawing/2014/main" id="{AA49677E-71AE-BC0E-3519-180E451D3611}"/>
                </a:ext>
              </a:extLst>
            </p:cNvPr>
            <p:cNvSpPr/>
            <p:nvPr/>
          </p:nvSpPr>
          <p:spPr>
            <a:xfrm>
              <a:off x="709255" y="4051521"/>
              <a:ext cx="1445066" cy="975568"/>
            </a:xfrm>
            <a:custGeom>
              <a:avLst/>
              <a:gdLst>
                <a:gd name="connsiteX0" fmla="*/ 615523 w 1225296"/>
                <a:gd name="connsiteY0" fmla="*/ 0 h 710745"/>
                <a:gd name="connsiteX1" fmla="*/ 1225296 w 1225296"/>
                <a:gd name="connsiteY1" fmla="*/ 355372 h 710745"/>
                <a:gd name="connsiteX2" fmla="*/ 609772 w 1225296"/>
                <a:gd name="connsiteY2" fmla="*/ 710745 h 710745"/>
                <a:gd name="connsiteX3" fmla="*/ 0 w 1225296"/>
                <a:gd name="connsiteY3" fmla="*/ 355372 h 710745"/>
                <a:gd name="connsiteX0" fmla="*/ 615523 w 1225296"/>
                <a:gd name="connsiteY0" fmla="*/ 0 h 827201"/>
                <a:gd name="connsiteX1" fmla="*/ 1225296 w 1225296"/>
                <a:gd name="connsiteY1" fmla="*/ 355372 h 827201"/>
                <a:gd name="connsiteX2" fmla="*/ 609772 w 1225296"/>
                <a:gd name="connsiteY2" fmla="*/ 827201 h 827201"/>
                <a:gd name="connsiteX3" fmla="*/ 0 w 1225296"/>
                <a:gd name="connsiteY3" fmla="*/ 355372 h 827201"/>
                <a:gd name="connsiteX4" fmla="*/ 615523 w 1225296"/>
                <a:gd name="connsiteY4" fmla="*/ 0 h 827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5296" h="827201">
                  <a:moveTo>
                    <a:pt x="615523" y="0"/>
                  </a:moveTo>
                  <a:lnTo>
                    <a:pt x="1225296" y="355372"/>
                  </a:lnTo>
                  <a:lnTo>
                    <a:pt x="609772" y="827201"/>
                  </a:lnTo>
                  <a:lnTo>
                    <a:pt x="0" y="355372"/>
                  </a:lnTo>
                  <a:lnTo>
                    <a:pt x="615523" y="0"/>
                  </a:lnTo>
                  <a:close/>
                </a:path>
              </a:pathLst>
            </a:custGeom>
            <a:solidFill>
              <a:schemeClr val="accent5">
                <a:lumMod val="75000"/>
              </a:schemeClr>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sz="1350"/>
            </a:p>
          </p:txBody>
        </p:sp>
        <p:sp>
          <p:nvSpPr>
            <p:cNvPr id="11" name="Freeform: Shape 60">
              <a:extLst>
                <a:ext uri="{FF2B5EF4-FFF2-40B4-BE49-F238E27FC236}">
                  <a16:creationId xmlns:a16="http://schemas.microsoft.com/office/drawing/2014/main" id="{701920C7-DAED-E1C0-2927-242C13775508}"/>
                </a:ext>
              </a:extLst>
            </p:cNvPr>
            <p:cNvSpPr/>
            <p:nvPr/>
          </p:nvSpPr>
          <p:spPr>
            <a:xfrm>
              <a:off x="1431789" y="4470634"/>
              <a:ext cx="722533" cy="995293"/>
            </a:xfrm>
            <a:custGeom>
              <a:avLst/>
              <a:gdLst>
                <a:gd name="connsiteX0" fmla="*/ 612648 w 612648"/>
                <a:gd name="connsiteY0" fmla="*/ 0 h 843926"/>
                <a:gd name="connsiteX1" fmla="*/ 612648 w 612648"/>
                <a:gd name="connsiteY1" fmla="*/ 493534 h 843926"/>
                <a:gd name="connsiteX2" fmla="*/ 0 w 612648"/>
                <a:gd name="connsiteY2" fmla="*/ 843926 h 843926"/>
                <a:gd name="connsiteX3" fmla="*/ 0 w 612648"/>
                <a:gd name="connsiteY3" fmla="*/ 350392 h 843926"/>
              </a:gdLst>
              <a:ahLst/>
              <a:cxnLst>
                <a:cxn ang="0">
                  <a:pos x="connsiteX0" y="connsiteY0"/>
                </a:cxn>
                <a:cxn ang="0">
                  <a:pos x="connsiteX1" y="connsiteY1"/>
                </a:cxn>
                <a:cxn ang="0">
                  <a:pos x="connsiteX2" y="connsiteY2"/>
                </a:cxn>
                <a:cxn ang="0">
                  <a:pos x="connsiteX3" y="connsiteY3"/>
                </a:cxn>
              </a:cxnLst>
              <a:rect l="l" t="t" r="r" b="b"/>
              <a:pathLst>
                <a:path w="612648" h="843926">
                  <a:moveTo>
                    <a:pt x="612648" y="0"/>
                  </a:moveTo>
                  <a:lnTo>
                    <a:pt x="612648" y="493534"/>
                  </a:lnTo>
                  <a:lnTo>
                    <a:pt x="0" y="843926"/>
                  </a:lnTo>
                  <a:lnTo>
                    <a:pt x="0" y="350392"/>
                  </a:lnTo>
                  <a:close/>
                </a:path>
              </a:pathLst>
            </a:custGeom>
            <a:solidFill>
              <a:schemeClr val="accent5">
                <a:lumMod val="50000"/>
              </a:schemeClr>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sz="1350"/>
            </a:p>
          </p:txBody>
        </p:sp>
        <p:sp>
          <p:nvSpPr>
            <p:cNvPr id="12" name="Freeform: Shape 61">
              <a:extLst>
                <a:ext uri="{FF2B5EF4-FFF2-40B4-BE49-F238E27FC236}">
                  <a16:creationId xmlns:a16="http://schemas.microsoft.com/office/drawing/2014/main" id="{7485B29C-79DE-31C3-BC96-49AC70410526}"/>
                </a:ext>
              </a:extLst>
            </p:cNvPr>
            <p:cNvSpPr/>
            <p:nvPr/>
          </p:nvSpPr>
          <p:spPr>
            <a:xfrm>
              <a:off x="709256" y="4470634"/>
              <a:ext cx="722533" cy="995293"/>
            </a:xfrm>
            <a:custGeom>
              <a:avLst/>
              <a:gdLst>
                <a:gd name="connsiteX0" fmla="*/ 0 w 612648"/>
                <a:gd name="connsiteY0" fmla="*/ 0 h 843926"/>
                <a:gd name="connsiteX1" fmla="*/ 612648 w 612648"/>
                <a:gd name="connsiteY1" fmla="*/ 350392 h 843926"/>
                <a:gd name="connsiteX2" fmla="*/ 612648 w 612648"/>
                <a:gd name="connsiteY2" fmla="*/ 843926 h 843926"/>
                <a:gd name="connsiteX3" fmla="*/ 0 w 612648"/>
                <a:gd name="connsiteY3" fmla="*/ 493534 h 843926"/>
              </a:gdLst>
              <a:ahLst/>
              <a:cxnLst>
                <a:cxn ang="0">
                  <a:pos x="connsiteX0" y="connsiteY0"/>
                </a:cxn>
                <a:cxn ang="0">
                  <a:pos x="connsiteX1" y="connsiteY1"/>
                </a:cxn>
                <a:cxn ang="0">
                  <a:pos x="connsiteX2" y="connsiteY2"/>
                </a:cxn>
                <a:cxn ang="0">
                  <a:pos x="connsiteX3" y="connsiteY3"/>
                </a:cxn>
              </a:cxnLst>
              <a:rect l="l" t="t" r="r" b="b"/>
              <a:pathLst>
                <a:path w="612648" h="843926">
                  <a:moveTo>
                    <a:pt x="0" y="0"/>
                  </a:moveTo>
                  <a:lnTo>
                    <a:pt x="612648" y="350392"/>
                  </a:lnTo>
                  <a:lnTo>
                    <a:pt x="612648" y="843926"/>
                  </a:lnTo>
                  <a:lnTo>
                    <a:pt x="0" y="493534"/>
                  </a:lnTo>
                  <a:close/>
                </a:path>
              </a:pathLst>
            </a:custGeom>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sz="1350"/>
            </a:p>
          </p:txBody>
        </p:sp>
        <p:sp>
          <p:nvSpPr>
            <p:cNvPr id="13" name="Freeform: Shape 62">
              <a:extLst>
                <a:ext uri="{FF2B5EF4-FFF2-40B4-BE49-F238E27FC236}">
                  <a16:creationId xmlns:a16="http://schemas.microsoft.com/office/drawing/2014/main" id="{386E682E-4B20-E320-23DF-660D5B2C1520}"/>
                </a:ext>
              </a:extLst>
            </p:cNvPr>
            <p:cNvSpPr/>
            <p:nvPr/>
          </p:nvSpPr>
          <p:spPr>
            <a:xfrm>
              <a:off x="2524424" y="2432329"/>
              <a:ext cx="1445066" cy="975568"/>
            </a:xfrm>
            <a:custGeom>
              <a:avLst/>
              <a:gdLst>
                <a:gd name="connsiteX0" fmla="*/ 615523 w 1225296"/>
                <a:gd name="connsiteY0" fmla="*/ 0 h 710745"/>
                <a:gd name="connsiteX1" fmla="*/ 1225296 w 1225296"/>
                <a:gd name="connsiteY1" fmla="*/ 355372 h 710745"/>
                <a:gd name="connsiteX2" fmla="*/ 609772 w 1225296"/>
                <a:gd name="connsiteY2" fmla="*/ 710745 h 710745"/>
                <a:gd name="connsiteX3" fmla="*/ 0 w 1225296"/>
                <a:gd name="connsiteY3" fmla="*/ 355372 h 710745"/>
                <a:gd name="connsiteX0" fmla="*/ 615523 w 1225296"/>
                <a:gd name="connsiteY0" fmla="*/ 0 h 827201"/>
                <a:gd name="connsiteX1" fmla="*/ 1225296 w 1225296"/>
                <a:gd name="connsiteY1" fmla="*/ 355372 h 827201"/>
                <a:gd name="connsiteX2" fmla="*/ 609772 w 1225296"/>
                <a:gd name="connsiteY2" fmla="*/ 827201 h 827201"/>
                <a:gd name="connsiteX3" fmla="*/ 0 w 1225296"/>
                <a:gd name="connsiteY3" fmla="*/ 355372 h 827201"/>
                <a:gd name="connsiteX4" fmla="*/ 615523 w 1225296"/>
                <a:gd name="connsiteY4" fmla="*/ 0 h 827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5296" h="827201">
                  <a:moveTo>
                    <a:pt x="615523" y="0"/>
                  </a:moveTo>
                  <a:lnTo>
                    <a:pt x="1225296" y="355372"/>
                  </a:lnTo>
                  <a:lnTo>
                    <a:pt x="609772" y="827201"/>
                  </a:lnTo>
                  <a:lnTo>
                    <a:pt x="0" y="355372"/>
                  </a:lnTo>
                  <a:lnTo>
                    <a:pt x="615523" y="0"/>
                  </a:lnTo>
                  <a:close/>
                </a:path>
              </a:pathLst>
            </a:custGeom>
            <a:solidFill>
              <a:schemeClr val="accent2">
                <a:lumMod val="75000"/>
              </a:schemeClr>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sz="1350"/>
            </a:p>
          </p:txBody>
        </p:sp>
        <p:sp>
          <p:nvSpPr>
            <p:cNvPr id="14" name="Freeform: Shape 127">
              <a:extLst>
                <a:ext uri="{FF2B5EF4-FFF2-40B4-BE49-F238E27FC236}">
                  <a16:creationId xmlns:a16="http://schemas.microsoft.com/office/drawing/2014/main" id="{665166C3-527D-A95E-F16C-EAB4E3D87EA4}"/>
                </a:ext>
              </a:extLst>
            </p:cNvPr>
            <p:cNvSpPr/>
            <p:nvPr/>
          </p:nvSpPr>
          <p:spPr>
            <a:xfrm>
              <a:off x="3246958" y="2851442"/>
              <a:ext cx="722534" cy="995293"/>
            </a:xfrm>
            <a:custGeom>
              <a:avLst/>
              <a:gdLst>
                <a:gd name="connsiteX0" fmla="*/ 612648 w 612648"/>
                <a:gd name="connsiteY0" fmla="*/ 0 h 843926"/>
                <a:gd name="connsiteX1" fmla="*/ 612648 w 612648"/>
                <a:gd name="connsiteY1" fmla="*/ 493534 h 843926"/>
                <a:gd name="connsiteX2" fmla="*/ 0 w 612648"/>
                <a:gd name="connsiteY2" fmla="*/ 843926 h 843926"/>
                <a:gd name="connsiteX3" fmla="*/ 0 w 612648"/>
                <a:gd name="connsiteY3" fmla="*/ 350392 h 843926"/>
              </a:gdLst>
              <a:ahLst/>
              <a:cxnLst>
                <a:cxn ang="0">
                  <a:pos x="connsiteX0" y="connsiteY0"/>
                </a:cxn>
                <a:cxn ang="0">
                  <a:pos x="connsiteX1" y="connsiteY1"/>
                </a:cxn>
                <a:cxn ang="0">
                  <a:pos x="connsiteX2" y="connsiteY2"/>
                </a:cxn>
                <a:cxn ang="0">
                  <a:pos x="connsiteX3" y="connsiteY3"/>
                </a:cxn>
              </a:cxnLst>
              <a:rect l="l" t="t" r="r" b="b"/>
              <a:pathLst>
                <a:path w="612648" h="843926">
                  <a:moveTo>
                    <a:pt x="612648" y="0"/>
                  </a:moveTo>
                  <a:lnTo>
                    <a:pt x="612648" y="493534"/>
                  </a:lnTo>
                  <a:lnTo>
                    <a:pt x="0" y="843926"/>
                  </a:lnTo>
                  <a:lnTo>
                    <a:pt x="0" y="350392"/>
                  </a:lnTo>
                  <a:close/>
                </a:path>
              </a:pathLst>
            </a:custGeom>
            <a:solidFill>
              <a:schemeClr val="accent2">
                <a:lumMod val="50000"/>
              </a:schemeClr>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sz="1350"/>
            </a:p>
          </p:txBody>
        </p:sp>
        <p:sp>
          <p:nvSpPr>
            <p:cNvPr id="15" name="Freeform: Shape 128">
              <a:extLst>
                <a:ext uri="{FF2B5EF4-FFF2-40B4-BE49-F238E27FC236}">
                  <a16:creationId xmlns:a16="http://schemas.microsoft.com/office/drawing/2014/main" id="{765BD510-9F70-71B4-08AB-12F86ED6FB48}"/>
                </a:ext>
              </a:extLst>
            </p:cNvPr>
            <p:cNvSpPr/>
            <p:nvPr/>
          </p:nvSpPr>
          <p:spPr>
            <a:xfrm>
              <a:off x="2524425" y="2851443"/>
              <a:ext cx="722534" cy="995293"/>
            </a:xfrm>
            <a:custGeom>
              <a:avLst/>
              <a:gdLst>
                <a:gd name="connsiteX0" fmla="*/ 0 w 612648"/>
                <a:gd name="connsiteY0" fmla="*/ 0 h 843926"/>
                <a:gd name="connsiteX1" fmla="*/ 612648 w 612648"/>
                <a:gd name="connsiteY1" fmla="*/ 350392 h 843926"/>
                <a:gd name="connsiteX2" fmla="*/ 612648 w 612648"/>
                <a:gd name="connsiteY2" fmla="*/ 843926 h 843926"/>
                <a:gd name="connsiteX3" fmla="*/ 0 w 612648"/>
                <a:gd name="connsiteY3" fmla="*/ 493534 h 843926"/>
              </a:gdLst>
              <a:ahLst/>
              <a:cxnLst>
                <a:cxn ang="0">
                  <a:pos x="connsiteX0" y="connsiteY0"/>
                </a:cxn>
                <a:cxn ang="0">
                  <a:pos x="connsiteX1" y="connsiteY1"/>
                </a:cxn>
                <a:cxn ang="0">
                  <a:pos x="connsiteX2" y="connsiteY2"/>
                </a:cxn>
                <a:cxn ang="0">
                  <a:pos x="connsiteX3" y="connsiteY3"/>
                </a:cxn>
              </a:cxnLst>
              <a:rect l="l" t="t" r="r" b="b"/>
              <a:pathLst>
                <a:path w="612648" h="843926">
                  <a:moveTo>
                    <a:pt x="0" y="0"/>
                  </a:moveTo>
                  <a:lnTo>
                    <a:pt x="612648" y="350392"/>
                  </a:lnTo>
                  <a:lnTo>
                    <a:pt x="612648" y="843926"/>
                  </a:lnTo>
                  <a:lnTo>
                    <a:pt x="0" y="493534"/>
                  </a:lnTo>
                  <a:close/>
                </a:path>
              </a:pathLst>
            </a:custGeom>
            <a:solidFill>
              <a:schemeClr val="accent2"/>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sz="1350"/>
            </a:p>
          </p:txBody>
        </p:sp>
        <p:grpSp>
          <p:nvGrpSpPr>
            <p:cNvPr id="16" name="Group 15">
              <a:extLst>
                <a:ext uri="{FF2B5EF4-FFF2-40B4-BE49-F238E27FC236}">
                  <a16:creationId xmlns:a16="http://schemas.microsoft.com/office/drawing/2014/main" id="{7944C79C-3935-E04D-70A9-B8DEA291C122}"/>
                </a:ext>
              </a:extLst>
            </p:cNvPr>
            <p:cNvGrpSpPr/>
            <p:nvPr/>
          </p:nvGrpSpPr>
          <p:grpSpPr>
            <a:xfrm>
              <a:off x="3449306" y="2587881"/>
              <a:ext cx="313250" cy="345907"/>
              <a:chOff x="7334854" y="3940862"/>
              <a:chExt cx="265610" cy="293300"/>
            </a:xfrm>
          </p:grpSpPr>
          <p:sp>
            <p:nvSpPr>
              <p:cNvPr id="67" name="Freeform: Shape 244">
                <a:extLst>
                  <a:ext uri="{FF2B5EF4-FFF2-40B4-BE49-F238E27FC236}">
                    <a16:creationId xmlns:a16="http://schemas.microsoft.com/office/drawing/2014/main" id="{737A94EB-6387-CF99-8913-548673A0F63C}"/>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68" name="Oval 67">
                <a:extLst>
                  <a:ext uri="{FF2B5EF4-FFF2-40B4-BE49-F238E27FC236}">
                    <a16:creationId xmlns:a16="http://schemas.microsoft.com/office/drawing/2014/main" id="{A6E88437-86BC-67EA-0456-CA934A880F1F}"/>
                  </a:ext>
                </a:extLst>
              </p:cNvPr>
              <p:cNvSpPr/>
              <p:nvPr/>
            </p:nvSpPr>
            <p:spPr>
              <a:xfrm>
                <a:off x="7334854" y="3940862"/>
                <a:ext cx="265610" cy="14701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grpSp>
        <p:grpSp>
          <p:nvGrpSpPr>
            <p:cNvPr id="17" name="Group 16">
              <a:extLst>
                <a:ext uri="{FF2B5EF4-FFF2-40B4-BE49-F238E27FC236}">
                  <a16:creationId xmlns:a16="http://schemas.microsoft.com/office/drawing/2014/main" id="{B41B6D02-5BD8-9B3E-F630-8F6E7968358F}"/>
                </a:ext>
              </a:extLst>
            </p:cNvPr>
            <p:cNvGrpSpPr/>
            <p:nvPr/>
          </p:nvGrpSpPr>
          <p:grpSpPr>
            <a:xfrm>
              <a:off x="1076086" y="3259353"/>
              <a:ext cx="1445067" cy="1414406"/>
              <a:chOff x="1076086" y="3259353"/>
              <a:chExt cx="1445067" cy="1414406"/>
            </a:xfrm>
          </p:grpSpPr>
          <p:sp>
            <p:nvSpPr>
              <p:cNvPr id="64" name="Freeform: Shape 241">
                <a:extLst>
                  <a:ext uri="{FF2B5EF4-FFF2-40B4-BE49-F238E27FC236}">
                    <a16:creationId xmlns:a16="http://schemas.microsoft.com/office/drawing/2014/main" id="{080F2743-0DD8-391D-D663-FFF9A32C7C6D}"/>
                  </a:ext>
                </a:extLst>
              </p:cNvPr>
              <p:cNvSpPr/>
              <p:nvPr/>
            </p:nvSpPr>
            <p:spPr>
              <a:xfrm>
                <a:off x="1076086" y="3259353"/>
                <a:ext cx="1445066" cy="975568"/>
              </a:xfrm>
              <a:custGeom>
                <a:avLst/>
                <a:gdLst>
                  <a:gd name="connsiteX0" fmla="*/ 615523 w 1225296"/>
                  <a:gd name="connsiteY0" fmla="*/ 0 h 710745"/>
                  <a:gd name="connsiteX1" fmla="*/ 1225296 w 1225296"/>
                  <a:gd name="connsiteY1" fmla="*/ 355372 h 710745"/>
                  <a:gd name="connsiteX2" fmla="*/ 609772 w 1225296"/>
                  <a:gd name="connsiteY2" fmla="*/ 710745 h 710745"/>
                  <a:gd name="connsiteX3" fmla="*/ 0 w 1225296"/>
                  <a:gd name="connsiteY3" fmla="*/ 355372 h 710745"/>
                  <a:gd name="connsiteX0" fmla="*/ 615523 w 1225296"/>
                  <a:gd name="connsiteY0" fmla="*/ 0 h 827201"/>
                  <a:gd name="connsiteX1" fmla="*/ 1225296 w 1225296"/>
                  <a:gd name="connsiteY1" fmla="*/ 355372 h 827201"/>
                  <a:gd name="connsiteX2" fmla="*/ 609772 w 1225296"/>
                  <a:gd name="connsiteY2" fmla="*/ 827201 h 827201"/>
                  <a:gd name="connsiteX3" fmla="*/ 0 w 1225296"/>
                  <a:gd name="connsiteY3" fmla="*/ 355372 h 827201"/>
                  <a:gd name="connsiteX4" fmla="*/ 615523 w 1225296"/>
                  <a:gd name="connsiteY4" fmla="*/ 0 h 827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5296" h="827201">
                    <a:moveTo>
                      <a:pt x="615523" y="0"/>
                    </a:moveTo>
                    <a:lnTo>
                      <a:pt x="1225296" y="355372"/>
                    </a:lnTo>
                    <a:lnTo>
                      <a:pt x="609772" y="827201"/>
                    </a:lnTo>
                    <a:lnTo>
                      <a:pt x="0" y="355372"/>
                    </a:lnTo>
                    <a:lnTo>
                      <a:pt x="615523" y="0"/>
                    </a:lnTo>
                    <a:close/>
                  </a:path>
                </a:pathLst>
              </a:custGeom>
              <a:solidFill>
                <a:schemeClr val="accent2">
                  <a:lumMod val="75000"/>
                </a:schemeClr>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sz="1350"/>
              </a:p>
            </p:txBody>
          </p:sp>
          <p:sp>
            <p:nvSpPr>
              <p:cNvPr id="65" name="Freeform: Shape 242">
                <a:extLst>
                  <a:ext uri="{FF2B5EF4-FFF2-40B4-BE49-F238E27FC236}">
                    <a16:creationId xmlns:a16="http://schemas.microsoft.com/office/drawing/2014/main" id="{0801ECF0-D33A-A80C-C3CE-261BEB012509}"/>
                  </a:ext>
                </a:extLst>
              </p:cNvPr>
              <p:cNvSpPr/>
              <p:nvPr/>
            </p:nvSpPr>
            <p:spPr>
              <a:xfrm>
                <a:off x="1798620" y="3678466"/>
                <a:ext cx="722533" cy="995293"/>
              </a:xfrm>
              <a:custGeom>
                <a:avLst/>
                <a:gdLst>
                  <a:gd name="connsiteX0" fmla="*/ 612648 w 612648"/>
                  <a:gd name="connsiteY0" fmla="*/ 0 h 843926"/>
                  <a:gd name="connsiteX1" fmla="*/ 612648 w 612648"/>
                  <a:gd name="connsiteY1" fmla="*/ 493534 h 843926"/>
                  <a:gd name="connsiteX2" fmla="*/ 0 w 612648"/>
                  <a:gd name="connsiteY2" fmla="*/ 843926 h 843926"/>
                  <a:gd name="connsiteX3" fmla="*/ 0 w 612648"/>
                  <a:gd name="connsiteY3" fmla="*/ 350392 h 843926"/>
                </a:gdLst>
                <a:ahLst/>
                <a:cxnLst>
                  <a:cxn ang="0">
                    <a:pos x="connsiteX0" y="connsiteY0"/>
                  </a:cxn>
                  <a:cxn ang="0">
                    <a:pos x="connsiteX1" y="connsiteY1"/>
                  </a:cxn>
                  <a:cxn ang="0">
                    <a:pos x="connsiteX2" y="connsiteY2"/>
                  </a:cxn>
                  <a:cxn ang="0">
                    <a:pos x="connsiteX3" y="connsiteY3"/>
                  </a:cxn>
                </a:cxnLst>
                <a:rect l="l" t="t" r="r" b="b"/>
                <a:pathLst>
                  <a:path w="612648" h="843926">
                    <a:moveTo>
                      <a:pt x="612648" y="0"/>
                    </a:moveTo>
                    <a:lnTo>
                      <a:pt x="612648" y="493534"/>
                    </a:lnTo>
                    <a:lnTo>
                      <a:pt x="0" y="843926"/>
                    </a:lnTo>
                    <a:lnTo>
                      <a:pt x="0" y="350392"/>
                    </a:lnTo>
                    <a:close/>
                  </a:path>
                </a:pathLst>
              </a:custGeom>
              <a:solidFill>
                <a:schemeClr val="accent2">
                  <a:lumMod val="50000"/>
                </a:schemeClr>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sz="1350"/>
              </a:p>
            </p:txBody>
          </p:sp>
          <p:sp>
            <p:nvSpPr>
              <p:cNvPr id="66" name="Freeform: Shape 243">
                <a:extLst>
                  <a:ext uri="{FF2B5EF4-FFF2-40B4-BE49-F238E27FC236}">
                    <a16:creationId xmlns:a16="http://schemas.microsoft.com/office/drawing/2014/main" id="{76BFABBB-C5FF-229C-226F-2855B35402E0}"/>
                  </a:ext>
                </a:extLst>
              </p:cNvPr>
              <p:cNvSpPr/>
              <p:nvPr/>
            </p:nvSpPr>
            <p:spPr>
              <a:xfrm>
                <a:off x="1076087" y="3678466"/>
                <a:ext cx="722533" cy="995293"/>
              </a:xfrm>
              <a:custGeom>
                <a:avLst/>
                <a:gdLst>
                  <a:gd name="connsiteX0" fmla="*/ 0 w 612648"/>
                  <a:gd name="connsiteY0" fmla="*/ 0 h 843926"/>
                  <a:gd name="connsiteX1" fmla="*/ 612648 w 612648"/>
                  <a:gd name="connsiteY1" fmla="*/ 350392 h 843926"/>
                  <a:gd name="connsiteX2" fmla="*/ 612648 w 612648"/>
                  <a:gd name="connsiteY2" fmla="*/ 843926 h 843926"/>
                  <a:gd name="connsiteX3" fmla="*/ 0 w 612648"/>
                  <a:gd name="connsiteY3" fmla="*/ 493534 h 843926"/>
                </a:gdLst>
                <a:ahLst/>
                <a:cxnLst>
                  <a:cxn ang="0">
                    <a:pos x="connsiteX0" y="connsiteY0"/>
                  </a:cxn>
                  <a:cxn ang="0">
                    <a:pos x="connsiteX1" y="connsiteY1"/>
                  </a:cxn>
                  <a:cxn ang="0">
                    <a:pos x="connsiteX2" y="connsiteY2"/>
                  </a:cxn>
                  <a:cxn ang="0">
                    <a:pos x="connsiteX3" y="connsiteY3"/>
                  </a:cxn>
                </a:cxnLst>
                <a:rect l="l" t="t" r="r" b="b"/>
                <a:pathLst>
                  <a:path w="612648" h="843926">
                    <a:moveTo>
                      <a:pt x="0" y="0"/>
                    </a:moveTo>
                    <a:lnTo>
                      <a:pt x="612648" y="350392"/>
                    </a:lnTo>
                    <a:lnTo>
                      <a:pt x="612648" y="843926"/>
                    </a:lnTo>
                    <a:lnTo>
                      <a:pt x="0" y="493534"/>
                    </a:lnTo>
                    <a:close/>
                  </a:path>
                </a:pathLst>
              </a:custGeom>
              <a:solidFill>
                <a:schemeClr val="accent2"/>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sz="1350"/>
              </a:p>
            </p:txBody>
          </p:sp>
        </p:grpSp>
        <p:sp>
          <p:nvSpPr>
            <p:cNvPr id="18" name="Freeform: Shape 131">
              <a:extLst>
                <a:ext uri="{FF2B5EF4-FFF2-40B4-BE49-F238E27FC236}">
                  <a16:creationId xmlns:a16="http://schemas.microsoft.com/office/drawing/2014/main" id="{19D7345D-C1A3-00B3-4DB2-450401CC1239}"/>
                </a:ext>
              </a:extLst>
            </p:cNvPr>
            <p:cNvSpPr/>
            <p:nvPr/>
          </p:nvSpPr>
          <p:spPr>
            <a:xfrm>
              <a:off x="2159341" y="2058178"/>
              <a:ext cx="1445066" cy="975568"/>
            </a:xfrm>
            <a:custGeom>
              <a:avLst/>
              <a:gdLst>
                <a:gd name="connsiteX0" fmla="*/ 615523 w 1225296"/>
                <a:gd name="connsiteY0" fmla="*/ 0 h 710745"/>
                <a:gd name="connsiteX1" fmla="*/ 1225296 w 1225296"/>
                <a:gd name="connsiteY1" fmla="*/ 355372 h 710745"/>
                <a:gd name="connsiteX2" fmla="*/ 609772 w 1225296"/>
                <a:gd name="connsiteY2" fmla="*/ 710745 h 710745"/>
                <a:gd name="connsiteX3" fmla="*/ 0 w 1225296"/>
                <a:gd name="connsiteY3" fmla="*/ 355372 h 710745"/>
                <a:gd name="connsiteX0" fmla="*/ 615523 w 1225296"/>
                <a:gd name="connsiteY0" fmla="*/ 0 h 827201"/>
                <a:gd name="connsiteX1" fmla="*/ 1225296 w 1225296"/>
                <a:gd name="connsiteY1" fmla="*/ 355372 h 827201"/>
                <a:gd name="connsiteX2" fmla="*/ 609772 w 1225296"/>
                <a:gd name="connsiteY2" fmla="*/ 827201 h 827201"/>
                <a:gd name="connsiteX3" fmla="*/ 0 w 1225296"/>
                <a:gd name="connsiteY3" fmla="*/ 355372 h 827201"/>
                <a:gd name="connsiteX4" fmla="*/ 615523 w 1225296"/>
                <a:gd name="connsiteY4" fmla="*/ 0 h 827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5296" h="827201">
                  <a:moveTo>
                    <a:pt x="615523" y="0"/>
                  </a:moveTo>
                  <a:lnTo>
                    <a:pt x="1225296" y="355372"/>
                  </a:lnTo>
                  <a:lnTo>
                    <a:pt x="609772" y="827201"/>
                  </a:lnTo>
                  <a:lnTo>
                    <a:pt x="0" y="355372"/>
                  </a:lnTo>
                  <a:lnTo>
                    <a:pt x="615523" y="0"/>
                  </a:lnTo>
                  <a:close/>
                </a:path>
              </a:pathLst>
            </a:custGeom>
            <a:solidFill>
              <a:schemeClr val="accent4">
                <a:lumMod val="75000"/>
              </a:schemeClr>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sz="1350"/>
            </a:p>
          </p:txBody>
        </p:sp>
        <p:sp>
          <p:nvSpPr>
            <p:cNvPr id="19" name="Freeform: Shape 132">
              <a:extLst>
                <a:ext uri="{FF2B5EF4-FFF2-40B4-BE49-F238E27FC236}">
                  <a16:creationId xmlns:a16="http://schemas.microsoft.com/office/drawing/2014/main" id="{85EE5D59-6A34-9ABE-31FE-D605B2B3EC92}"/>
                </a:ext>
              </a:extLst>
            </p:cNvPr>
            <p:cNvSpPr/>
            <p:nvPr/>
          </p:nvSpPr>
          <p:spPr>
            <a:xfrm>
              <a:off x="2881875" y="2477291"/>
              <a:ext cx="722533" cy="995293"/>
            </a:xfrm>
            <a:custGeom>
              <a:avLst/>
              <a:gdLst>
                <a:gd name="connsiteX0" fmla="*/ 612648 w 612648"/>
                <a:gd name="connsiteY0" fmla="*/ 0 h 843926"/>
                <a:gd name="connsiteX1" fmla="*/ 612648 w 612648"/>
                <a:gd name="connsiteY1" fmla="*/ 493534 h 843926"/>
                <a:gd name="connsiteX2" fmla="*/ 0 w 612648"/>
                <a:gd name="connsiteY2" fmla="*/ 843926 h 843926"/>
                <a:gd name="connsiteX3" fmla="*/ 0 w 612648"/>
                <a:gd name="connsiteY3" fmla="*/ 350392 h 843926"/>
              </a:gdLst>
              <a:ahLst/>
              <a:cxnLst>
                <a:cxn ang="0">
                  <a:pos x="connsiteX0" y="connsiteY0"/>
                </a:cxn>
                <a:cxn ang="0">
                  <a:pos x="connsiteX1" y="connsiteY1"/>
                </a:cxn>
                <a:cxn ang="0">
                  <a:pos x="connsiteX2" y="connsiteY2"/>
                </a:cxn>
                <a:cxn ang="0">
                  <a:pos x="connsiteX3" y="connsiteY3"/>
                </a:cxn>
              </a:cxnLst>
              <a:rect l="l" t="t" r="r" b="b"/>
              <a:pathLst>
                <a:path w="612648" h="843926">
                  <a:moveTo>
                    <a:pt x="612648" y="0"/>
                  </a:moveTo>
                  <a:lnTo>
                    <a:pt x="612648" y="493534"/>
                  </a:lnTo>
                  <a:lnTo>
                    <a:pt x="0" y="843926"/>
                  </a:lnTo>
                  <a:lnTo>
                    <a:pt x="0" y="350392"/>
                  </a:lnTo>
                  <a:close/>
                </a:path>
              </a:pathLst>
            </a:custGeom>
            <a:solidFill>
              <a:schemeClr val="accent4">
                <a:lumMod val="50000"/>
              </a:schemeClr>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sz="1350"/>
            </a:p>
          </p:txBody>
        </p:sp>
        <p:sp>
          <p:nvSpPr>
            <p:cNvPr id="20" name="Freeform: Shape 133">
              <a:extLst>
                <a:ext uri="{FF2B5EF4-FFF2-40B4-BE49-F238E27FC236}">
                  <a16:creationId xmlns:a16="http://schemas.microsoft.com/office/drawing/2014/main" id="{FD765B86-A370-60C5-C0D1-FA4A50AFB699}"/>
                </a:ext>
              </a:extLst>
            </p:cNvPr>
            <p:cNvSpPr/>
            <p:nvPr/>
          </p:nvSpPr>
          <p:spPr>
            <a:xfrm>
              <a:off x="2159342" y="2477291"/>
              <a:ext cx="722533" cy="995293"/>
            </a:xfrm>
            <a:custGeom>
              <a:avLst/>
              <a:gdLst>
                <a:gd name="connsiteX0" fmla="*/ 0 w 612648"/>
                <a:gd name="connsiteY0" fmla="*/ 0 h 843926"/>
                <a:gd name="connsiteX1" fmla="*/ 612648 w 612648"/>
                <a:gd name="connsiteY1" fmla="*/ 350392 h 843926"/>
                <a:gd name="connsiteX2" fmla="*/ 612648 w 612648"/>
                <a:gd name="connsiteY2" fmla="*/ 843926 h 843926"/>
                <a:gd name="connsiteX3" fmla="*/ 0 w 612648"/>
                <a:gd name="connsiteY3" fmla="*/ 493534 h 843926"/>
              </a:gdLst>
              <a:ahLst/>
              <a:cxnLst>
                <a:cxn ang="0">
                  <a:pos x="connsiteX0" y="connsiteY0"/>
                </a:cxn>
                <a:cxn ang="0">
                  <a:pos x="connsiteX1" y="connsiteY1"/>
                </a:cxn>
                <a:cxn ang="0">
                  <a:pos x="connsiteX2" y="connsiteY2"/>
                </a:cxn>
                <a:cxn ang="0">
                  <a:pos x="connsiteX3" y="connsiteY3"/>
                </a:cxn>
              </a:cxnLst>
              <a:rect l="l" t="t" r="r" b="b"/>
              <a:pathLst>
                <a:path w="612648" h="843926">
                  <a:moveTo>
                    <a:pt x="0" y="0"/>
                  </a:moveTo>
                  <a:lnTo>
                    <a:pt x="612648" y="350392"/>
                  </a:lnTo>
                  <a:lnTo>
                    <a:pt x="612648" y="843926"/>
                  </a:lnTo>
                  <a:lnTo>
                    <a:pt x="0" y="493534"/>
                  </a:lnTo>
                  <a:close/>
                </a:path>
              </a:pathLst>
            </a:custGeom>
            <a:solidFill>
              <a:schemeClr val="accent4"/>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sz="1350"/>
            </a:p>
          </p:txBody>
        </p:sp>
        <p:grpSp>
          <p:nvGrpSpPr>
            <p:cNvPr id="21" name="Group 20">
              <a:extLst>
                <a:ext uri="{FF2B5EF4-FFF2-40B4-BE49-F238E27FC236}">
                  <a16:creationId xmlns:a16="http://schemas.microsoft.com/office/drawing/2014/main" id="{647AABED-2C49-CEFB-8315-4E8B0DEE53B6}"/>
                </a:ext>
              </a:extLst>
            </p:cNvPr>
            <p:cNvGrpSpPr/>
            <p:nvPr/>
          </p:nvGrpSpPr>
          <p:grpSpPr>
            <a:xfrm>
              <a:off x="3084223" y="2213729"/>
              <a:ext cx="313250" cy="345907"/>
              <a:chOff x="7334854" y="3940862"/>
              <a:chExt cx="265610" cy="293300"/>
            </a:xfrm>
          </p:grpSpPr>
          <p:sp>
            <p:nvSpPr>
              <p:cNvPr id="62" name="Freeform: Shape 239">
                <a:extLst>
                  <a:ext uri="{FF2B5EF4-FFF2-40B4-BE49-F238E27FC236}">
                    <a16:creationId xmlns:a16="http://schemas.microsoft.com/office/drawing/2014/main" id="{22616B6D-6D8A-2D40-DE88-484445B56AE0}"/>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63" name="Oval 62">
                <a:extLst>
                  <a:ext uri="{FF2B5EF4-FFF2-40B4-BE49-F238E27FC236}">
                    <a16:creationId xmlns:a16="http://schemas.microsoft.com/office/drawing/2014/main" id="{F1C4917D-FB14-2E33-CA39-2D186BC7F267}"/>
                  </a:ext>
                </a:extLst>
              </p:cNvPr>
              <p:cNvSpPr/>
              <p:nvPr/>
            </p:nvSpPr>
            <p:spPr>
              <a:xfrm>
                <a:off x="7334854" y="3940862"/>
                <a:ext cx="265610" cy="147017"/>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grpSp>
        <p:grpSp>
          <p:nvGrpSpPr>
            <p:cNvPr id="22" name="Group 21">
              <a:extLst>
                <a:ext uri="{FF2B5EF4-FFF2-40B4-BE49-F238E27FC236}">
                  <a16:creationId xmlns:a16="http://schemas.microsoft.com/office/drawing/2014/main" id="{E928CF7D-C143-C34C-6F43-DF6948972462}"/>
                </a:ext>
              </a:extLst>
            </p:cNvPr>
            <p:cNvGrpSpPr/>
            <p:nvPr/>
          </p:nvGrpSpPr>
          <p:grpSpPr>
            <a:xfrm>
              <a:off x="2725249" y="2012098"/>
              <a:ext cx="313250" cy="345907"/>
              <a:chOff x="7334854" y="3940862"/>
              <a:chExt cx="265610" cy="293300"/>
            </a:xfrm>
          </p:grpSpPr>
          <p:sp>
            <p:nvSpPr>
              <p:cNvPr id="60" name="Freeform: Shape 237">
                <a:extLst>
                  <a:ext uri="{FF2B5EF4-FFF2-40B4-BE49-F238E27FC236}">
                    <a16:creationId xmlns:a16="http://schemas.microsoft.com/office/drawing/2014/main" id="{E4C8F58E-314D-3202-9B46-1C3E9C8F53E0}"/>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61" name="Oval 60">
                <a:extLst>
                  <a:ext uri="{FF2B5EF4-FFF2-40B4-BE49-F238E27FC236}">
                    <a16:creationId xmlns:a16="http://schemas.microsoft.com/office/drawing/2014/main" id="{C2E10C4D-C91F-74C0-3D35-34FA12F9E70A}"/>
                  </a:ext>
                </a:extLst>
              </p:cNvPr>
              <p:cNvSpPr/>
              <p:nvPr/>
            </p:nvSpPr>
            <p:spPr>
              <a:xfrm>
                <a:off x="7334854" y="3940862"/>
                <a:ext cx="265610" cy="147017"/>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grpSp>
        <p:sp>
          <p:nvSpPr>
            <p:cNvPr id="23" name="Freeform: Shape 194">
              <a:extLst>
                <a:ext uri="{FF2B5EF4-FFF2-40B4-BE49-F238E27FC236}">
                  <a16:creationId xmlns:a16="http://schemas.microsoft.com/office/drawing/2014/main" id="{FC9243C0-F128-10A4-DC62-F8FF35F77C0E}"/>
                </a:ext>
              </a:extLst>
            </p:cNvPr>
            <p:cNvSpPr/>
            <p:nvPr/>
          </p:nvSpPr>
          <p:spPr>
            <a:xfrm>
              <a:off x="1435773" y="2471749"/>
              <a:ext cx="1445066" cy="975568"/>
            </a:xfrm>
            <a:custGeom>
              <a:avLst/>
              <a:gdLst>
                <a:gd name="connsiteX0" fmla="*/ 615523 w 1225296"/>
                <a:gd name="connsiteY0" fmla="*/ 0 h 710745"/>
                <a:gd name="connsiteX1" fmla="*/ 1225296 w 1225296"/>
                <a:gd name="connsiteY1" fmla="*/ 355372 h 710745"/>
                <a:gd name="connsiteX2" fmla="*/ 609772 w 1225296"/>
                <a:gd name="connsiteY2" fmla="*/ 710745 h 710745"/>
                <a:gd name="connsiteX3" fmla="*/ 0 w 1225296"/>
                <a:gd name="connsiteY3" fmla="*/ 355372 h 710745"/>
                <a:gd name="connsiteX0" fmla="*/ 615523 w 1225296"/>
                <a:gd name="connsiteY0" fmla="*/ 0 h 827201"/>
                <a:gd name="connsiteX1" fmla="*/ 1225296 w 1225296"/>
                <a:gd name="connsiteY1" fmla="*/ 355372 h 827201"/>
                <a:gd name="connsiteX2" fmla="*/ 609772 w 1225296"/>
                <a:gd name="connsiteY2" fmla="*/ 827201 h 827201"/>
                <a:gd name="connsiteX3" fmla="*/ 0 w 1225296"/>
                <a:gd name="connsiteY3" fmla="*/ 355372 h 827201"/>
                <a:gd name="connsiteX4" fmla="*/ 615523 w 1225296"/>
                <a:gd name="connsiteY4" fmla="*/ 0 h 827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5296" h="827201">
                  <a:moveTo>
                    <a:pt x="615523" y="0"/>
                  </a:moveTo>
                  <a:lnTo>
                    <a:pt x="1225296" y="355372"/>
                  </a:lnTo>
                  <a:lnTo>
                    <a:pt x="609772" y="827201"/>
                  </a:lnTo>
                  <a:lnTo>
                    <a:pt x="0" y="355372"/>
                  </a:lnTo>
                  <a:lnTo>
                    <a:pt x="615523" y="0"/>
                  </a:lnTo>
                  <a:close/>
                </a:path>
              </a:pathLst>
            </a:custGeom>
            <a:solidFill>
              <a:schemeClr val="accent4">
                <a:lumMod val="75000"/>
              </a:schemeClr>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sz="1350"/>
            </a:p>
          </p:txBody>
        </p:sp>
        <p:sp>
          <p:nvSpPr>
            <p:cNvPr id="24" name="Freeform: Shape 201">
              <a:extLst>
                <a:ext uri="{FF2B5EF4-FFF2-40B4-BE49-F238E27FC236}">
                  <a16:creationId xmlns:a16="http://schemas.microsoft.com/office/drawing/2014/main" id="{219536C4-9655-98C5-9B6A-2C600FC183D1}"/>
                </a:ext>
              </a:extLst>
            </p:cNvPr>
            <p:cNvSpPr/>
            <p:nvPr/>
          </p:nvSpPr>
          <p:spPr>
            <a:xfrm>
              <a:off x="2158307" y="2890862"/>
              <a:ext cx="722533" cy="995293"/>
            </a:xfrm>
            <a:custGeom>
              <a:avLst/>
              <a:gdLst>
                <a:gd name="connsiteX0" fmla="*/ 612648 w 612648"/>
                <a:gd name="connsiteY0" fmla="*/ 0 h 843926"/>
                <a:gd name="connsiteX1" fmla="*/ 612648 w 612648"/>
                <a:gd name="connsiteY1" fmla="*/ 493534 h 843926"/>
                <a:gd name="connsiteX2" fmla="*/ 0 w 612648"/>
                <a:gd name="connsiteY2" fmla="*/ 843926 h 843926"/>
                <a:gd name="connsiteX3" fmla="*/ 0 w 612648"/>
                <a:gd name="connsiteY3" fmla="*/ 350392 h 843926"/>
              </a:gdLst>
              <a:ahLst/>
              <a:cxnLst>
                <a:cxn ang="0">
                  <a:pos x="connsiteX0" y="connsiteY0"/>
                </a:cxn>
                <a:cxn ang="0">
                  <a:pos x="connsiteX1" y="connsiteY1"/>
                </a:cxn>
                <a:cxn ang="0">
                  <a:pos x="connsiteX2" y="connsiteY2"/>
                </a:cxn>
                <a:cxn ang="0">
                  <a:pos x="connsiteX3" y="connsiteY3"/>
                </a:cxn>
              </a:cxnLst>
              <a:rect l="l" t="t" r="r" b="b"/>
              <a:pathLst>
                <a:path w="612648" h="843926">
                  <a:moveTo>
                    <a:pt x="612648" y="0"/>
                  </a:moveTo>
                  <a:lnTo>
                    <a:pt x="612648" y="493534"/>
                  </a:lnTo>
                  <a:lnTo>
                    <a:pt x="0" y="843926"/>
                  </a:lnTo>
                  <a:lnTo>
                    <a:pt x="0" y="350392"/>
                  </a:lnTo>
                  <a:close/>
                </a:path>
              </a:pathLst>
            </a:custGeom>
            <a:solidFill>
              <a:schemeClr val="accent4">
                <a:lumMod val="50000"/>
              </a:schemeClr>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sz="1350"/>
            </a:p>
          </p:txBody>
        </p:sp>
        <p:sp>
          <p:nvSpPr>
            <p:cNvPr id="25" name="Freeform: Shape 202">
              <a:extLst>
                <a:ext uri="{FF2B5EF4-FFF2-40B4-BE49-F238E27FC236}">
                  <a16:creationId xmlns:a16="http://schemas.microsoft.com/office/drawing/2014/main" id="{EE9EEE94-8B31-5E37-AA65-1AA75B06CBBB}"/>
                </a:ext>
              </a:extLst>
            </p:cNvPr>
            <p:cNvSpPr/>
            <p:nvPr/>
          </p:nvSpPr>
          <p:spPr>
            <a:xfrm>
              <a:off x="1435774" y="2890862"/>
              <a:ext cx="722533" cy="995293"/>
            </a:xfrm>
            <a:custGeom>
              <a:avLst/>
              <a:gdLst>
                <a:gd name="connsiteX0" fmla="*/ 0 w 612648"/>
                <a:gd name="connsiteY0" fmla="*/ 0 h 843926"/>
                <a:gd name="connsiteX1" fmla="*/ 612648 w 612648"/>
                <a:gd name="connsiteY1" fmla="*/ 350392 h 843926"/>
                <a:gd name="connsiteX2" fmla="*/ 612648 w 612648"/>
                <a:gd name="connsiteY2" fmla="*/ 843926 h 843926"/>
                <a:gd name="connsiteX3" fmla="*/ 0 w 612648"/>
                <a:gd name="connsiteY3" fmla="*/ 493534 h 843926"/>
              </a:gdLst>
              <a:ahLst/>
              <a:cxnLst>
                <a:cxn ang="0">
                  <a:pos x="connsiteX0" y="connsiteY0"/>
                </a:cxn>
                <a:cxn ang="0">
                  <a:pos x="connsiteX1" y="connsiteY1"/>
                </a:cxn>
                <a:cxn ang="0">
                  <a:pos x="connsiteX2" y="connsiteY2"/>
                </a:cxn>
                <a:cxn ang="0">
                  <a:pos x="connsiteX3" y="connsiteY3"/>
                </a:cxn>
              </a:cxnLst>
              <a:rect l="l" t="t" r="r" b="b"/>
              <a:pathLst>
                <a:path w="612648" h="843926">
                  <a:moveTo>
                    <a:pt x="0" y="0"/>
                  </a:moveTo>
                  <a:lnTo>
                    <a:pt x="612648" y="350392"/>
                  </a:lnTo>
                  <a:lnTo>
                    <a:pt x="612648" y="843926"/>
                  </a:lnTo>
                  <a:lnTo>
                    <a:pt x="0" y="493534"/>
                  </a:lnTo>
                  <a:close/>
                </a:path>
              </a:pathLst>
            </a:custGeom>
            <a:solidFill>
              <a:schemeClr val="accent4"/>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sz="1350"/>
            </a:p>
          </p:txBody>
        </p:sp>
        <p:grpSp>
          <p:nvGrpSpPr>
            <p:cNvPr id="26" name="Group 25">
              <a:extLst>
                <a:ext uri="{FF2B5EF4-FFF2-40B4-BE49-F238E27FC236}">
                  <a16:creationId xmlns:a16="http://schemas.microsoft.com/office/drawing/2014/main" id="{CF7494C6-B0E5-50E6-4637-8243ACF90439}"/>
                </a:ext>
              </a:extLst>
            </p:cNvPr>
            <p:cNvGrpSpPr/>
            <p:nvPr/>
          </p:nvGrpSpPr>
          <p:grpSpPr>
            <a:xfrm>
              <a:off x="1275163" y="4384540"/>
              <a:ext cx="313250" cy="345907"/>
              <a:chOff x="7334854" y="3940862"/>
              <a:chExt cx="265610" cy="293300"/>
            </a:xfrm>
          </p:grpSpPr>
          <p:sp>
            <p:nvSpPr>
              <p:cNvPr id="58" name="Freeform: Shape 235">
                <a:extLst>
                  <a:ext uri="{FF2B5EF4-FFF2-40B4-BE49-F238E27FC236}">
                    <a16:creationId xmlns:a16="http://schemas.microsoft.com/office/drawing/2014/main" id="{26815965-ABB3-EFE4-FF77-1B3C449AB519}"/>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59" name="Oval 58">
                <a:extLst>
                  <a:ext uri="{FF2B5EF4-FFF2-40B4-BE49-F238E27FC236}">
                    <a16:creationId xmlns:a16="http://schemas.microsoft.com/office/drawing/2014/main" id="{FF470502-FA40-3E9B-B297-D35E9D1FFEAA}"/>
                  </a:ext>
                </a:extLst>
              </p:cNvPr>
              <p:cNvSpPr/>
              <p:nvPr/>
            </p:nvSpPr>
            <p:spPr>
              <a:xfrm>
                <a:off x="7334854" y="3940862"/>
                <a:ext cx="265610" cy="147017"/>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grpSp>
        <p:grpSp>
          <p:nvGrpSpPr>
            <p:cNvPr id="27" name="Group 26">
              <a:extLst>
                <a:ext uri="{FF2B5EF4-FFF2-40B4-BE49-F238E27FC236}">
                  <a16:creationId xmlns:a16="http://schemas.microsoft.com/office/drawing/2014/main" id="{7E3212BF-ECB9-0A55-55B0-D31A3CFA3899}"/>
                </a:ext>
              </a:extLst>
            </p:cNvPr>
            <p:cNvGrpSpPr/>
            <p:nvPr/>
          </p:nvGrpSpPr>
          <p:grpSpPr>
            <a:xfrm>
              <a:off x="916190" y="4207072"/>
              <a:ext cx="313250" cy="345907"/>
              <a:chOff x="7334854" y="3940862"/>
              <a:chExt cx="265610" cy="293300"/>
            </a:xfrm>
          </p:grpSpPr>
          <p:sp>
            <p:nvSpPr>
              <p:cNvPr id="56" name="Freeform: Shape 233">
                <a:extLst>
                  <a:ext uri="{FF2B5EF4-FFF2-40B4-BE49-F238E27FC236}">
                    <a16:creationId xmlns:a16="http://schemas.microsoft.com/office/drawing/2014/main" id="{E0970EE5-0582-4FCB-90C1-2E08CEB121A5}"/>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57" name="Oval 56">
                <a:extLst>
                  <a:ext uri="{FF2B5EF4-FFF2-40B4-BE49-F238E27FC236}">
                    <a16:creationId xmlns:a16="http://schemas.microsoft.com/office/drawing/2014/main" id="{D3D27D42-0315-2517-18CC-A7657FF4093A}"/>
                  </a:ext>
                </a:extLst>
              </p:cNvPr>
              <p:cNvSpPr/>
              <p:nvPr/>
            </p:nvSpPr>
            <p:spPr>
              <a:xfrm>
                <a:off x="7334854" y="3940862"/>
                <a:ext cx="265610" cy="147017"/>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grpSp>
        <p:grpSp>
          <p:nvGrpSpPr>
            <p:cNvPr id="28" name="Group 27">
              <a:extLst>
                <a:ext uri="{FF2B5EF4-FFF2-40B4-BE49-F238E27FC236}">
                  <a16:creationId xmlns:a16="http://schemas.microsoft.com/office/drawing/2014/main" id="{C8DB4469-6FC5-8389-976B-AE00A871447C}"/>
                </a:ext>
              </a:extLst>
            </p:cNvPr>
            <p:cNvGrpSpPr/>
            <p:nvPr/>
          </p:nvGrpSpPr>
          <p:grpSpPr>
            <a:xfrm>
              <a:off x="1641994" y="3592372"/>
              <a:ext cx="313250" cy="345907"/>
              <a:chOff x="7334854" y="3940862"/>
              <a:chExt cx="265610" cy="293300"/>
            </a:xfrm>
          </p:grpSpPr>
          <p:sp>
            <p:nvSpPr>
              <p:cNvPr id="54" name="Freeform: Shape 231">
                <a:extLst>
                  <a:ext uri="{FF2B5EF4-FFF2-40B4-BE49-F238E27FC236}">
                    <a16:creationId xmlns:a16="http://schemas.microsoft.com/office/drawing/2014/main" id="{624870C5-9AC8-9798-2BAD-AA870F57BB73}"/>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55" name="Oval 54">
                <a:extLst>
                  <a:ext uri="{FF2B5EF4-FFF2-40B4-BE49-F238E27FC236}">
                    <a16:creationId xmlns:a16="http://schemas.microsoft.com/office/drawing/2014/main" id="{92660ED0-AEB9-7765-4D35-1A9457C59F42}"/>
                  </a:ext>
                </a:extLst>
              </p:cNvPr>
              <p:cNvSpPr/>
              <p:nvPr/>
            </p:nvSpPr>
            <p:spPr>
              <a:xfrm>
                <a:off x="7334854" y="3940862"/>
                <a:ext cx="265610" cy="14701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grpSp>
        <p:grpSp>
          <p:nvGrpSpPr>
            <p:cNvPr id="29" name="Group 28">
              <a:extLst>
                <a:ext uri="{FF2B5EF4-FFF2-40B4-BE49-F238E27FC236}">
                  <a16:creationId xmlns:a16="http://schemas.microsoft.com/office/drawing/2014/main" id="{53A6772F-9526-9CB2-9BE5-50131F792C36}"/>
                </a:ext>
              </a:extLst>
            </p:cNvPr>
            <p:cNvGrpSpPr/>
            <p:nvPr/>
          </p:nvGrpSpPr>
          <p:grpSpPr>
            <a:xfrm>
              <a:off x="1283021" y="3414904"/>
              <a:ext cx="313250" cy="345907"/>
              <a:chOff x="7334854" y="3940862"/>
              <a:chExt cx="265610" cy="293300"/>
            </a:xfrm>
          </p:grpSpPr>
          <p:sp>
            <p:nvSpPr>
              <p:cNvPr id="52" name="Freeform: Shape 229">
                <a:extLst>
                  <a:ext uri="{FF2B5EF4-FFF2-40B4-BE49-F238E27FC236}">
                    <a16:creationId xmlns:a16="http://schemas.microsoft.com/office/drawing/2014/main" id="{28C246AE-B8B1-14A8-FA74-7870C10F41E0}"/>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53" name="Oval 52">
                <a:extLst>
                  <a:ext uri="{FF2B5EF4-FFF2-40B4-BE49-F238E27FC236}">
                    <a16:creationId xmlns:a16="http://schemas.microsoft.com/office/drawing/2014/main" id="{6B3C3EEB-D147-64C3-55DC-ECDA3CB14C4E}"/>
                  </a:ext>
                </a:extLst>
              </p:cNvPr>
              <p:cNvSpPr/>
              <p:nvPr/>
            </p:nvSpPr>
            <p:spPr>
              <a:xfrm>
                <a:off x="7334854" y="3940862"/>
                <a:ext cx="265610" cy="14701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grpSp>
        <p:grpSp>
          <p:nvGrpSpPr>
            <p:cNvPr id="30" name="Group 29">
              <a:extLst>
                <a:ext uri="{FF2B5EF4-FFF2-40B4-BE49-F238E27FC236}">
                  <a16:creationId xmlns:a16="http://schemas.microsoft.com/office/drawing/2014/main" id="{5EE024A6-F929-A981-CA93-B1F531C845DA}"/>
                </a:ext>
              </a:extLst>
            </p:cNvPr>
            <p:cNvGrpSpPr/>
            <p:nvPr/>
          </p:nvGrpSpPr>
          <p:grpSpPr>
            <a:xfrm>
              <a:off x="1801892" y="1633501"/>
              <a:ext cx="1445067" cy="1460486"/>
              <a:chOff x="644172" y="3149572"/>
              <a:chExt cx="1595366" cy="1612389"/>
            </a:xfrm>
          </p:grpSpPr>
          <p:sp>
            <p:nvSpPr>
              <p:cNvPr id="37" name="Freeform: Shape 214">
                <a:extLst>
                  <a:ext uri="{FF2B5EF4-FFF2-40B4-BE49-F238E27FC236}">
                    <a16:creationId xmlns:a16="http://schemas.microsoft.com/office/drawing/2014/main" id="{E57EF801-4A90-5763-B442-7D523913A138}"/>
                  </a:ext>
                </a:extLst>
              </p:cNvPr>
              <p:cNvSpPr/>
              <p:nvPr/>
            </p:nvSpPr>
            <p:spPr>
              <a:xfrm>
                <a:off x="644172" y="3200445"/>
                <a:ext cx="1595365" cy="1077035"/>
              </a:xfrm>
              <a:custGeom>
                <a:avLst/>
                <a:gdLst>
                  <a:gd name="connsiteX0" fmla="*/ 615523 w 1225296"/>
                  <a:gd name="connsiteY0" fmla="*/ 0 h 710745"/>
                  <a:gd name="connsiteX1" fmla="*/ 1225296 w 1225296"/>
                  <a:gd name="connsiteY1" fmla="*/ 355372 h 710745"/>
                  <a:gd name="connsiteX2" fmla="*/ 609772 w 1225296"/>
                  <a:gd name="connsiteY2" fmla="*/ 710745 h 710745"/>
                  <a:gd name="connsiteX3" fmla="*/ 0 w 1225296"/>
                  <a:gd name="connsiteY3" fmla="*/ 355372 h 710745"/>
                  <a:gd name="connsiteX0" fmla="*/ 615523 w 1225296"/>
                  <a:gd name="connsiteY0" fmla="*/ 0 h 827201"/>
                  <a:gd name="connsiteX1" fmla="*/ 1225296 w 1225296"/>
                  <a:gd name="connsiteY1" fmla="*/ 355372 h 827201"/>
                  <a:gd name="connsiteX2" fmla="*/ 609772 w 1225296"/>
                  <a:gd name="connsiteY2" fmla="*/ 827201 h 827201"/>
                  <a:gd name="connsiteX3" fmla="*/ 0 w 1225296"/>
                  <a:gd name="connsiteY3" fmla="*/ 355372 h 827201"/>
                  <a:gd name="connsiteX4" fmla="*/ 615523 w 1225296"/>
                  <a:gd name="connsiteY4" fmla="*/ 0 h 827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5296" h="827201">
                    <a:moveTo>
                      <a:pt x="615523" y="0"/>
                    </a:moveTo>
                    <a:lnTo>
                      <a:pt x="1225296" y="355372"/>
                    </a:lnTo>
                    <a:lnTo>
                      <a:pt x="609772" y="827201"/>
                    </a:lnTo>
                    <a:lnTo>
                      <a:pt x="0" y="355372"/>
                    </a:lnTo>
                    <a:lnTo>
                      <a:pt x="615523" y="0"/>
                    </a:lnTo>
                    <a:close/>
                  </a:path>
                </a:pathLst>
              </a:custGeom>
              <a:solidFill>
                <a:schemeClr val="accent1">
                  <a:lumMod val="75000"/>
                </a:schemeClr>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sz="1350"/>
              </a:p>
            </p:txBody>
          </p:sp>
          <p:sp>
            <p:nvSpPr>
              <p:cNvPr id="38" name="Freeform: Shape 215">
                <a:extLst>
                  <a:ext uri="{FF2B5EF4-FFF2-40B4-BE49-F238E27FC236}">
                    <a16:creationId xmlns:a16="http://schemas.microsoft.com/office/drawing/2014/main" id="{188705E7-037A-F425-6D62-D66C09C22A0F}"/>
                  </a:ext>
                </a:extLst>
              </p:cNvPr>
              <p:cNvSpPr/>
              <p:nvPr/>
            </p:nvSpPr>
            <p:spPr>
              <a:xfrm>
                <a:off x="1441856" y="3663149"/>
                <a:ext cx="797682" cy="1098812"/>
              </a:xfrm>
              <a:custGeom>
                <a:avLst/>
                <a:gdLst>
                  <a:gd name="connsiteX0" fmla="*/ 612648 w 612648"/>
                  <a:gd name="connsiteY0" fmla="*/ 0 h 843926"/>
                  <a:gd name="connsiteX1" fmla="*/ 612648 w 612648"/>
                  <a:gd name="connsiteY1" fmla="*/ 493534 h 843926"/>
                  <a:gd name="connsiteX2" fmla="*/ 0 w 612648"/>
                  <a:gd name="connsiteY2" fmla="*/ 843926 h 843926"/>
                  <a:gd name="connsiteX3" fmla="*/ 0 w 612648"/>
                  <a:gd name="connsiteY3" fmla="*/ 350392 h 843926"/>
                </a:gdLst>
                <a:ahLst/>
                <a:cxnLst>
                  <a:cxn ang="0">
                    <a:pos x="connsiteX0" y="connsiteY0"/>
                  </a:cxn>
                  <a:cxn ang="0">
                    <a:pos x="connsiteX1" y="connsiteY1"/>
                  </a:cxn>
                  <a:cxn ang="0">
                    <a:pos x="connsiteX2" y="connsiteY2"/>
                  </a:cxn>
                  <a:cxn ang="0">
                    <a:pos x="connsiteX3" y="connsiteY3"/>
                  </a:cxn>
                </a:cxnLst>
                <a:rect l="l" t="t" r="r" b="b"/>
                <a:pathLst>
                  <a:path w="612648" h="843926">
                    <a:moveTo>
                      <a:pt x="612648" y="0"/>
                    </a:moveTo>
                    <a:lnTo>
                      <a:pt x="612648" y="493534"/>
                    </a:lnTo>
                    <a:lnTo>
                      <a:pt x="0" y="843926"/>
                    </a:lnTo>
                    <a:lnTo>
                      <a:pt x="0" y="350392"/>
                    </a:lnTo>
                    <a:close/>
                  </a:path>
                </a:pathLst>
              </a:custGeom>
              <a:solidFill>
                <a:schemeClr val="accent1">
                  <a:lumMod val="50000"/>
                </a:schemeClr>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sz="1350"/>
              </a:p>
            </p:txBody>
          </p:sp>
          <p:sp>
            <p:nvSpPr>
              <p:cNvPr id="39" name="Freeform: Shape 216">
                <a:extLst>
                  <a:ext uri="{FF2B5EF4-FFF2-40B4-BE49-F238E27FC236}">
                    <a16:creationId xmlns:a16="http://schemas.microsoft.com/office/drawing/2014/main" id="{9B905672-1E52-3C66-ADAB-9C48F31D0DD1}"/>
                  </a:ext>
                </a:extLst>
              </p:cNvPr>
              <p:cNvSpPr/>
              <p:nvPr/>
            </p:nvSpPr>
            <p:spPr>
              <a:xfrm>
                <a:off x="644173" y="3663149"/>
                <a:ext cx="797682" cy="1098812"/>
              </a:xfrm>
              <a:custGeom>
                <a:avLst/>
                <a:gdLst>
                  <a:gd name="connsiteX0" fmla="*/ 0 w 612648"/>
                  <a:gd name="connsiteY0" fmla="*/ 0 h 843926"/>
                  <a:gd name="connsiteX1" fmla="*/ 612648 w 612648"/>
                  <a:gd name="connsiteY1" fmla="*/ 350392 h 843926"/>
                  <a:gd name="connsiteX2" fmla="*/ 612648 w 612648"/>
                  <a:gd name="connsiteY2" fmla="*/ 843926 h 843926"/>
                  <a:gd name="connsiteX3" fmla="*/ 0 w 612648"/>
                  <a:gd name="connsiteY3" fmla="*/ 493534 h 843926"/>
                </a:gdLst>
                <a:ahLst/>
                <a:cxnLst>
                  <a:cxn ang="0">
                    <a:pos x="connsiteX0" y="connsiteY0"/>
                  </a:cxn>
                  <a:cxn ang="0">
                    <a:pos x="connsiteX1" y="connsiteY1"/>
                  </a:cxn>
                  <a:cxn ang="0">
                    <a:pos x="connsiteX2" y="connsiteY2"/>
                  </a:cxn>
                  <a:cxn ang="0">
                    <a:pos x="connsiteX3" y="connsiteY3"/>
                  </a:cxn>
                </a:cxnLst>
                <a:rect l="l" t="t" r="r" b="b"/>
                <a:pathLst>
                  <a:path w="612648" h="843926">
                    <a:moveTo>
                      <a:pt x="0" y="0"/>
                    </a:moveTo>
                    <a:lnTo>
                      <a:pt x="612648" y="350392"/>
                    </a:lnTo>
                    <a:lnTo>
                      <a:pt x="612648" y="843926"/>
                    </a:lnTo>
                    <a:lnTo>
                      <a:pt x="0" y="493534"/>
                    </a:lnTo>
                    <a:close/>
                  </a:path>
                </a:pathLst>
              </a:custGeom>
              <a:solidFill>
                <a:schemeClr val="accent1"/>
              </a:solid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US" sz="1350"/>
              </a:p>
            </p:txBody>
          </p:sp>
          <p:grpSp>
            <p:nvGrpSpPr>
              <p:cNvPr id="40" name="Group 39">
                <a:extLst>
                  <a:ext uri="{FF2B5EF4-FFF2-40B4-BE49-F238E27FC236}">
                    <a16:creationId xmlns:a16="http://schemas.microsoft.com/office/drawing/2014/main" id="{77A6C15A-D00C-EBC9-FE40-FBA6218A2A3F}"/>
                  </a:ext>
                </a:extLst>
              </p:cNvPr>
              <p:cNvGrpSpPr/>
              <p:nvPr/>
            </p:nvGrpSpPr>
            <p:grpSpPr>
              <a:xfrm>
                <a:off x="1665249" y="3372174"/>
                <a:ext cx="345831" cy="381884"/>
                <a:chOff x="7334854" y="3940862"/>
                <a:chExt cx="265610" cy="293300"/>
              </a:xfrm>
            </p:grpSpPr>
            <p:sp>
              <p:nvSpPr>
                <p:cNvPr id="50" name="Freeform: Shape 227">
                  <a:extLst>
                    <a:ext uri="{FF2B5EF4-FFF2-40B4-BE49-F238E27FC236}">
                      <a16:creationId xmlns:a16="http://schemas.microsoft.com/office/drawing/2014/main" id="{8797329D-1329-502C-D6F4-94B8385E6EC3}"/>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51" name="Oval 50">
                  <a:extLst>
                    <a:ext uri="{FF2B5EF4-FFF2-40B4-BE49-F238E27FC236}">
                      <a16:creationId xmlns:a16="http://schemas.microsoft.com/office/drawing/2014/main" id="{3D7FF727-A3DA-409E-AD01-4B81183412DF}"/>
                    </a:ext>
                  </a:extLst>
                </p:cNvPr>
                <p:cNvSpPr/>
                <p:nvPr/>
              </p:nvSpPr>
              <p:spPr>
                <a:xfrm>
                  <a:off x="7334854" y="3940862"/>
                  <a:ext cx="265610" cy="14701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grpSp>
          <p:grpSp>
            <p:nvGrpSpPr>
              <p:cNvPr id="41" name="Group 40">
                <a:extLst>
                  <a:ext uri="{FF2B5EF4-FFF2-40B4-BE49-F238E27FC236}">
                    <a16:creationId xmlns:a16="http://schemas.microsoft.com/office/drawing/2014/main" id="{671967F7-F192-361A-5BE4-5FC83D73DEB6}"/>
                  </a:ext>
                </a:extLst>
              </p:cNvPr>
              <p:cNvGrpSpPr/>
              <p:nvPr/>
            </p:nvGrpSpPr>
            <p:grpSpPr>
              <a:xfrm>
                <a:off x="1268939" y="3149572"/>
                <a:ext cx="345831" cy="381884"/>
                <a:chOff x="7334854" y="3940862"/>
                <a:chExt cx="265610" cy="293300"/>
              </a:xfrm>
            </p:grpSpPr>
            <p:sp>
              <p:nvSpPr>
                <p:cNvPr id="48" name="Freeform: Shape 225">
                  <a:extLst>
                    <a:ext uri="{FF2B5EF4-FFF2-40B4-BE49-F238E27FC236}">
                      <a16:creationId xmlns:a16="http://schemas.microsoft.com/office/drawing/2014/main" id="{150928C2-231D-D895-677D-6E3B3327E520}"/>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49" name="Oval 48">
                  <a:extLst>
                    <a:ext uri="{FF2B5EF4-FFF2-40B4-BE49-F238E27FC236}">
                      <a16:creationId xmlns:a16="http://schemas.microsoft.com/office/drawing/2014/main" id="{7BDAF165-C7A5-6873-1F7A-5D78122EEBE9}"/>
                    </a:ext>
                  </a:extLst>
                </p:cNvPr>
                <p:cNvSpPr/>
                <p:nvPr/>
              </p:nvSpPr>
              <p:spPr>
                <a:xfrm>
                  <a:off x="7334854" y="3940862"/>
                  <a:ext cx="265610" cy="14701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grpSp>
          <p:grpSp>
            <p:nvGrpSpPr>
              <p:cNvPr id="42" name="Group 41">
                <a:extLst>
                  <a:ext uri="{FF2B5EF4-FFF2-40B4-BE49-F238E27FC236}">
                    <a16:creationId xmlns:a16="http://schemas.microsoft.com/office/drawing/2014/main" id="{E310DA2C-22DA-22EF-E935-D6A13270B139}"/>
                  </a:ext>
                </a:extLst>
              </p:cNvPr>
              <p:cNvGrpSpPr/>
              <p:nvPr/>
            </p:nvGrpSpPr>
            <p:grpSpPr>
              <a:xfrm>
                <a:off x="1268939" y="3568100"/>
                <a:ext cx="345831" cy="381884"/>
                <a:chOff x="7334854" y="3940862"/>
                <a:chExt cx="265610" cy="293300"/>
              </a:xfrm>
            </p:grpSpPr>
            <p:sp>
              <p:nvSpPr>
                <p:cNvPr id="46" name="Freeform: Shape 223">
                  <a:extLst>
                    <a:ext uri="{FF2B5EF4-FFF2-40B4-BE49-F238E27FC236}">
                      <a16:creationId xmlns:a16="http://schemas.microsoft.com/office/drawing/2014/main" id="{8B9D300A-BBCB-2211-6F10-97B42BF4E89F}"/>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47" name="Oval 46">
                  <a:extLst>
                    <a:ext uri="{FF2B5EF4-FFF2-40B4-BE49-F238E27FC236}">
                      <a16:creationId xmlns:a16="http://schemas.microsoft.com/office/drawing/2014/main" id="{7F342014-EA61-ADC0-F413-BD8F8F2CCE6D}"/>
                    </a:ext>
                  </a:extLst>
                </p:cNvPr>
                <p:cNvSpPr/>
                <p:nvPr/>
              </p:nvSpPr>
              <p:spPr>
                <a:xfrm>
                  <a:off x="7334854" y="3940862"/>
                  <a:ext cx="265610" cy="14701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grpSp>
          <p:grpSp>
            <p:nvGrpSpPr>
              <p:cNvPr id="43" name="Group 42">
                <a:extLst>
                  <a:ext uri="{FF2B5EF4-FFF2-40B4-BE49-F238E27FC236}">
                    <a16:creationId xmlns:a16="http://schemas.microsoft.com/office/drawing/2014/main" id="{71AAF63A-F9CB-B913-ADF4-43D2B836AA5B}"/>
                  </a:ext>
                </a:extLst>
              </p:cNvPr>
              <p:cNvGrpSpPr/>
              <p:nvPr/>
            </p:nvGrpSpPr>
            <p:grpSpPr>
              <a:xfrm>
                <a:off x="872630" y="3372174"/>
                <a:ext cx="345831" cy="381884"/>
                <a:chOff x="7334854" y="3940862"/>
                <a:chExt cx="265610" cy="293300"/>
              </a:xfrm>
            </p:grpSpPr>
            <p:sp>
              <p:nvSpPr>
                <p:cNvPr id="44" name="Freeform: Shape 221">
                  <a:extLst>
                    <a:ext uri="{FF2B5EF4-FFF2-40B4-BE49-F238E27FC236}">
                      <a16:creationId xmlns:a16="http://schemas.microsoft.com/office/drawing/2014/main" id="{B7FDBDE8-1385-C42C-8B50-5481BA01FB12}"/>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45" name="Oval 44">
                  <a:extLst>
                    <a:ext uri="{FF2B5EF4-FFF2-40B4-BE49-F238E27FC236}">
                      <a16:creationId xmlns:a16="http://schemas.microsoft.com/office/drawing/2014/main" id="{91DE0173-3BC6-D8F3-2F51-8A8D940F6992}"/>
                    </a:ext>
                  </a:extLst>
                </p:cNvPr>
                <p:cNvSpPr/>
                <p:nvPr/>
              </p:nvSpPr>
              <p:spPr>
                <a:xfrm>
                  <a:off x="7334854" y="3940862"/>
                  <a:ext cx="265610" cy="14701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grpSp>
        </p:grpSp>
        <p:grpSp>
          <p:nvGrpSpPr>
            <p:cNvPr id="31" name="Group 30">
              <a:extLst>
                <a:ext uri="{FF2B5EF4-FFF2-40B4-BE49-F238E27FC236}">
                  <a16:creationId xmlns:a16="http://schemas.microsoft.com/office/drawing/2014/main" id="{696A7DF1-1382-A7DA-E086-60F8D9D85495}"/>
                </a:ext>
              </a:extLst>
            </p:cNvPr>
            <p:cNvGrpSpPr/>
            <p:nvPr/>
          </p:nvGrpSpPr>
          <p:grpSpPr>
            <a:xfrm>
              <a:off x="2001681" y="2804768"/>
              <a:ext cx="313250" cy="345907"/>
              <a:chOff x="7334854" y="3940862"/>
              <a:chExt cx="265610" cy="293300"/>
            </a:xfrm>
          </p:grpSpPr>
          <p:sp>
            <p:nvSpPr>
              <p:cNvPr id="35" name="Freeform: Shape 212">
                <a:extLst>
                  <a:ext uri="{FF2B5EF4-FFF2-40B4-BE49-F238E27FC236}">
                    <a16:creationId xmlns:a16="http://schemas.microsoft.com/office/drawing/2014/main" id="{D56808D9-89E8-AAC4-ADBE-B62378445C63}"/>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36" name="Oval 35">
                <a:extLst>
                  <a:ext uri="{FF2B5EF4-FFF2-40B4-BE49-F238E27FC236}">
                    <a16:creationId xmlns:a16="http://schemas.microsoft.com/office/drawing/2014/main" id="{200A2B06-A3A9-6853-EAD1-673352AFE126}"/>
                  </a:ext>
                </a:extLst>
              </p:cNvPr>
              <p:cNvSpPr/>
              <p:nvPr/>
            </p:nvSpPr>
            <p:spPr>
              <a:xfrm>
                <a:off x="7334854" y="3940862"/>
                <a:ext cx="265610" cy="147017"/>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grpSp>
        <p:grpSp>
          <p:nvGrpSpPr>
            <p:cNvPr id="32" name="Group 31">
              <a:extLst>
                <a:ext uri="{FF2B5EF4-FFF2-40B4-BE49-F238E27FC236}">
                  <a16:creationId xmlns:a16="http://schemas.microsoft.com/office/drawing/2014/main" id="{FE78D33A-EB83-7F87-8DCE-259AD0ED0E60}"/>
                </a:ext>
              </a:extLst>
            </p:cNvPr>
            <p:cNvGrpSpPr/>
            <p:nvPr/>
          </p:nvGrpSpPr>
          <p:grpSpPr>
            <a:xfrm>
              <a:off x="1642708" y="2627300"/>
              <a:ext cx="313250" cy="345907"/>
              <a:chOff x="7334854" y="3940862"/>
              <a:chExt cx="265610" cy="293300"/>
            </a:xfrm>
          </p:grpSpPr>
          <p:sp>
            <p:nvSpPr>
              <p:cNvPr id="33" name="Freeform: Shape 210">
                <a:extLst>
                  <a:ext uri="{FF2B5EF4-FFF2-40B4-BE49-F238E27FC236}">
                    <a16:creationId xmlns:a16="http://schemas.microsoft.com/office/drawing/2014/main" id="{3C7E9C82-B7F6-78B6-7332-1B71A35FAFFD}"/>
                  </a:ext>
                </a:extLst>
              </p:cNvPr>
              <p:cNvSpPr/>
              <p:nvPr/>
            </p:nvSpPr>
            <p:spPr>
              <a:xfrm>
                <a:off x="7334854" y="3941597"/>
                <a:ext cx="265610" cy="292565"/>
              </a:xfrm>
              <a:custGeom>
                <a:avLst/>
                <a:gdLst>
                  <a:gd name="connsiteX0" fmla="*/ 132805 w 265610"/>
                  <a:gd name="connsiteY0" fmla="*/ 0 h 292565"/>
                  <a:gd name="connsiteX1" fmla="*/ 265610 w 265610"/>
                  <a:gd name="connsiteY1" fmla="*/ 73141 h 292565"/>
                  <a:gd name="connsiteX2" fmla="*/ 265610 w 265610"/>
                  <a:gd name="connsiteY2" fmla="*/ 219424 h 292565"/>
                  <a:gd name="connsiteX3" fmla="*/ 132805 w 265610"/>
                  <a:gd name="connsiteY3" fmla="*/ 292565 h 292565"/>
                  <a:gd name="connsiteX4" fmla="*/ 0 w 265610"/>
                  <a:gd name="connsiteY4" fmla="*/ 219424 h 292565"/>
                  <a:gd name="connsiteX5" fmla="*/ 0 w 265610"/>
                  <a:gd name="connsiteY5" fmla="*/ 73141 h 292565"/>
                  <a:gd name="connsiteX6" fmla="*/ 132805 w 265610"/>
                  <a:gd name="connsiteY6" fmla="*/ 0 h 29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610" h="292565">
                    <a:moveTo>
                      <a:pt x="132805" y="0"/>
                    </a:moveTo>
                    <a:cubicBezTo>
                      <a:pt x="206151" y="0"/>
                      <a:pt x="265610" y="32746"/>
                      <a:pt x="265610" y="73141"/>
                    </a:cubicBezTo>
                    <a:lnTo>
                      <a:pt x="265610" y="219424"/>
                    </a:lnTo>
                    <a:cubicBezTo>
                      <a:pt x="265610" y="259819"/>
                      <a:pt x="206151" y="292565"/>
                      <a:pt x="132805" y="292565"/>
                    </a:cubicBezTo>
                    <a:cubicBezTo>
                      <a:pt x="59459" y="292565"/>
                      <a:pt x="0" y="259819"/>
                      <a:pt x="0" y="219424"/>
                    </a:cubicBezTo>
                    <a:lnTo>
                      <a:pt x="0" y="73141"/>
                    </a:lnTo>
                    <a:cubicBezTo>
                      <a:pt x="0" y="32746"/>
                      <a:pt x="59459" y="0"/>
                      <a:pt x="132805" y="0"/>
                    </a:cubicBezTo>
                    <a:close/>
                  </a:path>
                </a:pathLst>
              </a:cu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34" name="Oval 33">
                <a:extLst>
                  <a:ext uri="{FF2B5EF4-FFF2-40B4-BE49-F238E27FC236}">
                    <a16:creationId xmlns:a16="http://schemas.microsoft.com/office/drawing/2014/main" id="{0EEC3214-6C9E-E44E-E41F-6CBE0AD906CF}"/>
                  </a:ext>
                </a:extLst>
              </p:cNvPr>
              <p:cNvSpPr/>
              <p:nvPr/>
            </p:nvSpPr>
            <p:spPr>
              <a:xfrm>
                <a:off x="7334854" y="3940862"/>
                <a:ext cx="265610" cy="147017"/>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grpSp>
      </p:grpSp>
      <p:sp>
        <p:nvSpPr>
          <p:cNvPr id="73" name="TextBox 72">
            <a:extLst>
              <a:ext uri="{FF2B5EF4-FFF2-40B4-BE49-F238E27FC236}">
                <a16:creationId xmlns:a16="http://schemas.microsoft.com/office/drawing/2014/main" id="{9B3EA8ED-3853-1692-76FD-F07F6DF3861C}"/>
              </a:ext>
            </a:extLst>
          </p:cNvPr>
          <p:cNvSpPr txBox="1"/>
          <p:nvPr/>
        </p:nvSpPr>
        <p:spPr>
          <a:xfrm flipH="1">
            <a:off x="4372662" y="1661609"/>
            <a:ext cx="3440378" cy="3185487"/>
          </a:xfrm>
          <a:prstGeom prst="rect">
            <a:avLst/>
          </a:prstGeom>
          <a:noFill/>
        </p:spPr>
        <p:txBody>
          <a:bodyPr wrap="square" lIns="0" rIns="0" rtlCol="0" anchor="t">
            <a:spAutoFit/>
          </a:bodyPr>
          <a:lstStyle/>
          <a:p>
            <a:pPr marL="171450" lvl="0" indent="-171450" eaLnBrk="0" fontAlgn="base" hangingPunct="0">
              <a:spcBef>
                <a:spcPct val="0"/>
              </a:spcBef>
              <a:spcAft>
                <a:spcPct val="0"/>
              </a:spcAft>
              <a:buFont typeface="Arial" panose="020B0604020202020204" pitchFamily="34" charset="0"/>
              <a:buChar char="•"/>
            </a:pPr>
            <a:r>
              <a:rPr lang="en-US" altLang="en-US" b="1" dirty="0"/>
              <a:t>1978 Declaration of </a:t>
            </a:r>
            <a:r>
              <a:rPr lang="en-US" altLang="en-US" b="1" dirty="0" smtClean="0"/>
              <a:t>Alma-Ata </a:t>
            </a:r>
            <a:r>
              <a:rPr lang="en-US" altLang="en-US" b="1" dirty="0"/>
              <a:t>emphasized </a:t>
            </a:r>
            <a:r>
              <a:rPr lang="en-US" altLang="en-US" b="1" dirty="0" smtClean="0"/>
              <a:t>the</a:t>
            </a:r>
            <a:r>
              <a:rPr lang="en-US" altLang="en-US" b="1" dirty="0" smtClean="0"/>
              <a:t> importance of PHC </a:t>
            </a:r>
            <a:r>
              <a:rPr lang="en-US" altLang="en-US" b="1" dirty="0"/>
              <a:t>for better health outcomes. </a:t>
            </a:r>
          </a:p>
          <a:p>
            <a:pPr marL="171450" lvl="0" indent="-171450" eaLnBrk="0" fontAlgn="base" hangingPunct="0">
              <a:spcBef>
                <a:spcPct val="0"/>
              </a:spcBef>
              <a:spcAft>
                <a:spcPct val="0"/>
              </a:spcAft>
              <a:buFont typeface="Arial" panose="020B0604020202020204" pitchFamily="34" charset="0"/>
              <a:buChar char="•"/>
            </a:pPr>
            <a:endParaRPr lang="en-US" altLang="en-US" b="1" dirty="0"/>
          </a:p>
          <a:p>
            <a:pPr marL="171450" lvl="0" indent="-171450" eaLnBrk="0" fontAlgn="base" hangingPunct="0">
              <a:spcBef>
                <a:spcPct val="0"/>
              </a:spcBef>
              <a:spcAft>
                <a:spcPct val="0"/>
              </a:spcAft>
              <a:buFont typeface="Arial" panose="020B0604020202020204" pitchFamily="34" charset="0"/>
              <a:buChar char="•"/>
            </a:pPr>
            <a:r>
              <a:rPr lang="en-US" altLang="en-US" b="1" dirty="0" smtClean="0"/>
              <a:t>2018 </a:t>
            </a:r>
            <a:r>
              <a:rPr lang="en-US" altLang="en-US" b="1" dirty="0"/>
              <a:t>Declaration of Astana saw countries commit to aligning health systems </a:t>
            </a:r>
            <a:r>
              <a:rPr lang="en-US" altLang="en-US" b="1" dirty="0" smtClean="0"/>
              <a:t>with PHC </a:t>
            </a:r>
            <a:r>
              <a:rPr lang="en-US" altLang="en-US" b="1" dirty="0"/>
              <a:t>to enhance progress on UHC and health-related SDGs. </a:t>
            </a:r>
          </a:p>
          <a:p>
            <a:pPr marL="171450" indent="-171450" eaLnBrk="0" fontAlgn="base" hangingPunct="0">
              <a:spcBef>
                <a:spcPct val="0"/>
              </a:spcBef>
              <a:spcAft>
                <a:spcPct val="0"/>
              </a:spcAft>
              <a:buFont typeface="Arial" panose="020B0604020202020204" pitchFamily="34" charset="0"/>
              <a:buChar char="•"/>
            </a:pPr>
            <a:endParaRPr lang="en-US" altLang="en-US" b="1" dirty="0"/>
          </a:p>
          <a:p>
            <a:pPr lvl="0" eaLnBrk="0" fontAlgn="base" hangingPunct="0">
              <a:spcBef>
                <a:spcPct val="0"/>
              </a:spcBef>
              <a:spcAft>
                <a:spcPct val="0"/>
              </a:spcAft>
            </a:pPr>
            <a:endParaRPr lang="en-US" altLang="en-US" sz="1050" dirty="0"/>
          </a:p>
          <a:p>
            <a:endParaRPr lang="en-US" sz="1050" noProof="1">
              <a:solidFill>
                <a:schemeClr val="bg1">
                  <a:lumMod val="75000"/>
                </a:schemeClr>
              </a:solidFill>
            </a:endParaRPr>
          </a:p>
        </p:txBody>
      </p:sp>
      <p:sp>
        <p:nvSpPr>
          <p:cNvPr id="80" name="TextBox 79">
            <a:extLst>
              <a:ext uri="{FF2B5EF4-FFF2-40B4-BE49-F238E27FC236}">
                <a16:creationId xmlns:a16="http://schemas.microsoft.com/office/drawing/2014/main" id="{92A838D7-5889-9D9C-0445-91117FB88D85}"/>
              </a:ext>
            </a:extLst>
          </p:cNvPr>
          <p:cNvSpPr txBox="1"/>
          <p:nvPr/>
        </p:nvSpPr>
        <p:spPr>
          <a:xfrm flipH="1">
            <a:off x="8206981" y="1500899"/>
            <a:ext cx="3598736" cy="3462486"/>
          </a:xfrm>
          <a:prstGeom prst="rect">
            <a:avLst/>
          </a:prstGeom>
          <a:noFill/>
        </p:spPr>
        <p:txBody>
          <a:bodyPr wrap="square" lIns="0" rIns="0" rtlCol="0" anchor="t">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b="1" dirty="0"/>
              <a:t>This declaration focuses on four commitments:</a:t>
            </a:r>
          </a:p>
          <a:p>
            <a:pPr marL="742950" lvl="1" indent="-285750" eaLnBrk="0" fontAlgn="base" hangingPunct="0">
              <a:spcBef>
                <a:spcPct val="0"/>
              </a:spcBef>
              <a:spcAft>
                <a:spcPct val="0"/>
              </a:spcAft>
              <a:buFont typeface="Arial" panose="020B0604020202020204" pitchFamily="34" charset="0"/>
              <a:buChar char="•"/>
            </a:pPr>
            <a:r>
              <a:rPr lang="en-US" altLang="en-US" b="1" dirty="0"/>
              <a:t>making bold health choices across all sectors;</a:t>
            </a:r>
          </a:p>
          <a:p>
            <a:pPr marL="742950" lvl="1" indent="-285750" eaLnBrk="0" fontAlgn="base" hangingPunct="0">
              <a:spcBef>
                <a:spcPct val="0"/>
              </a:spcBef>
              <a:spcAft>
                <a:spcPct val="0"/>
              </a:spcAft>
              <a:buFont typeface="Arial" panose="020B0604020202020204" pitchFamily="34" charset="0"/>
              <a:buChar char="•"/>
            </a:pPr>
            <a:r>
              <a:rPr lang="en-US" altLang="en-US" b="1" dirty="0"/>
              <a:t>creating sustainable PHC suited to local contexts;</a:t>
            </a:r>
          </a:p>
          <a:p>
            <a:pPr marL="742950" lvl="1" indent="-285750" eaLnBrk="0" fontAlgn="base" hangingPunct="0">
              <a:spcBef>
                <a:spcPct val="0"/>
              </a:spcBef>
              <a:spcAft>
                <a:spcPct val="0"/>
              </a:spcAft>
              <a:buFont typeface="Arial" panose="020B0604020202020204" pitchFamily="34" charset="0"/>
              <a:buChar char="•"/>
            </a:pPr>
            <a:r>
              <a:rPr lang="en-US" altLang="en-US" b="1" dirty="0"/>
              <a:t>empowering individuals and communities; and</a:t>
            </a:r>
          </a:p>
          <a:p>
            <a:pPr marL="800100" lvl="1" indent="-342900" eaLnBrk="0" fontAlgn="base" hangingPunct="0">
              <a:spcBef>
                <a:spcPct val="0"/>
              </a:spcBef>
              <a:spcAft>
                <a:spcPct val="0"/>
              </a:spcAft>
              <a:buFont typeface="Arial" panose="020B0604020202020204" pitchFamily="34" charset="0"/>
              <a:buChar char="•"/>
            </a:pPr>
            <a:r>
              <a:rPr lang="en-US" altLang="en-US" b="1" dirty="0"/>
              <a:t>aligning stakeholder support with national policies.</a:t>
            </a:r>
          </a:p>
          <a:p>
            <a:pPr eaLnBrk="0" fontAlgn="base" hangingPunct="0">
              <a:spcBef>
                <a:spcPct val="0"/>
              </a:spcBef>
              <a:spcAft>
                <a:spcPct val="0"/>
              </a:spcAft>
            </a:pPr>
            <a:endParaRPr lang="en-US" altLang="en-US" b="1" dirty="0"/>
          </a:p>
          <a:p>
            <a:pPr lvl="0" eaLnBrk="0" fontAlgn="base" hangingPunct="0">
              <a:spcBef>
                <a:spcPct val="0"/>
              </a:spcBef>
              <a:spcAft>
                <a:spcPct val="0"/>
              </a:spcAft>
            </a:pPr>
            <a:endParaRPr lang="en-US" altLang="en-US" sz="1050" dirty="0"/>
          </a:p>
          <a:p>
            <a:endParaRPr lang="en-US" sz="1050" noProof="1">
              <a:solidFill>
                <a:schemeClr val="bg1">
                  <a:lumMod val="75000"/>
                </a:schemeClr>
              </a:solidFill>
            </a:endParaRPr>
          </a:p>
        </p:txBody>
      </p:sp>
      <p:sp>
        <p:nvSpPr>
          <p:cNvPr id="81" name="TextBox 80">
            <a:extLst>
              <a:ext uri="{FF2B5EF4-FFF2-40B4-BE49-F238E27FC236}">
                <a16:creationId xmlns:a16="http://schemas.microsoft.com/office/drawing/2014/main" id="{D551ED75-66FF-C550-C59C-4998E6B2858B}"/>
              </a:ext>
            </a:extLst>
          </p:cNvPr>
          <p:cNvSpPr txBox="1"/>
          <p:nvPr/>
        </p:nvSpPr>
        <p:spPr>
          <a:xfrm flipH="1">
            <a:off x="4582160" y="3048000"/>
            <a:ext cx="3889844" cy="692497"/>
          </a:xfrm>
          <a:prstGeom prst="rect">
            <a:avLst/>
          </a:prstGeom>
          <a:noFill/>
        </p:spPr>
        <p:txBody>
          <a:bodyPr wrap="square" lIns="0" rIns="0" rtlCol="0" anchor="t">
            <a:spAutoFit/>
          </a:bodyPr>
          <a:lstStyle/>
          <a:p>
            <a:pPr marL="171450" indent="-171450" eaLnBrk="0" fontAlgn="base" hangingPunct="0">
              <a:spcBef>
                <a:spcPct val="0"/>
              </a:spcBef>
              <a:spcAft>
                <a:spcPct val="0"/>
              </a:spcAft>
              <a:buFont typeface="Arial" panose="020B0604020202020204" pitchFamily="34" charset="0"/>
              <a:buChar char="•"/>
            </a:pPr>
            <a:endParaRPr lang="en-US" altLang="en-US" b="1" dirty="0"/>
          </a:p>
          <a:p>
            <a:pPr lvl="0" eaLnBrk="0" fontAlgn="base" hangingPunct="0">
              <a:spcBef>
                <a:spcPct val="0"/>
              </a:spcBef>
              <a:spcAft>
                <a:spcPct val="0"/>
              </a:spcAft>
            </a:pPr>
            <a:endParaRPr lang="en-US" altLang="en-US" sz="1050" dirty="0"/>
          </a:p>
          <a:p>
            <a:endParaRPr lang="en-US" sz="1050" noProof="1">
              <a:solidFill>
                <a:schemeClr val="bg1">
                  <a:lumMod val="75000"/>
                </a:schemeClr>
              </a:solidFill>
            </a:endParaRPr>
          </a:p>
        </p:txBody>
      </p:sp>
      <p:sp>
        <p:nvSpPr>
          <p:cNvPr id="82" name="TextBox 81">
            <a:extLst>
              <a:ext uri="{FF2B5EF4-FFF2-40B4-BE49-F238E27FC236}">
                <a16:creationId xmlns:a16="http://schemas.microsoft.com/office/drawing/2014/main" id="{83D9EF70-A348-CC11-F87F-58253C558747}"/>
              </a:ext>
            </a:extLst>
          </p:cNvPr>
          <p:cNvSpPr txBox="1"/>
          <p:nvPr/>
        </p:nvSpPr>
        <p:spPr>
          <a:xfrm flipH="1">
            <a:off x="5620702" y="4702757"/>
            <a:ext cx="5172556" cy="1523494"/>
          </a:xfrm>
          <a:prstGeom prst="rect">
            <a:avLst/>
          </a:prstGeom>
          <a:noFill/>
        </p:spPr>
        <p:txBody>
          <a:bodyPr wrap="square" lIns="0" rIns="0" rtlCol="0" anchor="t">
            <a:spAutoFit/>
          </a:bodyPr>
          <a:lstStyle/>
          <a:p>
            <a:pPr marL="171450" lvl="0" indent="-171450" eaLnBrk="0" fontAlgn="base" hangingPunct="0">
              <a:spcBef>
                <a:spcPct val="0"/>
              </a:spcBef>
              <a:spcAft>
                <a:spcPct val="0"/>
              </a:spcAft>
              <a:buFont typeface="Arial" panose="020B0604020202020204" pitchFamily="34" charset="0"/>
              <a:buChar char="•"/>
            </a:pPr>
            <a:r>
              <a:rPr lang="en-US" altLang="en-US" b="1" dirty="0"/>
              <a:t>In 2022, the 75th World Health Assembly urged a reorientation of health systems towards</a:t>
            </a:r>
          </a:p>
          <a:p>
            <a:pPr lvl="0" eaLnBrk="0" fontAlgn="base" hangingPunct="0">
              <a:spcBef>
                <a:spcPct val="0"/>
              </a:spcBef>
              <a:spcAft>
                <a:spcPct val="0"/>
              </a:spcAft>
            </a:pPr>
            <a:r>
              <a:rPr lang="en-US" altLang="en-US" b="1" dirty="0"/>
              <a:t> PHC as the basis for UHC, reaffirmed by the 2023 UNHLM political declaration on UHC.</a:t>
            </a:r>
          </a:p>
          <a:p>
            <a:pPr lvl="0" eaLnBrk="0" fontAlgn="base" hangingPunct="0">
              <a:spcBef>
                <a:spcPct val="0"/>
              </a:spcBef>
              <a:spcAft>
                <a:spcPct val="0"/>
              </a:spcAft>
            </a:pPr>
            <a:endParaRPr lang="en-US" altLang="en-US" sz="1050" dirty="0"/>
          </a:p>
          <a:p>
            <a:endParaRPr lang="en-US" sz="1050" noProof="1">
              <a:solidFill>
                <a:schemeClr val="bg1">
                  <a:lumMod val="75000"/>
                </a:schemeClr>
              </a:solidFill>
            </a:endParaRPr>
          </a:p>
        </p:txBody>
      </p:sp>
    </p:spTree>
    <p:extLst>
      <p:ext uri="{BB962C8B-B14F-4D97-AF65-F5344CB8AC3E}">
        <p14:creationId xmlns:p14="http://schemas.microsoft.com/office/powerpoint/2010/main" val="2046990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815" y="299258"/>
            <a:ext cx="7489767" cy="646331"/>
          </a:xfrm>
          <a:prstGeom prst="rect">
            <a:avLst/>
          </a:prstGeom>
          <a:noFill/>
        </p:spPr>
        <p:txBody>
          <a:bodyPr wrap="square" rtlCol="0">
            <a:spAutoFit/>
          </a:bodyPr>
          <a:lstStyle/>
          <a:p>
            <a:r>
              <a:rPr lang="en-US" sz="3600" b="1" dirty="0">
                <a:solidFill>
                  <a:schemeClr val="bg1"/>
                </a:solidFill>
              </a:rPr>
              <a:t>PHC Approach and Core Components</a:t>
            </a:r>
          </a:p>
        </p:txBody>
      </p:sp>
      <p:sp>
        <p:nvSpPr>
          <p:cNvPr id="5" name="TextBox 4"/>
          <p:cNvSpPr txBox="1"/>
          <p:nvPr/>
        </p:nvSpPr>
        <p:spPr>
          <a:xfrm>
            <a:off x="447616" y="1443841"/>
            <a:ext cx="11296768" cy="3970318"/>
          </a:xfrm>
          <a:prstGeom prst="rect">
            <a:avLst/>
          </a:prstGeom>
          <a:noFill/>
        </p:spPr>
        <p:txBody>
          <a:bodyPr wrap="square" rtlCol="0">
            <a:spAutoFit/>
          </a:bodyPr>
          <a:lstStyle/>
          <a:p>
            <a:pPr marL="457200" indent="-457200">
              <a:buFont typeface="Arial" panose="020B0604020202020204" pitchFamily="34" charset="0"/>
              <a:buChar char="•"/>
            </a:pPr>
            <a:r>
              <a:rPr lang="en-US" sz="2800" dirty="0"/>
              <a:t>The PHC approach is a </a:t>
            </a:r>
            <a:r>
              <a:rPr lang="en-US" sz="2800" b="1" dirty="0"/>
              <a:t>whole-of-society</a:t>
            </a:r>
            <a:r>
              <a:rPr lang="en-US" sz="2800" dirty="0"/>
              <a:t> approach to health that aims to enhance health and well-being through three components: </a:t>
            </a:r>
            <a:endParaRPr lang="en-US" sz="2800" dirty="0" smtClean="0"/>
          </a:p>
          <a:p>
            <a:endParaRPr lang="en-US" sz="2800" dirty="0"/>
          </a:p>
          <a:p>
            <a:pPr marL="914400" lvl="1" indent="-457200">
              <a:buFont typeface="Arial" panose="020B0604020202020204" pitchFamily="34" charset="0"/>
              <a:buChar char="•"/>
            </a:pPr>
            <a:r>
              <a:rPr lang="en-US" sz="2800" dirty="0"/>
              <a:t>integrated health services </a:t>
            </a:r>
            <a:r>
              <a:rPr lang="en-US" sz="2800" dirty="0" smtClean="0"/>
              <a:t>with an emphasis on primary </a:t>
            </a:r>
            <a:r>
              <a:rPr lang="en-US" sz="2800" dirty="0"/>
              <a:t>care and essential public health </a:t>
            </a:r>
            <a:r>
              <a:rPr lang="en-US" sz="2800" dirty="0" smtClean="0"/>
              <a:t>functions;</a:t>
            </a:r>
          </a:p>
          <a:p>
            <a:pPr lvl="1"/>
            <a:endParaRPr lang="en-US" sz="2800" dirty="0" smtClean="0"/>
          </a:p>
          <a:p>
            <a:pPr marL="914400" lvl="1" indent="-457200">
              <a:buFont typeface="Arial" panose="020B0604020202020204" pitchFamily="34" charset="0"/>
              <a:buChar char="•"/>
            </a:pPr>
            <a:r>
              <a:rPr lang="en-US" sz="2800" dirty="0" smtClean="0"/>
              <a:t>multi-sectoral </a:t>
            </a:r>
            <a:r>
              <a:rPr lang="en-US" sz="2800" dirty="0"/>
              <a:t>policy and action</a:t>
            </a:r>
            <a:r>
              <a:rPr lang="en-US" sz="2800" dirty="0" smtClean="0"/>
              <a:t>;</a:t>
            </a:r>
          </a:p>
          <a:p>
            <a:pPr lvl="1"/>
            <a:endParaRPr lang="en-US" sz="2800" dirty="0"/>
          </a:p>
          <a:p>
            <a:pPr marL="914400" lvl="1" indent="-457200">
              <a:buFont typeface="Arial" panose="020B0604020202020204" pitchFamily="34" charset="0"/>
              <a:buChar char="•"/>
            </a:pPr>
            <a:r>
              <a:rPr lang="en-US" sz="2800" dirty="0"/>
              <a:t>and empowered communities</a:t>
            </a:r>
            <a:r>
              <a:rPr lang="en-US" sz="2800" dirty="0" smtClean="0"/>
              <a:t>.</a:t>
            </a:r>
            <a:endParaRPr lang="en-US" sz="2800" dirty="0"/>
          </a:p>
        </p:txBody>
      </p:sp>
    </p:spTree>
    <p:extLst>
      <p:ext uri="{BB962C8B-B14F-4D97-AF65-F5344CB8AC3E}">
        <p14:creationId xmlns:p14="http://schemas.microsoft.com/office/powerpoint/2010/main" val="4197353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89689"/>
            <a:ext cx="8235076" cy="954107"/>
          </a:xfrm>
          <a:prstGeom prst="rect">
            <a:avLst/>
          </a:prstGeom>
          <a:noFill/>
        </p:spPr>
        <p:txBody>
          <a:bodyPr wrap="square" rtlCol="0">
            <a:spAutoFit/>
          </a:bodyPr>
          <a:lstStyle/>
          <a:p>
            <a:r>
              <a:rPr lang="en-US" sz="2800" b="1" dirty="0">
                <a:solidFill>
                  <a:schemeClr val="bg1"/>
                </a:solidFill>
              </a:rPr>
              <a:t>Alignment of the End TB Strategy with the components of PHC</a:t>
            </a:r>
          </a:p>
        </p:txBody>
      </p:sp>
      <p:pic>
        <p:nvPicPr>
          <p:cNvPr id="3" name="Picture 2"/>
          <p:cNvPicPr>
            <a:picLocks noChangeAspect="1"/>
          </p:cNvPicPr>
          <p:nvPr/>
        </p:nvPicPr>
        <p:blipFill>
          <a:blip r:embed="rId2"/>
          <a:stretch>
            <a:fillRect/>
          </a:stretch>
        </p:blipFill>
        <p:spPr>
          <a:xfrm>
            <a:off x="944881" y="1311215"/>
            <a:ext cx="8664946" cy="4502989"/>
          </a:xfrm>
          <a:prstGeom prst="rect">
            <a:avLst/>
          </a:prstGeom>
        </p:spPr>
      </p:pic>
    </p:spTree>
    <p:extLst>
      <p:ext uri="{BB962C8B-B14F-4D97-AF65-F5344CB8AC3E}">
        <p14:creationId xmlns:p14="http://schemas.microsoft.com/office/powerpoint/2010/main" val="3044160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815" y="299258"/>
            <a:ext cx="7489767" cy="1200329"/>
          </a:xfrm>
          <a:prstGeom prst="rect">
            <a:avLst/>
          </a:prstGeom>
          <a:noFill/>
        </p:spPr>
        <p:txBody>
          <a:bodyPr wrap="square" rtlCol="0">
            <a:spAutoFit/>
          </a:bodyPr>
          <a:lstStyle/>
          <a:p>
            <a:r>
              <a:rPr lang="en-US" sz="3600" b="1" dirty="0">
                <a:solidFill>
                  <a:schemeClr val="bg1"/>
                </a:solidFill>
              </a:rPr>
              <a:t>Why PHC matters for UHC and TB</a:t>
            </a:r>
          </a:p>
          <a:p>
            <a:endParaRPr lang="en-US" sz="3600" dirty="0">
              <a:solidFill>
                <a:schemeClr val="bg1"/>
              </a:solidFill>
            </a:endParaRPr>
          </a:p>
        </p:txBody>
      </p:sp>
      <p:grpSp>
        <p:nvGrpSpPr>
          <p:cNvPr id="3" name="Group 2">
            <a:extLst>
              <a:ext uri="{FF2B5EF4-FFF2-40B4-BE49-F238E27FC236}">
                <a16:creationId xmlns:a16="http://schemas.microsoft.com/office/drawing/2014/main" id="{29C1AAB7-9023-E396-EA2C-E0FA73FB3DF5}"/>
              </a:ext>
            </a:extLst>
          </p:cNvPr>
          <p:cNvGrpSpPr/>
          <p:nvPr/>
        </p:nvGrpSpPr>
        <p:grpSpPr>
          <a:xfrm>
            <a:off x="2308133" y="1584892"/>
            <a:ext cx="7044984" cy="1070106"/>
            <a:chOff x="2149033" y="1347418"/>
            <a:chExt cx="7893935" cy="1199057"/>
          </a:xfrm>
        </p:grpSpPr>
        <p:sp>
          <p:nvSpPr>
            <p:cNvPr id="4" name="Freeform: Shape 86">
              <a:extLst>
                <a:ext uri="{FF2B5EF4-FFF2-40B4-BE49-F238E27FC236}">
                  <a16:creationId xmlns:a16="http://schemas.microsoft.com/office/drawing/2014/main" id="{91C7A32E-7F51-D5EF-CF5B-5333192B2EE2}"/>
                </a:ext>
              </a:extLst>
            </p:cNvPr>
            <p:cNvSpPr/>
            <p:nvPr/>
          </p:nvSpPr>
          <p:spPr>
            <a:xfrm>
              <a:off x="2149033" y="1347418"/>
              <a:ext cx="7893935" cy="1054665"/>
            </a:xfrm>
            <a:custGeom>
              <a:avLst/>
              <a:gdLst>
                <a:gd name="connsiteX0" fmla="*/ 2871517 w 7893935"/>
                <a:gd name="connsiteY0" fmla="*/ 0 h 1054665"/>
                <a:gd name="connsiteX1" fmla="*/ 3649530 w 7893935"/>
                <a:gd name="connsiteY1" fmla="*/ 0 h 1054665"/>
                <a:gd name="connsiteX2" fmla="*/ 5925861 w 7893935"/>
                <a:gd name="connsiteY2" fmla="*/ 0 h 1054665"/>
                <a:gd name="connsiteX3" fmla="*/ 6358942 w 7893935"/>
                <a:gd name="connsiteY3" fmla="*/ 231638 h 1054665"/>
                <a:gd name="connsiteX4" fmla="*/ 6367880 w 7893935"/>
                <a:gd name="connsiteY4" fmla="*/ 248204 h 1054665"/>
                <a:gd name="connsiteX5" fmla="*/ 6399256 w 7893935"/>
                <a:gd name="connsiteY5" fmla="*/ 279139 h 1054665"/>
                <a:gd name="connsiteX6" fmla="*/ 6645257 w 7893935"/>
                <a:gd name="connsiteY6" fmla="*/ 368934 h 1054665"/>
                <a:gd name="connsiteX7" fmla="*/ 6891259 w 7893935"/>
                <a:gd name="connsiteY7" fmla="*/ 279139 h 1054665"/>
                <a:gd name="connsiteX8" fmla="*/ 6925818 w 7893935"/>
                <a:gd name="connsiteY8" fmla="*/ 245066 h 1054665"/>
                <a:gd name="connsiteX9" fmla="*/ 6932170 w 7893935"/>
                <a:gd name="connsiteY9" fmla="*/ 233364 h 1054665"/>
                <a:gd name="connsiteX10" fmla="*/ 7368155 w 7893935"/>
                <a:gd name="connsiteY10" fmla="*/ 1552 h 1054665"/>
                <a:gd name="connsiteX11" fmla="*/ 7893935 w 7893935"/>
                <a:gd name="connsiteY11" fmla="*/ 527332 h 1054665"/>
                <a:gd name="connsiteX12" fmla="*/ 7368155 w 7893935"/>
                <a:gd name="connsiteY12" fmla="*/ 1053112 h 1054665"/>
                <a:gd name="connsiteX13" fmla="*/ 6932170 w 7893935"/>
                <a:gd name="connsiteY13" fmla="*/ 821301 h 1054665"/>
                <a:gd name="connsiteX14" fmla="*/ 6925820 w 7893935"/>
                <a:gd name="connsiteY14" fmla="*/ 809601 h 1054665"/>
                <a:gd name="connsiteX15" fmla="*/ 6891259 w 7893935"/>
                <a:gd name="connsiteY15" fmla="*/ 775526 h 1054665"/>
                <a:gd name="connsiteX16" fmla="*/ 6645257 w 7893935"/>
                <a:gd name="connsiteY16" fmla="*/ 685731 h 1054665"/>
                <a:gd name="connsiteX17" fmla="*/ 6399256 w 7893935"/>
                <a:gd name="connsiteY17" fmla="*/ 775526 h 1054665"/>
                <a:gd name="connsiteX18" fmla="*/ 6367880 w 7893935"/>
                <a:gd name="connsiteY18" fmla="*/ 806463 h 1054665"/>
                <a:gd name="connsiteX19" fmla="*/ 6358942 w 7893935"/>
                <a:gd name="connsiteY19" fmla="*/ 823027 h 1054665"/>
                <a:gd name="connsiteX20" fmla="*/ 5925861 w 7893935"/>
                <a:gd name="connsiteY20" fmla="*/ 1054664 h 1054665"/>
                <a:gd name="connsiteX21" fmla="*/ 5164099 w 7893935"/>
                <a:gd name="connsiteY21" fmla="*/ 1054664 h 1054665"/>
                <a:gd name="connsiteX22" fmla="*/ 5164099 w 7893935"/>
                <a:gd name="connsiteY22" fmla="*/ 1054665 h 1054665"/>
                <a:gd name="connsiteX23" fmla="*/ 5022417 w 7893935"/>
                <a:gd name="connsiteY23" fmla="*/ 1054665 h 1054665"/>
                <a:gd name="connsiteX24" fmla="*/ 3649530 w 7893935"/>
                <a:gd name="connsiteY24" fmla="*/ 1054665 h 1054665"/>
                <a:gd name="connsiteX25" fmla="*/ 1968075 w 7893935"/>
                <a:gd name="connsiteY25" fmla="*/ 1054665 h 1054665"/>
                <a:gd name="connsiteX26" fmla="*/ 1534993 w 7893935"/>
                <a:gd name="connsiteY26" fmla="*/ 823028 h 1054665"/>
                <a:gd name="connsiteX27" fmla="*/ 1526052 w 7893935"/>
                <a:gd name="connsiteY27" fmla="*/ 806457 h 1054665"/>
                <a:gd name="connsiteX28" fmla="*/ 1494680 w 7893935"/>
                <a:gd name="connsiteY28" fmla="*/ 775526 h 1054665"/>
                <a:gd name="connsiteX29" fmla="*/ 1248678 w 7893935"/>
                <a:gd name="connsiteY29" fmla="*/ 685731 h 1054665"/>
                <a:gd name="connsiteX30" fmla="*/ 1002677 w 7893935"/>
                <a:gd name="connsiteY30" fmla="*/ 775526 h 1054665"/>
                <a:gd name="connsiteX31" fmla="*/ 968113 w 7893935"/>
                <a:gd name="connsiteY31" fmla="*/ 809606 h 1054665"/>
                <a:gd name="connsiteX32" fmla="*/ 961765 w 7893935"/>
                <a:gd name="connsiteY32" fmla="*/ 821301 h 1054665"/>
                <a:gd name="connsiteX33" fmla="*/ 525780 w 7893935"/>
                <a:gd name="connsiteY33" fmla="*/ 1053112 h 1054665"/>
                <a:gd name="connsiteX34" fmla="*/ 0 w 7893935"/>
                <a:gd name="connsiteY34" fmla="*/ 527332 h 1054665"/>
                <a:gd name="connsiteX35" fmla="*/ 525780 w 7893935"/>
                <a:gd name="connsiteY35" fmla="*/ 1552 h 1054665"/>
                <a:gd name="connsiteX36" fmla="*/ 961765 w 7893935"/>
                <a:gd name="connsiteY36" fmla="*/ 233364 h 1054665"/>
                <a:gd name="connsiteX37" fmla="*/ 968115 w 7893935"/>
                <a:gd name="connsiteY37" fmla="*/ 245063 h 1054665"/>
                <a:gd name="connsiteX38" fmla="*/ 1002677 w 7893935"/>
                <a:gd name="connsiteY38" fmla="*/ 279139 h 1054665"/>
                <a:gd name="connsiteX39" fmla="*/ 1248678 w 7893935"/>
                <a:gd name="connsiteY39" fmla="*/ 368934 h 1054665"/>
                <a:gd name="connsiteX40" fmla="*/ 1494680 w 7893935"/>
                <a:gd name="connsiteY40" fmla="*/ 279139 h 1054665"/>
                <a:gd name="connsiteX41" fmla="*/ 1526054 w 7893935"/>
                <a:gd name="connsiteY41" fmla="*/ 248206 h 1054665"/>
                <a:gd name="connsiteX42" fmla="*/ 1534993 w 7893935"/>
                <a:gd name="connsiteY42" fmla="*/ 231639 h 1054665"/>
                <a:gd name="connsiteX43" fmla="*/ 1968075 w 7893935"/>
                <a:gd name="connsiteY43" fmla="*/ 2 h 1054665"/>
                <a:gd name="connsiteX44" fmla="*/ 2871503 w 7893935"/>
                <a:gd name="connsiteY44" fmla="*/ 2 h 1054665"/>
                <a:gd name="connsiteX45" fmla="*/ 2871517 w 7893935"/>
                <a:gd name="connsiteY45" fmla="*/ 0 h 1054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893935" h="1054665">
                  <a:moveTo>
                    <a:pt x="2871517" y="0"/>
                  </a:moveTo>
                  <a:lnTo>
                    <a:pt x="3649530" y="0"/>
                  </a:lnTo>
                  <a:lnTo>
                    <a:pt x="5925861" y="0"/>
                  </a:lnTo>
                  <a:cubicBezTo>
                    <a:pt x="6106141" y="0"/>
                    <a:pt x="6265085" y="91885"/>
                    <a:pt x="6358942" y="231638"/>
                  </a:cubicBezTo>
                  <a:lnTo>
                    <a:pt x="6367880" y="248204"/>
                  </a:lnTo>
                  <a:lnTo>
                    <a:pt x="6399256" y="279139"/>
                  </a:lnTo>
                  <a:cubicBezTo>
                    <a:pt x="6469478" y="335831"/>
                    <a:pt x="6554133" y="368934"/>
                    <a:pt x="6645257" y="368934"/>
                  </a:cubicBezTo>
                  <a:cubicBezTo>
                    <a:pt x="6736382" y="368934"/>
                    <a:pt x="6821036" y="335831"/>
                    <a:pt x="6891259" y="279139"/>
                  </a:cubicBezTo>
                  <a:lnTo>
                    <a:pt x="6925818" y="245066"/>
                  </a:lnTo>
                  <a:lnTo>
                    <a:pt x="6932170" y="233364"/>
                  </a:lnTo>
                  <a:cubicBezTo>
                    <a:pt x="7026657" y="93505"/>
                    <a:pt x="7186667" y="1552"/>
                    <a:pt x="7368155" y="1552"/>
                  </a:cubicBezTo>
                  <a:cubicBezTo>
                    <a:pt x="7658535" y="1552"/>
                    <a:pt x="7893935" y="236952"/>
                    <a:pt x="7893935" y="527332"/>
                  </a:cubicBezTo>
                  <a:cubicBezTo>
                    <a:pt x="7893935" y="817712"/>
                    <a:pt x="7658535" y="1053112"/>
                    <a:pt x="7368155" y="1053112"/>
                  </a:cubicBezTo>
                  <a:cubicBezTo>
                    <a:pt x="7186667" y="1053112"/>
                    <a:pt x="7026657" y="961159"/>
                    <a:pt x="6932170" y="821301"/>
                  </a:cubicBezTo>
                  <a:lnTo>
                    <a:pt x="6925820" y="809601"/>
                  </a:lnTo>
                  <a:lnTo>
                    <a:pt x="6891259" y="775526"/>
                  </a:lnTo>
                  <a:cubicBezTo>
                    <a:pt x="6821037" y="718834"/>
                    <a:pt x="6736382" y="685731"/>
                    <a:pt x="6645257" y="685731"/>
                  </a:cubicBezTo>
                  <a:cubicBezTo>
                    <a:pt x="6554133" y="685731"/>
                    <a:pt x="6469478" y="718834"/>
                    <a:pt x="6399256" y="775526"/>
                  </a:cubicBezTo>
                  <a:lnTo>
                    <a:pt x="6367880" y="806463"/>
                  </a:lnTo>
                  <a:lnTo>
                    <a:pt x="6358942" y="823027"/>
                  </a:lnTo>
                  <a:cubicBezTo>
                    <a:pt x="6265085" y="962781"/>
                    <a:pt x="6106141" y="1054664"/>
                    <a:pt x="5925861" y="1054664"/>
                  </a:cubicBezTo>
                  <a:lnTo>
                    <a:pt x="5164099" y="1054664"/>
                  </a:lnTo>
                  <a:lnTo>
                    <a:pt x="5164099" y="1054665"/>
                  </a:lnTo>
                  <a:lnTo>
                    <a:pt x="5022417" y="1054665"/>
                  </a:lnTo>
                  <a:lnTo>
                    <a:pt x="3649530" y="1054665"/>
                  </a:lnTo>
                  <a:lnTo>
                    <a:pt x="1968075" y="1054665"/>
                  </a:lnTo>
                  <a:cubicBezTo>
                    <a:pt x="1787795" y="1054665"/>
                    <a:pt x="1628850" y="962782"/>
                    <a:pt x="1534993" y="823028"/>
                  </a:cubicBezTo>
                  <a:lnTo>
                    <a:pt x="1526052" y="806457"/>
                  </a:lnTo>
                  <a:lnTo>
                    <a:pt x="1494680" y="775526"/>
                  </a:lnTo>
                  <a:cubicBezTo>
                    <a:pt x="1424458" y="718834"/>
                    <a:pt x="1339803" y="685731"/>
                    <a:pt x="1248678" y="685731"/>
                  </a:cubicBezTo>
                  <a:cubicBezTo>
                    <a:pt x="1157554" y="685731"/>
                    <a:pt x="1072900" y="718834"/>
                    <a:pt x="1002677" y="775526"/>
                  </a:cubicBezTo>
                  <a:lnTo>
                    <a:pt x="968113" y="809606"/>
                  </a:lnTo>
                  <a:lnTo>
                    <a:pt x="961765" y="821301"/>
                  </a:lnTo>
                  <a:cubicBezTo>
                    <a:pt x="867279" y="961159"/>
                    <a:pt x="707268" y="1053112"/>
                    <a:pt x="525780" y="1053112"/>
                  </a:cubicBezTo>
                  <a:cubicBezTo>
                    <a:pt x="235400" y="1053112"/>
                    <a:pt x="0" y="817712"/>
                    <a:pt x="0" y="527332"/>
                  </a:cubicBezTo>
                  <a:cubicBezTo>
                    <a:pt x="0" y="236952"/>
                    <a:pt x="235400" y="1552"/>
                    <a:pt x="525780" y="1552"/>
                  </a:cubicBezTo>
                  <a:cubicBezTo>
                    <a:pt x="707268" y="1552"/>
                    <a:pt x="867279" y="93505"/>
                    <a:pt x="961765" y="233364"/>
                  </a:cubicBezTo>
                  <a:lnTo>
                    <a:pt x="968115" y="245063"/>
                  </a:lnTo>
                  <a:lnTo>
                    <a:pt x="1002677" y="279139"/>
                  </a:lnTo>
                  <a:cubicBezTo>
                    <a:pt x="1072900" y="335831"/>
                    <a:pt x="1157554" y="368934"/>
                    <a:pt x="1248678" y="368934"/>
                  </a:cubicBezTo>
                  <a:cubicBezTo>
                    <a:pt x="1339803" y="368934"/>
                    <a:pt x="1424458" y="335831"/>
                    <a:pt x="1494680" y="279139"/>
                  </a:cubicBezTo>
                  <a:lnTo>
                    <a:pt x="1526054" y="248206"/>
                  </a:lnTo>
                  <a:lnTo>
                    <a:pt x="1534993" y="231639"/>
                  </a:lnTo>
                  <a:cubicBezTo>
                    <a:pt x="1628850" y="91886"/>
                    <a:pt x="1787795" y="2"/>
                    <a:pt x="1968075" y="2"/>
                  </a:cubicBezTo>
                  <a:lnTo>
                    <a:pt x="2871503" y="2"/>
                  </a:lnTo>
                  <a:cubicBezTo>
                    <a:pt x="2871508" y="1"/>
                    <a:pt x="2871512" y="1"/>
                    <a:pt x="2871517" y="0"/>
                  </a:cubicBezTo>
                  <a:close/>
                </a:path>
              </a:pathLst>
            </a:custGeom>
            <a:solidFill>
              <a:schemeClr val="tx2"/>
            </a:solidFill>
            <a:ln w="0" cap="flat">
              <a:noFill/>
              <a:prstDash val="solid"/>
              <a:miter/>
            </a:ln>
          </p:spPr>
          <p:txBody>
            <a:bodyPr wrap="square" rtlCol="0" anchor="ctr">
              <a:noAutofit/>
            </a:bodyPr>
            <a:lstStyle/>
            <a:p>
              <a:endParaRPr lang="en-US" sz="1400"/>
            </a:p>
          </p:txBody>
        </p:sp>
        <p:sp>
          <p:nvSpPr>
            <p:cNvPr id="6" name="Freeform 6">
              <a:extLst>
                <a:ext uri="{FF2B5EF4-FFF2-40B4-BE49-F238E27FC236}">
                  <a16:creationId xmlns:a16="http://schemas.microsoft.com/office/drawing/2014/main" id="{3C4DDB75-2405-A51D-4040-512D22C66423}"/>
                </a:ext>
              </a:extLst>
            </p:cNvPr>
            <p:cNvSpPr/>
            <p:nvPr/>
          </p:nvSpPr>
          <p:spPr>
            <a:xfrm>
              <a:off x="3668413" y="1421508"/>
              <a:ext cx="4855177" cy="906484"/>
            </a:xfrm>
            <a:custGeom>
              <a:avLst/>
              <a:gdLst>
                <a:gd name="connsiteX0" fmla="*/ 695865 w 767249"/>
                <a:gd name="connsiteY0" fmla="*/ 0 h 143249"/>
                <a:gd name="connsiteX1" fmla="*/ 767250 w 767249"/>
                <a:gd name="connsiteY1" fmla="*/ 71360 h 143249"/>
                <a:gd name="connsiteX2" fmla="*/ 767250 w 767249"/>
                <a:gd name="connsiteY2" fmla="*/ 71889 h 143249"/>
                <a:gd name="connsiteX3" fmla="*/ 695865 w 767249"/>
                <a:gd name="connsiteY3" fmla="*/ 143249 h 143249"/>
                <a:gd name="connsiteX4" fmla="*/ 71385 w 767249"/>
                <a:gd name="connsiteY4" fmla="*/ 143249 h 143249"/>
                <a:gd name="connsiteX5" fmla="*/ 0 w 767249"/>
                <a:gd name="connsiteY5" fmla="*/ 71889 h 143249"/>
                <a:gd name="connsiteX6" fmla="*/ 0 w 767249"/>
                <a:gd name="connsiteY6" fmla="*/ 71360 h 143249"/>
                <a:gd name="connsiteX7" fmla="*/ 71385 w 767249"/>
                <a:gd name="connsiteY7" fmla="*/ 0 h 14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7249" h="143249">
                  <a:moveTo>
                    <a:pt x="695865" y="0"/>
                  </a:moveTo>
                  <a:cubicBezTo>
                    <a:pt x="735290" y="0"/>
                    <a:pt x="767250" y="31949"/>
                    <a:pt x="767250" y="71360"/>
                  </a:cubicBezTo>
                  <a:lnTo>
                    <a:pt x="767250" y="71889"/>
                  </a:lnTo>
                  <a:cubicBezTo>
                    <a:pt x="767250" y="111300"/>
                    <a:pt x="735290" y="143249"/>
                    <a:pt x="695865" y="143249"/>
                  </a:cubicBezTo>
                  <a:lnTo>
                    <a:pt x="71385" y="143249"/>
                  </a:lnTo>
                  <a:cubicBezTo>
                    <a:pt x="31960" y="143249"/>
                    <a:pt x="0" y="111300"/>
                    <a:pt x="0" y="71889"/>
                  </a:cubicBezTo>
                  <a:lnTo>
                    <a:pt x="0" y="71360"/>
                  </a:lnTo>
                  <a:cubicBezTo>
                    <a:pt x="0" y="31949"/>
                    <a:pt x="31960" y="0"/>
                    <a:pt x="71385" y="0"/>
                  </a:cubicBezTo>
                  <a:close/>
                </a:path>
              </a:pathLst>
            </a:custGeom>
            <a:solidFill>
              <a:schemeClr val="accent1">
                <a:lumMod val="40000"/>
                <a:lumOff val="60000"/>
              </a:schemeClr>
            </a:solidFill>
            <a:ln w="0" cap="flat">
              <a:noFill/>
              <a:prstDash val="solid"/>
              <a:miter/>
            </a:ln>
          </p:spPr>
          <p:txBody>
            <a:bodyPr rtlCol="0" anchor="ctr"/>
            <a:lstStyle/>
            <a:p>
              <a:endParaRPr lang="en-US" sz="1400"/>
            </a:p>
          </p:txBody>
        </p:sp>
        <p:sp>
          <p:nvSpPr>
            <p:cNvPr id="7" name="Oval 6">
              <a:extLst>
                <a:ext uri="{FF2B5EF4-FFF2-40B4-BE49-F238E27FC236}">
                  <a16:creationId xmlns:a16="http://schemas.microsoft.com/office/drawing/2014/main" id="{88F4500A-31CE-EF51-5E0E-8FF07B21F521}"/>
                </a:ext>
              </a:extLst>
            </p:cNvPr>
            <p:cNvSpPr/>
            <p:nvPr/>
          </p:nvSpPr>
          <p:spPr>
            <a:xfrm>
              <a:off x="9063947" y="1421509"/>
              <a:ext cx="906483" cy="906483"/>
            </a:xfrm>
            <a:prstGeom prst="ellipse">
              <a:avLst/>
            </a:prstGeom>
            <a:solidFill>
              <a:schemeClr val="accent1"/>
            </a:solidFill>
            <a:ln w="0" cap="flat">
              <a:noFill/>
              <a:prstDash val="solid"/>
              <a:miter/>
            </a:ln>
          </p:spPr>
          <p:txBody>
            <a:bodyPr rtlCol="0" anchor="ctr"/>
            <a:lstStyle/>
            <a:p>
              <a:endParaRPr lang="en-US" sz="1400"/>
            </a:p>
          </p:txBody>
        </p:sp>
        <p:sp>
          <p:nvSpPr>
            <p:cNvPr id="8" name="Oval 7">
              <a:extLst>
                <a:ext uri="{FF2B5EF4-FFF2-40B4-BE49-F238E27FC236}">
                  <a16:creationId xmlns:a16="http://schemas.microsoft.com/office/drawing/2014/main" id="{669DE692-3515-DE10-2E41-E50907F813F2}"/>
                </a:ext>
              </a:extLst>
            </p:cNvPr>
            <p:cNvSpPr/>
            <p:nvPr/>
          </p:nvSpPr>
          <p:spPr>
            <a:xfrm>
              <a:off x="2223886" y="1421509"/>
              <a:ext cx="906483" cy="906483"/>
            </a:xfrm>
            <a:prstGeom prst="ellipse">
              <a:avLst/>
            </a:prstGeom>
            <a:solidFill>
              <a:schemeClr val="accent1"/>
            </a:solidFill>
            <a:ln w="0" cap="flat">
              <a:noFill/>
              <a:prstDash val="solid"/>
              <a:miter/>
            </a:ln>
          </p:spPr>
          <p:txBody>
            <a:bodyPr rtlCol="0" anchor="ctr"/>
            <a:lstStyle/>
            <a:p>
              <a:pPr algn="ctr"/>
              <a:r>
                <a:rPr lang="en-US" sz="2400" b="1" dirty="0">
                  <a:solidFill>
                    <a:schemeClr val="bg2"/>
                  </a:solidFill>
                </a:rPr>
                <a:t>01</a:t>
              </a:r>
            </a:p>
          </p:txBody>
        </p:sp>
        <p:sp>
          <p:nvSpPr>
            <p:cNvPr id="12" name="TextBox 11">
              <a:extLst>
                <a:ext uri="{FF2B5EF4-FFF2-40B4-BE49-F238E27FC236}">
                  <a16:creationId xmlns:a16="http://schemas.microsoft.com/office/drawing/2014/main" id="{7EC91D01-152F-2C5B-6127-B5DB32DC6957}"/>
                </a:ext>
              </a:extLst>
            </p:cNvPr>
            <p:cNvSpPr txBox="1"/>
            <p:nvPr/>
          </p:nvSpPr>
          <p:spPr>
            <a:xfrm>
              <a:off x="4023426" y="1442908"/>
              <a:ext cx="4192376" cy="1103567"/>
            </a:xfrm>
            <a:prstGeom prst="rect">
              <a:avLst/>
            </a:prstGeom>
            <a:noFill/>
          </p:spPr>
          <p:txBody>
            <a:bodyPr wrap="square" lIns="0" rIns="0" rtlCol="0" anchor="t">
              <a:spAutoFit/>
            </a:bodyPr>
            <a:lstStyle/>
            <a:p>
              <a:pPr algn="ctr"/>
              <a:r>
                <a:rPr lang="en-US" sz="1200" b="1" dirty="0"/>
                <a:t>Through the 3 components, the PHC approach promotes patient-focused care that is accessible, continuous, comprehensive, and coordinated to optimize population health and reduce health service disparities. </a:t>
              </a:r>
            </a:p>
            <a:p>
              <a:pPr algn="ctr"/>
              <a:endParaRPr lang="en-US" sz="1000" noProof="1"/>
            </a:p>
          </p:txBody>
        </p:sp>
        <p:pic>
          <p:nvPicPr>
            <p:cNvPr id="10" name="Graphic 9" descr="Lightbulb with solid fill">
              <a:extLst>
                <a:ext uri="{FF2B5EF4-FFF2-40B4-BE49-F238E27FC236}">
                  <a16:creationId xmlns:a16="http://schemas.microsoft.com/office/drawing/2014/main" id="{6743FC20-B517-0F96-29C9-F94CA806B3C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9259071" y="1616633"/>
              <a:ext cx="516235" cy="516235"/>
            </a:xfrm>
            <a:prstGeom prst="rect">
              <a:avLst/>
            </a:prstGeom>
          </p:spPr>
        </p:pic>
      </p:grpSp>
      <p:grpSp>
        <p:nvGrpSpPr>
          <p:cNvPr id="13" name="Group 12">
            <a:extLst>
              <a:ext uri="{FF2B5EF4-FFF2-40B4-BE49-F238E27FC236}">
                <a16:creationId xmlns:a16="http://schemas.microsoft.com/office/drawing/2014/main" id="{E64F8FF5-EAF0-8359-E744-0F8CD3B2D0A7}"/>
              </a:ext>
            </a:extLst>
          </p:cNvPr>
          <p:cNvGrpSpPr/>
          <p:nvPr/>
        </p:nvGrpSpPr>
        <p:grpSpPr>
          <a:xfrm>
            <a:off x="2243397" y="2859596"/>
            <a:ext cx="7044984" cy="993475"/>
            <a:chOff x="2149033" y="1347418"/>
            <a:chExt cx="7893935" cy="1113193"/>
          </a:xfrm>
        </p:grpSpPr>
        <p:sp>
          <p:nvSpPr>
            <p:cNvPr id="14" name="Freeform: Shape 86">
              <a:extLst>
                <a:ext uri="{FF2B5EF4-FFF2-40B4-BE49-F238E27FC236}">
                  <a16:creationId xmlns:a16="http://schemas.microsoft.com/office/drawing/2014/main" id="{3F359BAA-0F17-F30C-CDD5-BB2103E65821}"/>
                </a:ext>
              </a:extLst>
            </p:cNvPr>
            <p:cNvSpPr/>
            <p:nvPr/>
          </p:nvSpPr>
          <p:spPr>
            <a:xfrm>
              <a:off x="2149033" y="1347418"/>
              <a:ext cx="7893935" cy="1054665"/>
            </a:xfrm>
            <a:custGeom>
              <a:avLst/>
              <a:gdLst>
                <a:gd name="connsiteX0" fmla="*/ 2871517 w 7893935"/>
                <a:gd name="connsiteY0" fmla="*/ 0 h 1054665"/>
                <a:gd name="connsiteX1" fmla="*/ 3649530 w 7893935"/>
                <a:gd name="connsiteY1" fmla="*/ 0 h 1054665"/>
                <a:gd name="connsiteX2" fmla="*/ 5925861 w 7893935"/>
                <a:gd name="connsiteY2" fmla="*/ 0 h 1054665"/>
                <a:gd name="connsiteX3" fmla="*/ 6358942 w 7893935"/>
                <a:gd name="connsiteY3" fmla="*/ 231638 h 1054665"/>
                <a:gd name="connsiteX4" fmla="*/ 6367880 w 7893935"/>
                <a:gd name="connsiteY4" fmla="*/ 248204 h 1054665"/>
                <a:gd name="connsiteX5" fmla="*/ 6399256 w 7893935"/>
                <a:gd name="connsiteY5" fmla="*/ 279139 h 1054665"/>
                <a:gd name="connsiteX6" fmla="*/ 6645257 w 7893935"/>
                <a:gd name="connsiteY6" fmla="*/ 368934 h 1054665"/>
                <a:gd name="connsiteX7" fmla="*/ 6891259 w 7893935"/>
                <a:gd name="connsiteY7" fmla="*/ 279139 h 1054665"/>
                <a:gd name="connsiteX8" fmla="*/ 6925818 w 7893935"/>
                <a:gd name="connsiteY8" fmla="*/ 245066 h 1054665"/>
                <a:gd name="connsiteX9" fmla="*/ 6932170 w 7893935"/>
                <a:gd name="connsiteY9" fmla="*/ 233364 h 1054665"/>
                <a:gd name="connsiteX10" fmla="*/ 7368155 w 7893935"/>
                <a:gd name="connsiteY10" fmla="*/ 1552 h 1054665"/>
                <a:gd name="connsiteX11" fmla="*/ 7893935 w 7893935"/>
                <a:gd name="connsiteY11" fmla="*/ 527332 h 1054665"/>
                <a:gd name="connsiteX12" fmla="*/ 7368155 w 7893935"/>
                <a:gd name="connsiteY12" fmla="*/ 1053112 h 1054665"/>
                <a:gd name="connsiteX13" fmla="*/ 6932170 w 7893935"/>
                <a:gd name="connsiteY13" fmla="*/ 821301 h 1054665"/>
                <a:gd name="connsiteX14" fmla="*/ 6925820 w 7893935"/>
                <a:gd name="connsiteY14" fmla="*/ 809601 h 1054665"/>
                <a:gd name="connsiteX15" fmla="*/ 6891259 w 7893935"/>
                <a:gd name="connsiteY15" fmla="*/ 775526 h 1054665"/>
                <a:gd name="connsiteX16" fmla="*/ 6645257 w 7893935"/>
                <a:gd name="connsiteY16" fmla="*/ 685731 h 1054665"/>
                <a:gd name="connsiteX17" fmla="*/ 6399256 w 7893935"/>
                <a:gd name="connsiteY17" fmla="*/ 775526 h 1054665"/>
                <a:gd name="connsiteX18" fmla="*/ 6367880 w 7893935"/>
                <a:gd name="connsiteY18" fmla="*/ 806463 h 1054665"/>
                <a:gd name="connsiteX19" fmla="*/ 6358942 w 7893935"/>
                <a:gd name="connsiteY19" fmla="*/ 823027 h 1054665"/>
                <a:gd name="connsiteX20" fmla="*/ 5925861 w 7893935"/>
                <a:gd name="connsiteY20" fmla="*/ 1054664 h 1054665"/>
                <a:gd name="connsiteX21" fmla="*/ 5164099 w 7893935"/>
                <a:gd name="connsiteY21" fmla="*/ 1054664 h 1054665"/>
                <a:gd name="connsiteX22" fmla="*/ 5164099 w 7893935"/>
                <a:gd name="connsiteY22" fmla="*/ 1054665 h 1054665"/>
                <a:gd name="connsiteX23" fmla="*/ 5022417 w 7893935"/>
                <a:gd name="connsiteY23" fmla="*/ 1054665 h 1054665"/>
                <a:gd name="connsiteX24" fmla="*/ 3649530 w 7893935"/>
                <a:gd name="connsiteY24" fmla="*/ 1054665 h 1054665"/>
                <a:gd name="connsiteX25" fmla="*/ 1968075 w 7893935"/>
                <a:gd name="connsiteY25" fmla="*/ 1054665 h 1054665"/>
                <a:gd name="connsiteX26" fmla="*/ 1534993 w 7893935"/>
                <a:gd name="connsiteY26" fmla="*/ 823028 h 1054665"/>
                <a:gd name="connsiteX27" fmla="*/ 1526052 w 7893935"/>
                <a:gd name="connsiteY27" fmla="*/ 806457 h 1054665"/>
                <a:gd name="connsiteX28" fmla="*/ 1494680 w 7893935"/>
                <a:gd name="connsiteY28" fmla="*/ 775526 h 1054665"/>
                <a:gd name="connsiteX29" fmla="*/ 1248678 w 7893935"/>
                <a:gd name="connsiteY29" fmla="*/ 685731 h 1054665"/>
                <a:gd name="connsiteX30" fmla="*/ 1002677 w 7893935"/>
                <a:gd name="connsiteY30" fmla="*/ 775526 h 1054665"/>
                <a:gd name="connsiteX31" fmla="*/ 968113 w 7893935"/>
                <a:gd name="connsiteY31" fmla="*/ 809606 h 1054665"/>
                <a:gd name="connsiteX32" fmla="*/ 961765 w 7893935"/>
                <a:gd name="connsiteY32" fmla="*/ 821301 h 1054665"/>
                <a:gd name="connsiteX33" fmla="*/ 525780 w 7893935"/>
                <a:gd name="connsiteY33" fmla="*/ 1053112 h 1054665"/>
                <a:gd name="connsiteX34" fmla="*/ 0 w 7893935"/>
                <a:gd name="connsiteY34" fmla="*/ 527332 h 1054665"/>
                <a:gd name="connsiteX35" fmla="*/ 525780 w 7893935"/>
                <a:gd name="connsiteY35" fmla="*/ 1552 h 1054665"/>
                <a:gd name="connsiteX36" fmla="*/ 961765 w 7893935"/>
                <a:gd name="connsiteY36" fmla="*/ 233364 h 1054665"/>
                <a:gd name="connsiteX37" fmla="*/ 968115 w 7893935"/>
                <a:gd name="connsiteY37" fmla="*/ 245063 h 1054665"/>
                <a:gd name="connsiteX38" fmla="*/ 1002677 w 7893935"/>
                <a:gd name="connsiteY38" fmla="*/ 279139 h 1054665"/>
                <a:gd name="connsiteX39" fmla="*/ 1248678 w 7893935"/>
                <a:gd name="connsiteY39" fmla="*/ 368934 h 1054665"/>
                <a:gd name="connsiteX40" fmla="*/ 1494680 w 7893935"/>
                <a:gd name="connsiteY40" fmla="*/ 279139 h 1054665"/>
                <a:gd name="connsiteX41" fmla="*/ 1526054 w 7893935"/>
                <a:gd name="connsiteY41" fmla="*/ 248206 h 1054665"/>
                <a:gd name="connsiteX42" fmla="*/ 1534993 w 7893935"/>
                <a:gd name="connsiteY42" fmla="*/ 231639 h 1054665"/>
                <a:gd name="connsiteX43" fmla="*/ 1968075 w 7893935"/>
                <a:gd name="connsiteY43" fmla="*/ 2 h 1054665"/>
                <a:gd name="connsiteX44" fmla="*/ 2871503 w 7893935"/>
                <a:gd name="connsiteY44" fmla="*/ 2 h 1054665"/>
                <a:gd name="connsiteX45" fmla="*/ 2871517 w 7893935"/>
                <a:gd name="connsiteY45" fmla="*/ 0 h 1054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893935" h="1054665">
                  <a:moveTo>
                    <a:pt x="2871517" y="0"/>
                  </a:moveTo>
                  <a:lnTo>
                    <a:pt x="3649530" y="0"/>
                  </a:lnTo>
                  <a:lnTo>
                    <a:pt x="5925861" y="0"/>
                  </a:lnTo>
                  <a:cubicBezTo>
                    <a:pt x="6106141" y="0"/>
                    <a:pt x="6265085" y="91885"/>
                    <a:pt x="6358942" y="231638"/>
                  </a:cubicBezTo>
                  <a:lnTo>
                    <a:pt x="6367880" y="248204"/>
                  </a:lnTo>
                  <a:lnTo>
                    <a:pt x="6399256" y="279139"/>
                  </a:lnTo>
                  <a:cubicBezTo>
                    <a:pt x="6469478" y="335831"/>
                    <a:pt x="6554133" y="368934"/>
                    <a:pt x="6645257" y="368934"/>
                  </a:cubicBezTo>
                  <a:cubicBezTo>
                    <a:pt x="6736382" y="368934"/>
                    <a:pt x="6821036" y="335831"/>
                    <a:pt x="6891259" y="279139"/>
                  </a:cubicBezTo>
                  <a:lnTo>
                    <a:pt x="6925818" y="245066"/>
                  </a:lnTo>
                  <a:lnTo>
                    <a:pt x="6932170" y="233364"/>
                  </a:lnTo>
                  <a:cubicBezTo>
                    <a:pt x="7026657" y="93505"/>
                    <a:pt x="7186667" y="1552"/>
                    <a:pt x="7368155" y="1552"/>
                  </a:cubicBezTo>
                  <a:cubicBezTo>
                    <a:pt x="7658535" y="1552"/>
                    <a:pt x="7893935" y="236952"/>
                    <a:pt x="7893935" y="527332"/>
                  </a:cubicBezTo>
                  <a:cubicBezTo>
                    <a:pt x="7893935" y="817712"/>
                    <a:pt x="7658535" y="1053112"/>
                    <a:pt x="7368155" y="1053112"/>
                  </a:cubicBezTo>
                  <a:cubicBezTo>
                    <a:pt x="7186667" y="1053112"/>
                    <a:pt x="7026657" y="961159"/>
                    <a:pt x="6932170" y="821301"/>
                  </a:cubicBezTo>
                  <a:lnTo>
                    <a:pt x="6925820" y="809601"/>
                  </a:lnTo>
                  <a:lnTo>
                    <a:pt x="6891259" y="775526"/>
                  </a:lnTo>
                  <a:cubicBezTo>
                    <a:pt x="6821037" y="718834"/>
                    <a:pt x="6736382" y="685731"/>
                    <a:pt x="6645257" y="685731"/>
                  </a:cubicBezTo>
                  <a:cubicBezTo>
                    <a:pt x="6554133" y="685731"/>
                    <a:pt x="6469478" y="718834"/>
                    <a:pt x="6399256" y="775526"/>
                  </a:cubicBezTo>
                  <a:lnTo>
                    <a:pt x="6367880" y="806463"/>
                  </a:lnTo>
                  <a:lnTo>
                    <a:pt x="6358942" y="823027"/>
                  </a:lnTo>
                  <a:cubicBezTo>
                    <a:pt x="6265085" y="962781"/>
                    <a:pt x="6106141" y="1054664"/>
                    <a:pt x="5925861" y="1054664"/>
                  </a:cubicBezTo>
                  <a:lnTo>
                    <a:pt x="5164099" y="1054664"/>
                  </a:lnTo>
                  <a:lnTo>
                    <a:pt x="5164099" y="1054665"/>
                  </a:lnTo>
                  <a:lnTo>
                    <a:pt x="5022417" y="1054665"/>
                  </a:lnTo>
                  <a:lnTo>
                    <a:pt x="3649530" y="1054665"/>
                  </a:lnTo>
                  <a:lnTo>
                    <a:pt x="1968075" y="1054665"/>
                  </a:lnTo>
                  <a:cubicBezTo>
                    <a:pt x="1787795" y="1054665"/>
                    <a:pt x="1628850" y="962782"/>
                    <a:pt x="1534993" y="823028"/>
                  </a:cubicBezTo>
                  <a:lnTo>
                    <a:pt x="1526052" y="806457"/>
                  </a:lnTo>
                  <a:lnTo>
                    <a:pt x="1494680" y="775526"/>
                  </a:lnTo>
                  <a:cubicBezTo>
                    <a:pt x="1424458" y="718834"/>
                    <a:pt x="1339803" y="685731"/>
                    <a:pt x="1248678" y="685731"/>
                  </a:cubicBezTo>
                  <a:cubicBezTo>
                    <a:pt x="1157554" y="685731"/>
                    <a:pt x="1072900" y="718834"/>
                    <a:pt x="1002677" y="775526"/>
                  </a:cubicBezTo>
                  <a:lnTo>
                    <a:pt x="968113" y="809606"/>
                  </a:lnTo>
                  <a:lnTo>
                    <a:pt x="961765" y="821301"/>
                  </a:lnTo>
                  <a:cubicBezTo>
                    <a:pt x="867279" y="961159"/>
                    <a:pt x="707268" y="1053112"/>
                    <a:pt x="525780" y="1053112"/>
                  </a:cubicBezTo>
                  <a:cubicBezTo>
                    <a:pt x="235400" y="1053112"/>
                    <a:pt x="0" y="817712"/>
                    <a:pt x="0" y="527332"/>
                  </a:cubicBezTo>
                  <a:cubicBezTo>
                    <a:pt x="0" y="236952"/>
                    <a:pt x="235400" y="1552"/>
                    <a:pt x="525780" y="1552"/>
                  </a:cubicBezTo>
                  <a:cubicBezTo>
                    <a:pt x="707268" y="1552"/>
                    <a:pt x="867279" y="93505"/>
                    <a:pt x="961765" y="233364"/>
                  </a:cubicBezTo>
                  <a:lnTo>
                    <a:pt x="968115" y="245063"/>
                  </a:lnTo>
                  <a:lnTo>
                    <a:pt x="1002677" y="279139"/>
                  </a:lnTo>
                  <a:cubicBezTo>
                    <a:pt x="1072900" y="335831"/>
                    <a:pt x="1157554" y="368934"/>
                    <a:pt x="1248678" y="368934"/>
                  </a:cubicBezTo>
                  <a:cubicBezTo>
                    <a:pt x="1339803" y="368934"/>
                    <a:pt x="1424458" y="335831"/>
                    <a:pt x="1494680" y="279139"/>
                  </a:cubicBezTo>
                  <a:lnTo>
                    <a:pt x="1526054" y="248206"/>
                  </a:lnTo>
                  <a:lnTo>
                    <a:pt x="1534993" y="231639"/>
                  </a:lnTo>
                  <a:cubicBezTo>
                    <a:pt x="1628850" y="91886"/>
                    <a:pt x="1787795" y="2"/>
                    <a:pt x="1968075" y="2"/>
                  </a:cubicBezTo>
                  <a:lnTo>
                    <a:pt x="2871503" y="2"/>
                  </a:lnTo>
                  <a:cubicBezTo>
                    <a:pt x="2871508" y="1"/>
                    <a:pt x="2871512" y="1"/>
                    <a:pt x="2871517" y="0"/>
                  </a:cubicBezTo>
                  <a:close/>
                </a:path>
              </a:pathLst>
            </a:custGeom>
            <a:solidFill>
              <a:schemeClr val="tx2"/>
            </a:solidFill>
            <a:ln w="0" cap="flat">
              <a:noFill/>
              <a:prstDash val="solid"/>
              <a:miter/>
            </a:ln>
          </p:spPr>
          <p:txBody>
            <a:bodyPr wrap="square" rtlCol="0" anchor="ctr">
              <a:noAutofit/>
            </a:bodyPr>
            <a:lstStyle/>
            <a:p>
              <a:endParaRPr lang="en-US" sz="1400"/>
            </a:p>
          </p:txBody>
        </p:sp>
        <p:sp>
          <p:nvSpPr>
            <p:cNvPr id="15" name="Freeform 6">
              <a:extLst>
                <a:ext uri="{FF2B5EF4-FFF2-40B4-BE49-F238E27FC236}">
                  <a16:creationId xmlns:a16="http://schemas.microsoft.com/office/drawing/2014/main" id="{F0173009-7984-1192-B5EB-C693AF92D848}"/>
                </a:ext>
              </a:extLst>
            </p:cNvPr>
            <p:cNvSpPr/>
            <p:nvPr/>
          </p:nvSpPr>
          <p:spPr>
            <a:xfrm>
              <a:off x="3668413" y="1421508"/>
              <a:ext cx="4855177" cy="906484"/>
            </a:xfrm>
            <a:custGeom>
              <a:avLst/>
              <a:gdLst>
                <a:gd name="connsiteX0" fmla="*/ 695865 w 767249"/>
                <a:gd name="connsiteY0" fmla="*/ 0 h 143249"/>
                <a:gd name="connsiteX1" fmla="*/ 767250 w 767249"/>
                <a:gd name="connsiteY1" fmla="*/ 71360 h 143249"/>
                <a:gd name="connsiteX2" fmla="*/ 767250 w 767249"/>
                <a:gd name="connsiteY2" fmla="*/ 71889 h 143249"/>
                <a:gd name="connsiteX3" fmla="*/ 695865 w 767249"/>
                <a:gd name="connsiteY3" fmla="*/ 143249 h 143249"/>
                <a:gd name="connsiteX4" fmla="*/ 71385 w 767249"/>
                <a:gd name="connsiteY4" fmla="*/ 143249 h 143249"/>
                <a:gd name="connsiteX5" fmla="*/ 0 w 767249"/>
                <a:gd name="connsiteY5" fmla="*/ 71889 h 143249"/>
                <a:gd name="connsiteX6" fmla="*/ 0 w 767249"/>
                <a:gd name="connsiteY6" fmla="*/ 71360 h 143249"/>
                <a:gd name="connsiteX7" fmla="*/ 71385 w 767249"/>
                <a:gd name="connsiteY7" fmla="*/ 0 h 14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7249" h="143249">
                  <a:moveTo>
                    <a:pt x="695865" y="0"/>
                  </a:moveTo>
                  <a:cubicBezTo>
                    <a:pt x="735290" y="0"/>
                    <a:pt x="767250" y="31949"/>
                    <a:pt x="767250" y="71360"/>
                  </a:cubicBezTo>
                  <a:lnTo>
                    <a:pt x="767250" y="71889"/>
                  </a:lnTo>
                  <a:cubicBezTo>
                    <a:pt x="767250" y="111300"/>
                    <a:pt x="735290" y="143249"/>
                    <a:pt x="695865" y="143249"/>
                  </a:cubicBezTo>
                  <a:lnTo>
                    <a:pt x="71385" y="143249"/>
                  </a:lnTo>
                  <a:cubicBezTo>
                    <a:pt x="31960" y="143249"/>
                    <a:pt x="0" y="111300"/>
                    <a:pt x="0" y="71889"/>
                  </a:cubicBezTo>
                  <a:lnTo>
                    <a:pt x="0" y="71360"/>
                  </a:lnTo>
                  <a:cubicBezTo>
                    <a:pt x="0" y="31949"/>
                    <a:pt x="31960" y="0"/>
                    <a:pt x="71385" y="0"/>
                  </a:cubicBezTo>
                  <a:close/>
                </a:path>
              </a:pathLst>
            </a:custGeom>
            <a:solidFill>
              <a:schemeClr val="accent1">
                <a:lumMod val="40000"/>
                <a:lumOff val="60000"/>
              </a:schemeClr>
            </a:solidFill>
            <a:ln w="0" cap="flat">
              <a:noFill/>
              <a:prstDash val="solid"/>
              <a:miter/>
            </a:ln>
          </p:spPr>
          <p:txBody>
            <a:bodyPr rtlCol="0" anchor="ctr"/>
            <a:lstStyle/>
            <a:p>
              <a:endParaRPr lang="en-US" sz="1400"/>
            </a:p>
          </p:txBody>
        </p:sp>
        <p:sp>
          <p:nvSpPr>
            <p:cNvPr id="16" name="Oval 15">
              <a:extLst>
                <a:ext uri="{FF2B5EF4-FFF2-40B4-BE49-F238E27FC236}">
                  <a16:creationId xmlns:a16="http://schemas.microsoft.com/office/drawing/2014/main" id="{88B2C01C-A558-A335-BDF4-4B58EC8B38F0}"/>
                </a:ext>
              </a:extLst>
            </p:cNvPr>
            <p:cNvSpPr/>
            <p:nvPr/>
          </p:nvSpPr>
          <p:spPr>
            <a:xfrm>
              <a:off x="9063947" y="1421509"/>
              <a:ext cx="906483" cy="906483"/>
            </a:xfrm>
            <a:prstGeom prst="ellipse">
              <a:avLst/>
            </a:prstGeom>
            <a:solidFill>
              <a:schemeClr val="accent1"/>
            </a:solidFill>
            <a:ln w="0" cap="flat">
              <a:noFill/>
              <a:prstDash val="solid"/>
              <a:miter/>
            </a:ln>
          </p:spPr>
          <p:txBody>
            <a:bodyPr rtlCol="0" anchor="ctr"/>
            <a:lstStyle/>
            <a:p>
              <a:endParaRPr lang="en-US" sz="1400"/>
            </a:p>
          </p:txBody>
        </p:sp>
        <p:sp>
          <p:nvSpPr>
            <p:cNvPr id="17" name="Oval 16">
              <a:extLst>
                <a:ext uri="{FF2B5EF4-FFF2-40B4-BE49-F238E27FC236}">
                  <a16:creationId xmlns:a16="http://schemas.microsoft.com/office/drawing/2014/main" id="{4A3903C3-2BC8-B4FA-9702-16F45EF18350}"/>
                </a:ext>
              </a:extLst>
            </p:cNvPr>
            <p:cNvSpPr/>
            <p:nvPr/>
          </p:nvSpPr>
          <p:spPr>
            <a:xfrm>
              <a:off x="2223886" y="1421509"/>
              <a:ext cx="906483" cy="906483"/>
            </a:xfrm>
            <a:prstGeom prst="ellipse">
              <a:avLst/>
            </a:prstGeom>
            <a:solidFill>
              <a:schemeClr val="accent1"/>
            </a:solidFill>
            <a:ln w="0" cap="flat">
              <a:noFill/>
              <a:prstDash val="solid"/>
              <a:miter/>
            </a:ln>
          </p:spPr>
          <p:txBody>
            <a:bodyPr rtlCol="0" anchor="ctr"/>
            <a:lstStyle/>
            <a:p>
              <a:pPr algn="ctr"/>
              <a:r>
                <a:rPr lang="en-US" sz="2400" b="1" dirty="0">
                  <a:solidFill>
                    <a:schemeClr val="bg2"/>
                  </a:solidFill>
                </a:rPr>
                <a:t>02</a:t>
              </a:r>
            </a:p>
          </p:txBody>
        </p:sp>
        <p:sp>
          <p:nvSpPr>
            <p:cNvPr id="21" name="TextBox 20">
              <a:extLst>
                <a:ext uri="{FF2B5EF4-FFF2-40B4-BE49-F238E27FC236}">
                  <a16:creationId xmlns:a16="http://schemas.microsoft.com/office/drawing/2014/main" id="{4AA70D9F-977E-4444-4733-4BA626A7EB3F}"/>
                </a:ext>
              </a:extLst>
            </p:cNvPr>
            <p:cNvSpPr txBox="1"/>
            <p:nvPr/>
          </p:nvSpPr>
          <p:spPr>
            <a:xfrm>
              <a:off x="3962387" y="1460503"/>
              <a:ext cx="4267228" cy="1000108"/>
            </a:xfrm>
            <a:prstGeom prst="rect">
              <a:avLst/>
            </a:prstGeom>
            <a:noFill/>
          </p:spPr>
          <p:txBody>
            <a:bodyPr wrap="square" lIns="0" rIns="0" rtlCol="0" anchor="t">
              <a:spAutoFit/>
            </a:bodyPr>
            <a:lstStyle/>
            <a:p>
              <a:pPr algn="ctr"/>
              <a:r>
                <a:rPr lang="en-US" sz="1400" b="1" dirty="0"/>
                <a:t>It addresses broader health determinants by engaging stakeholders and empowering individuals, families, and communities. </a:t>
              </a:r>
            </a:p>
            <a:p>
              <a:pPr algn="ctr"/>
              <a:endParaRPr lang="en-US" sz="1000" noProof="1"/>
            </a:p>
          </p:txBody>
        </p:sp>
        <p:pic>
          <p:nvPicPr>
            <p:cNvPr id="19" name="Graphic 18" descr="Lightbulb with solid fill">
              <a:extLst>
                <a:ext uri="{FF2B5EF4-FFF2-40B4-BE49-F238E27FC236}">
                  <a16:creationId xmlns:a16="http://schemas.microsoft.com/office/drawing/2014/main" id="{7DB52A9F-2A84-BD95-E795-D6A9C1E31C8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9259071" y="1616633"/>
              <a:ext cx="516235" cy="516235"/>
            </a:xfrm>
            <a:prstGeom prst="rect">
              <a:avLst/>
            </a:prstGeom>
          </p:spPr>
        </p:pic>
      </p:grpSp>
      <p:grpSp>
        <p:nvGrpSpPr>
          <p:cNvPr id="22" name="Group 21">
            <a:extLst>
              <a:ext uri="{FF2B5EF4-FFF2-40B4-BE49-F238E27FC236}">
                <a16:creationId xmlns:a16="http://schemas.microsoft.com/office/drawing/2014/main" id="{C325F804-11C0-01EB-EB08-9E0A16E4F112}"/>
              </a:ext>
            </a:extLst>
          </p:cNvPr>
          <p:cNvGrpSpPr/>
          <p:nvPr/>
        </p:nvGrpSpPr>
        <p:grpSpPr>
          <a:xfrm>
            <a:off x="2243397" y="4331866"/>
            <a:ext cx="7044984" cy="941242"/>
            <a:chOff x="2149033" y="1347418"/>
            <a:chExt cx="7893935" cy="1054665"/>
          </a:xfrm>
        </p:grpSpPr>
        <p:sp>
          <p:nvSpPr>
            <p:cNvPr id="23" name="Freeform: Shape 86">
              <a:extLst>
                <a:ext uri="{FF2B5EF4-FFF2-40B4-BE49-F238E27FC236}">
                  <a16:creationId xmlns:a16="http://schemas.microsoft.com/office/drawing/2014/main" id="{BB6CED33-3C98-0550-0994-14921DB64172}"/>
                </a:ext>
              </a:extLst>
            </p:cNvPr>
            <p:cNvSpPr/>
            <p:nvPr/>
          </p:nvSpPr>
          <p:spPr>
            <a:xfrm>
              <a:off x="2149033" y="1347418"/>
              <a:ext cx="7893935" cy="1054665"/>
            </a:xfrm>
            <a:custGeom>
              <a:avLst/>
              <a:gdLst>
                <a:gd name="connsiteX0" fmla="*/ 2871517 w 7893935"/>
                <a:gd name="connsiteY0" fmla="*/ 0 h 1054665"/>
                <a:gd name="connsiteX1" fmla="*/ 3649530 w 7893935"/>
                <a:gd name="connsiteY1" fmla="*/ 0 h 1054665"/>
                <a:gd name="connsiteX2" fmla="*/ 5925861 w 7893935"/>
                <a:gd name="connsiteY2" fmla="*/ 0 h 1054665"/>
                <a:gd name="connsiteX3" fmla="*/ 6358942 w 7893935"/>
                <a:gd name="connsiteY3" fmla="*/ 231638 h 1054665"/>
                <a:gd name="connsiteX4" fmla="*/ 6367880 w 7893935"/>
                <a:gd name="connsiteY4" fmla="*/ 248204 h 1054665"/>
                <a:gd name="connsiteX5" fmla="*/ 6399256 w 7893935"/>
                <a:gd name="connsiteY5" fmla="*/ 279139 h 1054665"/>
                <a:gd name="connsiteX6" fmla="*/ 6645257 w 7893935"/>
                <a:gd name="connsiteY6" fmla="*/ 368934 h 1054665"/>
                <a:gd name="connsiteX7" fmla="*/ 6891259 w 7893935"/>
                <a:gd name="connsiteY7" fmla="*/ 279139 h 1054665"/>
                <a:gd name="connsiteX8" fmla="*/ 6925818 w 7893935"/>
                <a:gd name="connsiteY8" fmla="*/ 245066 h 1054665"/>
                <a:gd name="connsiteX9" fmla="*/ 6932170 w 7893935"/>
                <a:gd name="connsiteY9" fmla="*/ 233364 h 1054665"/>
                <a:gd name="connsiteX10" fmla="*/ 7368155 w 7893935"/>
                <a:gd name="connsiteY10" fmla="*/ 1552 h 1054665"/>
                <a:gd name="connsiteX11" fmla="*/ 7893935 w 7893935"/>
                <a:gd name="connsiteY11" fmla="*/ 527332 h 1054665"/>
                <a:gd name="connsiteX12" fmla="*/ 7368155 w 7893935"/>
                <a:gd name="connsiteY12" fmla="*/ 1053112 h 1054665"/>
                <a:gd name="connsiteX13" fmla="*/ 6932170 w 7893935"/>
                <a:gd name="connsiteY13" fmla="*/ 821301 h 1054665"/>
                <a:gd name="connsiteX14" fmla="*/ 6925820 w 7893935"/>
                <a:gd name="connsiteY14" fmla="*/ 809601 h 1054665"/>
                <a:gd name="connsiteX15" fmla="*/ 6891259 w 7893935"/>
                <a:gd name="connsiteY15" fmla="*/ 775526 h 1054665"/>
                <a:gd name="connsiteX16" fmla="*/ 6645257 w 7893935"/>
                <a:gd name="connsiteY16" fmla="*/ 685731 h 1054665"/>
                <a:gd name="connsiteX17" fmla="*/ 6399256 w 7893935"/>
                <a:gd name="connsiteY17" fmla="*/ 775526 h 1054665"/>
                <a:gd name="connsiteX18" fmla="*/ 6367880 w 7893935"/>
                <a:gd name="connsiteY18" fmla="*/ 806463 h 1054665"/>
                <a:gd name="connsiteX19" fmla="*/ 6358942 w 7893935"/>
                <a:gd name="connsiteY19" fmla="*/ 823027 h 1054665"/>
                <a:gd name="connsiteX20" fmla="*/ 5925861 w 7893935"/>
                <a:gd name="connsiteY20" fmla="*/ 1054664 h 1054665"/>
                <a:gd name="connsiteX21" fmla="*/ 5164099 w 7893935"/>
                <a:gd name="connsiteY21" fmla="*/ 1054664 h 1054665"/>
                <a:gd name="connsiteX22" fmla="*/ 5164099 w 7893935"/>
                <a:gd name="connsiteY22" fmla="*/ 1054665 h 1054665"/>
                <a:gd name="connsiteX23" fmla="*/ 5022417 w 7893935"/>
                <a:gd name="connsiteY23" fmla="*/ 1054665 h 1054665"/>
                <a:gd name="connsiteX24" fmla="*/ 3649530 w 7893935"/>
                <a:gd name="connsiteY24" fmla="*/ 1054665 h 1054665"/>
                <a:gd name="connsiteX25" fmla="*/ 1968075 w 7893935"/>
                <a:gd name="connsiteY25" fmla="*/ 1054665 h 1054665"/>
                <a:gd name="connsiteX26" fmla="*/ 1534993 w 7893935"/>
                <a:gd name="connsiteY26" fmla="*/ 823028 h 1054665"/>
                <a:gd name="connsiteX27" fmla="*/ 1526052 w 7893935"/>
                <a:gd name="connsiteY27" fmla="*/ 806457 h 1054665"/>
                <a:gd name="connsiteX28" fmla="*/ 1494680 w 7893935"/>
                <a:gd name="connsiteY28" fmla="*/ 775526 h 1054665"/>
                <a:gd name="connsiteX29" fmla="*/ 1248678 w 7893935"/>
                <a:gd name="connsiteY29" fmla="*/ 685731 h 1054665"/>
                <a:gd name="connsiteX30" fmla="*/ 1002677 w 7893935"/>
                <a:gd name="connsiteY30" fmla="*/ 775526 h 1054665"/>
                <a:gd name="connsiteX31" fmla="*/ 968113 w 7893935"/>
                <a:gd name="connsiteY31" fmla="*/ 809606 h 1054665"/>
                <a:gd name="connsiteX32" fmla="*/ 961765 w 7893935"/>
                <a:gd name="connsiteY32" fmla="*/ 821301 h 1054665"/>
                <a:gd name="connsiteX33" fmla="*/ 525780 w 7893935"/>
                <a:gd name="connsiteY33" fmla="*/ 1053112 h 1054665"/>
                <a:gd name="connsiteX34" fmla="*/ 0 w 7893935"/>
                <a:gd name="connsiteY34" fmla="*/ 527332 h 1054665"/>
                <a:gd name="connsiteX35" fmla="*/ 525780 w 7893935"/>
                <a:gd name="connsiteY35" fmla="*/ 1552 h 1054665"/>
                <a:gd name="connsiteX36" fmla="*/ 961765 w 7893935"/>
                <a:gd name="connsiteY36" fmla="*/ 233364 h 1054665"/>
                <a:gd name="connsiteX37" fmla="*/ 968115 w 7893935"/>
                <a:gd name="connsiteY37" fmla="*/ 245063 h 1054665"/>
                <a:gd name="connsiteX38" fmla="*/ 1002677 w 7893935"/>
                <a:gd name="connsiteY38" fmla="*/ 279139 h 1054665"/>
                <a:gd name="connsiteX39" fmla="*/ 1248678 w 7893935"/>
                <a:gd name="connsiteY39" fmla="*/ 368934 h 1054665"/>
                <a:gd name="connsiteX40" fmla="*/ 1494680 w 7893935"/>
                <a:gd name="connsiteY40" fmla="*/ 279139 h 1054665"/>
                <a:gd name="connsiteX41" fmla="*/ 1526054 w 7893935"/>
                <a:gd name="connsiteY41" fmla="*/ 248206 h 1054665"/>
                <a:gd name="connsiteX42" fmla="*/ 1534993 w 7893935"/>
                <a:gd name="connsiteY42" fmla="*/ 231639 h 1054665"/>
                <a:gd name="connsiteX43" fmla="*/ 1968075 w 7893935"/>
                <a:gd name="connsiteY43" fmla="*/ 2 h 1054665"/>
                <a:gd name="connsiteX44" fmla="*/ 2871503 w 7893935"/>
                <a:gd name="connsiteY44" fmla="*/ 2 h 1054665"/>
                <a:gd name="connsiteX45" fmla="*/ 2871517 w 7893935"/>
                <a:gd name="connsiteY45" fmla="*/ 0 h 1054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893935" h="1054665">
                  <a:moveTo>
                    <a:pt x="2871517" y="0"/>
                  </a:moveTo>
                  <a:lnTo>
                    <a:pt x="3649530" y="0"/>
                  </a:lnTo>
                  <a:lnTo>
                    <a:pt x="5925861" y="0"/>
                  </a:lnTo>
                  <a:cubicBezTo>
                    <a:pt x="6106141" y="0"/>
                    <a:pt x="6265085" y="91885"/>
                    <a:pt x="6358942" y="231638"/>
                  </a:cubicBezTo>
                  <a:lnTo>
                    <a:pt x="6367880" y="248204"/>
                  </a:lnTo>
                  <a:lnTo>
                    <a:pt x="6399256" y="279139"/>
                  </a:lnTo>
                  <a:cubicBezTo>
                    <a:pt x="6469478" y="335831"/>
                    <a:pt x="6554133" y="368934"/>
                    <a:pt x="6645257" y="368934"/>
                  </a:cubicBezTo>
                  <a:cubicBezTo>
                    <a:pt x="6736382" y="368934"/>
                    <a:pt x="6821036" y="335831"/>
                    <a:pt x="6891259" y="279139"/>
                  </a:cubicBezTo>
                  <a:lnTo>
                    <a:pt x="6925818" y="245066"/>
                  </a:lnTo>
                  <a:lnTo>
                    <a:pt x="6932170" y="233364"/>
                  </a:lnTo>
                  <a:cubicBezTo>
                    <a:pt x="7026657" y="93505"/>
                    <a:pt x="7186667" y="1552"/>
                    <a:pt x="7368155" y="1552"/>
                  </a:cubicBezTo>
                  <a:cubicBezTo>
                    <a:pt x="7658535" y="1552"/>
                    <a:pt x="7893935" y="236952"/>
                    <a:pt x="7893935" y="527332"/>
                  </a:cubicBezTo>
                  <a:cubicBezTo>
                    <a:pt x="7893935" y="817712"/>
                    <a:pt x="7658535" y="1053112"/>
                    <a:pt x="7368155" y="1053112"/>
                  </a:cubicBezTo>
                  <a:cubicBezTo>
                    <a:pt x="7186667" y="1053112"/>
                    <a:pt x="7026657" y="961159"/>
                    <a:pt x="6932170" y="821301"/>
                  </a:cubicBezTo>
                  <a:lnTo>
                    <a:pt x="6925820" y="809601"/>
                  </a:lnTo>
                  <a:lnTo>
                    <a:pt x="6891259" y="775526"/>
                  </a:lnTo>
                  <a:cubicBezTo>
                    <a:pt x="6821037" y="718834"/>
                    <a:pt x="6736382" y="685731"/>
                    <a:pt x="6645257" y="685731"/>
                  </a:cubicBezTo>
                  <a:cubicBezTo>
                    <a:pt x="6554133" y="685731"/>
                    <a:pt x="6469478" y="718834"/>
                    <a:pt x="6399256" y="775526"/>
                  </a:cubicBezTo>
                  <a:lnTo>
                    <a:pt x="6367880" y="806463"/>
                  </a:lnTo>
                  <a:lnTo>
                    <a:pt x="6358942" y="823027"/>
                  </a:lnTo>
                  <a:cubicBezTo>
                    <a:pt x="6265085" y="962781"/>
                    <a:pt x="6106141" y="1054664"/>
                    <a:pt x="5925861" y="1054664"/>
                  </a:cubicBezTo>
                  <a:lnTo>
                    <a:pt x="5164099" y="1054664"/>
                  </a:lnTo>
                  <a:lnTo>
                    <a:pt x="5164099" y="1054665"/>
                  </a:lnTo>
                  <a:lnTo>
                    <a:pt x="5022417" y="1054665"/>
                  </a:lnTo>
                  <a:lnTo>
                    <a:pt x="3649530" y="1054665"/>
                  </a:lnTo>
                  <a:lnTo>
                    <a:pt x="1968075" y="1054665"/>
                  </a:lnTo>
                  <a:cubicBezTo>
                    <a:pt x="1787795" y="1054665"/>
                    <a:pt x="1628850" y="962782"/>
                    <a:pt x="1534993" y="823028"/>
                  </a:cubicBezTo>
                  <a:lnTo>
                    <a:pt x="1526052" y="806457"/>
                  </a:lnTo>
                  <a:lnTo>
                    <a:pt x="1494680" y="775526"/>
                  </a:lnTo>
                  <a:cubicBezTo>
                    <a:pt x="1424458" y="718834"/>
                    <a:pt x="1339803" y="685731"/>
                    <a:pt x="1248678" y="685731"/>
                  </a:cubicBezTo>
                  <a:cubicBezTo>
                    <a:pt x="1157554" y="685731"/>
                    <a:pt x="1072900" y="718834"/>
                    <a:pt x="1002677" y="775526"/>
                  </a:cubicBezTo>
                  <a:lnTo>
                    <a:pt x="968113" y="809606"/>
                  </a:lnTo>
                  <a:lnTo>
                    <a:pt x="961765" y="821301"/>
                  </a:lnTo>
                  <a:cubicBezTo>
                    <a:pt x="867279" y="961159"/>
                    <a:pt x="707268" y="1053112"/>
                    <a:pt x="525780" y="1053112"/>
                  </a:cubicBezTo>
                  <a:cubicBezTo>
                    <a:pt x="235400" y="1053112"/>
                    <a:pt x="0" y="817712"/>
                    <a:pt x="0" y="527332"/>
                  </a:cubicBezTo>
                  <a:cubicBezTo>
                    <a:pt x="0" y="236952"/>
                    <a:pt x="235400" y="1552"/>
                    <a:pt x="525780" y="1552"/>
                  </a:cubicBezTo>
                  <a:cubicBezTo>
                    <a:pt x="707268" y="1552"/>
                    <a:pt x="867279" y="93505"/>
                    <a:pt x="961765" y="233364"/>
                  </a:cubicBezTo>
                  <a:lnTo>
                    <a:pt x="968115" y="245063"/>
                  </a:lnTo>
                  <a:lnTo>
                    <a:pt x="1002677" y="279139"/>
                  </a:lnTo>
                  <a:cubicBezTo>
                    <a:pt x="1072900" y="335831"/>
                    <a:pt x="1157554" y="368934"/>
                    <a:pt x="1248678" y="368934"/>
                  </a:cubicBezTo>
                  <a:cubicBezTo>
                    <a:pt x="1339803" y="368934"/>
                    <a:pt x="1424458" y="335831"/>
                    <a:pt x="1494680" y="279139"/>
                  </a:cubicBezTo>
                  <a:lnTo>
                    <a:pt x="1526054" y="248206"/>
                  </a:lnTo>
                  <a:lnTo>
                    <a:pt x="1534993" y="231639"/>
                  </a:lnTo>
                  <a:cubicBezTo>
                    <a:pt x="1628850" y="91886"/>
                    <a:pt x="1787795" y="2"/>
                    <a:pt x="1968075" y="2"/>
                  </a:cubicBezTo>
                  <a:lnTo>
                    <a:pt x="2871503" y="2"/>
                  </a:lnTo>
                  <a:cubicBezTo>
                    <a:pt x="2871508" y="1"/>
                    <a:pt x="2871512" y="1"/>
                    <a:pt x="2871517" y="0"/>
                  </a:cubicBezTo>
                  <a:close/>
                </a:path>
              </a:pathLst>
            </a:custGeom>
            <a:solidFill>
              <a:schemeClr val="tx2"/>
            </a:solidFill>
            <a:ln w="0" cap="flat">
              <a:noFill/>
              <a:prstDash val="solid"/>
              <a:miter/>
            </a:ln>
          </p:spPr>
          <p:txBody>
            <a:bodyPr wrap="square" rtlCol="0" anchor="ctr">
              <a:noAutofit/>
            </a:bodyPr>
            <a:lstStyle/>
            <a:p>
              <a:endParaRPr lang="en-US" sz="1400"/>
            </a:p>
          </p:txBody>
        </p:sp>
        <p:sp>
          <p:nvSpPr>
            <p:cNvPr id="24" name="Freeform 6">
              <a:extLst>
                <a:ext uri="{FF2B5EF4-FFF2-40B4-BE49-F238E27FC236}">
                  <a16:creationId xmlns:a16="http://schemas.microsoft.com/office/drawing/2014/main" id="{E45241D3-338C-B89B-4168-C074921914A9}"/>
                </a:ext>
              </a:extLst>
            </p:cNvPr>
            <p:cNvSpPr/>
            <p:nvPr/>
          </p:nvSpPr>
          <p:spPr>
            <a:xfrm>
              <a:off x="3668413" y="1421508"/>
              <a:ext cx="4855177" cy="906484"/>
            </a:xfrm>
            <a:custGeom>
              <a:avLst/>
              <a:gdLst>
                <a:gd name="connsiteX0" fmla="*/ 695865 w 767249"/>
                <a:gd name="connsiteY0" fmla="*/ 0 h 143249"/>
                <a:gd name="connsiteX1" fmla="*/ 767250 w 767249"/>
                <a:gd name="connsiteY1" fmla="*/ 71360 h 143249"/>
                <a:gd name="connsiteX2" fmla="*/ 767250 w 767249"/>
                <a:gd name="connsiteY2" fmla="*/ 71889 h 143249"/>
                <a:gd name="connsiteX3" fmla="*/ 695865 w 767249"/>
                <a:gd name="connsiteY3" fmla="*/ 143249 h 143249"/>
                <a:gd name="connsiteX4" fmla="*/ 71385 w 767249"/>
                <a:gd name="connsiteY4" fmla="*/ 143249 h 143249"/>
                <a:gd name="connsiteX5" fmla="*/ 0 w 767249"/>
                <a:gd name="connsiteY5" fmla="*/ 71889 h 143249"/>
                <a:gd name="connsiteX6" fmla="*/ 0 w 767249"/>
                <a:gd name="connsiteY6" fmla="*/ 71360 h 143249"/>
                <a:gd name="connsiteX7" fmla="*/ 71385 w 767249"/>
                <a:gd name="connsiteY7" fmla="*/ 0 h 14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7249" h="143249">
                  <a:moveTo>
                    <a:pt x="695865" y="0"/>
                  </a:moveTo>
                  <a:cubicBezTo>
                    <a:pt x="735290" y="0"/>
                    <a:pt x="767250" y="31949"/>
                    <a:pt x="767250" y="71360"/>
                  </a:cubicBezTo>
                  <a:lnTo>
                    <a:pt x="767250" y="71889"/>
                  </a:lnTo>
                  <a:cubicBezTo>
                    <a:pt x="767250" y="111300"/>
                    <a:pt x="735290" y="143249"/>
                    <a:pt x="695865" y="143249"/>
                  </a:cubicBezTo>
                  <a:lnTo>
                    <a:pt x="71385" y="143249"/>
                  </a:lnTo>
                  <a:cubicBezTo>
                    <a:pt x="31960" y="143249"/>
                    <a:pt x="0" y="111300"/>
                    <a:pt x="0" y="71889"/>
                  </a:cubicBezTo>
                  <a:lnTo>
                    <a:pt x="0" y="71360"/>
                  </a:lnTo>
                  <a:cubicBezTo>
                    <a:pt x="0" y="31949"/>
                    <a:pt x="31960" y="0"/>
                    <a:pt x="71385" y="0"/>
                  </a:cubicBezTo>
                  <a:close/>
                </a:path>
              </a:pathLst>
            </a:custGeom>
            <a:solidFill>
              <a:schemeClr val="accent1">
                <a:lumMod val="40000"/>
                <a:lumOff val="60000"/>
              </a:schemeClr>
            </a:solidFill>
            <a:ln w="0" cap="flat">
              <a:noFill/>
              <a:prstDash val="solid"/>
              <a:miter/>
            </a:ln>
          </p:spPr>
          <p:txBody>
            <a:bodyPr rtlCol="0" anchor="ctr"/>
            <a:lstStyle/>
            <a:p>
              <a:endParaRPr lang="en-US" sz="1400"/>
            </a:p>
          </p:txBody>
        </p:sp>
        <p:sp>
          <p:nvSpPr>
            <p:cNvPr id="25" name="Oval 24">
              <a:extLst>
                <a:ext uri="{FF2B5EF4-FFF2-40B4-BE49-F238E27FC236}">
                  <a16:creationId xmlns:a16="http://schemas.microsoft.com/office/drawing/2014/main" id="{0DF3F39A-8163-02B8-CA35-F1F60BB17F39}"/>
                </a:ext>
              </a:extLst>
            </p:cNvPr>
            <p:cNvSpPr/>
            <p:nvPr/>
          </p:nvSpPr>
          <p:spPr>
            <a:xfrm>
              <a:off x="9063947" y="1421509"/>
              <a:ext cx="906483" cy="906483"/>
            </a:xfrm>
            <a:prstGeom prst="ellipse">
              <a:avLst/>
            </a:prstGeom>
            <a:solidFill>
              <a:schemeClr val="accent1"/>
            </a:solidFill>
            <a:ln w="0" cap="flat">
              <a:noFill/>
              <a:prstDash val="solid"/>
              <a:miter/>
            </a:ln>
          </p:spPr>
          <p:txBody>
            <a:bodyPr rtlCol="0" anchor="ctr"/>
            <a:lstStyle/>
            <a:p>
              <a:endParaRPr lang="en-US" sz="1400"/>
            </a:p>
          </p:txBody>
        </p:sp>
        <p:sp>
          <p:nvSpPr>
            <p:cNvPr id="26" name="Oval 25">
              <a:extLst>
                <a:ext uri="{FF2B5EF4-FFF2-40B4-BE49-F238E27FC236}">
                  <a16:creationId xmlns:a16="http://schemas.microsoft.com/office/drawing/2014/main" id="{ED338F07-26AD-1DA1-A9D0-B8FD7ADFEE7F}"/>
                </a:ext>
              </a:extLst>
            </p:cNvPr>
            <p:cNvSpPr/>
            <p:nvPr/>
          </p:nvSpPr>
          <p:spPr>
            <a:xfrm>
              <a:off x="2223886" y="1421509"/>
              <a:ext cx="906483" cy="906483"/>
            </a:xfrm>
            <a:prstGeom prst="ellipse">
              <a:avLst/>
            </a:prstGeom>
            <a:solidFill>
              <a:schemeClr val="accent1"/>
            </a:solidFill>
            <a:ln w="0" cap="flat">
              <a:noFill/>
              <a:prstDash val="solid"/>
              <a:miter/>
            </a:ln>
          </p:spPr>
          <p:txBody>
            <a:bodyPr rtlCol="0" anchor="ctr"/>
            <a:lstStyle/>
            <a:p>
              <a:pPr algn="ctr"/>
              <a:r>
                <a:rPr lang="en-US" sz="2400" b="1" dirty="0">
                  <a:solidFill>
                    <a:schemeClr val="bg2"/>
                  </a:solidFill>
                </a:rPr>
                <a:t>03</a:t>
              </a:r>
            </a:p>
          </p:txBody>
        </p:sp>
        <p:sp>
          <p:nvSpPr>
            <p:cNvPr id="27" name="TextBox 26">
              <a:extLst>
                <a:ext uri="{FF2B5EF4-FFF2-40B4-BE49-F238E27FC236}">
                  <a16:creationId xmlns:a16="http://schemas.microsoft.com/office/drawing/2014/main" id="{CF282AA5-71F4-F768-26C9-D16338C8C66D}"/>
                </a:ext>
              </a:extLst>
            </p:cNvPr>
            <p:cNvSpPr txBox="1"/>
            <p:nvPr/>
          </p:nvSpPr>
          <p:spPr>
            <a:xfrm>
              <a:off x="4023426" y="1442908"/>
              <a:ext cx="4192376" cy="827676"/>
            </a:xfrm>
            <a:prstGeom prst="rect">
              <a:avLst/>
            </a:prstGeom>
            <a:noFill/>
          </p:spPr>
          <p:txBody>
            <a:bodyPr wrap="square" lIns="0" rIns="0" rtlCol="0" anchor="t">
              <a:spAutoFit/>
            </a:bodyPr>
            <a:lstStyle/>
            <a:p>
              <a:pPr algn="ctr"/>
              <a:r>
                <a:rPr lang="en-US" sz="1400" b="1" dirty="0"/>
                <a:t>Strengthening PHC ensures that TB care is accessible, affordable and </a:t>
              </a:r>
              <a:r>
                <a:rPr lang="en-US" sz="1400" b="1" dirty="0" smtClean="0"/>
                <a:t>people-</a:t>
              </a:r>
              <a:r>
                <a:rPr lang="en-US" sz="1400" b="1" dirty="0" err="1" smtClean="0"/>
                <a:t>centred</a:t>
              </a:r>
              <a:r>
                <a:rPr lang="en-US" sz="1400" b="1" dirty="0"/>
                <a:t>, while addressing other health needs at the same time</a:t>
              </a:r>
              <a:r>
                <a:rPr lang="en-US" sz="1000" dirty="0"/>
                <a:t>.</a:t>
              </a:r>
              <a:endParaRPr lang="en-US" sz="1000" noProof="1"/>
            </a:p>
          </p:txBody>
        </p:sp>
        <p:pic>
          <p:nvPicPr>
            <p:cNvPr id="28" name="Graphic 27" descr="Lightbulb with solid fill">
              <a:extLst>
                <a:ext uri="{FF2B5EF4-FFF2-40B4-BE49-F238E27FC236}">
                  <a16:creationId xmlns:a16="http://schemas.microsoft.com/office/drawing/2014/main" id="{6AF0E993-C21A-397A-E0A2-ACFA5ECFDB8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9259071" y="1616633"/>
              <a:ext cx="516235" cy="516235"/>
            </a:xfrm>
            <a:prstGeom prst="rect">
              <a:avLst/>
            </a:prstGeom>
          </p:spPr>
        </p:pic>
      </p:grpSp>
    </p:spTree>
    <p:extLst>
      <p:ext uri="{BB962C8B-B14F-4D97-AF65-F5344CB8AC3E}">
        <p14:creationId xmlns:p14="http://schemas.microsoft.com/office/powerpoint/2010/main" val="9607151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699B0-1733-4F70-CC85-ABCDCE87E87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13838CF-5EF5-FF7B-B1A7-F3811C94734E}"/>
              </a:ext>
            </a:extLst>
          </p:cNvPr>
          <p:cNvSpPr txBox="1"/>
          <p:nvPr/>
        </p:nvSpPr>
        <p:spPr>
          <a:xfrm>
            <a:off x="74815" y="299258"/>
            <a:ext cx="7489767" cy="1200329"/>
          </a:xfrm>
          <a:prstGeom prst="rect">
            <a:avLst/>
          </a:prstGeom>
          <a:noFill/>
        </p:spPr>
        <p:txBody>
          <a:bodyPr wrap="square" rtlCol="0">
            <a:spAutoFit/>
          </a:bodyPr>
          <a:lstStyle/>
          <a:p>
            <a:r>
              <a:rPr lang="en-US" sz="3600" b="1" dirty="0">
                <a:solidFill>
                  <a:schemeClr val="bg1"/>
                </a:solidFill>
              </a:rPr>
              <a:t>Why PHC matters for UHC and TB</a:t>
            </a:r>
          </a:p>
          <a:p>
            <a:endParaRPr lang="en-US" sz="3600" dirty="0">
              <a:solidFill>
                <a:schemeClr val="bg1"/>
              </a:solidFill>
            </a:endParaRPr>
          </a:p>
        </p:txBody>
      </p:sp>
      <p:grpSp>
        <p:nvGrpSpPr>
          <p:cNvPr id="3" name="Group 2">
            <a:extLst>
              <a:ext uri="{FF2B5EF4-FFF2-40B4-BE49-F238E27FC236}">
                <a16:creationId xmlns:a16="http://schemas.microsoft.com/office/drawing/2014/main" id="{ED8D554E-B85A-5843-4966-CE0D9F506518}"/>
              </a:ext>
            </a:extLst>
          </p:cNvPr>
          <p:cNvGrpSpPr/>
          <p:nvPr/>
        </p:nvGrpSpPr>
        <p:grpSpPr>
          <a:xfrm>
            <a:off x="2308133" y="1584891"/>
            <a:ext cx="7044984" cy="977773"/>
            <a:chOff x="2149033" y="1347418"/>
            <a:chExt cx="7893935" cy="1095598"/>
          </a:xfrm>
        </p:grpSpPr>
        <p:sp>
          <p:nvSpPr>
            <p:cNvPr id="4" name="Freeform: Shape 86">
              <a:extLst>
                <a:ext uri="{FF2B5EF4-FFF2-40B4-BE49-F238E27FC236}">
                  <a16:creationId xmlns:a16="http://schemas.microsoft.com/office/drawing/2014/main" id="{F52F90A7-63B1-C623-1B98-1ABBF95DD20F}"/>
                </a:ext>
              </a:extLst>
            </p:cNvPr>
            <p:cNvSpPr/>
            <p:nvPr/>
          </p:nvSpPr>
          <p:spPr>
            <a:xfrm>
              <a:off x="2149033" y="1347418"/>
              <a:ext cx="7893935" cy="1054665"/>
            </a:xfrm>
            <a:custGeom>
              <a:avLst/>
              <a:gdLst>
                <a:gd name="connsiteX0" fmla="*/ 2871517 w 7893935"/>
                <a:gd name="connsiteY0" fmla="*/ 0 h 1054665"/>
                <a:gd name="connsiteX1" fmla="*/ 3649530 w 7893935"/>
                <a:gd name="connsiteY1" fmla="*/ 0 h 1054665"/>
                <a:gd name="connsiteX2" fmla="*/ 5925861 w 7893935"/>
                <a:gd name="connsiteY2" fmla="*/ 0 h 1054665"/>
                <a:gd name="connsiteX3" fmla="*/ 6358942 w 7893935"/>
                <a:gd name="connsiteY3" fmla="*/ 231638 h 1054665"/>
                <a:gd name="connsiteX4" fmla="*/ 6367880 w 7893935"/>
                <a:gd name="connsiteY4" fmla="*/ 248204 h 1054665"/>
                <a:gd name="connsiteX5" fmla="*/ 6399256 w 7893935"/>
                <a:gd name="connsiteY5" fmla="*/ 279139 h 1054665"/>
                <a:gd name="connsiteX6" fmla="*/ 6645257 w 7893935"/>
                <a:gd name="connsiteY6" fmla="*/ 368934 h 1054665"/>
                <a:gd name="connsiteX7" fmla="*/ 6891259 w 7893935"/>
                <a:gd name="connsiteY7" fmla="*/ 279139 h 1054665"/>
                <a:gd name="connsiteX8" fmla="*/ 6925818 w 7893935"/>
                <a:gd name="connsiteY8" fmla="*/ 245066 h 1054665"/>
                <a:gd name="connsiteX9" fmla="*/ 6932170 w 7893935"/>
                <a:gd name="connsiteY9" fmla="*/ 233364 h 1054665"/>
                <a:gd name="connsiteX10" fmla="*/ 7368155 w 7893935"/>
                <a:gd name="connsiteY10" fmla="*/ 1552 h 1054665"/>
                <a:gd name="connsiteX11" fmla="*/ 7893935 w 7893935"/>
                <a:gd name="connsiteY11" fmla="*/ 527332 h 1054665"/>
                <a:gd name="connsiteX12" fmla="*/ 7368155 w 7893935"/>
                <a:gd name="connsiteY12" fmla="*/ 1053112 h 1054665"/>
                <a:gd name="connsiteX13" fmla="*/ 6932170 w 7893935"/>
                <a:gd name="connsiteY13" fmla="*/ 821301 h 1054665"/>
                <a:gd name="connsiteX14" fmla="*/ 6925820 w 7893935"/>
                <a:gd name="connsiteY14" fmla="*/ 809601 h 1054665"/>
                <a:gd name="connsiteX15" fmla="*/ 6891259 w 7893935"/>
                <a:gd name="connsiteY15" fmla="*/ 775526 h 1054665"/>
                <a:gd name="connsiteX16" fmla="*/ 6645257 w 7893935"/>
                <a:gd name="connsiteY16" fmla="*/ 685731 h 1054665"/>
                <a:gd name="connsiteX17" fmla="*/ 6399256 w 7893935"/>
                <a:gd name="connsiteY17" fmla="*/ 775526 h 1054665"/>
                <a:gd name="connsiteX18" fmla="*/ 6367880 w 7893935"/>
                <a:gd name="connsiteY18" fmla="*/ 806463 h 1054665"/>
                <a:gd name="connsiteX19" fmla="*/ 6358942 w 7893935"/>
                <a:gd name="connsiteY19" fmla="*/ 823027 h 1054665"/>
                <a:gd name="connsiteX20" fmla="*/ 5925861 w 7893935"/>
                <a:gd name="connsiteY20" fmla="*/ 1054664 h 1054665"/>
                <a:gd name="connsiteX21" fmla="*/ 5164099 w 7893935"/>
                <a:gd name="connsiteY21" fmla="*/ 1054664 h 1054665"/>
                <a:gd name="connsiteX22" fmla="*/ 5164099 w 7893935"/>
                <a:gd name="connsiteY22" fmla="*/ 1054665 h 1054665"/>
                <a:gd name="connsiteX23" fmla="*/ 5022417 w 7893935"/>
                <a:gd name="connsiteY23" fmla="*/ 1054665 h 1054665"/>
                <a:gd name="connsiteX24" fmla="*/ 3649530 w 7893935"/>
                <a:gd name="connsiteY24" fmla="*/ 1054665 h 1054665"/>
                <a:gd name="connsiteX25" fmla="*/ 1968075 w 7893935"/>
                <a:gd name="connsiteY25" fmla="*/ 1054665 h 1054665"/>
                <a:gd name="connsiteX26" fmla="*/ 1534993 w 7893935"/>
                <a:gd name="connsiteY26" fmla="*/ 823028 h 1054665"/>
                <a:gd name="connsiteX27" fmla="*/ 1526052 w 7893935"/>
                <a:gd name="connsiteY27" fmla="*/ 806457 h 1054665"/>
                <a:gd name="connsiteX28" fmla="*/ 1494680 w 7893935"/>
                <a:gd name="connsiteY28" fmla="*/ 775526 h 1054665"/>
                <a:gd name="connsiteX29" fmla="*/ 1248678 w 7893935"/>
                <a:gd name="connsiteY29" fmla="*/ 685731 h 1054665"/>
                <a:gd name="connsiteX30" fmla="*/ 1002677 w 7893935"/>
                <a:gd name="connsiteY30" fmla="*/ 775526 h 1054665"/>
                <a:gd name="connsiteX31" fmla="*/ 968113 w 7893935"/>
                <a:gd name="connsiteY31" fmla="*/ 809606 h 1054665"/>
                <a:gd name="connsiteX32" fmla="*/ 961765 w 7893935"/>
                <a:gd name="connsiteY32" fmla="*/ 821301 h 1054665"/>
                <a:gd name="connsiteX33" fmla="*/ 525780 w 7893935"/>
                <a:gd name="connsiteY33" fmla="*/ 1053112 h 1054665"/>
                <a:gd name="connsiteX34" fmla="*/ 0 w 7893935"/>
                <a:gd name="connsiteY34" fmla="*/ 527332 h 1054665"/>
                <a:gd name="connsiteX35" fmla="*/ 525780 w 7893935"/>
                <a:gd name="connsiteY35" fmla="*/ 1552 h 1054665"/>
                <a:gd name="connsiteX36" fmla="*/ 961765 w 7893935"/>
                <a:gd name="connsiteY36" fmla="*/ 233364 h 1054665"/>
                <a:gd name="connsiteX37" fmla="*/ 968115 w 7893935"/>
                <a:gd name="connsiteY37" fmla="*/ 245063 h 1054665"/>
                <a:gd name="connsiteX38" fmla="*/ 1002677 w 7893935"/>
                <a:gd name="connsiteY38" fmla="*/ 279139 h 1054665"/>
                <a:gd name="connsiteX39" fmla="*/ 1248678 w 7893935"/>
                <a:gd name="connsiteY39" fmla="*/ 368934 h 1054665"/>
                <a:gd name="connsiteX40" fmla="*/ 1494680 w 7893935"/>
                <a:gd name="connsiteY40" fmla="*/ 279139 h 1054665"/>
                <a:gd name="connsiteX41" fmla="*/ 1526054 w 7893935"/>
                <a:gd name="connsiteY41" fmla="*/ 248206 h 1054665"/>
                <a:gd name="connsiteX42" fmla="*/ 1534993 w 7893935"/>
                <a:gd name="connsiteY42" fmla="*/ 231639 h 1054665"/>
                <a:gd name="connsiteX43" fmla="*/ 1968075 w 7893935"/>
                <a:gd name="connsiteY43" fmla="*/ 2 h 1054665"/>
                <a:gd name="connsiteX44" fmla="*/ 2871503 w 7893935"/>
                <a:gd name="connsiteY44" fmla="*/ 2 h 1054665"/>
                <a:gd name="connsiteX45" fmla="*/ 2871517 w 7893935"/>
                <a:gd name="connsiteY45" fmla="*/ 0 h 1054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893935" h="1054665">
                  <a:moveTo>
                    <a:pt x="2871517" y="0"/>
                  </a:moveTo>
                  <a:lnTo>
                    <a:pt x="3649530" y="0"/>
                  </a:lnTo>
                  <a:lnTo>
                    <a:pt x="5925861" y="0"/>
                  </a:lnTo>
                  <a:cubicBezTo>
                    <a:pt x="6106141" y="0"/>
                    <a:pt x="6265085" y="91885"/>
                    <a:pt x="6358942" y="231638"/>
                  </a:cubicBezTo>
                  <a:lnTo>
                    <a:pt x="6367880" y="248204"/>
                  </a:lnTo>
                  <a:lnTo>
                    <a:pt x="6399256" y="279139"/>
                  </a:lnTo>
                  <a:cubicBezTo>
                    <a:pt x="6469478" y="335831"/>
                    <a:pt x="6554133" y="368934"/>
                    <a:pt x="6645257" y="368934"/>
                  </a:cubicBezTo>
                  <a:cubicBezTo>
                    <a:pt x="6736382" y="368934"/>
                    <a:pt x="6821036" y="335831"/>
                    <a:pt x="6891259" y="279139"/>
                  </a:cubicBezTo>
                  <a:lnTo>
                    <a:pt x="6925818" y="245066"/>
                  </a:lnTo>
                  <a:lnTo>
                    <a:pt x="6932170" y="233364"/>
                  </a:lnTo>
                  <a:cubicBezTo>
                    <a:pt x="7026657" y="93505"/>
                    <a:pt x="7186667" y="1552"/>
                    <a:pt x="7368155" y="1552"/>
                  </a:cubicBezTo>
                  <a:cubicBezTo>
                    <a:pt x="7658535" y="1552"/>
                    <a:pt x="7893935" y="236952"/>
                    <a:pt x="7893935" y="527332"/>
                  </a:cubicBezTo>
                  <a:cubicBezTo>
                    <a:pt x="7893935" y="817712"/>
                    <a:pt x="7658535" y="1053112"/>
                    <a:pt x="7368155" y="1053112"/>
                  </a:cubicBezTo>
                  <a:cubicBezTo>
                    <a:pt x="7186667" y="1053112"/>
                    <a:pt x="7026657" y="961159"/>
                    <a:pt x="6932170" y="821301"/>
                  </a:cubicBezTo>
                  <a:lnTo>
                    <a:pt x="6925820" y="809601"/>
                  </a:lnTo>
                  <a:lnTo>
                    <a:pt x="6891259" y="775526"/>
                  </a:lnTo>
                  <a:cubicBezTo>
                    <a:pt x="6821037" y="718834"/>
                    <a:pt x="6736382" y="685731"/>
                    <a:pt x="6645257" y="685731"/>
                  </a:cubicBezTo>
                  <a:cubicBezTo>
                    <a:pt x="6554133" y="685731"/>
                    <a:pt x="6469478" y="718834"/>
                    <a:pt x="6399256" y="775526"/>
                  </a:cubicBezTo>
                  <a:lnTo>
                    <a:pt x="6367880" y="806463"/>
                  </a:lnTo>
                  <a:lnTo>
                    <a:pt x="6358942" y="823027"/>
                  </a:lnTo>
                  <a:cubicBezTo>
                    <a:pt x="6265085" y="962781"/>
                    <a:pt x="6106141" y="1054664"/>
                    <a:pt x="5925861" y="1054664"/>
                  </a:cubicBezTo>
                  <a:lnTo>
                    <a:pt x="5164099" y="1054664"/>
                  </a:lnTo>
                  <a:lnTo>
                    <a:pt x="5164099" y="1054665"/>
                  </a:lnTo>
                  <a:lnTo>
                    <a:pt x="5022417" y="1054665"/>
                  </a:lnTo>
                  <a:lnTo>
                    <a:pt x="3649530" y="1054665"/>
                  </a:lnTo>
                  <a:lnTo>
                    <a:pt x="1968075" y="1054665"/>
                  </a:lnTo>
                  <a:cubicBezTo>
                    <a:pt x="1787795" y="1054665"/>
                    <a:pt x="1628850" y="962782"/>
                    <a:pt x="1534993" y="823028"/>
                  </a:cubicBezTo>
                  <a:lnTo>
                    <a:pt x="1526052" y="806457"/>
                  </a:lnTo>
                  <a:lnTo>
                    <a:pt x="1494680" y="775526"/>
                  </a:lnTo>
                  <a:cubicBezTo>
                    <a:pt x="1424458" y="718834"/>
                    <a:pt x="1339803" y="685731"/>
                    <a:pt x="1248678" y="685731"/>
                  </a:cubicBezTo>
                  <a:cubicBezTo>
                    <a:pt x="1157554" y="685731"/>
                    <a:pt x="1072900" y="718834"/>
                    <a:pt x="1002677" y="775526"/>
                  </a:cubicBezTo>
                  <a:lnTo>
                    <a:pt x="968113" y="809606"/>
                  </a:lnTo>
                  <a:lnTo>
                    <a:pt x="961765" y="821301"/>
                  </a:lnTo>
                  <a:cubicBezTo>
                    <a:pt x="867279" y="961159"/>
                    <a:pt x="707268" y="1053112"/>
                    <a:pt x="525780" y="1053112"/>
                  </a:cubicBezTo>
                  <a:cubicBezTo>
                    <a:pt x="235400" y="1053112"/>
                    <a:pt x="0" y="817712"/>
                    <a:pt x="0" y="527332"/>
                  </a:cubicBezTo>
                  <a:cubicBezTo>
                    <a:pt x="0" y="236952"/>
                    <a:pt x="235400" y="1552"/>
                    <a:pt x="525780" y="1552"/>
                  </a:cubicBezTo>
                  <a:cubicBezTo>
                    <a:pt x="707268" y="1552"/>
                    <a:pt x="867279" y="93505"/>
                    <a:pt x="961765" y="233364"/>
                  </a:cubicBezTo>
                  <a:lnTo>
                    <a:pt x="968115" y="245063"/>
                  </a:lnTo>
                  <a:lnTo>
                    <a:pt x="1002677" y="279139"/>
                  </a:lnTo>
                  <a:cubicBezTo>
                    <a:pt x="1072900" y="335831"/>
                    <a:pt x="1157554" y="368934"/>
                    <a:pt x="1248678" y="368934"/>
                  </a:cubicBezTo>
                  <a:cubicBezTo>
                    <a:pt x="1339803" y="368934"/>
                    <a:pt x="1424458" y="335831"/>
                    <a:pt x="1494680" y="279139"/>
                  </a:cubicBezTo>
                  <a:lnTo>
                    <a:pt x="1526054" y="248206"/>
                  </a:lnTo>
                  <a:lnTo>
                    <a:pt x="1534993" y="231639"/>
                  </a:lnTo>
                  <a:cubicBezTo>
                    <a:pt x="1628850" y="91886"/>
                    <a:pt x="1787795" y="2"/>
                    <a:pt x="1968075" y="2"/>
                  </a:cubicBezTo>
                  <a:lnTo>
                    <a:pt x="2871503" y="2"/>
                  </a:lnTo>
                  <a:cubicBezTo>
                    <a:pt x="2871508" y="1"/>
                    <a:pt x="2871512" y="1"/>
                    <a:pt x="2871517" y="0"/>
                  </a:cubicBezTo>
                  <a:close/>
                </a:path>
              </a:pathLst>
            </a:custGeom>
            <a:solidFill>
              <a:schemeClr val="tx2"/>
            </a:solidFill>
            <a:ln w="0" cap="flat">
              <a:noFill/>
              <a:prstDash val="solid"/>
              <a:miter/>
            </a:ln>
          </p:spPr>
          <p:txBody>
            <a:bodyPr wrap="square" rtlCol="0" anchor="ctr">
              <a:noAutofit/>
            </a:bodyPr>
            <a:lstStyle/>
            <a:p>
              <a:endParaRPr lang="en-US" sz="1400"/>
            </a:p>
          </p:txBody>
        </p:sp>
        <p:sp>
          <p:nvSpPr>
            <p:cNvPr id="6" name="Freeform 6">
              <a:extLst>
                <a:ext uri="{FF2B5EF4-FFF2-40B4-BE49-F238E27FC236}">
                  <a16:creationId xmlns:a16="http://schemas.microsoft.com/office/drawing/2014/main" id="{7E254014-D21C-86AA-AF7D-C726C7FB2692}"/>
                </a:ext>
              </a:extLst>
            </p:cNvPr>
            <p:cNvSpPr/>
            <p:nvPr/>
          </p:nvSpPr>
          <p:spPr>
            <a:xfrm>
              <a:off x="3668413" y="1421508"/>
              <a:ext cx="4855177" cy="906484"/>
            </a:xfrm>
            <a:custGeom>
              <a:avLst/>
              <a:gdLst>
                <a:gd name="connsiteX0" fmla="*/ 695865 w 767249"/>
                <a:gd name="connsiteY0" fmla="*/ 0 h 143249"/>
                <a:gd name="connsiteX1" fmla="*/ 767250 w 767249"/>
                <a:gd name="connsiteY1" fmla="*/ 71360 h 143249"/>
                <a:gd name="connsiteX2" fmla="*/ 767250 w 767249"/>
                <a:gd name="connsiteY2" fmla="*/ 71889 h 143249"/>
                <a:gd name="connsiteX3" fmla="*/ 695865 w 767249"/>
                <a:gd name="connsiteY3" fmla="*/ 143249 h 143249"/>
                <a:gd name="connsiteX4" fmla="*/ 71385 w 767249"/>
                <a:gd name="connsiteY4" fmla="*/ 143249 h 143249"/>
                <a:gd name="connsiteX5" fmla="*/ 0 w 767249"/>
                <a:gd name="connsiteY5" fmla="*/ 71889 h 143249"/>
                <a:gd name="connsiteX6" fmla="*/ 0 w 767249"/>
                <a:gd name="connsiteY6" fmla="*/ 71360 h 143249"/>
                <a:gd name="connsiteX7" fmla="*/ 71385 w 767249"/>
                <a:gd name="connsiteY7" fmla="*/ 0 h 14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7249" h="143249">
                  <a:moveTo>
                    <a:pt x="695865" y="0"/>
                  </a:moveTo>
                  <a:cubicBezTo>
                    <a:pt x="735290" y="0"/>
                    <a:pt x="767250" y="31949"/>
                    <a:pt x="767250" y="71360"/>
                  </a:cubicBezTo>
                  <a:lnTo>
                    <a:pt x="767250" y="71889"/>
                  </a:lnTo>
                  <a:cubicBezTo>
                    <a:pt x="767250" y="111300"/>
                    <a:pt x="735290" y="143249"/>
                    <a:pt x="695865" y="143249"/>
                  </a:cubicBezTo>
                  <a:lnTo>
                    <a:pt x="71385" y="143249"/>
                  </a:lnTo>
                  <a:cubicBezTo>
                    <a:pt x="31960" y="143249"/>
                    <a:pt x="0" y="111300"/>
                    <a:pt x="0" y="71889"/>
                  </a:cubicBezTo>
                  <a:lnTo>
                    <a:pt x="0" y="71360"/>
                  </a:lnTo>
                  <a:cubicBezTo>
                    <a:pt x="0" y="31949"/>
                    <a:pt x="31960" y="0"/>
                    <a:pt x="71385" y="0"/>
                  </a:cubicBezTo>
                  <a:close/>
                </a:path>
              </a:pathLst>
            </a:custGeom>
            <a:solidFill>
              <a:schemeClr val="accent1">
                <a:lumMod val="40000"/>
                <a:lumOff val="60000"/>
              </a:schemeClr>
            </a:solidFill>
            <a:ln w="0" cap="flat">
              <a:noFill/>
              <a:prstDash val="solid"/>
              <a:miter/>
            </a:ln>
          </p:spPr>
          <p:txBody>
            <a:bodyPr rtlCol="0" anchor="ctr"/>
            <a:lstStyle/>
            <a:p>
              <a:endParaRPr lang="en-US" sz="1400"/>
            </a:p>
          </p:txBody>
        </p:sp>
        <p:sp>
          <p:nvSpPr>
            <p:cNvPr id="7" name="Oval 6">
              <a:extLst>
                <a:ext uri="{FF2B5EF4-FFF2-40B4-BE49-F238E27FC236}">
                  <a16:creationId xmlns:a16="http://schemas.microsoft.com/office/drawing/2014/main" id="{96D3EC57-A012-2796-EF61-B4AE509473F9}"/>
                </a:ext>
              </a:extLst>
            </p:cNvPr>
            <p:cNvSpPr/>
            <p:nvPr/>
          </p:nvSpPr>
          <p:spPr>
            <a:xfrm>
              <a:off x="9063947" y="1421509"/>
              <a:ext cx="906483" cy="906483"/>
            </a:xfrm>
            <a:prstGeom prst="ellipse">
              <a:avLst/>
            </a:prstGeom>
            <a:solidFill>
              <a:schemeClr val="accent1"/>
            </a:solidFill>
            <a:ln w="0" cap="flat">
              <a:noFill/>
              <a:prstDash val="solid"/>
              <a:miter/>
            </a:ln>
          </p:spPr>
          <p:txBody>
            <a:bodyPr rtlCol="0" anchor="ctr"/>
            <a:lstStyle/>
            <a:p>
              <a:endParaRPr lang="en-US" sz="1400"/>
            </a:p>
          </p:txBody>
        </p:sp>
        <p:sp>
          <p:nvSpPr>
            <p:cNvPr id="8" name="Oval 7">
              <a:extLst>
                <a:ext uri="{FF2B5EF4-FFF2-40B4-BE49-F238E27FC236}">
                  <a16:creationId xmlns:a16="http://schemas.microsoft.com/office/drawing/2014/main" id="{825B0269-94B1-1014-B0C2-7712A1ABDB90}"/>
                </a:ext>
              </a:extLst>
            </p:cNvPr>
            <p:cNvSpPr/>
            <p:nvPr/>
          </p:nvSpPr>
          <p:spPr>
            <a:xfrm>
              <a:off x="2223886" y="1421509"/>
              <a:ext cx="906483" cy="906483"/>
            </a:xfrm>
            <a:prstGeom prst="ellipse">
              <a:avLst/>
            </a:prstGeom>
            <a:solidFill>
              <a:schemeClr val="accent1"/>
            </a:solidFill>
            <a:ln w="0" cap="flat">
              <a:noFill/>
              <a:prstDash val="solid"/>
              <a:miter/>
            </a:ln>
          </p:spPr>
          <p:txBody>
            <a:bodyPr rtlCol="0" anchor="ctr"/>
            <a:lstStyle/>
            <a:p>
              <a:pPr algn="ctr"/>
              <a:r>
                <a:rPr lang="en-US" sz="2400" b="1" dirty="0">
                  <a:solidFill>
                    <a:schemeClr val="bg2"/>
                  </a:solidFill>
                </a:rPr>
                <a:t>04</a:t>
              </a:r>
            </a:p>
          </p:txBody>
        </p:sp>
        <p:sp>
          <p:nvSpPr>
            <p:cNvPr id="12" name="TextBox 11">
              <a:extLst>
                <a:ext uri="{FF2B5EF4-FFF2-40B4-BE49-F238E27FC236}">
                  <a16:creationId xmlns:a16="http://schemas.microsoft.com/office/drawing/2014/main" id="{D7B4BC3F-AE12-D468-8443-97F2F2EEF58D}"/>
                </a:ext>
              </a:extLst>
            </p:cNvPr>
            <p:cNvSpPr txBox="1"/>
            <p:nvPr/>
          </p:nvSpPr>
          <p:spPr>
            <a:xfrm>
              <a:off x="4023426" y="1442908"/>
              <a:ext cx="4192376" cy="1000108"/>
            </a:xfrm>
            <a:prstGeom prst="rect">
              <a:avLst/>
            </a:prstGeom>
            <a:noFill/>
          </p:spPr>
          <p:txBody>
            <a:bodyPr wrap="square" lIns="0" rIns="0" rtlCol="0" anchor="t">
              <a:spAutoFit/>
            </a:bodyPr>
            <a:lstStyle/>
            <a:p>
              <a:pPr algn="ctr"/>
              <a:r>
                <a:rPr lang="en-US" sz="1400" b="1" dirty="0"/>
                <a:t>PHC-oriented health systems lead to consistently  better health outcomes, enhanced equity, and improved efficiency.</a:t>
              </a:r>
            </a:p>
            <a:p>
              <a:pPr algn="ctr"/>
              <a:endParaRPr lang="en-US" sz="1000" noProof="1"/>
            </a:p>
          </p:txBody>
        </p:sp>
        <p:pic>
          <p:nvPicPr>
            <p:cNvPr id="10" name="Graphic 9" descr="Lightbulb with solid fill">
              <a:extLst>
                <a:ext uri="{FF2B5EF4-FFF2-40B4-BE49-F238E27FC236}">
                  <a16:creationId xmlns:a16="http://schemas.microsoft.com/office/drawing/2014/main" id="{07656DA0-B664-B82E-755E-5E64A91B098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9259071" y="1616633"/>
              <a:ext cx="516235" cy="516235"/>
            </a:xfrm>
            <a:prstGeom prst="rect">
              <a:avLst/>
            </a:prstGeom>
          </p:spPr>
        </p:pic>
      </p:grpSp>
      <p:grpSp>
        <p:nvGrpSpPr>
          <p:cNvPr id="13" name="Group 12">
            <a:extLst>
              <a:ext uri="{FF2B5EF4-FFF2-40B4-BE49-F238E27FC236}">
                <a16:creationId xmlns:a16="http://schemas.microsoft.com/office/drawing/2014/main" id="{A063B44C-1925-4F87-9383-11CCA9615860}"/>
              </a:ext>
            </a:extLst>
          </p:cNvPr>
          <p:cNvGrpSpPr/>
          <p:nvPr/>
        </p:nvGrpSpPr>
        <p:grpSpPr>
          <a:xfrm>
            <a:off x="2243397" y="2859596"/>
            <a:ext cx="7044984" cy="1245044"/>
            <a:chOff x="2149033" y="1347418"/>
            <a:chExt cx="7893935" cy="1182166"/>
          </a:xfrm>
        </p:grpSpPr>
        <p:sp>
          <p:nvSpPr>
            <p:cNvPr id="14" name="Freeform: Shape 86">
              <a:extLst>
                <a:ext uri="{FF2B5EF4-FFF2-40B4-BE49-F238E27FC236}">
                  <a16:creationId xmlns:a16="http://schemas.microsoft.com/office/drawing/2014/main" id="{D2D39E5A-DC08-EC6C-5039-9E8B16DB02D2}"/>
                </a:ext>
              </a:extLst>
            </p:cNvPr>
            <p:cNvSpPr/>
            <p:nvPr/>
          </p:nvSpPr>
          <p:spPr>
            <a:xfrm>
              <a:off x="2149033" y="1347418"/>
              <a:ext cx="7893935" cy="1054665"/>
            </a:xfrm>
            <a:custGeom>
              <a:avLst/>
              <a:gdLst>
                <a:gd name="connsiteX0" fmla="*/ 2871517 w 7893935"/>
                <a:gd name="connsiteY0" fmla="*/ 0 h 1054665"/>
                <a:gd name="connsiteX1" fmla="*/ 3649530 w 7893935"/>
                <a:gd name="connsiteY1" fmla="*/ 0 h 1054665"/>
                <a:gd name="connsiteX2" fmla="*/ 5925861 w 7893935"/>
                <a:gd name="connsiteY2" fmla="*/ 0 h 1054665"/>
                <a:gd name="connsiteX3" fmla="*/ 6358942 w 7893935"/>
                <a:gd name="connsiteY3" fmla="*/ 231638 h 1054665"/>
                <a:gd name="connsiteX4" fmla="*/ 6367880 w 7893935"/>
                <a:gd name="connsiteY4" fmla="*/ 248204 h 1054665"/>
                <a:gd name="connsiteX5" fmla="*/ 6399256 w 7893935"/>
                <a:gd name="connsiteY5" fmla="*/ 279139 h 1054665"/>
                <a:gd name="connsiteX6" fmla="*/ 6645257 w 7893935"/>
                <a:gd name="connsiteY6" fmla="*/ 368934 h 1054665"/>
                <a:gd name="connsiteX7" fmla="*/ 6891259 w 7893935"/>
                <a:gd name="connsiteY7" fmla="*/ 279139 h 1054665"/>
                <a:gd name="connsiteX8" fmla="*/ 6925818 w 7893935"/>
                <a:gd name="connsiteY8" fmla="*/ 245066 h 1054665"/>
                <a:gd name="connsiteX9" fmla="*/ 6932170 w 7893935"/>
                <a:gd name="connsiteY9" fmla="*/ 233364 h 1054665"/>
                <a:gd name="connsiteX10" fmla="*/ 7368155 w 7893935"/>
                <a:gd name="connsiteY10" fmla="*/ 1552 h 1054665"/>
                <a:gd name="connsiteX11" fmla="*/ 7893935 w 7893935"/>
                <a:gd name="connsiteY11" fmla="*/ 527332 h 1054665"/>
                <a:gd name="connsiteX12" fmla="*/ 7368155 w 7893935"/>
                <a:gd name="connsiteY12" fmla="*/ 1053112 h 1054665"/>
                <a:gd name="connsiteX13" fmla="*/ 6932170 w 7893935"/>
                <a:gd name="connsiteY13" fmla="*/ 821301 h 1054665"/>
                <a:gd name="connsiteX14" fmla="*/ 6925820 w 7893935"/>
                <a:gd name="connsiteY14" fmla="*/ 809601 h 1054665"/>
                <a:gd name="connsiteX15" fmla="*/ 6891259 w 7893935"/>
                <a:gd name="connsiteY15" fmla="*/ 775526 h 1054665"/>
                <a:gd name="connsiteX16" fmla="*/ 6645257 w 7893935"/>
                <a:gd name="connsiteY16" fmla="*/ 685731 h 1054665"/>
                <a:gd name="connsiteX17" fmla="*/ 6399256 w 7893935"/>
                <a:gd name="connsiteY17" fmla="*/ 775526 h 1054665"/>
                <a:gd name="connsiteX18" fmla="*/ 6367880 w 7893935"/>
                <a:gd name="connsiteY18" fmla="*/ 806463 h 1054665"/>
                <a:gd name="connsiteX19" fmla="*/ 6358942 w 7893935"/>
                <a:gd name="connsiteY19" fmla="*/ 823027 h 1054665"/>
                <a:gd name="connsiteX20" fmla="*/ 5925861 w 7893935"/>
                <a:gd name="connsiteY20" fmla="*/ 1054664 h 1054665"/>
                <a:gd name="connsiteX21" fmla="*/ 5164099 w 7893935"/>
                <a:gd name="connsiteY21" fmla="*/ 1054664 h 1054665"/>
                <a:gd name="connsiteX22" fmla="*/ 5164099 w 7893935"/>
                <a:gd name="connsiteY22" fmla="*/ 1054665 h 1054665"/>
                <a:gd name="connsiteX23" fmla="*/ 5022417 w 7893935"/>
                <a:gd name="connsiteY23" fmla="*/ 1054665 h 1054665"/>
                <a:gd name="connsiteX24" fmla="*/ 3649530 w 7893935"/>
                <a:gd name="connsiteY24" fmla="*/ 1054665 h 1054665"/>
                <a:gd name="connsiteX25" fmla="*/ 1968075 w 7893935"/>
                <a:gd name="connsiteY25" fmla="*/ 1054665 h 1054665"/>
                <a:gd name="connsiteX26" fmla="*/ 1534993 w 7893935"/>
                <a:gd name="connsiteY26" fmla="*/ 823028 h 1054665"/>
                <a:gd name="connsiteX27" fmla="*/ 1526052 w 7893935"/>
                <a:gd name="connsiteY27" fmla="*/ 806457 h 1054665"/>
                <a:gd name="connsiteX28" fmla="*/ 1494680 w 7893935"/>
                <a:gd name="connsiteY28" fmla="*/ 775526 h 1054665"/>
                <a:gd name="connsiteX29" fmla="*/ 1248678 w 7893935"/>
                <a:gd name="connsiteY29" fmla="*/ 685731 h 1054665"/>
                <a:gd name="connsiteX30" fmla="*/ 1002677 w 7893935"/>
                <a:gd name="connsiteY30" fmla="*/ 775526 h 1054665"/>
                <a:gd name="connsiteX31" fmla="*/ 968113 w 7893935"/>
                <a:gd name="connsiteY31" fmla="*/ 809606 h 1054665"/>
                <a:gd name="connsiteX32" fmla="*/ 961765 w 7893935"/>
                <a:gd name="connsiteY32" fmla="*/ 821301 h 1054665"/>
                <a:gd name="connsiteX33" fmla="*/ 525780 w 7893935"/>
                <a:gd name="connsiteY33" fmla="*/ 1053112 h 1054665"/>
                <a:gd name="connsiteX34" fmla="*/ 0 w 7893935"/>
                <a:gd name="connsiteY34" fmla="*/ 527332 h 1054665"/>
                <a:gd name="connsiteX35" fmla="*/ 525780 w 7893935"/>
                <a:gd name="connsiteY35" fmla="*/ 1552 h 1054665"/>
                <a:gd name="connsiteX36" fmla="*/ 961765 w 7893935"/>
                <a:gd name="connsiteY36" fmla="*/ 233364 h 1054665"/>
                <a:gd name="connsiteX37" fmla="*/ 968115 w 7893935"/>
                <a:gd name="connsiteY37" fmla="*/ 245063 h 1054665"/>
                <a:gd name="connsiteX38" fmla="*/ 1002677 w 7893935"/>
                <a:gd name="connsiteY38" fmla="*/ 279139 h 1054665"/>
                <a:gd name="connsiteX39" fmla="*/ 1248678 w 7893935"/>
                <a:gd name="connsiteY39" fmla="*/ 368934 h 1054665"/>
                <a:gd name="connsiteX40" fmla="*/ 1494680 w 7893935"/>
                <a:gd name="connsiteY40" fmla="*/ 279139 h 1054665"/>
                <a:gd name="connsiteX41" fmla="*/ 1526054 w 7893935"/>
                <a:gd name="connsiteY41" fmla="*/ 248206 h 1054665"/>
                <a:gd name="connsiteX42" fmla="*/ 1534993 w 7893935"/>
                <a:gd name="connsiteY42" fmla="*/ 231639 h 1054665"/>
                <a:gd name="connsiteX43" fmla="*/ 1968075 w 7893935"/>
                <a:gd name="connsiteY43" fmla="*/ 2 h 1054665"/>
                <a:gd name="connsiteX44" fmla="*/ 2871503 w 7893935"/>
                <a:gd name="connsiteY44" fmla="*/ 2 h 1054665"/>
                <a:gd name="connsiteX45" fmla="*/ 2871517 w 7893935"/>
                <a:gd name="connsiteY45" fmla="*/ 0 h 1054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893935" h="1054665">
                  <a:moveTo>
                    <a:pt x="2871517" y="0"/>
                  </a:moveTo>
                  <a:lnTo>
                    <a:pt x="3649530" y="0"/>
                  </a:lnTo>
                  <a:lnTo>
                    <a:pt x="5925861" y="0"/>
                  </a:lnTo>
                  <a:cubicBezTo>
                    <a:pt x="6106141" y="0"/>
                    <a:pt x="6265085" y="91885"/>
                    <a:pt x="6358942" y="231638"/>
                  </a:cubicBezTo>
                  <a:lnTo>
                    <a:pt x="6367880" y="248204"/>
                  </a:lnTo>
                  <a:lnTo>
                    <a:pt x="6399256" y="279139"/>
                  </a:lnTo>
                  <a:cubicBezTo>
                    <a:pt x="6469478" y="335831"/>
                    <a:pt x="6554133" y="368934"/>
                    <a:pt x="6645257" y="368934"/>
                  </a:cubicBezTo>
                  <a:cubicBezTo>
                    <a:pt x="6736382" y="368934"/>
                    <a:pt x="6821036" y="335831"/>
                    <a:pt x="6891259" y="279139"/>
                  </a:cubicBezTo>
                  <a:lnTo>
                    <a:pt x="6925818" y="245066"/>
                  </a:lnTo>
                  <a:lnTo>
                    <a:pt x="6932170" y="233364"/>
                  </a:lnTo>
                  <a:cubicBezTo>
                    <a:pt x="7026657" y="93505"/>
                    <a:pt x="7186667" y="1552"/>
                    <a:pt x="7368155" y="1552"/>
                  </a:cubicBezTo>
                  <a:cubicBezTo>
                    <a:pt x="7658535" y="1552"/>
                    <a:pt x="7893935" y="236952"/>
                    <a:pt x="7893935" y="527332"/>
                  </a:cubicBezTo>
                  <a:cubicBezTo>
                    <a:pt x="7893935" y="817712"/>
                    <a:pt x="7658535" y="1053112"/>
                    <a:pt x="7368155" y="1053112"/>
                  </a:cubicBezTo>
                  <a:cubicBezTo>
                    <a:pt x="7186667" y="1053112"/>
                    <a:pt x="7026657" y="961159"/>
                    <a:pt x="6932170" y="821301"/>
                  </a:cubicBezTo>
                  <a:lnTo>
                    <a:pt x="6925820" y="809601"/>
                  </a:lnTo>
                  <a:lnTo>
                    <a:pt x="6891259" y="775526"/>
                  </a:lnTo>
                  <a:cubicBezTo>
                    <a:pt x="6821037" y="718834"/>
                    <a:pt x="6736382" y="685731"/>
                    <a:pt x="6645257" y="685731"/>
                  </a:cubicBezTo>
                  <a:cubicBezTo>
                    <a:pt x="6554133" y="685731"/>
                    <a:pt x="6469478" y="718834"/>
                    <a:pt x="6399256" y="775526"/>
                  </a:cubicBezTo>
                  <a:lnTo>
                    <a:pt x="6367880" y="806463"/>
                  </a:lnTo>
                  <a:lnTo>
                    <a:pt x="6358942" y="823027"/>
                  </a:lnTo>
                  <a:cubicBezTo>
                    <a:pt x="6265085" y="962781"/>
                    <a:pt x="6106141" y="1054664"/>
                    <a:pt x="5925861" y="1054664"/>
                  </a:cubicBezTo>
                  <a:lnTo>
                    <a:pt x="5164099" y="1054664"/>
                  </a:lnTo>
                  <a:lnTo>
                    <a:pt x="5164099" y="1054665"/>
                  </a:lnTo>
                  <a:lnTo>
                    <a:pt x="5022417" y="1054665"/>
                  </a:lnTo>
                  <a:lnTo>
                    <a:pt x="3649530" y="1054665"/>
                  </a:lnTo>
                  <a:lnTo>
                    <a:pt x="1968075" y="1054665"/>
                  </a:lnTo>
                  <a:cubicBezTo>
                    <a:pt x="1787795" y="1054665"/>
                    <a:pt x="1628850" y="962782"/>
                    <a:pt x="1534993" y="823028"/>
                  </a:cubicBezTo>
                  <a:lnTo>
                    <a:pt x="1526052" y="806457"/>
                  </a:lnTo>
                  <a:lnTo>
                    <a:pt x="1494680" y="775526"/>
                  </a:lnTo>
                  <a:cubicBezTo>
                    <a:pt x="1424458" y="718834"/>
                    <a:pt x="1339803" y="685731"/>
                    <a:pt x="1248678" y="685731"/>
                  </a:cubicBezTo>
                  <a:cubicBezTo>
                    <a:pt x="1157554" y="685731"/>
                    <a:pt x="1072900" y="718834"/>
                    <a:pt x="1002677" y="775526"/>
                  </a:cubicBezTo>
                  <a:lnTo>
                    <a:pt x="968113" y="809606"/>
                  </a:lnTo>
                  <a:lnTo>
                    <a:pt x="961765" y="821301"/>
                  </a:lnTo>
                  <a:cubicBezTo>
                    <a:pt x="867279" y="961159"/>
                    <a:pt x="707268" y="1053112"/>
                    <a:pt x="525780" y="1053112"/>
                  </a:cubicBezTo>
                  <a:cubicBezTo>
                    <a:pt x="235400" y="1053112"/>
                    <a:pt x="0" y="817712"/>
                    <a:pt x="0" y="527332"/>
                  </a:cubicBezTo>
                  <a:cubicBezTo>
                    <a:pt x="0" y="236952"/>
                    <a:pt x="235400" y="1552"/>
                    <a:pt x="525780" y="1552"/>
                  </a:cubicBezTo>
                  <a:cubicBezTo>
                    <a:pt x="707268" y="1552"/>
                    <a:pt x="867279" y="93505"/>
                    <a:pt x="961765" y="233364"/>
                  </a:cubicBezTo>
                  <a:lnTo>
                    <a:pt x="968115" y="245063"/>
                  </a:lnTo>
                  <a:lnTo>
                    <a:pt x="1002677" y="279139"/>
                  </a:lnTo>
                  <a:cubicBezTo>
                    <a:pt x="1072900" y="335831"/>
                    <a:pt x="1157554" y="368934"/>
                    <a:pt x="1248678" y="368934"/>
                  </a:cubicBezTo>
                  <a:cubicBezTo>
                    <a:pt x="1339803" y="368934"/>
                    <a:pt x="1424458" y="335831"/>
                    <a:pt x="1494680" y="279139"/>
                  </a:cubicBezTo>
                  <a:lnTo>
                    <a:pt x="1526054" y="248206"/>
                  </a:lnTo>
                  <a:lnTo>
                    <a:pt x="1534993" y="231639"/>
                  </a:lnTo>
                  <a:cubicBezTo>
                    <a:pt x="1628850" y="91886"/>
                    <a:pt x="1787795" y="2"/>
                    <a:pt x="1968075" y="2"/>
                  </a:cubicBezTo>
                  <a:lnTo>
                    <a:pt x="2871503" y="2"/>
                  </a:lnTo>
                  <a:cubicBezTo>
                    <a:pt x="2871508" y="1"/>
                    <a:pt x="2871512" y="1"/>
                    <a:pt x="2871517" y="0"/>
                  </a:cubicBezTo>
                  <a:close/>
                </a:path>
              </a:pathLst>
            </a:custGeom>
            <a:solidFill>
              <a:schemeClr val="tx2"/>
            </a:solidFill>
            <a:ln w="0" cap="flat">
              <a:noFill/>
              <a:prstDash val="solid"/>
              <a:miter/>
            </a:ln>
          </p:spPr>
          <p:txBody>
            <a:bodyPr wrap="square" rtlCol="0" anchor="ctr">
              <a:noAutofit/>
            </a:bodyPr>
            <a:lstStyle/>
            <a:p>
              <a:endParaRPr lang="en-US" sz="1400"/>
            </a:p>
          </p:txBody>
        </p:sp>
        <p:sp>
          <p:nvSpPr>
            <p:cNvPr id="15" name="Freeform 6">
              <a:extLst>
                <a:ext uri="{FF2B5EF4-FFF2-40B4-BE49-F238E27FC236}">
                  <a16:creationId xmlns:a16="http://schemas.microsoft.com/office/drawing/2014/main" id="{6420ECC7-932E-66E7-82CD-84D1B5AD7D55}"/>
                </a:ext>
              </a:extLst>
            </p:cNvPr>
            <p:cNvSpPr/>
            <p:nvPr/>
          </p:nvSpPr>
          <p:spPr>
            <a:xfrm>
              <a:off x="3668413" y="1421508"/>
              <a:ext cx="4855177" cy="906484"/>
            </a:xfrm>
            <a:custGeom>
              <a:avLst/>
              <a:gdLst>
                <a:gd name="connsiteX0" fmla="*/ 695865 w 767249"/>
                <a:gd name="connsiteY0" fmla="*/ 0 h 143249"/>
                <a:gd name="connsiteX1" fmla="*/ 767250 w 767249"/>
                <a:gd name="connsiteY1" fmla="*/ 71360 h 143249"/>
                <a:gd name="connsiteX2" fmla="*/ 767250 w 767249"/>
                <a:gd name="connsiteY2" fmla="*/ 71889 h 143249"/>
                <a:gd name="connsiteX3" fmla="*/ 695865 w 767249"/>
                <a:gd name="connsiteY3" fmla="*/ 143249 h 143249"/>
                <a:gd name="connsiteX4" fmla="*/ 71385 w 767249"/>
                <a:gd name="connsiteY4" fmla="*/ 143249 h 143249"/>
                <a:gd name="connsiteX5" fmla="*/ 0 w 767249"/>
                <a:gd name="connsiteY5" fmla="*/ 71889 h 143249"/>
                <a:gd name="connsiteX6" fmla="*/ 0 w 767249"/>
                <a:gd name="connsiteY6" fmla="*/ 71360 h 143249"/>
                <a:gd name="connsiteX7" fmla="*/ 71385 w 767249"/>
                <a:gd name="connsiteY7" fmla="*/ 0 h 14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7249" h="143249">
                  <a:moveTo>
                    <a:pt x="695865" y="0"/>
                  </a:moveTo>
                  <a:cubicBezTo>
                    <a:pt x="735290" y="0"/>
                    <a:pt x="767250" y="31949"/>
                    <a:pt x="767250" y="71360"/>
                  </a:cubicBezTo>
                  <a:lnTo>
                    <a:pt x="767250" y="71889"/>
                  </a:lnTo>
                  <a:cubicBezTo>
                    <a:pt x="767250" y="111300"/>
                    <a:pt x="735290" y="143249"/>
                    <a:pt x="695865" y="143249"/>
                  </a:cubicBezTo>
                  <a:lnTo>
                    <a:pt x="71385" y="143249"/>
                  </a:lnTo>
                  <a:cubicBezTo>
                    <a:pt x="31960" y="143249"/>
                    <a:pt x="0" y="111300"/>
                    <a:pt x="0" y="71889"/>
                  </a:cubicBezTo>
                  <a:lnTo>
                    <a:pt x="0" y="71360"/>
                  </a:lnTo>
                  <a:cubicBezTo>
                    <a:pt x="0" y="31949"/>
                    <a:pt x="31960" y="0"/>
                    <a:pt x="71385" y="0"/>
                  </a:cubicBezTo>
                  <a:close/>
                </a:path>
              </a:pathLst>
            </a:custGeom>
            <a:solidFill>
              <a:schemeClr val="accent1">
                <a:lumMod val="40000"/>
                <a:lumOff val="60000"/>
              </a:schemeClr>
            </a:solidFill>
            <a:ln w="0" cap="flat">
              <a:noFill/>
              <a:prstDash val="solid"/>
              <a:miter/>
            </a:ln>
          </p:spPr>
          <p:txBody>
            <a:bodyPr rtlCol="0" anchor="ctr"/>
            <a:lstStyle/>
            <a:p>
              <a:endParaRPr lang="en-US" sz="1400"/>
            </a:p>
          </p:txBody>
        </p:sp>
        <p:sp>
          <p:nvSpPr>
            <p:cNvPr id="16" name="Oval 15">
              <a:extLst>
                <a:ext uri="{FF2B5EF4-FFF2-40B4-BE49-F238E27FC236}">
                  <a16:creationId xmlns:a16="http://schemas.microsoft.com/office/drawing/2014/main" id="{C1288E99-6FDC-29DC-B50A-650DA3DDA9E3}"/>
                </a:ext>
              </a:extLst>
            </p:cNvPr>
            <p:cNvSpPr/>
            <p:nvPr/>
          </p:nvSpPr>
          <p:spPr>
            <a:xfrm>
              <a:off x="9063947" y="1421509"/>
              <a:ext cx="906483" cy="906483"/>
            </a:xfrm>
            <a:prstGeom prst="ellipse">
              <a:avLst/>
            </a:prstGeom>
            <a:solidFill>
              <a:schemeClr val="accent1"/>
            </a:solidFill>
            <a:ln w="0" cap="flat">
              <a:noFill/>
              <a:prstDash val="solid"/>
              <a:miter/>
            </a:ln>
          </p:spPr>
          <p:txBody>
            <a:bodyPr rtlCol="0" anchor="ctr"/>
            <a:lstStyle/>
            <a:p>
              <a:endParaRPr lang="en-US" sz="1400"/>
            </a:p>
          </p:txBody>
        </p:sp>
        <p:sp>
          <p:nvSpPr>
            <p:cNvPr id="17" name="Oval 16">
              <a:extLst>
                <a:ext uri="{FF2B5EF4-FFF2-40B4-BE49-F238E27FC236}">
                  <a16:creationId xmlns:a16="http://schemas.microsoft.com/office/drawing/2014/main" id="{9B1FC2A9-FDF4-F5FF-3CF8-C93185C58226}"/>
                </a:ext>
              </a:extLst>
            </p:cNvPr>
            <p:cNvSpPr/>
            <p:nvPr/>
          </p:nvSpPr>
          <p:spPr>
            <a:xfrm>
              <a:off x="2223886" y="1421509"/>
              <a:ext cx="906483" cy="906483"/>
            </a:xfrm>
            <a:prstGeom prst="ellipse">
              <a:avLst/>
            </a:prstGeom>
            <a:solidFill>
              <a:schemeClr val="accent1"/>
            </a:solidFill>
            <a:ln w="0" cap="flat">
              <a:noFill/>
              <a:prstDash val="solid"/>
              <a:miter/>
            </a:ln>
          </p:spPr>
          <p:txBody>
            <a:bodyPr rtlCol="0" anchor="ctr"/>
            <a:lstStyle/>
            <a:p>
              <a:pPr algn="ctr"/>
              <a:r>
                <a:rPr lang="en-US" sz="2400" b="1" dirty="0">
                  <a:solidFill>
                    <a:schemeClr val="bg2"/>
                  </a:solidFill>
                </a:rPr>
                <a:t>05</a:t>
              </a:r>
            </a:p>
          </p:txBody>
        </p:sp>
        <p:sp>
          <p:nvSpPr>
            <p:cNvPr id="21" name="TextBox 20">
              <a:extLst>
                <a:ext uri="{FF2B5EF4-FFF2-40B4-BE49-F238E27FC236}">
                  <a16:creationId xmlns:a16="http://schemas.microsoft.com/office/drawing/2014/main" id="{8ED8A9C5-781D-1DD5-0481-A116479CF651}"/>
                </a:ext>
              </a:extLst>
            </p:cNvPr>
            <p:cNvSpPr txBox="1"/>
            <p:nvPr/>
          </p:nvSpPr>
          <p:spPr>
            <a:xfrm>
              <a:off x="3962387" y="1460503"/>
              <a:ext cx="4267228" cy="1069081"/>
            </a:xfrm>
            <a:prstGeom prst="rect">
              <a:avLst/>
            </a:prstGeom>
            <a:noFill/>
          </p:spPr>
          <p:txBody>
            <a:bodyPr wrap="square" lIns="0" rIns="0" rtlCol="0" anchor="t">
              <a:spAutoFit/>
            </a:bodyPr>
            <a:lstStyle/>
            <a:p>
              <a:pPr algn="ctr"/>
              <a:r>
                <a:rPr lang="en-US" sz="1400" b="1" dirty="0"/>
                <a:t>To end the global TB epidemic, global commitments must therefore urgently be translated into action through sustainable system-wide approaches that prioritize PHC</a:t>
              </a:r>
              <a:endParaRPr lang="en-US" sz="1400" b="1" noProof="1"/>
            </a:p>
          </p:txBody>
        </p:sp>
        <p:pic>
          <p:nvPicPr>
            <p:cNvPr id="19" name="Graphic 18" descr="Lightbulb with solid fill">
              <a:extLst>
                <a:ext uri="{FF2B5EF4-FFF2-40B4-BE49-F238E27FC236}">
                  <a16:creationId xmlns:a16="http://schemas.microsoft.com/office/drawing/2014/main" id="{E4F325CE-6B83-5DFE-DB96-A38343CD30D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9259071" y="1616633"/>
              <a:ext cx="516235" cy="516235"/>
            </a:xfrm>
            <a:prstGeom prst="rect">
              <a:avLst/>
            </a:prstGeom>
          </p:spPr>
        </p:pic>
      </p:grpSp>
      <p:grpSp>
        <p:nvGrpSpPr>
          <p:cNvPr id="22" name="Group 21">
            <a:extLst>
              <a:ext uri="{FF2B5EF4-FFF2-40B4-BE49-F238E27FC236}">
                <a16:creationId xmlns:a16="http://schemas.microsoft.com/office/drawing/2014/main" id="{E5396918-1689-1BE6-3115-2F22EFEDFA04}"/>
              </a:ext>
            </a:extLst>
          </p:cNvPr>
          <p:cNvGrpSpPr/>
          <p:nvPr/>
        </p:nvGrpSpPr>
        <p:grpSpPr>
          <a:xfrm>
            <a:off x="2243397" y="4331866"/>
            <a:ext cx="7044984" cy="941242"/>
            <a:chOff x="2149033" y="1347418"/>
            <a:chExt cx="7893935" cy="1054665"/>
          </a:xfrm>
        </p:grpSpPr>
        <p:sp>
          <p:nvSpPr>
            <p:cNvPr id="23" name="Freeform: Shape 86">
              <a:extLst>
                <a:ext uri="{FF2B5EF4-FFF2-40B4-BE49-F238E27FC236}">
                  <a16:creationId xmlns:a16="http://schemas.microsoft.com/office/drawing/2014/main" id="{B4B5AFC7-6924-2C16-9C5A-B838397F04E3}"/>
                </a:ext>
              </a:extLst>
            </p:cNvPr>
            <p:cNvSpPr/>
            <p:nvPr/>
          </p:nvSpPr>
          <p:spPr>
            <a:xfrm>
              <a:off x="2149033" y="1347418"/>
              <a:ext cx="7893935" cy="1054665"/>
            </a:xfrm>
            <a:custGeom>
              <a:avLst/>
              <a:gdLst>
                <a:gd name="connsiteX0" fmla="*/ 2871517 w 7893935"/>
                <a:gd name="connsiteY0" fmla="*/ 0 h 1054665"/>
                <a:gd name="connsiteX1" fmla="*/ 3649530 w 7893935"/>
                <a:gd name="connsiteY1" fmla="*/ 0 h 1054665"/>
                <a:gd name="connsiteX2" fmla="*/ 5925861 w 7893935"/>
                <a:gd name="connsiteY2" fmla="*/ 0 h 1054665"/>
                <a:gd name="connsiteX3" fmla="*/ 6358942 w 7893935"/>
                <a:gd name="connsiteY3" fmla="*/ 231638 h 1054665"/>
                <a:gd name="connsiteX4" fmla="*/ 6367880 w 7893935"/>
                <a:gd name="connsiteY4" fmla="*/ 248204 h 1054665"/>
                <a:gd name="connsiteX5" fmla="*/ 6399256 w 7893935"/>
                <a:gd name="connsiteY5" fmla="*/ 279139 h 1054665"/>
                <a:gd name="connsiteX6" fmla="*/ 6645257 w 7893935"/>
                <a:gd name="connsiteY6" fmla="*/ 368934 h 1054665"/>
                <a:gd name="connsiteX7" fmla="*/ 6891259 w 7893935"/>
                <a:gd name="connsiteY7" fmla="*/ 279139 h 1054665"/>
                <a:gd name="connsiteX8" fmla="*/ 6925818 w 7893935"/>
                <a:gd name="connsiteY8" fmla="*/ 245066 h 1054665"/>
                <a:gd name="connsiteX9" fmla="*/ 6932170 w 7893935"/>
                <a:gd name="connsiteY9" fmla="*/ 233364 h 1054665"/>
                <a:gd name="connsiteX10" fmla="*/ 7368155 w 7893935"/>
                <a:gd name="connsiteY10" fmla="*/ 1552 h 1054665"/>
                <a:gd name="connsiteX11" fmla="*/ 7893935 w 7893935"/>
                <a:gd name="connsiteY11" fmla="*/ 527332 h 1054665"/>
                <a:gd name="connsiteX12" fmla="*/ 7368155 w 7893935"/>
                <a:gd name="connsiteY12" fmla="*/ 1053112 h 1054665"/>
                <a:gd name="connsiteX13" fmla="*/ 6932170 w 7893935"/>
                <a:gd name="connsiteY13" fmla="*/ 821301 h 1054665"/>
                <a:gd name="connsiteX14" fmla="*/ 6925820 w 7893935"/>
                <a:gd name="connsiteY14" fmla="*/ 809601 h 1054665"/>
                <a:gd name="connsiteX15" fmla="*/ 6891259 w 7893935"/>
                <a:gd name="connsiteY15" fmla="*/ 775526 h 1054665"/>
                <a:gd name="connsiteX16" fmla="*/ 6645257 w 7893935"/>
                <a:gd name="connsiteY16" fmla="*/ 685731 h 1054665"/>
                <a:gd name="connsiteX17" fmla="*/ 6399256 w 7893935"/>
                <a:gd name="connsiteY17" fmla="*/ 775526 h 1054665"/>
                <a:gd name="connsiteX18" fmla="*/ 6367880 w 7893935"/>
                <a:gd name="connsiteY18" fmla="*/ 806463 h 1054665"/>
                <a:gd name="connsiteX19" fmla="*/ 6358942 w 7893935"/>
                <a:gd name="connsiteY19" fmla="*/ 823027 h 1054665"/>
                <a:gd name="connsiteX20" fmla="*/ 5925861 w 7893935"/>
                <a:gd name="connsiteY20" fmla="*/ 1054664 h 1054665"/>
                <a:gd name="connsiteX21" fmla="*/ 5164099 w 7893935"/>
                <a:gd name="connsiteY21" fmla="*/ 1054664 h 1054665"/>
                <a:gd name="connsiteX22" fmla="*/ 5164099 w 7893935"/>
                <a:gd name="connsiteY22" fmla="*/ 1054665 h 1054665"/>
                <a:gd name="connsiteX23" fmla="*/ 5022417 w 7893935"/>
                <a:gd name="connsiteY23" fmla="*/ 1054665 h 1054665"/>
                <a:gd name="connsiteX24" fmla="*/ 3649530 w 7893935"/>
                <a:gd name="connsiteY24" fmla="*/ 1054665 h 1054665"/>
                <a:gd name="connsiteX25" fmla="*/ 1968075 w 7893935"/>
                <a:gd name="connsiteY25" fmla="*/ 1054665 h 1054665"/>
                <a:gd name="connsiteX26" fmla="*/ 1534993 w 7893935"/>
                <a:gd name="connsiteY26" fmla="*/ 823028 h 1054665"/>
                <a:gd name="connsiteX27" fmla="*/ 1526052 w 7893935"/>
                <a:gd name="connsiteY27" fmla="*/ 806457 h 1054665"/>
                <a:gd name="connsiteX28" fmla="*/ 1494680 w 7893935"/>
                <a:gd name="connsiteY28" fmla="*/ 775526 h 1054665"/>
                <a:gd name="connsiteX29" fmla="*/ 1248678 w 7893935"/>
                <a:gd name="connsiteY29" fmla="*/ 685731 h 1054665"/>
                <a:gd name="connsiteX30" fmla="*/ 1002677 w 7893935"/>
                <a:gd name="connsiteY30" fmla="*/ 775526 h 1054665"/>
                <a:gd name="connsiteX31" fmla="*/ 968113 w 7893935"/>
                <a:gd name="connsiteY31" fmla="*/ 809606 h 1054665"/>
                <a:gd name="connsiteX32" fmla="*/ 961765 w 7893935"/>
                <a:gd name="connsiteY32" fmla="*/ 821301 h 1054665"/>
                <a:gd name="connsiteX33" fmla="*/ 525780 w 7893935"/>
                <a:gd name="connsiteY33" fmla="*/ 1053112 h 1054665"/>
                <a:gd name="connsiteX34" fmla="*/ 0 w 7893935"/>
                <a:gd name="connsiteY34" fmla="*/ 527332 h 1054665"/>
                <a:gd name="connsiteX35" fmla="*/ 525780 w 7893935"/>
                <a:gd name="connsiteY35" fmla="*/ 1552 h 1054665"/>
                <a:gd name="connsiteX36" fmla="*/ 961765 w 7893935"/>
                <a:gd name="connsiteY36" fmla="*/ 233364 h 1054665"/>
                <a:gd name="connsiteX37" fmla="*/ 968115 w 7893935"/>
                <a:gd name="connsiteY37" fmla="*/ 245063 h 1054665"/>
                <a:gd name="connsiteX38" fmla="*/ 1002677 w 7893935"/>
                <a:gd name="connsiteY38" fmla="*/ 279139 h 1054665"/>
                <a:gd name="connsiteX39" fmla="*/ 1248678 w 7893935"/>
                <a:gd name="connsiteY39" fmla="*/ 368934 h 1054665"/>
                <a:gd name="connsiteX40" fmla="*/ 1494680 w 7893935"/>
                <a:gd name="connsiteY40" fmla="*/ 279139 h 1054665"/>
                <a:gd name="connsiteX41" fmla="*/ 1526054 w 7893935"/>
                <a:gd name="connsiteY41" fmla="*/ 248206 h 1054665"/>
                <a:gd name="connsiteX42" fmla="*/ 1534993 w 7893935"/>
                <a:gd name="connsiteY42" fmla="*/ 231639 h 1054665"/>
                <a:gd name="connsiteX43" fmla="*/ 1968075 w 7893935"/>
                <a:gd name="connsiteY43" fmla="*/ 2 h 1054665"/>
                <a:gd name="connsiteX44" fmla="*/ 2871503 w 7893935"/>
                <a:gd name="connsiteY44" fmla="*/ 2 h 1054665"/>
                <a:gd name="connsiteX45" fmla="*/ 2871517 w 7893935"/>
                <a:gd name="connsiteY45" fmla="*/ 0 h 1054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893935" h="1054665">
                  <a:moveTo>
                    <a:pt x="2871517" y="0"/>
                  </a:moveTo>
                  <a:lnTo>
                    <a:pt x="3649530" y="0"/>
                  </a:lnTo>
                  <a:lnTo>
                    <a:pt x="5925861" y="0"/>
                  </a:lnTo>
                  <a:cubicBezTo>
                    <a:pt x="6106141" y="0"/>
                    <a:pt x="6265085" y="91885"/>
                    <a:pt x="6358942" y="231638"/>
                  </a:cubicBezTo>
                  <a:lnTo>
                    <a:pt x="6367880" y="248204"/>
                  </a:lnTo>
                  <a:lnTo>
                    <a:pt x="6399256" y="279139"/>
                  </a:lnTo>
                  <a:cubicBezTo>
                    <a:pt x="6469478" y="335831"/>
                    <a:pt x="6554133" y="368934"/>
                    <a:pt x="6645257" y="368934"/>
                  </a:cubicBezTo>
                  <a:cubicBezTo>
                    <a:pt x="6736382" y="368934"/>
                    <a:pt x="6821036" y="335831"/>
                    <a:pt x="6891259" y="279139"/>
                  </a:cubicBezTo>
                  <a:lnTo>
                    <a:pt x="6925818" y="245066"/>
                  </a:lnTo>
                  <a:lnTo>
                    <a:pt x="6932170" y="233364"/>
                  </a:lnTo>
                  <a:cubicBezTo>
                    <a:pt x="7026657" y="93505"/>
                    <a:pt x="7186667" y="1552"/>
                    <a:pt x="7368155" y="1552"/>
                  </a:cubicBezTo>
                  <a:cubicBezTo>
                    <a:pt x="7658535" y="1552"/>
                    <a:pt x="7893935" y="236952"/>
                    <a:pt x="7893935" y="527332"/>
                  </a:cubicBezTo>
                  <a:cubicBezTo>
                    <a:pt x="7893935" y="817712"/>
                    <a:pt x="7658535" y="1053112"/>
                    <a:pt x="7368155" y="1053112"/>
                  </a:cubicBezTo>
                  <a:cubicBezTo>
                    <a:pt x="7186667" y="1053112"/>
                    <a:pt x="7026657" y="961159"/>
                    <a:pt x="6932170" y="821301"/>
                  </a:cubicBezTo>
                  <a:lnTo>
                    <a:pt x="6925820" y="809601"/>
                  </a:lnTo>
                  <a:lnTo>
                    <a:pt x="6891259" y="775526"/>
                  </a:lnTo>
                  <a:cubicBezTo>
                    <a:pt x="6821037" y="718834"/>
                    <a:pt x="6736382" y="685731"/>
                    <a:pt x="6645257" y="685731"/>
                  </a:cubicBezTo>
                  <a:cubicBezTo>
                    <a:pt x="6554133" y="685731"/>
                    <a:pt x="6469478" y="718834"/>
                    <a:pt x="6399256" y="775526"/>
                  </a:cubicBezTo>
                  <a:lnTo>
                    <a:pt x="6367880" y="806463"/>
                  </a:lnTo>
                  <a:lnTo>
                    <a:pt x="6358942" y="823027"/>
                  </a:lnTo>
                  <a:cubicBezTo>
                    <a:pt x="6265085" y="962781"/>
                    <a:pt x="6106141" y="1054664"/>
                    <a:pt x="5925861" y="1054664"/>
                  </a:cubicBezTo>
                  <a:lnTo>
                    <a:pt x="5164099" y="1054664"/>
                  </a:lnTo>
                  <a:lnTo>
                    <a:pt x="5164099" y="1054665"/>
                  </a:lnTo>
                  <a:lnTo>
                    <a:pt x="5022417" y="1054665"/>
                  </a:lnTo>
                  <a:lnTo>
                    <a:pt x="3649530" y="1054665"/>
                  </a:lnTo>
                  <a:lnTo>
                    <a:pt x="1968075" y="1054665"/>
                  </a:lnTo>
                  <a:cubicBezTo>
                    <a:pt x="1787795" y="1054665"/>
                    <a:pt x="1628850" y="962782"/>
                    <a:pt x="1534993" y="823028"/>
                  </a:cubicBezTo>
                  <a:lnTo>
                    <a:pt x="1526052" y="806457"/>
                  </a:lnTo>
                  <a:lnTo>
                    <a:pt x="1494680" y="775526"/>
                  </a:lnTo>
                  <a:cubicBezTo>
                    <a:pt x="1424458" y="718834"/>
                    <a:pt x="1339803" y="685731"/>
                    <a:pt x="1248678" y="685731"/>
                  </a:cubicBezTo>
                  <a:cubicBezTo>
                    <a:pt x="1157554" y="685731"/>
                    <a:pt x="1072900" y="718834"/>
                    <a:pt x="1002677" y="775526"/>
                  </a:cubicBezTo>
                  <a:lnTo>
                    <a:pt x="968113" y="809606"/>
                  </a:lnTo>
                  <a:lnTo>
                    <a:pt x="961765" y="821301"/>
                  </a:lnTo>
                  <a:cubicBezTo>
                    <a:pt x="867279" y="961159"/>
                    <a:pt x="707268" y="1053112"/>
                    <a:pt x="525780" y="1053112"/>
                  </a:cubicBezTo>
                  <a:cubicBezTo>
                    <a:pt x="235400" y="1053112"/>
                    <a:pt x="0" y="817712"/>
                    <a:pt x="0" y="527332"/>
                  </a:cubicBezTo>
                  <a:cubicBezTo>
                    <a:pt x="0" y="236952"/>
                    <a:pt x="235400" y="1552"/>
                    <a:pt x="525780" y="1552"/>
                  </a:cubicBezTo>
                  <a:cubicBezTo>
                    <a:pt x="707268" y="1552"/>
                    <a:pt x="867279" y="93505"/>
                    <a:pt x="961765" y="233364"/>
                  </a:cubicBezTo>
                  <a:lnTo>
                    <a:pt x="968115" y="245063"/>
                  </a:lnTo>
                  <a:lnTo>
                    <a:pt x="1002677" y="279139"/>
                  </a:lnTo>
                  <a:cubicBezTo>
                    <a:pt x="1072900" y="335831"/>
                    <a:pt x="1157554" y="368934"/>
                    <a:pt x="1248678" y="368934"/>
                  </a:cubicBezTo>
                  <a:cubicBezTo>
                    <a:pt x="1339803" y="368934"/>
                    <a:pt x="1424458" y="335831"/>
                    <a:pt x="1494680" y="279139"/>
                  </a:cubicBezTo>
                  <a:lnTo>
                    <a:pt x="1526054" y="248206"/>
                  </a:lnTo>
                  <a:lnTo>
                    <a:pt x="1534993" y="231639"/>
                  </a:lnTo>
                  <a:cubicBezTo>
                    <a:pt x="1628850" y="91886"/>
                    <a:pt x="1787795" y="2"/>
                    <a:pt x="1968075" y="2"/>
                  </a:cubicBezTo>
                  <a:lnTo>
                    <a:pt x="2871503" y="2"/>
                  </a:lnTo>
                  <a:cubicBezTo>
                    <a:pt x="2871508" y="1"/>
                    <a:pt x="2871512" y="1"/>
                    <a:pt x="2871517" y="0"/>
                  </a:cubicBezTo>
                  <a:close/>
                </a:path>
              </a:pathLst>
            </a:custGeom>
            <a:solidFill>
              <a:schemeClr val="tx2"/>
            </a:solidFill>
            <a:ln w="0" cap="flat">
              <a:noFill/>
              <a:prstDash val="solid"/>
              <a:miter/>
            </a:ln>
          </p:spPr>
          <p:txBody>
            <a:bodyPr wrap="square" rtlCol="0" anchor="ctr">
              <a:noAutofit/>
            </a:bodyPr>
            <a:lstStyle/>
            <a:p>
              <a:endParaRPr lang="en-US" sz="1400"/>
            </a:p>
          </p:txBody>
        </p:sp>
        <p:sp>
          <p:nvSpPr>
            <p:cNvPr id="24" name="Freeform 6">
              <a:extLst>
                <a:ext uri="{FF2B5EF4-FFF2-40B4-BE49-F238E27FC236}">
                  <a16:creationId xmlns:a16="http://schemas.microsoft.com/office/drawing/2014/main" id="{7358E781-F2E6-DA77-ABBB-5A8209DF64A7}"/>
                </a:ext>
              </a:extLst>
            </p:cNvPr>
            <p:cNvSpPr/>
            <p:nvPr/>
          </p:nvSpPr>
          <p:spPr>
            <a:xfrm>
              <a:off x="3668413" y="1421508"/>
              <a:ext cx="4855177" cy="906484"/>
            </a:xfrm>
            <a:custGeom>
              <a:avLst/>
              <a:gdLst>
                <a:gd name="connsiteX0" fmla="*/ 695865 w 767249"/>
                <a:gd name="connsiteY0" fmla="*/ 0 h 143249"/>
                <a:gd name="connsiteX1" fmla="*/ 767250 w 767249"/>
                <a:gd name="connsiteY1" fmla="*/ 71360 h 143249"/>
                <a:gd name="connsiteX2" fmla="*/ 767250 w 767249"/>
                <a:gd name="connsiteY2" fmla="*/ 71889 h 143249"/>
                <a:gd name="connsiteX3" fmla="*/ 695865 w 767249"/>
                <a:gd name="connsiteY3" fmla="*/ 143249 h 143249"/>
                <a:gd name="connsiteX4" fmla="*/ 71385 w 767249"/>
                <a:gd name="connsiteY4" fmla="*/ 143249 h 143249"/>
                <a:gd name="connsiteX5" fmla="*/ 0 w 767249"/>
                <a:gd name="connsiteY5" fmla="*/ 71889 h 143249"/>
                <a:gd name="connsiteX6" fmla="*/ 0 w 767249"/>
                <a:gd name="connsiteY6" fmla="*/ 71360 h 143249"/>
                <a:gd name="connsiteX7" fmla="*/ 71385 w 767249"/>
                <a:gd name="connsiteY7" fmla="*/ 0 h 14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7249" h="143249">
                  <a:moveTo>
                    <a:pt x="695865" y="0"/>
                  </a:moveTo>
                  <a:cubicBezTo>
                    <a:pt x="735290" y="0"/>
                    <a:pt x="767250" y="31949"/>
                    <a:pt x="767250" y="71360"/>
                  </a:cubicBezTo>
                  <a:lnTo>
                    <a:pt x="767250" y="71889"/>
                  </a:lnTo>
                  <a:cubicBezTo>
                    <a:pt x="767250" y="111300"/>
                    <a:pt x="735290" y="143249"/>
                    <a:pt x="695865" y="143249"/>
                  </a:cubicBezTo>
                  <a:lnTo>
                    <a:pt x="71385" y="143249"/>
                  </a:lnTo>
                  <a:cubicBezTo>
                    <a:pt x="31960" y="143249"/>
                    <a:pt x="0" y="111300"/>
                    <a:pt x="0" y="71889"/>
                  </a:cubicBezTo>
                  <a:lnTo>
                    <a:pt x="0" y="71360"/>
                  </a:lnTo>
                  <a:cubicBezTo>
                    <a:pt x="0" y="31949"/>
                    <a:pt x="31960" y="0"/>
                    <a:pt x="71385" y="0"/>
                  </a:cubicBezTo>
                  <a:close/>
                </a:path>
              </a:pathLst>
            </a:custGeom>
            <a:solidFill>
              <a:schemeClr val="accent1">
                <a:lumMod val="40000"/>
                <a:lumOff val="60000"/>
              </a:schemeClr>
            </a:solidFill>
            <a:ln w="0" cap="flat">
              <a:noFill/>
              <a:prstDash val="solid"/>
              <a:miter/>
            </a:ln>
          </p:spPr>
          <p:txBody>
            <a:bodyPr rtlCol="0" anchor="ctr"/>
            <a:lstStyle/>
            <a:p>
              <a:endParaRPr lang="en-US" sz="1400"/>
            </a:p>
          </p:txBody>
        </p:sp>
        <p:sp>
          <p:nvSpPr>
            <p:cNvPr id="25" name="Oval 24">
              <a:extLst>
                <a:ext uri="{FF2B5EF4-FFF2-40B4-BE49-F238E27FC236}">
                  <a16:creationId xmlns:a16="http://schemas.microsoft.com/office/drawing/2014/main" id="{28FFD74A-4AA7-016C-0526-DADEB17302B4}"/>
                </a:ext>
              </a:extLst>
            </p:cNvPr>
            <p:cNvSpPr/>
            <p:nvPr/>
          </p:nvSpPr>
          <p:spPr>
            <a:xfrm>
              <a:off x="9063947" y="1421509"/>
              <a:ext cx="906483" cy="906483"/>
            </a:xfrm>
            <a:prstGeom prst="ellipse">
              <a:avLst/>
            </a:prstGeom>
            <a:solidFill>
              <a:schemeClr val="accent1"/>
            </a:solidFill>
            <a:ln w="0" cap="flat">
              <a:noFill/>
              <a:prstDash val="solid"/>
              <a:miter/>
            </a:ln>
          </p:spPr>
          <p:txBody>
            <a:bodyPr rtlCol="0" anchor="ctr"/>
            <a:lstStyle/>
            <a:p>
              <a:endParaRPr lang="en-US" sz="1400"/>
            </a:p>
          </p:txBody>
        </p:sp>
        <p:sp>
          <p:nvSpPr>
            <p:cNvPr id="26" name="Oval 25">
              <a:extLst>
                <a:ext uri="{FF2B5EF4-FFF2-40B4-BE49-F238E27FC236}">
                  <a16:creationId xmlns:a16="http://schemas.microsoft.com/office/drawing/2014/main" id="{92078BC7-A08F-7931-A008-04D529768A62}"/>
                </a:ext>
              </a:extLst>
            </p:cNvPr>
            <p:cNvSpPr/>
            <p:nvPr/>
          </p:nvSpPr>
          <p:spPr>
            <a:xfrm>
              <a:off x="2223886" y="1421509"/>
              <a:ext cx="906483" cy="906483"/>
            </a:xfrm>
            <a:prstGeom prst="ellipse">
              <a:avLst/>
            </a:prstGeom>
            <a:solidFill>
              <a:schemeClr val="accent1"/>
            </a:solidFill>
            <a:ln w="0" cap="flat">
              <a:noFill/>
              <a:prstDash val="solid"/>
              <a:miter/>
            </a:ln>
          </p:spPr>
          <p:txBody>
            <a:bodyPr rtlCol="0" anchor="ctr"/>
            <a:lstStyle/>
            <a:p>
              <a:pPr algn="ctr"/>
              <a:r>
                <a:rPr lang="en-US" sz="2400" b="1" dirty="0">
                  <a:solidFill>
                    <a:schemeClr val="bg2"/>
                  </a:solidFill>
                </a:rPr>
                <a:t>06</a:t>
              </a:r>
            </a:p>
          </p:txBody>
        </p:sp>
        <p:sp>
          <p:nvSpPr>
            <p:cNvPr id="27" name="TextBox 26">
              <a:extLst>
                <a:ext uri="{FF2B5EF4-FFF2-40B4-BE49-F238E27FC236}">
                  <a16:creationId xmlns:a16="http://schemas.microsoft.com/office/drawing/2014/main" id="{D72939B5-42E5-D06F-2C46-236AE5D58FA9}"/>
                </a:ext>
              </a:extLst>
            </p:cNvPr>
            <p:cNvSpPr txBox="1"/>
            <p:nvPr/>
          </p:nvSpPr>
          <p:spPr>
            <a:xfrm>
              <a:off x="4023426" y="1442908"/>
              <a:ext cx="4192376" cy="758702"/>
            </a:xfrm>
            <a:prstGeom prst="rect">
              <a:avLst/>
            </a:prstGeom>
            <a:noFill/>
          </p:spPr>
          <p:txBody>
            <a:bodyPr wrap="square" lIns="0" rIns="0" rtlCol="0" anchor="t">
              <a:spAutoFit/>
            </a:bodyPr>
            <a:lstStyle/>
            <a:p>
              <a:pPr algn="ctr"/>
              <a:r>
                <a:rPr lang="en-US" sz="1400" b="1" dirty="0"/>
                <a:t>PHC is the foundation for Universal Health Coverage (UHC)</a:t>
              </a:r>
            </a:p>
            <a:p>
              <a:pPr algn="ctr"/>
              <a:r>
                <a:rPr lang="en-US" sz="1000" dirty="0"/>
                <a:t>.</a:t>
              </a:r>
              <a:endParaRPr lang="en-US" sz="1000" noProof="1"/>
            </a:p>
          </p:txBody>
        </p:sp>
        <p:pic>
          <p:nvPicPr>
            <p:cNvPr id="28" name="Graphic 27" descr="Lightbulb with solid fill">
              <a:extLst>
                <a:ext uri="{FF2B5EF4-FFF2-40B4-BE49-F238E27FC236}">
                  <a16:creationId xmlns:a16="http://schemas.microsoft.com/office/drawing/2014/main" id="{50A13B41-C5BE-6B03-220D-804673AA61B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9259071" y="1616633"/>
              <a:ext cx="516235" cy="516235"/>
            </a:xfrm>
            <a:prstGeom prst="rect">
              <a:avLst/>
            </a:prstGeom>
          </p:spPr>
        </p:pic>
      </p:grpSp>
    </p:spTree>
    <p:extLst>
      <p:ext uri="{BB962C8B-B14F-4D97-AF65-F5344CB8AC3E}">
        <p14:creationId xmlns:p14="http://schemas.microsoft.com/office/powerpoint/2010/main" val="3618079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3914" y="272143"/>
            <a:ext cx="7282543" cy="646331"/>
          </a:xfrm>
          <a:prstGeom prst="rect">
            <a:avLst/>
          </a:prstGeom>
          <a:noFill/>
        </p:spPr>
        <p:txBody>
          <a:bodyPr wrap="square" rtlCol="0">
            <a:spAutoFit/>
          </a:bodyPr>
          <a:lstStyle/>
          <a:p>
            <a:r>
              <a:rPr lang="en-US" sz="3600" b="1" dirty="0">
                <a:solidFill>
                  <a:schemeClr val="bg1"/>
                </a:solidFill>
              </a:rPr>
              <a:t>Key TB Services at PHC Level</a:t>
            </a:r>
          </a:p>
        </p:txBody>
      </p:sp>
      <p:graphicFrame>
        <p:nvGraphicFramePr>
          <p:cNvPr id="3" name="Content Placeholder 2">
            <a:extLst>
              <a:ext uri="{FF2B5EF4-FFF2-40B4-BE49-F238E27FC236}">
                <a16:creationId xmlns:a16="http://schemas.microsoft.com/office/drawing/2014/main" id="{3D35334E-5292-8E05-88E9-FE771BC2BDBB}"/>
              </a:ext>
            </a:extLst>
          </p:cNvPr>
          <p:cNvGraphicFramePr>
            <a:graphicFrameLocks/>
          </p:cNvGraphicFramePr>
          <p:nvPr/>
        </p:nvGraphicFramePr>
        <p:xfrm>
          <a:off x="0" y="1160959"/>
          <a:ext cx="12192000" cy="37702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5"/>
          <p:cNvSpPr/>
          <p:nvPr/>
        </p:nvSpPr>
        <p:spPr>
          <a:xfrm>
            <a:off x="0" y="5464627"/>
            <a:ext cx="12192000" cy="446315"/>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2060"/>
                </a:solidFill>
              </a:rPr>
              <a:t>WHO emphasizes Public Private (PPM) for TB Care at PHC level facilities</a:t>
            </a:r>
          </a:p>
        </p:txBody>
      </p:sp>
    </p:spTree>
    <p:extLst>
      <p:ext uri="{BB962C8B-B14F-4D97-AF65-F5344CB8AC3E}">
        <p14:creationId xmlns:p14="http://schemas.microsoft.com/office/powerpoint/2010/main" val="2106533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863" t="3372" r="4496"/>
          <a:stretch/>
        </p:blipFill>
        <p:spPr>
          <a:xfrm>
            <a:off x="619760" y="1270000"/>
            <a:ext cx="8950960" cy="4470400"/>
          </a:xfrm>
          <a:prstGeom prst="rect">
            <a:avLst/>
          </a:prstGeom>
        </p:spPr>
      </p:pic>
      <p:sp>
        <p:nvSpPr>
          <p:cNvPr id="4" name="TextBox 3"/>
          <p:cNvSpPr txBox="1"/>
          <p:nvPr/>
        </p:nvSpPr>
        <p:spPr>
          <a:xfrm>
            <a:off x="0" y="86548"/>
            <a:ext cx="8461829" cy="2062103"/>
          </a:xfrm>
          <a:prstGeom prst="rect">
            <a:avLst/>
          </a:prstGeom>
          <a:noFill/>
        </p:spPr>
        <p:txBody>
          <a:bodyPr wrap="square" rtlCol="0">
            <a:spAutoFit/>
          </a:bodyPr>
          <a:lstStyle/>
          <a:p>
            <a:r>
              <a:rPr lang="en-US" sz="2800" b="1" dirty="0">
                <a:solidFill>
                  <a:schemeClr val="bg1"/>
                </a:solidFill>
              </a:rPr>
              <a:t>Relationship between the TB Program, PHC, Health System, UHC and SDGs</a:t>
            </a:r>
          </a:p>
          <a:p>
            <a:endParaRPr lang="en-US" sz="3600" dirty="0"/>
          </a:p>
          <a:p>
            <a:endParaRPr lang="en-US" sz="3600" dirty="0">
              <a:solidFill>
                <a:schemeClr val="bg1"/>
              </a:solidFill>
            </a:endParaRPr>
          </a:p>
        </p:txBody>
      </p:sp>
    </p:spTree>
    <p:extLst>
      <p:ext uri="{BB962C8B-B14F-4D97-AF65-F5344CB8AC3E}">
        <p14:creationId xmlns:p14="http://schemas.microsoft.com/office/powerpoint/2010/main" val="2224960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12172"/>
            <a:ext cx="7489767" cy="646331"/>
          </a:xfrm>
          <a:prstGeom prst="rect">
            <a:avLst/>
          </a:prstGeom>
          <a:noFill/>
        </p:spPr>
        <p:txBody>
          <a:bodyPr wrap="square" rtlCol="0">
            <a:spAutoFit/>
          </a:bodyPr>
          <a:lstStyle/>
          <a:p>
            <a:r>
              <a:rPr lang="en-US" sz="3600" b="1" dirty="0">
                <a:solidFill>
                  <a:schemeClr val="bg1"/>
                </a:solidFill>
              </a:rPr>
              <a:t>PHC Theory of Change</a:t>
            </a:r>
          </a:p>
        </p:txBody>
      </p:sp>
      <p:pic>
        <p:nvPicPr>
          <p:cNvPr id="3" name="Picture 2"/>
          <p:cNvPicPr>
            <a:picLocks noChangeAspect="1"/>
          </p:cNvPicPr>
          <p:nvPr/>
        </p:nvPicPr>
        <p:blipFill>
          <a:blip r:embed="rId2"/>
          <a:stretch>
            <a:fillRect/>
          </a:stretch>
        </p:blipFill>
        <p:spPr>
          <a:xfrm>
            <a:off x="517584" y="1466491"/>
            <a:ext cx="10213675" cy="4416724"/>
          </a:xfrm>
          <a:prstGeom prst="rect">
            <a:avLst/>
          </a:prstGeom>
        </p:spPr>
      </p:pic>
    </p:spTree>
    <p:extLst>
      <p:ext uri="{BB962C8B-B14F-4D97-AF65-F5344CB8AC3E}">
        <p14:creationId xmlns:p14="http://schemas.microsoft.com/office/powerpoint/2010/main" val="6237969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73E0F-5EDF-D6FC-8856-AE9AB7D43DA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853ACB4-F71E-FFE8-15AD-347C3368F822}"/>
              </a:ext>
            </a:extLst>
          </p:cNvPr>
          <p:cNvSpPr txBox="1"/>
          <p:nvPr/>
        </p:nvSpPr>
        <p:spPr>
          <a:xfrm>
            <a:off x="223348" y="282630"/>
            <a:ext cx="7489767" cy="1200329"/>
          </a:xfrm>
          <a:prstGeom prst="rect">
            <a:avLst/>
          </a:prstGeom>
          <a:noFill/>
        </p:spPr>
        <p:txBody>
          <a:bodyPr wrap="square" rtlCol="0">
            <a:spAutoFit/>
          </a:bodyPr>
          <a:lstStyle/>
          <a:p>
            <a:r>
              <a:rPr lang="en-US" sz="3600" b="1" dirty="0">
                <a:solidFill>
                  <a:schemeClr val="bg1"/>
                </a:solidFill>
              </a:rPr>
              <a:t>Integration of Health Services</a:t>
            </a:r>
          </a:p>
          <a:p>
            <a:endParaRPr lang="en-US" sz="3600" b="1" dirty="0">
              <a:solidFill>
                <a:schemeClr val="bg1"/>
              </a:solidFill>
            </a:endParaRPr>
          </a:p>
        </p:txBody>
      </p:sp>
      <p:sp>
        <p:nvSpPr>
          <p:cNvPr id="5" name="TextBox 4">
            <a:extLst>
              <a:ext uri="{FF2B5EF4-FFF2-40B4-BE49-F238E27FC236}">
                <a16:creationId xmlns:a16="http://schemas.microsoft.com/office/drawing/2014/main" id="{27657591-B579-66AA-DE47-B4756CCC52B9}"/>
              </a:ext>
            </a:extLst>
          </p:cNvPr>
          <p:cNvSpPr txBox="1"/>
          <p:nvPr/>
        </p:nvSpPr>
        <p:spPr>
          <a:xfrm>
            <a:off x="540327" y="1272231"/>
            <a:ext cx="11296768" cy="892552"/>
          </a:xfrm>
          <a:prstGeom prst="rect">
            <a:avLst/>
          </a:prstGeom>
          <a:noFill/>
        </p:spPr>
        <p:txBody>
          <a:bodyPr wrap="square" rtlCol="0">
            <a:spAutoFit/>
          </a:bodyPr>
          <a:lstStyle/>
          <a:p>
            <a:pPr lvl="0"/>
            <a:endParaRPr lang="en-US" sz="2400" dirty="0"/>
          </a:p>
          <a:p>
            <a:pPr marL="914400" lvl="1" indent="-457200" algn="just">
              <a:buFont typeface="Arial" panose="020B0604020202020204" pitchFamily="34" charset="0"/>
              <a:buChar char="•"/>
            </a:pPr>
            <a:endParaRPr lang="en-US" sz="2800" dirty="0">
              <a:solidFill>
                <a:srgbClr val="002060"/>
              </a:solidFill>
            </a:endParaRPr>
          </a:p>
        </p:txBody>
      </p:sp>
      <p:pic>
        <p:nvPicPr>
          <p:cNvPr id="3" name="Picture 2" descr="A pink and white rectangular object&#10;&#10;AI-generated content may be incorrect.">
            <a:extLst>
              <a:ext uri="{FF2B5EF4-FFF2-40B4-BE49-F238E27FC236}">
                <a16:creationId xmlns:a16="http://schemas.microsoft.com/office/drawing/2014/main" id="{E0E5CFD1-A972-71A9-B51E-B059EBD56D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1298" y="1096023"/>
            <a:ext cx="6560009" cy="4532952"/>
          </a:xfrm>
          <a:prstGeom prst="rect">
            <a:avLst/>
          </a:prstGeom>
        </p:spPr>
      </p:pic>
      <p:sp>
        <p:nvSpPr>
          <p:cNvPr id="7" name="TextBox 6">
            <a:extLst>
              <a:ext uri="{FF2B5EF4-FFF2-40B4-BE49-F238E27FC236}">
                <a16:creationId xmlns:a16="http://schemas.microsoft.com/office/drawing/2014/main" id="{5D72AEFA-1DFF-5B1F-29DC-FEE6355DD340}"/>
              </a:ext>
            </a:extLst>
          </p:cNvPr>
          <p:cNvSpPr txBox="1"/>
          <p:nvPr/>
        </p:nvSpPr>
        <p:spPr>
          <a:xfrm>
            <a:off x="540327" y="1830895"/>
            <a:ext cx="4847771" cy="3754874"/>
          </a:xfrm>
          <a:prstGeom prst="rect">
            <a:avLst/>
          </a:prstGeom>
          <a:noFill/>
        </p:spPr>
        <p:txBody>
          <a:bodyPr wrap="square" rtlCol="0">
            <a:spAutoFit/>
          </a:bodyPr>
          <a:lstStyle/>
          <a:p>
            <a:r>
              <a:rPr lang="en-US" sz="2000" b="1" dirty="0"/>
              <a:t>Integrated health services </a:t>
            </a:r>
            <a:r>
              <a:rPr lang="en-US" sz="2000" dirty="0"/>
              <a:t>refer to services that are managed and delivered to provide a continuum of care for:</a:t>
            </a:r>
          </a:p>
          <a:p>
            <a:pPr marL="914400" lvl="1" indent="-457200">
              <a:buFont typeface="Arial" panose="020B0604020202020204" pitchFamily="34" charset="0"/>
              <a:buChar char="•"/>
            </a:pPr>
            <a:r>
              <a:rPr lang="en-US" sz="2000" dirty="0"/>
              <a:t>Health promotion, disease prevention, diagnosis and treatment, disease management, Rehabilitation and palliative care;</a:t>
            </a:r>
          </a:p>
          <a:p>
            <a:r>
              <a:rPr lang="en-US" sz="2000" dirty="0"/>
              <a:t>and Coordinated across all levels and sites of care, based on people’s needs throughout life.</a:t>
            </a:r>
          </a:p>
          <a:p>
            <a:endParaRPr lang="en-US" sz="2000" b="1" dirty="0"/>
          </a:p>
          <a:p>
            <a:endParaRPr lang="en-US" dirty="0"/>
          </a:p>
        </p:txBody>
      </p:sp>
      <p:pic>
        <p:nvPicPr>
          <p:cNvPr id="8" name="Picture 7" descr="A yellow rectangular object with black background&#10;&#10;AI-generated content may be incorrect.">
            <a:extLst>
              <a:ext uri="{FF2B5EF4-FFF2-40B4-BE49-F238E27FC236}">
                <a16:creationId xmlns:a16="http://schemas.microsoft.com/office/drawing/2014/main" id="{DE591BB3-2CD2-CBBE-24F8-61948B7835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8879" y="1049483"/>
            <a:ext cx="6039773" cy="4173470"/>
          </a:xfrm>
          <a:prstGeom prst="rect">
            <a:avLst/>
          </a:prstGeom>
        </p:spPr>
      </p:pic>
      <p:sp>
        <p:nvSpPr>
          <p:cNvPr id="9" name="TextBox 8">
            <a:extLst>
              <a:ext uri="{FF2B5EF4-FFF2-40B4-BE49-F238E27FC236}">
                <a16:creationId xmlns:a16="http://schemas.microsoft.com/office/drawing/2014/main" id="{EFA9B2A9-3065-5820-205F-D13F83D10016}"/>
              </a:ext>
            </a:extLst>
          </p:cNvPr>
          <p:cNvSpPr txBox="1"/>
          <p:nvPr/>
        </p:nvSpPr>
        <p:spPr>
          <a:xfrm>
            <a:off x="6914914" y="1843855"/>
            <a:ext cx="4261086" cy="3477875"/>
          </a:xfrm>
          <a:prstGeom prst="rect">
            <a:avLst/>
          </a:prstGeom>
          <a:noFill/>
        </p:spPr>
        <p:txBody>
          <a:bodyPr wrap="square" rtlCol="0">
            <a:spAutoFit/>
          </a:bodyPr>
          <a:lstStyle/>
          <a:p>
            <a:r>
              <a:rPr lang="en-US" sz="2000" b="1" dirty="0"/>
              <a:t>Benefits of Integrated, People-Centered Care:</a:t>
            </a:r>
          </a:p>
          <a:p>
            <a:endParaRPr lang="en-US" sz="2000" b="1" dirty="0"/>
          </a:p>
          <a:p>
            <a:r>
              <a:rPr lang="en-US" sz="2000" dirty="0"/>
              <a:t>Improved access to care,  better health outcomes, enhanced health literacy and self-care, increased satisfaction for patients and health workers</a:t>
            </a:r>
          </a:p>
          <a:p>
            <a:r>
              <a:rPr lang="en-US" sz="2000" dirty="0"/>
              <a:t>Greater efficiency, reduced duplication, and lower overall costs</a:t>
            </a:r>
          </a:p>
          <a:p>
            <a:r>
              <a:rPr lang="en-US" sz="2000" dirty="0"/>
              <a:t> </a:t>
            </a:r>
          </a:p>
          <a:p>
            <a:pPr lvl="0"/>
            <a:endParaRPr lang="en-US" sz="2000" dirty="0"/>
          </a:p>
        </p:txBody>
      </p:sp>
    </p:spTree>
    <p:extLst>
      <p:ext uri="{BB962C8B-B14F-4D97-AF65-F5344CB8AC3E}">
        <p14:creationId xmlns:p14="http://schemas.microsoft.com/office/powerpoint/2010/main" val="22522642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3EEA8-2300-26F7-CE70-3F374911A5E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8660D4B-B803-2DB5-1753-A59469E1475D}"/>
              </a:ext>
            </a:extLst>
          </p:cNvPr>
          <p:cNvSpPr txBox="1"/>
          <p:nvPr/>
        </p:nvSpPr>
        <p:spPr>
          <a:xfrm>
            <a:off x="354905" y="161672"/>
            <a:ext cx="7489767" cy="1200329"/>
          </a:xfrm>
          <a:prstGeom prst="rect">
            <a:avLst/>
          </a:prstGeom>
          <a:noFill/>
        </p:spPr>
        <p:txBody>
          <a:bodyPr wrap="square" rtlCol="0">
            <a:spAutoFit/>
          </a:bodyPr>
          <a:lstStyle/>
          <a:p>
            <a:r>
              <a:rPr lang="en-US" sz="3600" b="1" dirty="0">
                <a:solidFill>
                  <a:schemeClr val="bg1"/>
                </a:solidFill>
              </a:rPr>
              <a:t>Integration of Health Services</a:t>
            </a:r>
          </a:p>
          <a:p>
            <a:endParaRPr lang="en-US" sz="3600" b="1" dirty="0">
              <a:solidFill>
                <a:schemeClr val="bg1"/>
              </a:solidFill>
            </a:endParaRPr>
          </a:p>
        </p:txBody>
      </p:sp>
      <p:sp>
        <p:nvSpPr>
          <p:cNvPr id="5" name="TextBox 4">
            <a:extLst>
              <a:ext uri="{FF2B5EF4-FFF2-40B4-BE49-F238E27FC236}">
                <a16:creationId xmlns:a16="http://schemas.microsoft.com/office/drawing/2014/main" id="{C1A3F82C-ADA8-5276-A65B-818BCD4E7B1D}"/>
              </a:ext>
            </a:extLst>
          </p:cNvPr>
          <p:cNvSpPr txBox="1"/>
          <p:nvPr/>
        </p:nvSpPr>
        <p:spPr>
          <a:xfrm>
            <a:off x="540327" y="1272231"/>
            <a:ext cx="11296768" cy="892552"/>
          </a:xfrm>
          <a:prstGeom prst="rect">
            <a:avLst/>
          </a:prstGeom>
          <a:noFill/>
        </p:spPr>
        <p:txBody>
          <a:bodyPr wrap="square" rtlCol="0">
            <a:spAutoFit/>
          </a:bodyPr>
          <a:lstStyle/>
          <a:p>
            <a:pPr lvl="0"/>
            <a:endParaRPr lang="en-US" sz="2400" dirty="0"/>
          </a:p>
          <a:p>
            <a:pPr marL="914400" lvl="1" indent="-457200" algn="just">
              <a:buFont typeface="Arial" panose="020B0604020202020204" pitchFamily="34" charset="0"/>
              <a:buChar char="•"/>
            </a:pPr>
            <a:endParaRPr lang="en-US" sz="2800" dirty="0">
              <a:solidFill>
                <a:srgbClr val="002060"/>
              </a:solidFill>
            </a:endParaRPr>
          </a:p>
        </p:txBody>
      </p:sp>
      <p:pic>
        <p:nvPicPr>
          <p:cNvPr id="6" name="Picture 5" descr="A blue and white map&#10;&#10;AI-generated content may be incorrect.">
            <a:extLst>
              <a:ext uri="{FF2B5EF4-FFF2-40B4-BE49-F238E27FC236}">
                <a16:creationId xmlns:a16="http://schemas.microsoft.com/office/drawing/2014/main" id="{49140ACF-5781-F3CE-5FCA-E502FF4671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362001"/>
            <a:ext cx="6134165" cy="4223767"/>
          </a:xfrm>
          <a:prstGeom prst="rect">
            <a:avLst/>
          </a:prstGeom>
        </p:spPr>
      </p:pic>
      <p:sp>
        <p:nvSpPr>
          <p:cNvPr id="11" name="TextBox 10">
            <a:extLst>
              <a:ext uri="{FF2B5EF4-FFF2-40B4-BE49-F238E27FC236}">
                <a16:creationId xmlns:a16="http://schemas.microsoft.com/office/drawing/2014/main" id="{890A5C6B-F15C-0165-09B8-4B5212873D50}"/>
              </a:ext>
            </a:extLst>
          </p:cNvPr>
          <p:cNvSpPr txBox="1"/>
          <p:nvPr/>
        </p:nvSpPr>
        <p:spPr>
          <a:xfrm>
            <a:off x="970001" y="1901371"/>
            <a:ext cx="4037428" cy="2923877"/>
          </a:xfrm>
          <a:prstGeom prst="rect">
            <a:avLst/>
          </a:prstGeom>
          <a:noFill/>
        </p:spPr>
        <p:txBody>
          <a:bodyPr wrap="square" rtlCol="0">
            <a:spAutoFit/>
          </a:bodyPr>
          <a:lstStyle/>
          <a:p>
            <a:r>
              <a:rPr lang="en-US" sz="2400" b="1" dirty="0"/>
              <a:t>Purpose of Integration:</a:t>
            </a:r>
          </a:p>
          <a:p>
            <a:pPr marL="742950" lvl="1" indent="-285750">
              <a:buFont typeface="Arial" panose="020B0604020202020204" pitchFamily="34" charset="0"/>
              <a:buChar char="•"/>
            </a:pPr>
            <a:r>
              <a:rPr lang="en-US" sz="2400" dirty="0"/>
              <a:t>Enhance efficiency</a:t>
            </a:r>
          </a:p>
          <a:p>
            <a:pPr marL="742950" lvl="1" indent="-285750">
              <a:buFont typeface="Arial" panose="020B0604020202020204" pitchFamily="34" charset="0"/>
              <a:buChar char="•"/>
            </a:pPr>
            <a:r>
              <a:rPr lang="en-US" sz="2400" dirty="0"/>
              <a:t>Avoid duplication of services</a:t>
            </a:r>
          </a:p>
          <a:p>
            <a:pPr marL="742950" lvl="1" indent="-285750">
              <a:buFont typeface="Arial" panose="020B0604020202020204" pitchFamily="34" charset="0"/>
              <a:buChar char="•"/>
            </a:pPr>
            <a:r>
              <a:rPr lang="en-US" sz="2400" dirty="0"/>
              <a:t>Maximize synergies</a:t>
            </a:r>
          </a:p>
          <a:p>
            <a:pPr marL="742950" lvl="1" indent="-285750">
              <a:buFont typeface="Arial" panose="020B0604020202020204" pitchFamily="34" charset="0"/>
              <a:buChar char="•"/>
            </a:pPr>
            <a:r>
              <a:rPr lang="en-US" sz="2400" dirty="0"/>
              <a:t>Manage diseases with shared risk factors</a:t>
            </a:r>
          </a:p>
          <a:p>
            <a:endParaRPr lang="en-US" sz="1600" dirty="0"/>
          </a:p>
        </p:txBody>
      </p:sp>
      <p:pic>
        <p:nvPicPr>
          <p:cNvPr id="12" name="Picture 11" descr="A yellow rectangular object with black background&#10;&#10;AI-generated content may be incorrect.">
            <a:extLst>
              <a:ext uri="{FF2B5EF4-FFF2-40B4-BE49-F238E27FC236}">
                <a16:creationId xmlns:a16="http://schemas.microsoft.com/office/drawing/2014/main" id="{FF84C4F5-F8C0-7045-EACF-E590798486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5740" y="1362001"/>
            <a:ext cx="6489257" cy="4468272"/>
          </a:xfrm>
          <a:prstGeom prst="rect">
            <a:avLst/>
          </a:prstGeom>
        </p:spPr>
      </p:pic>
      <p:sp>
        <p:nvSpPr>
          <p:cNvPr id="13" name="TextBox 12">
            <a:extLst>
              <a:ext uri="{FF2B5EF4-FFF2-40B4-BE49-F238E27FC236}">
                <a16:creationId xmlns:a16="http://schemas.microsoft.com/office/drawing/2014/main" id="{74422167-8178-D1A0-9BD1-3CB0F4012415}"/>
              </a:ext>
            </a:extLst>
          </p:cNvPr>
          <p:cNvSpPr txBox="1"/>
          <p:nvPr/>
        </p:nvSpPr>
        <p:spPr>
          <a:xfrm>
            <a:off x="6931984" y="1982450"/>
            <a:ext cx="4516768" cy="3785652"/>
          </a:xfrm>
          <a:prstGeom prst="rect">
            <a:avLst/>
          </a:prstGeom>
          <a:noFill/>
        </p:spPr>
        <p:txBody>
          <a:bodyPr wrap="square" rtlCol="0">
            <a:spAutoFit/>
          </a:bodyPr>
          <a:lstStyle/>
          <a:p>
            <a:r>
              <a:rPr lang="en-US" sz="2000" b="1" dirty="0"/>
              <a:t>Link to End TB Strategy (Pillar 1):</a:t>
            </a:r>
          </a:p>
          <a:p>
            <a:pPr marL="457200" indent="-457200">
              <a:buFont typeface="Arial" panose="020B0604020202020204" pitchFamily="34" charset="0"/>
              <a:buChar char="•"/>
            </a:pPr>
            <a:r>
              <a:rPr lang="en-US" sz="2000" dirty="0"/>
              <a:t>Universal access to integrated, patient-centered TB care and prevention</a:t>
            </a:r>
          </a:p>
          <a:p>
            <a:pPr marL="342900" indent="-342900">
              <a:buFont typeface="Arial" panose="020B0604020202020204" pitchFamily="34" charset="0"/>
              <a:buChar char="•"/>
            </a:pPr>
            <a:r>
              <a:rPr lang="en-US" sz="2000" dirty="0"/>
              <a:t>Includes management of TB and associated conditions (HIV, diabetes, mental ill-health tobacco use, alcohol disorders)-ensure comprehensive management of comorbidities.</a:t>
            </a:r>
          </a:p>
          <a:p>
            <a:pPr marL="457200" indent="-457200">
              <a:buFont typeface="Arial" panose="020B0604020202020204" pitchFamily="34" charset="0"/>
              <a:buChar char="•"/>
            </a:pPr>
            <a:r>
              <a:rPr lang="en-US" sz="2000" dirty="0"/>
              <a:t>Improves TB treatment outcomes and strengthens public health overall</a:t>
            </a:r>
          </a:p>
          <a:p>
            <a:endParaRPr lang="en-US" sz="2000" dirty="0"/>
          </a:p>
        </p:txBody>
      </p:sp>
    </p:spTree>
    <p:extLst>
      <p:ext uri="{BB962C8B-B14F-4D97-AF65-F5344CB8AC3E}">
        <p14:creationId xmlns:p14="http://schemas.microsoft.com/office/powerpoint/2010/main" val="19590340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E043F-E04A-2152-B85C-F6AFC62F996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D678D35-1F71-302A-CE3A-AA39AED2228E}"/>
              </a:ext>
            </a:extLst>
          </p:cNvPr>
          <p:cNvSpPr txBox="1"/>
          <p:nvPr/>
        </p:nvSpPr>
        <p:spPr>
          <a:xfrm>
            <a:off x="0" y="239151"/>
            <a:ext cx="7859811" cy="1138773"/>
          </a:xfrm>
          <a:prstGeom prst="rect">
            <a:avLst/>
          </a:prstGeom>
          <a:noFill/>
        </p:spPr>
        <p:txBody>
          <a:bodyPr wrap="square" rtlCol="0">
            <a:spAutoFit/>
          </a:bodyPr>
          <a:lstStyle/>
          <a:p>
            <a:r>
              <a:rPr lang="en-US" sz="3200" b="1" dirty="0">
                <a:solidFill>
                  <a:schemeClr val="bg1"/>
                </a:solidFill>
              </a:rPr>
              <a:t>Synergies between PHC and TB response</a:t>
            </a:r>
          </a:p>
          <a:p>
            <a:endParaRPr lang="en-US" sz="3600" dirty="0">
              <a:solidFill>
                <a:schemeClr val="bg1"/>
              </a:solidFill>
            </a:endParaRPr>
          </a:p>
        </p:txBody>
      </p:sp>
      <p:grpSp>
        <p:nvGrpSpPr>
          <p:cNvPr id="3" name="Group 2">
            <a:extLst>
              <a:ext uri="{FF2B5EF4-FFF2-40B4-BE49-F238E27FC236}">
                <a16:creationId xmlns:a16="http://schemas.microsoft.com/office/drawing/2014/main" id="{F60008FE-D9FE-8AD9-3428-2CE6ACFB23EA}"/>
              </a:ext>
            </a:extLst>
          </p:cNvPr>
          <p:cNvGrpSpPr/>
          <p:nvPr/>
        </p:nvGrpSpPr>
        <p:grpSpPr>
          <a:xfrm>
            <a:off x="423922" y="1469061"/>
            <a:ext cx="4542472" cy="1793739"/>
            <a:chOff x="423922" y="1459442"/>
            <a:chExt cx="3831221" cy="1793739"/>
          </a:xfrm>
        </p:grpSpPr>
        <p:grpSp>
          <p:nvGrpSpPr>
            <p:cNvPr id="4" name="Group 3">
              <a:extLst>
                <a:ext uri="{FF2B5EF4-FFF2-40B4-BE49-F238E27FC236}">
                  <a16:creationId xmlns:a16="http://schemas.microsoft.com/office/drawing/2014/main" id="{1EB44984-2D95-BBC3-46B1-A4B046ADE0BC}"/>
                </a:ext>
              </a:extLst>
            </p:cNvPr>
            <p:cNvGrpSpPr/>
            <p:nvPr/>
          </p:nvGrpSpPr>
          <p:grpSpPr>
            <a:xfrm>
              <a:off x="423922" y="1751097"/>
              <a:ext cx="2631795" cy="619133"/>
              <a:chOff x="423922" y="1751097"/>
              <a:chExt cx="2631795" cy="619133"/>
            </a:xfrm>
          </p:grpSpPr>
          <p:sp>
            <p:nvSpPr>
              <p:cNvPr id="12" name="Rectangle 11">
                <a:extLst>
                  <a:ext uri="{FF2B5EF4-FFF2-40B4-BE49-F238E27FC236}">
                    <a16:creationId xmlns:a16="http://schemas.microsoft.com/office/drawing/2014/main" id="{3D93742A-70C2-3BB3-FB08-53566DE32B37}"/>
                  </a:ext>
                </a:extLst>
              </p:cNvPr>
              <p:cNvSpPr/>
              <p:nvPr/>
            </p:nvSpPr>
            <p:spPr>
              <a:xfrm>
                <a:off x="423922" y="1751097"/>
                <a:ext cx="1034488" cy="4681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Rectangle: Rounded Corners 7">
                <a:extLst>
                  <a:ext uri="{FF2B5EF4-FFF2-40B4-BE49-F238E27FC236}">
                    <a16:creationId xmlns:a16="http://schemas.microsoft.com/office/drawing/2014/main" id="{60C6CED7-3ED3-6245-A04C-ADFFF2704644}"/>
                  </a:ext>
                </a:extLst>
              </p:cNvPr>
              <p:cNvSpPr/>
              <p:nvPr/>
            </p:nvSpPr>
            <p:spPr>
              <a:xfrm>
                <a:off x="423922" y="2062257"/>
                <a:ext cx="2631795" cy="307973"/>
              </a:xfrm>
              <a:prstGeom prst="roundRect">
                <a:avLst>
                  <a:gd name="adj" fmla="val 5000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sp>
          <p:nvSpPr>
            <p:cNvPr id="6" name="Rectangle 5">
              <a:extLst>
                <a:ext uri="{FF2B5EF4-FFF2-40B4-BE49-F238E27FC236}">
                  <a16:creationId xmlns:a16="http://schemas.microsoft.com/office/drawing/2014/main" id="{96F59CFD-49E7-38F6-60AA-902039638371}"/>
                </a:ext>
              </a:extLst>
            </p:cNvPr>
            <p:cNvSpPr/>
            <p:nvPr/>
          </p:nvSpPr>
          <p:spPr>
            <a:xfrm>
              <a:off x="653970" y="1679458"/>
              <a:ext cx="3601173" cy="1573723"/>
            </a:xfrm>
            <a:prstGeom prst="rect">
              <a:avLst/>
            </a:prstGeom>
            <a:solidFill>
              <a:schemeClr val="bg1">
                <a:lumMod val="8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tIns="68580" rIns="137160" rtlCol="0" anchor="t"/>
            <a:lstStyle/>
            <a:p>
              <a:pPr algn="r"/>
              <a:r>
                <a:rPr lang="en-US" b="1" dirty="0">
                  <a:solidFill>
                    <a:schemeClr val="bg1">
                      <a:lumMod val="50000"/>
                    </a:schemeClr>
                  </a:solidFill>
                </a:rPr>
                <a:t>01</a:t>
              </a:r>
            </a:p>
          </p:txBody>
        </p:sp>
        <p:grpSp>
          <p:nvGrpSpPr>
            <p:cNvPr id="7" name="Group 6">
              <a:extLst>
                <a:ext uri="{FF2B5EF4-FFF2-40B4-BE49-F238E27FC236}">
                  <a16:creationId xmlns:a16="http://schemas.microsoft.com/office/drawing/2014/main" id="{4446A69B-F5C9-8AC8-4019-0E30D1C17CA3}"/>
                </a:ext>
              </a:extLst>
            </p:cNvPr>
            <p:cNvGrpSpPr/>
            <p:nvPr/>
          </p:nvGrpSpPr>
          <p:grpSpPr>
            <a:xfrm>
              <a:off x="423922" y="1459442"/>
              <a:ext cx="2662167" cy="612847"/>
              <a:chOff x="423922" y="1459442"/>
              <a:chExt cx="2662167" cy="612847"/>
            </a:xfrm>
          </p:grpSpPr>
          <p:sp>
            <p:nvSpPr>
              <p:cNvPr id="10" name="Rectangle: Rounded Corners 9">
                <a:extLst>
                  <a:ext uri="{FF2B5EF4-FFF2-40B4-BE49-F238E27FC236}">
                    <a16:creationId xmlns:a16="http://schemas.microsoft.com/office/drawing/2014/main" id="{9222BF9C-6D18-E7D1-74C6-370525FEE41B}"/>
                  </a:ext>
                </a:extLst>
              </p:cNvPr>
              <p:cNvSpPr/>
              <p:nvPr/>
            </p:nvSpPr>
            <p:spPr>
              <a:xfrm>
                <a:off x="454294" y="1459442"/>
                <a:ext cx="2631795" cy="612847"/>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1" dirty="0"/>
              </a:p>
              <a:p>
                <a:pPr algn="ctr"/>
                <a:r>
                  <a:rPr lang="en-US" sz="2000" b="1" dirty="0"/>
                  <a:t>Shared Infrastructure Advantages</a:t>
                </a:r>
              </a:p>
              <a:p>
                <a:pPr algn="ctr"/>
                <a:endParaRPr lang="en-US" sz="2400" b="1" dirty="0"/>
              </a:p>
            </p:txBody>
          </p:sp>
          <p:sp>
            <p:nvSpPr>
              <p:cNvPr id="11" name="Rectangle 10">
                <a:extLst>
                  <a:ext uri="{FF2B5EF4-FFF2-40B4-BE49-F238E27FC236}">
                    <a16:creationId xmlns:a16="http://schemas.microsoft.com/office/drawing/2014/main" id="{CF846103-1D5C-98B7-9B37-383B22AAF71D}"/>
                  </a:ext>
                </a:extLst>
              </p:cNvPr>
              <p:cNvSpPr/>
              <p:nvPr/>
            </p:nvSpPr>
            <p:spPr>
              <a:xfrm>
                <a:off x="423922" y="1751097"/>
                <a:ext cx="313636" cy="3111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8" name="TextBox 7">
              <a:extLst>
                <a:ext uri="{FF2B5EF4-FFF2-40B4-BE49-F238E27FC236}">
                  <a16:creationId xmlns:a16="http://schemas.microsoft.com/office/drawing/2014/main" id="{716EE162-E698-69DA-BE41-6A1D8FCF30DA}"/>
                </a:ext>
              </a:extLst>
            </p:cNvPr>
            <p:cNvSpPr txBox="1"/>
            <p:nvPr/>
          </p:nvSpPr>
          <p:spPr>
            <a:xfrm>
              <a:off x="737558" y="2197099"/>
              <a:ext cx="3268208" cy="954107"/>
            </a:xfrm>
            <a:prstGeom prst="rect">
              <a:avLst/>
            </a:prstGeom>
            <a:noFill/>
          </p:spPr>
          <p:txBody>
            <a:bodyPr wrap="square" lIns="0" rIns="0" rtlCol="0" anchor="t">
              <a:spAutoFit/>
            </a:bodyPr>
            <a:lstStyle/>
            <a:p>
              <a:pPr algn="just"/>
              <a:r>
                <a:rPr lang="en-US" sz="1400" dirty="0"/>
                <a:t>Utilizing shared health facilities and supply chains enhances service delivery efficiency and comprehensive care.</a:t>
              </a:r>
            </a:p>
            <a:p>
              <a:pPr algn="just"/>
              <a:endParaRPr lang="en-US" sz="1400" noProof="1">
                <a:solidFill>
                  <a:schemeClr val="tx1">
                    <a:lumMod val="65000"/>
                    <a:lumOff val="35000"/>
                  </a:schemeClr>
                </a:solidFill>
              </a:endParaRPr>
            </a:p>
          </p:txBody>
        </p:sp>
      </p:grpSp>
      <p:grpSp>
        <p:nvGrpSpPr>
          <p:cNvPr id="14" name="Group 13">
            <a:extLst>
              <a:ext uri="{FF2B5EF4-FFF2-40B4-BE49-F238E27FC236}">
                <a16:creationId xmlns:a16="http://schemas.microsoft.com/office/drawing/2014/main" id="{DEE08BDF-49E9-0E9D-16FA-1A39B8B19FE0}"/>
              </a:ext>
            </a:extLst>
          </p:cNvPr>
          <p:cNvGrpSpPr/>
          <p:nvPr/>
        </p:nvGrpSpPr>
        <p:grpSpPr>
          <a:xfrm>
            <a:off x="7476185" y="1459030"/>
            <a:ext cx="4560742" cy="2207942"/>
            <a:chOff x="423922" y="1449411"/>
            <a:chExt cx="3728664" cy="1771497"/>
          </a:xfrm>
        </p:grpSpPr>
        <p:grpSp>
          <p:nvGrpSpPr>
            <p:cNvPr id="15" name="Group 14">
              <a:extLst>
                <a:ext uri="{FF2B5EF4-FFF2-40B4-BE49-F238E27FC236}">
                  <a16:creationId xmlns:a16="http://schemas.microsoft.com/office/drawing/2014/main" id="{A6E07635-169F-52C9-EE0F-D242A3E49D1D}"/>
                </a:ext>
              </a:extLst>
            </p:cNvPr>
            <p:cNvGrpSpPr/>
            <p:nvPr/>
          </p:nvGrpSpPr>
          <p:grpSpPr>
            <a:xfrm>
              <a:off x="423922" y="1751097"/>
              <a:ext cx="2631795" cy="619133"/>
              <a:chOff x="423922" y="1751097"/>
              <a:chExt cx="2631795" cy="619133"/>
            </a:xfrm>
          </p:grpSpPr>
          <p:sp>
            <p:nvSpPr>
              <p:cNvPr id="22" name="Rectangle 21">
                <a:extLst>
                  <a:ext uri="{FF2B5EF4-FFF2-40B4-BE49-F238E27FC236}">
                    <a16:creationId xmlns:a16="http://schemas.microsoft.com/office/drawing/2014/main" id="{5871CA3C-2D04-3D5B-D16B-81D96FA1D90F}"/>
                  </a:ext>
                </a:extLst>
              </p:cNvPr>
              <p:cNvSpPr/>
              <p:nvPr/>
            </p:nvSpPr>
            <p:spPr>
              <a:xfrm>
                <a:off x="423922" y="1751097"/>
                <a:ext cx="1034488" cy="4681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 name="Rectangle: Rounded Corners 7">
                <a:extLst>
                  <a:ext uri="{FF2B5EF4-FFF2-40B4-BE49-F238E27FC236}">
                    <a16:creationId xmlns:a16="http://schemas.microsoft.com/office/drawing/2014/main" id="{AE4A436D-C82E-7186-EC67-6A0270210784}"/>
                  </a:ext>
                </a:extLst>
              </p:cNvPr>
              <p:cNvSpPr/>
              <p:nvPr/>
            </p:nvSpPr>
            <p:spPr>
              <a:xfrm>
                <a:off x="423922" y="2062257"/>
                <a:ext cx="2631795" cy="307973"/>
              </a:xfrm>
              <a:prstGeom prst="roundRect">
                <a:avLst>
                  <a:gd name="adj" fmla="val 5000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sp>
          <p:nvSpPr>
            <p:cNvPr id="16" name="Rectangle 15">
              <a:extLst>
                <a:ext uri="{FF2B5EF4-FFF2-40B4-BE49-F238E27FC236}">
                  <a16:creationId xmlns:a16="http://schemas.microsoft.com/office/drawing/2014/main" id="{E2F68882-FD9B-8FC8-6511-6BA171FDDF58}"/>
                </a:ext>
              </a:extLst>
            </p:cNvPr>
            <p:cNvSpPr/>
            <p:nvPr/>
          </p:nvSpPr>
          <p:spPr>
            <a:xfrm>
              <a:off x="551413" y="1647185"/>
              <a:ext cx="3601173" cy="1573723"/>
            </a:xfrm>
            <a:prstGeom prst="rect">
              <a:avLst/>
            </a:prstGeom>
            <a:solidFill>
              <a:schemeClr val="bg1">
                <a:lumMod val="8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tIns="68580" rIns="137160" rtlCol="0" anchor="t"/>
            <a:lstStyle/>
            <a:p>
              <a:pPr algn="r"/>
              <a:r>
                <a:rPr lang="en-US" b="1" dirty="0">
                  <a:solidFill>
                    <a:schemeClr val="bg1">
                      <a:lumMod val="50000"/>
                    </a:schemeClr>
                  </a:solidFill>
                </a:rPr>
                <a:t>02</a:t>
              </a:r>
            </a:p>
          </p:txBody>
        </p:sp>
        <p:grpSp>
          <p:nvGrpSpPr>
            <p:cNvPr id="17" name="Group 16">
              <a:extLst>
                <a:ext uri="{FF2B5EF4-FFF2-40B4-BE49-F238E27FC236}">
                  <a16:creationId xmlns:a16="http://schemas.microsoft.com/office/drawing/2014/main" id="{08B8FCFA-9B63-6C75-5B4B-C773E901ECCD}"/>
                </a:ext>
              </a:extLst>
            </p:cNvPr>
            <p:cNvGrpSpPr/>
            <p:nvPr/>
          </p:nvGrpSpPr>
          <p:grpSpPr>
            <a:xfrm>
              <a:off x="423922" y="1449411"/>
              <a:ext cx="2631795" cy="612847"/>
              <a:chOff x="423922" y="1449411"/>
              <a:chExt cx="2631795" cy="612847"/>
            </a:xfrm>
          </p:grpSpPr>
          <p:sp>
            <p:nvSpPr>
              <p:cNvPr id="20" name="Rectangle: Rounded Corners 9">
                <a:extLst>
                  <a:ext uri="{FF2B5EF4-FFF2-40B4-BE49-F238E27FC236}">
                    <a16:creationId xmlns:a16="http://schemas.microsoft.com/office/drawing/2014/main" id="{A94376EA-A001-BD19-0DD1-46EA7D501C23}"/>
                  </a:ext>
                </a:extLst>
              </p:cNvPr>
              <p:cNvSpPr/>
              <p:nvPr/>
            </p:nvSpPr>
            <p:spPr>
              <a:xfrm>
                <a:off x="423922" y="1449411"/>
                <a:ext cx="2631795" cy="612847"/>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dirty="0"/>
              </a:p>
              <a:p>
                <a:pPr algn="ctr"/>
                <a:r>
                  <a:rPr lang="en-US" sz="2400" b="1" dirty="0" smtClean="0"/>
                  <a:t>Shared data systems and tools</a:t>
                </a:r>
                <a:endParaRPr lang="en-US" sz="2400" b="1" dirty="0"/>
              </a:p>
              <a:p>
                <a:pPr algn="ctr"/>
                <a:endParaRPr lang="en-US" sz="2400" b="1" dirty="0"/>
              </a:p>
            </p:txBody>
          </p:sp>
          <p:sp>
            <p:nvSpPr>
              <p:cNvPr id="21" name="Rectangle 20">
                <a:extLst>
                  <a:ext uri="{FF2B5EF4-FFF2-40B4-BE49-F238E27FC236}">
                    <a16:creationId xmlns:a16="http://schemas.microsoft.com/office/drawing/2014/main" id="{1CE749CF-568B-5801-4852-23F3E7A56D23}"/>
                  </a:ext>
                </a:extLst>
              </p:cNvPr>
              <p:cNvSpPr/>
              <p:nvPr/>
            </p:nvSpPr>
            <p:spPr>
              <a:xfrm>
                <a:off x="423922" y="1751097"/>
                <a:ext cx="313636" cy="3111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grpSp>
        <p:nvGrpSpPr>
          <p:cNvPr id="24" name="Group 23">
            <a:extLst>
              <a:ext uri="{FF2B5EF4-FFF2-40B4-BE49-F238E27FC236}">
                <a16:creationId xmlns:a16="http://schemas.microsoft.com/office/drawing/2014/main" id="{14907C23-B7FD-F00A-67B6-E9FBF05EB458}"/>
              </a:ext>
            </a:extLst>
          </p:cNvPr>
          <p:cNvGrpSpPr/>
          <p:nvPr/>
        </p:nvGrpSpPr>
        <p:grpSpPr>
          <a:xfrm>
            <a:off x="538945" y="3709777"/>
            <a:ext cx="4427449" cy="1829982"/>
            <a:chOff x="423922" y="1449411"/>
            <a:chExt cx="3831221" cy="1829982"/>
          </a:xfrm>
        </p:grpSpPr>
        <p:grpSp>
          <p:nvGrpSpPr>
            <p:cNvPr id="25" name="Group 24">
              <a:extLst>
                <a:ext uri="{FF2B5EF4-FFF2-40B4-BE49-F238E27FC236}">
                  <a16:creationId xmlns:a16="http://schemas.microsoft.com/office/drawing/2014/main" id="{EDA4A8B5-2D8F-62F9-7EDE-3A5D94FB286A}"/>
                </a:ext>
              </a:extLst>
            </p:cNvPr>
            <p:cNvGrpSpPr/>
            <p:nvPr/>
          </p:nvGrpSpPr>
          <p:grpSpPr>
            <a:xfrm>
              <a:off x="423922" y="1751097"/>
              <a:ext cx="2631795" cy="619133"/>
              <a:chOff x="423922" y="1751097"/>
              <a:chExt cx="2631795" cy="619133"/>
            </a:xfrm>
          </p:grpSpPr>
          <p:sp>
            <p:nvSpPr>
              <p:cNvPr id="32" name="Rectangle 31">
                <a:extLst>
                  <a:ext uri="{FF2B5EF4-FFF2-40B4-BE49-F238E27FC236}">
                    <a16:creationId xmlns:a16="http://schemas.microsoft.com/office/drawing/2014/main" id="{1A847406-E275-6F5F-5288-9A59354D5E3C}"/>
                  </a:ext>
                </a:extLst>
              </p:cNvPr>
              <p:cNvSpPr/>
              <p:nvPr/>
            </p:nvSpPr>
            <p:spPr>
              <a:xfrm>
                <a:off x="423922" y="1751097"/>
                <a:ext cx="1034488" cy="4681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3" name="Rectangle: Rounded Corners 7">
                <a:extLst>
                  <a:ext uri="{FF2B5EF4-FFF2-40B4-BE49-F238E27FC236}">
                    <a16:creationId xmlns:a16="http://schemas.microsoft.com/office/drawing/2014/main" id="{2FF2573E-779E-2010-D3C1-78BB928F70F8}"/>
                  </a:ext>
                </a:extLst>
              </p:cNvPr>
              <p:cNvSpPr/>
              <p:nvPr/>
            </p:nvSpPr>
            <p:spPr>
              <a:xfrm>
                <a:off x="423922" y="2062257"/>
                <a:ext cx="2631795" cy="307973"/>
              </a:xfrm>
              <a:prstGeom prst="roundRect">
                <a:avLst>
                  <a:gd name="adj" fmla="val 5000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sp>
          <p:nvSpPr>
            <p:cNvPr id="26" name="Rectangle 25">
              <a:extLst>
                <a:ext uri="{FF2B5EF4-FFF2-40B4-BE49-F238E27FC236}">
                  <a16:creationId xmlns:a16="http://schemas.microsoft.com/office/drawing/2014/main" id="{2C46A29F-5C0C-AD3C-D384-20125C51DDFE}"/>
                </a:ext>
              </a:extLst>
            </p:cNvPr>
            <p:cNvSpPr/>
            <p:nvPr/>
          </p:nvSpPr>
          <p:spPr>
            <a:xfrm>
              <a:off x="653970" y="1679458"/>
              <a:ext cx="3601173" cy="1573723"/>
            </a:xfrm>
            <a:prstGeom prst="rect">
              <a:avLst/>
            </a:prstGeom>
            <a:solidFill>
              <a:schemeClr val="bg1">
                <a:lumMod val="8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tIns="68580" rIns="137160" rtlCol="0" anchor="t"/>
            <a:lstStyle/>
            <a:p>
              <a:pPr algn="r"/>
              <a:r>
                <a:rPr lang="en-US" b="1" dirty="0">
                  <a:solidFill>
                    <a:schemeClr val="bg1">
                      <a:lumMod val="50000"/>
                    </a:schemeClr>
                  </a:solidFill>
                </a:rPr>
                <a:t>03</a:t>
              </a:r>
            </a:p>
          </p:txBody>
        </p:sp>
        <p:sp>
          <p:nvSpPr>
            <p:cNvPr id="30" name="Rectangle: Rounded Corners 9">
              <a:extLst>
                <a:ext uri="{FF2B5EF4-FFF2-40B4-BE49-F238E27FC236}">
                  <a16:creationId xmlns:a16="http://schemas.microsoft.com/office/drawing/2014/main" id="{52A3D77A-7A54-C60F-4E94-C1B130236B1B}"/>
                </a:ext>
              </a:extLst>
            </p:cNvPr>
            <p:cNvSpPr/>
            <p:nvPr/>
          </p:nvSpPr>
          <p:spPr>
            <a:xfrm>
              <a:off x="423922" y="1449411"/>
              <a:ext cx="2484571" cy="612847"/>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2500"/>
                </a:spcBef>
              </a:pPr>
              <a:r>
                <a:rPr lang="en-US" sz="2400" b="1" dirty="0"/>
                <a:t>Workforce Optimization</a:t>
              </a:r>
            </a:p>
          </p:txBody>
        </p:sp>
        <p:sp>
          <p:nvSpPr>
            <p:cNvPr id="28" name="TextBox 27">
              <a:extLst>
                <a:ext uri="{FF2B5EF4-FFF2-40B4-BE49-F238E27FC236}">
                  <a16:creationId xmlns:a16="http://schemas.microsoft.com/office/drawing/2014/main" id="{689304DF-0226-874A-1ABD-14C476683D4C}"/>
                </a:ext>
              </a:extLst>
            </p:cNvPr>
            <p:cNvSpPr txBox="1"/>
            <p:nvPr/>
          </p:nvSpPr>
          <p:spPr>
            <a:xfrm>
              <a:off x="737559" y="2109842"/>
              <a:ext cx="3402562" cy="1169551"/>
            </a:xfrm>
            <a:prstGeom prst="rect">
              <a:avLst/>
            </a:prstGeom>
            <a:noFill/>
          </p:spPr>
          <p:txBody>
            <a:bodyPr wrap="square" lIns="0" rIns="0" rtlCol="0" anchor="t">
              <a:spAutoFit/>
            </a:bodyPr>
            <a:lstStyle/>
            <a:p>
              <a:pPr algn="just"/>
              <a:r>
                <a:rPr lang="en-US" sz="1400" dirty="0"/>
                <a:t>Training PHC providers in TB management improves early detection and ensures continuity of patient care</a:t>
              </a:r>
              <a:r>
                <a:rPr lang="en-US" sz="1400" dirty="0" smtClean="0"/>
                <a:t>.</a:t>
              </a:r>
            </a:p>
            <a:p>
              <a:pPr algn="just"/>
              <a:r>
                <a:rPr lang="en-US" sz="1400" dirty="0" smtClean="0"/>
                <a:t>Use of CHPs for TB contact tracing and patient education</a:t>
              </a:r>
              <a:endParaRPr lang="en-US" sz="1400" dirty="0"/>
            </a:p>
            <a:p>
              <a:pPr algn="just"/>
              <a:endParaRPr lang="en-US" sz="1400" noProof="1">
                <a:solidFill>
                  <a:schemeClr val="tx1">
                    <a:lumMod val="65000"/>
                    <a:lumOff val="35000"/>
                  </a:schemeClr>
                </a:solidFill>
              </a:endParaRPr>
            </a:p>
          </p:txBody>
        </p:sp>
      </p:grpSp>
      <p:grpSp>
        <p:nvGrpSpPr>
          <p:cNvPr id="34" name="Group 33">
            <a:extLst>
              <a:ext uri="{FF2B5EF4-FFF2-40B4-BE49-F238E27FC236}">
                <a16:creationId xmlns:a16="http://schemas.microsoft.com/office/drawing/2014/main" id="{F587542F-56A6-5925-E789-B72CF79DC994}"/>
              </a:ext>
            </a:extLst>
          </p:cNvPr>
          <p:cNvGrpSpPr/>
          <p:nvPr/>
        </p:nvGrpSpPr>
        <p:grpSpPr>
          <a:xfrm>
            <a:off x="7319367" y="4039992"/>
            <a:ext cx="4717560" cy="1803770"/>
            <a:chOff x="423922" y="1449411"/>
            <a:chExt cx="3831221" cy="1803770"/>
          </a:xfrm>
        </p:grpSpPr>
        <p:grpSp>
          <p:nvGrpSpPr>
            <p:cNvPr id="35" name="Group 34">
              <a:extLst>
                <a:ext uri="{FF2B5EF4-FFF2-40B4-BE49-F238E27FC236}">
                  <a16:creationId xmlns:a16="http://schemas.microsoft.com/office/drawing/2014/main" id="{E343D8BC-A746-44B5-9F17-E7BCC9DEDA1B}"/>
                </a:ext>
              </a:extLst>
            </p:cNvPr>
            <p:cNvGrpSpPr/>
            <p:nvPr/>
          </p:nvGrpSpPr>
          <p:grpSpPr>
            <a:xfrm>
              <a:off x="423922" y="1751097"/>
              <a:ext cx="2631795" cy="619133"/>
              <a:chOff x="423922" y="1751097"/>
              <a:chExt cx="2631795" cy="619133"/>
            </a:xfrm>
          </p:grpSpPr>
          <p:sp>
            <p:nvSpPr>
              <p:cNvPr id="42" name="Rectangle 41">
                <a:extLst>
                  <a:ext uri="{FF2B5EF4-FFF2-40B4-BE49-F238E27FC236}">
                    <a16:creationId xmlns:a16="http://schemas.microsoft.com/office/drawing/2014/main" id="{658C9443-8745-03D9-18D4-46B854363BF6}"/>
                  </a:ext>
                </a:extLst>
              </p:cNvPr>
              <p:cNvSpPr/>
              <p:nvPr/>
            </p:nvSpPr>
            <p:spPr>
              <a:xfrm>
                <a:off x="423922" y="1751097"/>
                <a:ext cx="1034488" cy="46813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3" name="Rectangle: Rounded Corners 7">
                <a:extLst>
                  <a:ext uri="{FF2B5EF4-FFF2-40B4-BE49-F238E27FC236}">
                    <a16:creationId xmlns:a16="http://schemas.microsoft.com/office/drawing/2014/main" id="{11825204-DFFB-504A-9256-A619A427ED14}"/>
                  </a:ext>
                </a:extLst>
              </p:cNvPr>
              <p:cNvSpPr/>
              <p:nvPr/>
            </p:nvSpPr>
            <p:spPr>
              <a:xfrm>
                <a:off x="423922" y="2062257"/>
                <a:ext cx="2631795" cy="307973"/>
              </a:xfrm>
              <a:prstGeom prst="roundRect">
                <a:avLst>
                  <a:gd name="adj" fmla="val 5000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sp>
          <p:nvSpPr>
            <p:cNvPr id="36" name="Rectangle 35">
              <a:extLst>
                <a:ext uri="{FF2B5EF4-FFF2-40B4-BE49-F238E27FC236}">
                  <a16:creationId xmlns:a16="http://schemas.microsoft.com/office/drawing/2014/main" id="{FF01478F-7ABA-843F-3F20-F104C4BEE9C9}"/>
                </a:ext>
              </a:extLst>
            </p:cNvPr>
            <p:cNvSpPr/>
            <p:nvPr/>
          </p:nvSpPr>
          <p:spPr>
            <a:xfrm>
              <a:off x="653970" y="1679458"/>
              <a:ext cx="3601173" cy="1573723"/>
            </a:xfrm>
            <a:prstGeom prst="rect">
              <a:avLst/>
            </a:prstGeom>
            <a:solidFill>
              <a:schemeClr val="bg1">
                <a:lumMod val="8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tIns="68580" rIns="137160" rtlCol="0" anchor="t"/>
            <a:lstStyle/>
            <a:p>
              <a:pPr algn="r"/>
              <a:r>
                <a:rPr lang="en-US" b="1" dirty="0">
                  <a:solidFill>
                    <a:schemeClr val="bg1">
                      <a:lumMod val="50000"/>
                    </a:schemeClr>
                  </a:solidFill>
                </a:rPr>
                <a:t>04</a:t>
              </a:r>
            </a:p>
          </p:txBody>
        </p:sp>
        <p:sp>
          <p:nvSpPr>
            <p:cNvPr id="40" name="Rectangle: Rounded Corners 9">
              <a:extLst>
                <a:ext uri="{FF2B5EF4-FFF2-40B4-BE49-F238E27FC236}">
                  <a16:creationId xmlns:a16="http://schemas.microsoft.com/office/drawing/2014/main" id="{061F40AC-BC6A-1358-1E08-541DFA7688BB}"/>
                </a:ext>
              </a:extLst>
            </p:cNvPr>
            <p:cNvSpPr/>
            <p:nvPr/>
          </p:nvSpPr>
          <p:spPr>
            <a:xfrm>
              <a:off x="423922" y="1449411"/>
              <a:ext cx="2631795" cy="612847"/>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2500"/>
                </a:spcBef>
              </a:pPr>
              <a:r>
                <a:rPr lang="en-US" sz="2400" b="1" dirty="0"/>
                <a:t>Community Engagement</a:t>
              </a:r>
            </a:p>
          </p:txBody>
        </p:sp>
        <p:sp>
          <p:nvSpPr>
            <p:cNvPr id="38" name="TextBox 37">
              <a:extLst>
                <a:ext uri="{FF2B5EF4-FFF2-40B4-BE49-F238E27FC236}">
                  <a16:creationId xmlns:a16="http://schemas.microsoft.com/office/drawing/2014/main" id="{A9A2E109-B735-6391-B398-13BC14CDBE8A}"/>
                </a:ext>
              </a:extLst>
            </p:cNvPr>
            <p:cNvSpPr txBox="1"/>
            <p:nvPr/>
          </p:nvSpPr>
          <p:spPr>
            <a:xfrm>
              <a:off x="735885" y="2242598"/>
              <a:ext cx="3437342" cy="738664"/>
            </a:xfrm>
            <a:prstGeom prst="rect">
              <a:avLst/>
            </a:prstGeom>
            <a:noFill/>
          </p:spPr>
          <p:txBody>
            <a:bodyPr wrap="square" lIns="0" rIns="0" rtlCol="0" anchor="t">
              <a:spAutoFit/>
            </a:bodyPr>
            <a:lstStyle/>
            <a:p>
              <a:pPr algn="just"/>
              <a:r>
                <a:rPr lang="en-US" sz="1400" dirty="0"/>
                <a:t>Community networks empower local actors to raise TB awareness and support treatment adherence effective</a:t>
              </a:r>
              <a:endParaRPr lang="en-US" sz="2000" dirty="0">
                <a:solidFill>
                  <a:srgbClr val="002060"/>
                </a:solidFill>
              </a:endParaRPr>
            </a:p>
            <a:p>
              <a:pPr algn="just"/>
              <a:endParaRPr lang="en-US" sz="1400" noProof="1">
                <a:solidFill>
                  <a:schemeClr val="tx1">
                    <a:lumMod val="65000"/>
                    <a:lumOff val="35000"/>
                  </a:schemeClr>
                </a:solidFill>
              </a:endParaRPr>
            </a:p>
          </p:txBody>
        </p:sp>
      </p:grpSp>
      <p:sp>
        <p:nvSpPr>
          <p:cNvPr id="44" name="TextBox 43">
            <a:extLst>
              <a:ext uri="{FF2B5EF4-FFF2-40B4-BE49-F238E27FC236}">
                <a16:creationId xmlns:a16="http://schemas.microsoft.com/office/drawing/2014/main" id="{C4357F2B-AB60-C78E-3F81-FECEE107E561}"/>
              </a:ext>
            </a:extLst>
          </p:cNvPr>
          <p:cNvSpPr txBox="1"/>
          <p:nvPr/>
        </p:nvSpPr>
        <p:spPr>
          <a:xfrm>
            <a:off x="7964204" y="2269339"/>
            <a:ext cx="3973916" cy="1200329"/>
          </a:xfrm>
          <a:prstGeom prst="rect">
            <a:avLst/>
          </a:prstGeom>
          <a:noFill/>
        </p:spPr>
        <p:txBody>
          <a:bodyPr wrap="square" rtlCol="0">
            <a:spAutoFit/>
          </a:bodyPr>
          <a:lstStyle/>
          <a:p>
            <a:r>
              <a:rPr lang="en-US" dirty="0"/>
              <a:t>Primary health care platforms support TB screening, diagnosis, and treatment to reduce service duplication.</a:t>
            </a:r>
          </a:p>
          <a:p>
            <a:endParaRPr lang="en-US" dirty="0"/>
          </a:p>
        </p:txBody>
      </p:sp>
    </p:spTree>
    <p:extLst>
      <p:ext uri="{BB962C8B-B14F-4D97-AF65-F5344CB8AC3E}">
        <p14:creationId xmlns:p14="http://schemas.microsoft.com/office/powerpoint/2010/main" val="36180358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43272"/>
            <a:ext cx="7489767" cy="830997"/>
          </a:xfrm>
          <a:prstGeom prst="rect">
            <a:avLst/>
          </a:prstGeom>
          <a:noFill/>
        </p:spPr>
        <p:txBody>
          <a:bodyPr wrap="square" rtlCol="0">
            <a:spAutoFit/>
          </a:bodyPr>
          <a:lstStyle/>
          <a:p>
            <a:r>
              <a:rPr lang="en-US" sz="2400" b="1" dirty="0">
                <a:solidFill>
                  <a:schemeClr val="bg1"/>
                </a:solidFill>
              </a:rPr>
              <a:t>Enablers of synergistic actions for the PHC approach and ending TB </a:t>
            </a:r>
          </a:p>
        </p:txBody>
      </p:sp>
      <p:sp>
        <p:nvSpPr>
          <p:cNvPr id="5" name="TextBox 4"/>
          <p:cNvSpPr txBox="1"/>
          <p:nvPr/>
        </p:nvSpPr>
        <p:spPr>
          <a:xfrm>
            <a:off x="90245" y="1302711"/>
            <a:ext cx="11296768" cy="6032421"/>
          </a:xfrm>
          <a:prstGeom prst="rect">
            <a:avLst/>
          </a:prstGeom>
          <a:noFill/>
        </p:spPr>
        <p:txBody>
          <a:bodyPr wrap="square" rtlCol="0">
            <a:spAutoFit/>
          </a:bodyPr>
          <a:lstStyle/>
          <a:p>
            <a:r>
              <a:rPr lang="en-US" sz="2400" b="1" dirty="0"/>
              <a:t>Political commitment</a:t>
            </a:r>
            <a:r>
              <a:rPr lang="en-US" sz="2400" dirty="0"/>
              <a:t> </a:t>
            </a:r>
          </a:p>
          <a:p>
            <a:pPr marL="800100" lvl="1" indent="-342900">
              <a:buFont typeface="Arial" panose="020B0604020202020204" pitchFamily="34" charset="0"/>
              <a:buChar char="•"/>
            </a:pPr>
            <a:r>
              <a:rPr lang="en-US" sz="2400" dirty="0"/>
              <a:t>Enables development of necessary policies and resource allocation for TB services. </a:t>
            </a:r>
          </a:p>
          <a:p>
            <a:pPr marL="800100" lvl="1" indent="-342900">
              <a:buFont typeface="Arial" panose="020B0604020202020204" pitchFamily="34" charset="0"/>
              <a:buChar char="•"/>
            </a:pPr>
            <a:r>
              <a:rPr lang="en-US" sz="2400" dirty="0"/>
              <a:t>Collaboration across sectors like health, education, social services, and housing</a:t>
            </a:r>
          </a:p>
          <a:p>
            <a:r>
              <a:rPr lang="en-US" sz="2400" b="1" dirty="0"/>
              <a:t>Integration of TB Services into PHC Frameworks</a:t>
            </a:r>
          </a:p>
          <a:p>
            <a:pPr marL="742950" lvl="1" indent="-285750">
              <a:buFont typeface="Arial" panose="020B0604020202020204" pitchFamily="34" charset="0"/>
              <a:buChar char="•"/>
            </a:pPr>
            <a:r>
              <a:rPr lang="en-US" sz="2400" dirty="0"/>
              <a:t>Embedding TB care within PHC ensures equitable, accessible, and people-centered services.</a:t>
            </a:r>
          </a:p>
          <a:p>
            <a:pPr marL="742950" lvl="1" indent="-285750">
              <a:buFont typeface="Arial" panose="020B0604020202020204" pitchFamily="34" charset="0"/>
              <a:buChar char="•"/>
            </a:pPr>
            <a:r>
              <a:rPr lang="en-US" sz="2400" dirty="0"/>
              <a:t>Strengthens health infrastructure, including laboratory systems and airborne infection control</a:t>
            </a:r>
          </a:p>
          <a:p>
            <a:r>
              <a:rPr lang="en-US" sz="2400" b="1" dirty="0"/>
              <a:t>Multi-sectoral Collaboration</a:t>
            </a:r>
          </a:p>
          <a:p>
            <a:pPr marL="742950" lvl="1" indent="-285750">
              <a:buFont typeface="Arial" panose="020B0604020202020204" pitchFamily="34" charset="0"/>
              <a:buChar char="•"/>
            </a:pPr>
            <a:r>
              <a:rPr lang="en-US" sz="2400" dirty="0"/>
              <a:t>Ending TB requires coordinated action across health, finance, labor, and social services.</a:t>
            </a:r>
          </a:p>
          <a:p>
            <a:pPr marL="742950" lvl="1" indent="-285750">
              <a:buFont typeface="Arial" panose="020B0604020202020204" pitchFamily="34" charset="0"/>
              <a:buChar char="•"/>
            </a:pPr>
            <a:r>
              <a:rPr lang="en-US" sz="2400" dirty="0"/>
              <a:t>Joint planning across sectors helps address social and economic determinants of TB </a:t>
            </a:r>
          </a:p>
          <a:p>
            <a:r>
              <a:rPr lang="en-US" sz="2400" dirty="0"/>
              <a:t> </a:t>
            </a:r>
          </a:p>
          <a:p>
            <a:endParaRPr lang="en-US" dirty="0"/>
          </a:p>
          <a:p>
            <a:pPr marL="285750" indent="-285750" algn="just">
              <a:buFont typeface="Arial" panose="020B0604020202020204" pitchFamily="34" charset="0"/>
              <a:buChar char="•"/>
            </a:pPr>
            <a:endParaRPr lang="en-US" sz="2800" dirty="0">
              <a:solidFill>
                <a:srgbClr val="002060"/>
              </a:solidFill>
            </a:endParaRPr>
          </a:p>
          <a:p>
            <a:pPr marL="0" lvl="1" algn="just"/>
            <a:endParaRPr lang="en-US" sz="2800" dirty="0">
              <a:solidFill>
                <a:srgbClr val="002060"/>
              </a:solidFill>
            </a:endParaRPr>
          </a:p>
        </p:txBody>
      </p:sp>
    </p:spTree>
    <p:extLst>
      <p:ext uri="{BB962C8B-B14F-4D97-AF65-F5344CB8AC3E}">
        <p14:creationId xmlns:p14="http://schemas.microsoft.com/office/powerpoint/2010/main" val="742487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84172"/>
            <a:ext cx="7734748" cy="1384995"/>
          </a:xfrm>
          <a:prstGeom prst="rect">
            <a:avLst/>
          </a:prstGeom>
          <a:noFill/>
        </p:spPr>
        <p:txBody>
          <a:bodyPr wrap="square" rtlCol="0">
            <a:spAutoFit/>
          </a:bodyPr>
          <a:lstStyle/>
          <a:p>
            <a:r>
              <a:rPr lang="en-US" sz="2400" b="1" dirty="0">
                <a:solidFill>
                  <a:schemeClr val="bg1"/>
                </a:solidFill>
              </a:rPr>
              <a:t>Enablers of synergistic actions for the PHC approach and ending TB </a:t>
            </a:r>
          </a:p>
          <a:p>
            <a:endParaRPr lang="en-US" sz="3600" dirty="0">
              <a:solidFill>
                <a:schemeClr val="bg1"/>
              </a:solidFill>
            </a:endParaRPr>
          </a:p>
        </p:txBody>
      </p:sp>
      <p:sp>
        <p:nvSpPr>
          <p:cNvPr id="5" name="TextBox 4"/>
          <p:cNvSpPr txBox="1"/>
          <p:nvPr/>
        </p:nvSpPr>
        <p:spPr>
          <a:xfrm>
            <a:off x="447616" y="1395459"/>
            <a:ext cx="11296768" cy="4585871"/>
          </a:xfrm>
          <a:prstGeom prst="rect">
            <a:avLst/>
          </a:prstGeom>
          <a:noFill/>
        </p:spPr>
        <p:txBody>
          <a:bodyPr wrap="square" rtlCol="0">
            <a:spAutoFit/>
          </a:bodyPr>
          <a:lstStyle/>
          <a:p>
            <a:r>
              <a:rPr lang="en-US" sz="2400" b="1" dirty="0"/>
              <a:t>Community and Civil Society Engagement</a:t>
            </a:r>
          </a:p>
          <a:p>
            <a:pPr marL="914400" lvl="1" indent="-457200">
              <a:buFont typeface="Arial" panose="020B0604020202020204" pitchFamily="34" charset="0"/>
              <a:buChar char="•"/>
            </a:pPr>
            <a:r>
              <a:rPr lang="en-US" sz="2400" dirty="0"/>
              <a:t>Empowering communities enhances awareness, early detection, and treatment adherence.</a:t>
            </a:r>
          </a:p>
          <a:p>
            <a:pPr marL="914400" lvl="1" indent="-457200">
              <a:buFont typeface="Arial" panose="020B0604020202020204" pitchFamily="34" charset="0"/>
              <a:buChar char="•"/>
            </a:pPr>
            <a:r>
              <a:rPr lang="en-US" sz="2400" dirty="0"/>
              <a:t>Civil society plays a vital role in advocacy, accountability, and service delivery </a:t>
            </a:r>
          </a:p>
          <a:p>
            <a:r>
              <a:rPr lang="en-US" sz="2400" b="1" dirty="0"/>
              <a:t>Health Workforce Strengthening</a:t>
            </a:r>
          </a:p>
          <a:p>
            <a:pPr marL="914400" lvl="1" indent="-457200">
              <a:buFont typeface="Arial" panose="020B0604020202020204" pitchFamily="34" charset="0"/>
              <a:buChar char="•"/>
            </a:pPr>
            <a:r>
              <a:rPr lang="en-US" sz="2400" dirty="0"/>
              <a:t>Upskilling health workers to deliver integrated care.</a:t>
            </a:r>
          </a:p>
          <a:p>
            <a:pPr marL="914400" lvl="1" indent="-457200">
              <a:buFont typeface="Arial" panose="020B0604020202020204" pitchFamily="34" charset="0"/>
              <a:buChar char="•"/>
            </a:pPr>
            <a:r>
              <a:rPr lang="en-US" sz="2400" dirty="0"/>
              <a:t>Workforce reallocation ensures coverage across all levels of care</a:t>
            </a:r>
          </a:p>
          <a:p>
            <a:r>
              <a:rPr lang="en-US" sz="2400" b="1" dirty="0"/>
              <a:t>Digital Health and Surveillance Systems</a:t>
            </a:r>
          </a:p>
          <a:p>
            <a:pPr marL="457200" indent="-457200">
              <a:buFont typeface="Arial" panose="020B0604020202020204" pitchFamily="34" charset="0"/>
              <a:buChar char="•"/>
            </a:pPr>
            <a:r>
              <a:rPr lang="en-US" sz="2400" dirty="0"/>
              <a:t>Integrated strategies need robust data platforms for monitoring, evaluation, and decision-making.</a:t>
            </a:r>
          </a:p>
          <a:p>
            <a:pPr marL="457200" indent="-457200">
              <a:buFont typeface="Arial" panose="020B0604020202020204" pitchFamily="34" charset="0"/>
              <a:buChar char="•"/>
            </a:pPr>
            <a:r>
              <a:rPr lang="en-US" sz="2400" dirty="0"/>
              <a:t>Digital tools support case tracking, treatment adherence, and community outreach </a:t>
            </a:r>
          </a:p>
          <a:p>
            <a:pPr marL="285750" indent="-285750" algn="just">
              <a:buFont typeface="Arial" panose="020B0604020202020204" pitchFamily="34" charset="0"/>
              <a:buChar char="•"/>
            </a:pPr>
            <a:endParaRPr lang="en-US" sz="2800" dirty="0">
              <a:solidFill>
                <a:srgbClr val="002060"/>
              </a:solidFill>
            </a:endParaRPr>
          </a:p>
        </p:txBody>
      </p:sp>
    </p:spTree>
    <p:extLst>
      <p:ext uri="{BB962C8B-B14F-4D97-AF65-F5344CB8AC3E}">
        <p14:creationId xmlns:p14="http://schemas.microsoft.com/office/powerpoint/2010/main" val="21151201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B42B0-7C0F-252A-B176-9C74C4AB001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673C574-0F37-19AC-734C-794F5C577118}"/>
              </a:ext>
            </a:extLst>
          </p:cNvPr>
          <p:cNvSpPr txBox="1"/>
          <p:nvPr/>
        </p:nvSpPr>
        <p:spPr>
          <a:xfrm>
            <a:off x="39330" y="0"/>
            <a:ext cx="7644808" cy="1508105"/>
          </a:xfrm>
          <a:prstGeom prst="rect">
            <a:avLst/>
          </a:prstGeom>
          <a:noFill/>
        </p:spPr>
        <p:txBody>
          <a:bodyPr wrap="square" rtlCol="0">
            <a:spAutoFit/>
          </a:bodyPr>
          <a:lstStyle/>
          <a:p>
            <a:r>
              <a:rPr lang="en-US" sz="2800" b="1" dirty="0">
                <a:solidFill>
                  <a:schemeClr val="bg1"/>
                </a:solidFill>
              </a:rPr>
              <a:t>Barriers of synergistic actions for the PHC approach and ending TB </a:t>
            </a:r>
          </a:p>
          <a:p>
            <a:endParaRPr lang="en-US" sz="3600" dirty="0">
              <a:solidFill>
                <a:schemeClr val="bg1"/>
              </a:solidFill>
            </a:endParaRPr>
          </a:p>
        </p:txBody>
      </p:sp>
      <p:grpSp>
        <p:nvGrpSpPr>
          <p:cNvPr id="3" name="Group 2">
            <a:extLst>
              <a:ext uri="{FF2B5EF4-FFF2-40B4-BE49-F238E27FC236}">
                <a16:creationId xmlns:a16="http://schemas.microsoft.com/office/drawing/2014/main" id="{0A080C28-8CDB-28B5-5099-CDBE567E090B}"/>
              </a:ext>
            </a:extLst>
          </p:cNvPr>
          <p:cNvGrpSpPr/>
          <p:nvPr/>
        </p:nvGrpSpPr>
        <p:grpSpPr>
          <a:xfrm>
            <a:off x="2308133" y="1584891"/>
            <a:ext cx="7044984" cy="1026751"/>
            <a:chOff x="2149033" y="1347418"/>
            <a:chExt cx="7893935" cy="1150478"/>
          </a:xfrm>
        </p:grpSpPr>
        <p:sp>
          <p:nvSpPr>
            <p:cNvPr id="4" name="Freeform: Shape 86">
              <a:extLst>
                <a:ext uri="{FF2B5EF4-FFF2-40B4-BE49-F238E27FC236}">
                  <a16:creationId xmlns:a16="http://schemas.microsoft.com/office/drawing/2014/main" id="{3EA600B1-79F0-4A14-3BA2-EAC7DD0CA6A0}"/>
                </a:ext>
              </a:extLst>
            </p:cNvPr>
            <p:cNvSpPr/>
            <p:nvPr/>
          </p:nvSpPr>
          <p:spPr>
            <a:xfrm>
              <a:off x="2149033" y="1347418"/>
              <a:ext cx="7893935" cy="1054665"/>
            </a:xfrm>
            <a:custGeom>
              <a:avLst/>
              <a:gdLst>
                <a:gd name="connsiteX0" fmla="*/ 2871517 w 7893935"/>
                <a:gd name="connsiteY0" fmla="*/ 0 h 1054665"/>
                <a:gd name="connsiteX1" fmla="*/ 3649530 w 7893935"/>
                <a:gd name="connsiteY1" fmla="*/ 0 h 1054665"/>
                <a:gd name="connsiteX2" fmla="*/ 5925861 w 7893935"/>
                <a:gd name="connsiteY2" fmla="*/ 0 h 1054665"/>
                <a:gd name="connsiteX3" fmla="*/ 6358942 w 7893935"/>
                <a:gd name="connsiteY3" fmla="*/ 231638 h 1054665"/>
                <a:gd name="connsiteX4" fmla="*/ 6367880 w 7893935"/>
                <a:gd name="connsiteY4" fmla="*/ 248204 h 1054665"/>
                <a:gd name="connsiteX5" fmla="*/ 6399256 w 7893935"/>
                <a:gd name="connsiteY5" fmla="*/ 279139 h 1054665"/>
                <a:gd name="connsiteX6" fmla="*/ 6645257 w 7893935"/>
                <a:gd name="connsiteY6" fmla="*/ 368934 h 1054665"/>
                <a:gd name="connsiteX7" fmla="*/ 6891259 w 7893935"/>
                <a:gd name="connsiteY7" fmla="*/ 279139 h 1054665"/>
                <a:gd name="connsiteX8" fmla="*/ 6925818 w 7893935"/>
                <a:gd name="connsiteY8" fmla="*/ 245066 h 1054665"/>
                <a:gd name="connsiteX9" fmla="*/ 6932170 w 7893935"/>
                <a:gd name="connsiteY9" fmla="*/ 233364 h 1054665"/>
                <a:gd name="connsiteX10" fmla="*/ 7368155 w 7893935"/>
                <a:gd name="connsiteY10" fmla="*/ 1552 h 1054665"/>
                <a:gd name="connsiteX11" fmla="*/ 7893935 w 7893935"/>
                <a:gd name="connsiteY11" fmla="*/ 527332 h 1054665"/>
                <a:gd name="connsiteX12" fmla="*/ 7368155 w 7893935"/>
                <a:gd name="connsiteY12" fmla="*/ 1053112 h 1054665"/>
                <a:gd name="connsiteX13" fmla="*/ 6932170 w 7893935"/>
                <a:gd name="connsiteY13" fmla="*/ 821301 h 1054665"/>
                <a:gd name="connsiteX14" fmla="*/ 6925820 w 7893935"/>
                <a:gd name="connsiteY14" fmla="*/ 809601 h 1054665"/>
                <a:gd name="connsiteX15" fmla="*/ 6891259 w 7893935"/>
                <a:gd name="connsiteY15" fmla="*/ 775526 h 1054665"/>
                <a:gd name="connsiteX16" fmla="*/ 6645257 w 7893935"/>
                <a:gd name="connsiteY16" fmla="*/ 685731 h 1054665"/>
                <a:gd name="connsiteX17" fmla="*/ 6399256 w 7893935"/>
                <a:gd name="connsiteY17" fmla="*/ 775526 h 1054665"/>
                <a:gd name="connsiteX18" fmla="*/ 6367880 w 7893935"/>
                <a:gd name="connsiteY18" fmla="*/ 806463 h 1054665"/>
                <a:gd name="connsiteX19" fmla="*/ 6358942 w 7893935"/>
                <a:gd name="connsiteY19" fmla="*/ 823027 h 1054665"/>
                <a:gd name="connsiteX20" fmla="*/ 5925861 w 7893935"/>
                <a:gd name="connsiteY20" fmla="*/ 1054664 h 1054665"/>
                <a:gd name="connsiteX21" fmla="*/ 5164099 w 7893935"/>
                <a:gd name="connsiteY21" fmla="*/ 1054664 h 1054665"/>
                <a:gd name="connsiteX22" fmla="*/ 5164099 w 7893935"/>
                <a:gd name="connsiteY22" fmla="*/ 1054665 h 1054665"/>
                <a:gd name="connsiteX23" fmla="*/ 5022417 w 7893935"/>
                <a:gd name="connsiteY23" fmla="*/ 1054665 h 1054665"/>
                <a:gd name="connsiteX24" fmla="*/ 3649530 w 7893935"/>
                <a:gd name="connsiteY24" fmla="*/ 1054665 h 1054665"/>
                <a:gd name="connsiteX25" fmla="*/ 1968075 w 7893935"/>
                <a:gd name="connsiteY25" fmla="*/ 1054665 h 1054665"/>
                <a:gd name="connsiteX26" fmla="*/ 1534993 w 7893935"/>
                <a:gd name="connsiteY26" fmla="*/ 823028 h 1054665"/>
                <a:gd name="connsiteX27" fmla="*/ 1526052 w 7893935"/>
                <a:gd name="connsiteY27" fmla="*/ 806457 h 1054665"/>
                <a:gd name="connsiteX28" fmla="*/ 1494680 w 7893935"/>
                <a:gd name="connsiteY28" fmla="*/ 775526 h 1054665"/>
                <a:gd name="connsiteX29" fmla="*/ 1248678 w 7893935"/>
                <a:gd name="connsiteY29" fmla="*/ 685731 h 1054665"/>
                <a:gd name="connsiteX30" fmla="*/ 1002677 w 7893935"/>
                <a:gd name="connsiteY30" fmla="*/ 775526 h 1054665"/>
                <a:gd name="connsiteX31" fmla="*/ 968113 w 7893935"/>
                <a:gd name="connsiteY31" fmla="*/ 809606 h 1054665"/>
                <a:gd name="connsiteX32" fmla="*/ 961765 w 7893935"/>
                <a:gd name="connsiteY32" fmla="*/ 821301 h 1054665"/>
                <a:gd name="connsiteX33" fmla="*/ 525780 w 7893935"/>
                <a:gd name="connsiteY33" fmla="*/ 1053112 h 1054665"/>
                <a:gd name="connsiteX34" fmla="*/ 0 w 7893935"/>
                <a:gd name="connsiteY34" fmla="*/ 527332 h 1054665"/>
                <a:gd name="connsiteX35" fmla="*/ 525780 w 7893935"/>
                <a:gd name="connsiteY35" fmla="*/ 1552 h 1054665"/>
                <a:gd name="connsiteX36" fmla="*/ 961765 w 7893935"/>
                <a:gd name="connsiteY36" fmla="*/ 233364 h 1054665"/>
                <a:gd name="connsiteX37" fmla="*/ 968115 w 7893935"/>
                <a:gd name="connsiteY37" fmla="*/ 245063 h 1054665"/>
                <a:gd name="connsiteX38" fmla="*/ 1002677 w 7893935"/>
                <a:gd name="connsiteY38" fmla="*/ 279139 h 1054665"/>
                <a:gd name="connsiteX39" fmla="*/ 1248678 w 7893935"/>
                <a:gd name="connsiteY39" fmla="*/ 368934 h 1054665"/>
                <a:gd name="connsiteX40" fmla="*/ 1494680 w 7893935"/>
                <a:gd name="connsiteY40" fmla="*/ 279139 h 1054665"/>
                <a:gd name="connsiteX41" fmla="*/ 1526054 w 7893935"/>
                <a:gd name="connsiteY41" fmla="*/ 248206 h 1054665"/>
                <a:gd name="connsiteX42" fmla="*/ 1534993 w 7893935"/>
                <a:gd name="connsiteY42" fmla="*/ 231639 h 1054665"/>
                <a:gd name="connsiteX43" fmla="*/ 1968075 w 7893935"/>
                <a:gd name="connsiteY43" fmla="*/ 2 h 1054665"/>
                <a:gd name="connsiteX44" fmla="*/ 2871503 w 7893935"/>
                <a:gd name="connsiteY44" fmla="*/ 2 h 1054665"/>
                <a:gd name="connsiteX45" fmla="*/ 2871517 w 7893935"/>
                <a:gd name="connsiteY45" fmla="*/ 0 h 1054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893935" h="1054665">
                  <a:moveTo>
                    <a:pt x="2871517" y="0"/>
                  </a:moveTo>
                  <a:lnTo>
                    <a:pt x="3649530" y="0"/>
                  </a:lnTo>
                  <a:lnTo>
                    <a:pt x="5925861" y="0"/>
                  </a:lnTo>
                  <a:cubicBezTo>
                    <a:pt x="6106141" y="0"/>
                    <a:pt x="6265085" y="91885"/>
                    <a:pt x="6358942" y="231638"/>
                  </a:cubicBezTo>
                  <a:lnTo>
                    <a:pt x="6367880" y="248204"/>
                  </a:lnTo>
                  <a:lnTo>
                    <a:pt x="6399256" y="279139"/>
                  </a:lnTo>
                  <a:cubicBezTo>
                    <a:pt x="6469478" y="335831"/>
                    <a:pt x="6554133" y="368934"/>
                    <a:pt x="6645257" y="368934"/>
                  </a:cubicBezTo>
                  <a:cubicBezTo>
                    <a:pt x="6736382" y="368934"/>
                    <a:pt x="6821036" y="335831"/>
                    <a:pt x="6891259" y="279139"/>
                  </a:cubicBezTo>
                  <a:lnTo>
                    <a:pt x="6925818" y="245066"/>
                  </a:lnTo>
                  <a:lnTo>
                    <a:pt x="6932170" y="233364"/>
                  </a:lnTo>
                  <a:cubicBezTo>
                    <a:pt x="7026657" y="93505"/>
                    <a:pt x="7186667" y="1552"/>
                    <a:pt x="7368155" y="1552"/>
                  </a:cubicBezTo>
                  <a:cubicBezTo>
                    <a:pt x="7658535" y="1552"/>
                    <a:pt x="7893935" y="236952"/>
                    <a:pt x="7893935" y="527332"/>
                  </a:cubicBezTo>
                  <a:cubicBezTo>
                    <a:pt x="7893935" y="817712"/>
                    <a:pt x="7658535" y="1053112"/>
                    <a:pt x="7368155" y="1053112"/>
                  </a:cubicBezTo>
                  <a:cubicBezTo>
                    <a:pt x="7186667" y="1053112"/>
                    <a:pt x="7026657" y="961159"/>
                    <a:pt x="6932170" y="821301"/>
                  </a:cubicBezTo>
                  <a:lnTo>
                    <a:pt x="6925820" y="809601"/>
                  </a:lnTo>
                  <a:lnTo>
                    <a:pt x="6891259" y="775526"/>
                  </a:lnTo>
                  <a:cubicBezTo>
                    <a:pt x="6821037" y="718834"/>
                    <a:pt x="6736382" y="685731"/>
                    <a:pt x="6645257" y="685731"/>
                  </a:cubicBezTo>
                  <a:cubicBezTo>
                    <a:pt x="6554133" y="685731"/>
                    <a:pt x="6469478" y="718834"/>
                    <a:pt x="6399256" y="775526"/>
                  </a:cubicBezTo>
                  <a:lnTo>
                    <a:pt x="6367880" y="806463"/>
                  </a:lnTo>
                  <a:lnTo>
                    <a:pt x="6358942" y="823027"/>
                  </a:lnTo>
                  <a:cubicBezTo>
                    <a:pt x="6265085" y="962781"/>
                    <a:pt x="6106141" y="1054664"/>
                    <a:pt x="5925861" y="1054664"/>
                  </a:cubicBezTo>
                  <a:lnTo>
                    <a:pt x="5164099" y="1054664"/>
                  </a:lnTo>
                  <a:lnTo>
                    <a:pt x="5164099" y="1054665"/>
                  </a:lnTo>
                  <a:lnTo>
                    <a:pt x="5022417" y="1054665"/>
                  </a:lnTo>
                  <a:lnTo>
                    <a:pt x="3649530" y="1054665"/>
                  </a:lnTo>
                  <a:lnTo>
                    <a:pt x="1968075" y="1054665"/>
                  </a:lnTo>
                  <a:cubicBezTo>
                    <a:pt x="1787795" y="1054665"/>
                    <a:pt x="1628850" y="962782"/>
                    <a:pt x="1534993" y="823028"/>
                  </a:cubicBezTo>
                  <a:lnTo>
                    <a:pt x="1526052" y="806457"/>
                  </a:lnTo>
                  <a:lnTo>
                    <a:pt x="1494680" y="775526"/>
                  </a:lnTo>
                  <a:cubicBezTo>
                    <a:pt x="1424458" y="718834"/>
                    <a:pt x="1339803" y="685731"/>
                    <a:pt x="1248678" y="685731"/>
                  </a:cubicBezTo>
                  <a:cubicBezTo>
                    <a:pt x="1157554" y="685731"/>
                    <a:pt x="1072900" y="718834"/>
                    <a:pt x="1002677" y="775526"/>
                  </a:cubicBezTo>
                  <a:lnTo>
                    <a:pt x="968113" y="809606"/>
                  </a:lnTo>
                  <a:lnTo>
                    <a:pt x="961765" y="821301"/>
                  </a:lnTo>
                  <a:cubicBezTo>
                    <a:pt x="867279" y="961159"/>
                    <a:pt x="707268" y="1053112"/>
                    <a:pt x="525780" y="1053112"/>
                  </a:cubicBezTo>
                  <a:cubicBezTo>
                    <a:pt x="235400" y="1053112"/>
                    <a:pt x="0" y="817712"/>
                    <a:pt x="0" y="527332"/>
                  </a:cubicBezTo>
                  <a:cubicBezTo>
                    <a:pt x="0" y="236952"/>
                    <a:pt x="235400" y="1552"/>
                    <a:pt x="525780" y="1552"/>
                  </a:cubicBezTo>
                  <a:cubicBezTo>
                    <a:pt x="707268" y="1552"/>
                    <a:pt x="867279" y="93505"/>
                    <a:pt x="961765" y="233364"/>
                  </a:cubicBezTo>
                  <a:lnTo>
                    <a:pt x="968115" y="245063"/>
                  </a:lnTo>
                  <a:lnTo>
                    <a:pt x="1002677" y="279139"/>
                  </a:lnTo>
                  <a:cubicBezTo>
                    <a:pt x="1072900" y="335831"/>
                    <a:pt x="1157554" y="368934"/>
                    <a:pt x="1248678" y="368934"/>
                  </a:cubicBezTo>
                  <a:cubicBezTo>
                    <a:pt x="1339803" y="368934"/>
                    <a:pt x="1424458" y="335831"/>
                    <a:pt x="1494680" y="279139"/>
                  </a:cubicBezTo>
                  <a:lnTo>
                    <a:pt x="1526054" y="248206"/>
                  </a:lnTo>
                  <a:lnTo>
                    <a:pt x="1534993" y="231639"/>
                  </a:lnTo>
                  <a:cubicBezTo>
                    <a:pt x="1628850" y="91886"/>
                    <a:pt x="1787795" y="2"/>
                    <a:pt x="1968075" y="2"/>
                  </a:cubicBezTo>
                  <a:lnTo>
                    <a:pt x="2871503" y="2"/>
                  </a:lnTo>
                  <a:cubicBezTo>
                    <a:pt x="2871508" y="1"/>
                    <a:pt x="2871512" y="1"/>
                    <a:pt x="2871517" y="0"/>
                  </a:cubicBezTo>
                  <a:close/>
                </a:path>
              </a:pathLst>
            </a:custGeom>
            <a:solidFill>
              <a:schemeClr val="tx2"/>
            </a:solidFill>
            <a:ln w="0" cap="flat">
              <a:noFill/>
              <a:prstDash val="solid"/>
              <a:miter/>
            </a:ln>
          </p:spPr>
          <p:txBody>
            <a:bodyPr wrap="square" rtlCol="0" anchor="ctr">
              <a:noAutofit/>
            </a:bodyPr>
            <a:lstStyle/>
            <a:p>
              <a:endParaRPr lang="en-US" sz="1400"/>
            </a:p>
          </p:txBody>
        </p:sp>
        <p:sp>
          <p:nvSpPr>
            <p:cNvPr id="6" name="Freeform 6">
              <a:extLst>
                <a:ext uri="{FF2B5EF4-FFF2-40B4-BE49-F238E27FC236}">
                  <a16:creationId xmlns:a16="http://schemas.microsoft.com/office/drawing/2014/main" id="{F8151688-08F2-1441-F50C-B3662ADBAF45}"/>
                </a:ext>
              </a:extLst>
            </p:cNvPr>
            <p:cNvSpPr/>
            <p:nvPr/>
          </p:nvSpPr>
          <p:spPr>
            <a:xfrm>
              <a:off x="3668413" y="1421508"/>
              <a:ext cx="4855177" cy="906484"/>
            </a:xfrm>
            <a:custGeom>
              <a:avLst/>
              <a:gdLst>
                <a:gd name="connsiteX0" fmla="*/ 695865 w 767249"/>
                <a:gd name="connsiteY0" fmla="*/ 0 h 143249"/>
                <a:gd name="connsiteX1" fmla="*/ 767250 w 767249"/>
                <a:gd name="connsiteY1" fmla="*/ 71360 h 143249"/>
                <a:gd name="connsiteX2" fmla="*/ 767250 w 767249"/>
                <a:gd name="connsiteY2" fmla="*/ 71889 h 143249"/>
                <a:gd name="connsiteX3" fmla="*/ 695865 w 767249"/>
                <a:gd name="connsiteY3" fmla="*/ 143249 h 143249"/>
                <a:gd name="connsiteX4" fmla="*/ 71385 w 767249"/>
                <a:gd name="connsiteY4" fmla="*/ 143249 h 143249"/>
                <a:gd name="connsiteX5" fmla="*/ 0 w 767249"/>
                <a:gd name="connsiteY5" fmla="*/ 71889 h 143249"/>
                <a:gd name="connsiteX6" fmla="*/ 0 w 767249"/>
                <a:gd name="connsiteY6" fmla="*/ 71360 h 143249"/>
                <a:gd name="connsiteX7" fmla="*/ 71385 w 767249"/>
                <a:gd name="connsiteY7" fmla="*/ 0 h 14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7249" h="143249">
                  <a:moveTo>
                    <a:pt x="695865" y="0"/>
                  </a:moveTo>
                  <a:cubicBezTo>
                    <a:pt x="735290" y="0"/>
                    <a:pt x="767250" y="31949"/>
                    <a:pt x="767250" y="71360"/>
                  </a:cubicBezTo>
                  <a:lnTo>
                    <a:pt x="767250" y="71889"/>
                  </a:lnTo>
                  <a:cubicBezTo>
                    <a:pt x="767250" y="111300"/>
                    <a:pt x="735290" y="143249"/>
                    <a:pt x="695865" y="143249"/>
                  </a:cubicBezTo>
                  <a:lnTo>
                    <a:pt x="71385" y="143249"/>
                  </a:lnTo>
                  <a:cubicBezTo>
                    <a:pt x="31960" y="143249"/>
                    <a:pt x="0" y="111300"/>
                    <a:pt x="0" y="71889"/>
                  </a:cubicBezTo>
                  <a:lnTo>
                    <a:pt x="0" y="71360"/>
                  </a:lnTo>
                  <a:cubicBezTo>
                    <a:pt x="0" y="31949"/>
                    <a:pt x="31960" y="0"/>
                    <a:pt x="71385" y="0"/>
                  </a:cubicBezTo>
                  <a:close/>
                </a:path>
              </a:pathLst>
            </a:custGeom>
            <a:solidFill>
              <a:schemeClr val="accent1">
                <a:lumMod val="40000"/>
                <a:lumOff val="60000"/>
              </a:schemeClr>
            </a:solidFill>
            <a:ln w="0" cap="flat">
              <a:noFill/>
              <a:prstDash val="solid"/>
              <a:miter/>
            </a:ln>
          </p:spPr>
          <p:txBody>
            <a:bodyPr rtlCol="0" anchor="ctr"/>
            <a:lstStyle/>
            <a:p>
              <a:endParaRPr lang="en-US" sz="1400"/>
            </a:p>
          </p:txBody>
        </p:sp>
        <p:sp>
          <p:nvSpPr>
            <p:cNvPr id="7" name="Oval 6">
              <a:extLst>
                <a:ext uri="{FF2B5EF4-FFF2-40B4-BE49-F238E27FC236}">
                  <a16:creationId xmlns:a16="http://schemas.microsoft.com/office/drawing/2014/main" id="{8D7FC802-6BCC-11E6-C8C4-C3741CF88D74}"/>
                </a:ext>
              </a:extLst>
            </p:cNvPr>
            <p:cNvSpPr/>
            <p:nvPr/>
          </p:nvSpPr>
          <p:spPr>
            <a:xfrm>
              <a:off x="9063947" y="1421509"/>
              <a:ext cx="906483" cy="906483"/>
            </a:xfrm>
            <a:prstGeom prst="ellipse">
              <a:avLst/>
            </a:prstGeom>
            <a:solidFill>
              <a:schemeClr val="accent1"/>
            </a:solidFill>
            <a:ln w="0" cap="flat">
              <a:noFill/>
              <a:prstDash val="solid"/>
              <a:miter/>
            </a:ln>
          </p:spPr>
          <p:txBody>
            <a:bodyPr rtlCol="0" anchor="ctr"/>
            <a:lstStyle/>
            <a:p>
              <a:endParaRPr lang="en-US" sz="1400"/>
            </a:p>
          </p:txBody>
        </p:sp>
        <p:sp>
          <p:nvSpPr>
            <p:cNvPr id="8" name="Oval 7">
              <a:extLst>
                <a:ext uri="{FF2B5EF4-FFF2-40B4-BE49-F238E27FC236}">
                  <a16:creationId xmlns:a16="http://schemas.microsoft.com/office/drawing/2014/main" id="{F0AB93B1-4460-E4B7-AFE3-DC9903068270}"/>
                </a:ext>
              </a:extLst>
            </p:cNvPr>
            <p:cNvSpPr/>
            <p:nvPr/>
          </p:nvSpPr>
          <p:spPr>
            <a:xfrm>
              <a:off x="2223886" y="1421509"/>
              <a:ext cx="906483" cy="906483"/>
            </a:xfrm>
            <a:prstGeom prst="ellipse">
              <a:avLst/>
            </a:prstGeom>
            <a:solidFill>
              <a:schemeClr val="accent1"/>
            </a:solidFill>
            <a:ln w="0" cap="flat">
              <a:noFill/>
              <a:prstDash val="solid"/>
              <a:miter/>
            </a:ln>
          </p:spPr>
          <p:txBody>
            <a:bodyPr rtlCol="0" anchor="ctr"/>
            <a:lstStyle/>
            <a:p>
              <a:pPr algn="ctr"/>
              <a:r>
                <a:rPr lang="en-US" sz="2400" b="1" dirty="0">
                  <a:solidFill>
                    <a:schemeClr val="bg2"/>
                  </a:solidFill>
                </a:rPr>
                <a:t>01</a:t>
              </a:r>
            </a:p>
          </p:txBody>
        </p:sp>
        <p:sp>
          <p:nvSpPr>
            <p:cNvPr id="12" name="TextBox 11">
              <a:extLst>
                <a:ext uri="{FF2B5EF4-FFF2-40B4-BE49-F238E27FC236}">
                  <a16:creationId xmlns:a16="http://schemas.microsoft.com/office/drawing/2014/main" id="{BC07AF43-2E01-8042-8ADD-0277140203DF}"/>
                </a:ext>
              </a:extLst>
            </p:cNvPr>
            <p:cNvSpPr txBox="1"/>
            <p:nvPr/>
          </p:nvSpPr>
          <p:spPr>
            <a:xfrm>
              <a:off x="3999813" y="1359842"/>
              <a:ext cx="4192376" cy="1138054"/>
            </a:xfrm>
            <a:prstGeom prst="rect">
              <a:avLst/>
            </a:prstGeom>
            <a:noFill/>
          </p:spPr>
          <p:txBody>
            <a:bodyPr wrap="square" lIns="0" rIns="0" rtlCol="0" anchor="t">
              <a:spAutoFit/>
            </a:bodyPr>
            <a:lstStyle/>
            <a:p>
              <a:r>
                <a:rPr lang="en-US" sz="1200" b="1" dirty="0"/>
                <a:t>Inadequate Political Commitment</a:t>
              </a:r>
            </a:p>
            <a:p>
              <a:endParaRPr lang="en-US" sz="1200" b="1" dirty="0"/>
            </a:p>
            <a:p>
              <a:r>
                <a:rPr lang="en-US" sz="1200" b="1" dirty="0"/>
                <a:t>Insufficient commitment slows progress in strengthening PHC and ending TB.</a:t>
              </a:r>
            </a:p>
            <a:p>
              <a:pPr algn="ctr"/>
              <a:endParaRPr lang="en-US" sz="1200" noProof="1"/>
            </a:p>
          </p:txBody>
        </p:sp>
        <p:pic>
          <p:nvPicPr>
            <p:cNvPr id="10" name="Graphic 9" descr="Lightbulb with solid fill">
              <a:extLst>
                <a:ext uri="{FF2B5EF4-FFF2-40B4-BE49-F238E27FC236}">
                  <a16:creationId xmlns:a16="http://schemas.microsoft.com/office/drawing/2014/main" id="{F12176A4-8694-D6AA-95DF-C5F1087B33E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9259071" y="1616633"/>
              <a:ext cx="516235" cy="516235"/>
            </a:xfrm>
            <a:prstGeom prst="rect">
              <a:avLst/>
            </a:prstGeom>
          </p:spPr>
        </p:pic>
      </p:grpSp>
      <p:grpSp>
        <p:nvGrpSpPr>
          <p:cNvPr id="13" name="Group 12">
            <a:extLst>
              <a:ext uri="{FF2B5EF4-FFF2-40B4-BE49-F238E27FC236}">
                <a16:creationId xmlns:a16="http://schemas.microsoft.com/office/drawing/2014/main" id="{ABA3FDD3-1EBA-5FB0-194E-4D2E927D5BE8}"/>
              </a:ext>
            </a:extLst>
          </p:cNvPr>
          <p:cNvGrpSpPr/>
          <p:nvPr/>
        </p:nvGrpSpPr>
        <p:grpSpPr>
          <a:xfrm>
            <a:off x="2243397" y="2859596"/>
            <a:ext cx="7044984" cy="1169551"/>
            <a:chOff x="2149033" y="1347418"/>
            <a:chExt cx="7893935" cy="1310487"/>
          </a:xfrm>
        </p:grpSpPr>
        <p:sp>
          <p:nvSpPr>
            <p:cNvPr id="14" name="Freeform: Shape 86">
              <a:extLst>
                <a:ext uri="{FF2B5EF4-FFF2-40B4-BE49-F238E27FC236}">
                  <a16:creationId xmlns:a16="http://schemas.microsoft.com/office/drawing/2014/main" id="{7BA146A7-724E-0000-F967-36BE0B12A135}"/>
                </a:ext>
              </a:extLst>
            </p:cNvPr>
            <p:cNvSpPr/>
            <p:nvPr/>
          </p:nvSpPr>
          <p:spPr>
            <a:xfrm>
              <a:off x="2149033" y="1347418"/>
              <a:ext cx="7893935" cy="1054665"/>
            </a:xfrm>
            <a:custGeom>
              <a:avLst/>
              <a:gdLst>
                <a:gd name="connsiteX0" fmla="*/ 2871517 w 7893935"/>
                <a:gd name="connsiteY0" fmla="*/ 0 h 1054665"/>
                <a:gd name="connsiteX1" fmla="*/ 3649530 w 7893935"/>
                <a:gd name="connsiteY1" fmla="*/ 0 h 1054665"/>
                <a:gd name="connsiteX2" fmla="*/ 5925861 w 7893935"/>
                <a:gd name="connsiteY2" fmla="*/ 0 h 1054665"/>
                <a:gd name="connsiteX3" fmla="*/ 6358942 w 7893935"/>
                <a:gd name="connsiteY3" fmla="*/ 231638 h 1054665"/>
                <a:gd name="connsiteX4" fmla="*/ 6367880 w 7893935"/>
                <a:gd name="connsiteY4" fmla="*/ 248204 h 1054665"/>
                <a:gd name="connsiteX5" fmla="*/ 6399256 w 7893935"/>
                <a:gd name="connsiteY5" fmla="*/ 279139 h 1054665"/>
                <a:gd name="connsiteX6" fmla="*/ 6645257 w 7893935"/>
                <a:gd name="connsiteY6" fmla="*/ 368934 h 1054665"/>
                <a:gd name="connsiteX7" fmla="*/ 6891259 w 7893935"/>
                <a:gd name="connsiteY7" fmla="*/ 279139 h 1054665"/>
                <a:gd name="connsiteX8" fmla="*/ 6925818 w 7893935"/>
                <a:gd name="connsiteY8" fmla="*/ 245066 h 1054665"/>
                <a:gd name="connsiteX9" fmla="*/ 6932170 w 7893935"/>
                <a:gd name="connsiteY9" fmla="*/ 233364 h 1054665"/>
                <a:gd name="connsiteX10" fmla="*/ 7368155 w 7893935"/>
                <a:gd name="connsiteY10" fmla="*/ 1552 h 1054665"/>
                <a:gd name="connsiteX11" fmla="*/ 7893935 w 7893935"/>
                <a:gd name="connsiteY11" fmla="*/ 527332 h 1054665"/>
                <a:gd name="connsiteX12" fmla="*/ 7368155 w 7893935"/>
                <a:gd name="connsiteY12" fmla="*/ 1053112 h 1054665"/>
                <a:gd name="connsiteX13" fmla="*/ 6932170 w 7893935"/>
                <a:gd name="connsiteY13" fmla="*/ 821301 h 1054665"/>
                <a:gd name="connsiteX14" fmla="*/ 6925820 w 7893935"/>
                <a:gd name="connsiteY14" fmla="*/ 809601 h 1054665"/>
                <a:gd name="connsiteX15" fmla="*/ 6891259 w 7893935"/>
                <a:gd name="connsiteY15" fmla="*/ 775526 h 1054665"/>
                <a:gd name="connsiteX16" fmla="*/ 6645257 w 7893935"/>
                <a:gd name="connsiteY16" fmla="*/ 685731 h 1054665"/>
                <a:gd name="connsiteX17" fmla="*/ 6399256 w 7893935"/>
                <a:gd name="connsiteY17" fmla="*/ 775526 h 1054665"/>
                <a:gd name="connsiteX18" fmla="*/ 6367880 w 7893935"/>
                <a:gd name="connsiteY18" fmla="*/ 806463 h 1054665"/>
                <a:gd name="connsiteX19" fmla="*/ 6358942 w 7893935"/>
                <a:gd name="connsiteY19" fmla="*/ 823027 h 1054665"/>
                <a:gd name="connsiteX20" fmla="*/ 5925861 w 7893935"/>
                <a:gd name="connsiteY20" fmla="*/ 1054664 h 1054665"/>
                <a:gd name="connsiteX21" fmla="*/ 5164099 w 7893935"/>
                <a:gd name="connsiteY21" fmla="*/ 1054664 h 1054665"/>
                <a:gd name="connsiteX22" fmla="*/ 5164099 w 7893935"/>
                <a:gd name="connsiteY22" fmla="*/ 1054665 h 1054665"/>
                <a:gd name="connsiteX23" fmla="*/ 5022417 w 7893935"/>
                <a:gd name="connsiteY23" fmla="*/ 1054665 h 1054665"/>
                <a:gd name="connsiteX24" fmla="*/ 3649530 w 7893935"/>
                <a:gd name="connsiteY24" fmla="*/ 1054665 h 1054665"/>
                <a:gd name="connsiteX25" fmla="*/ 1968075 w 7893935"/>
                <a:gd name="connsiteY25" fmla="*/ 1054665 h 1054665"/>
                <a:gd name="connsiteX26" fmla="*/ 1534993 w 7893935"/>
                <a:gd name="connsiteY26" fmla="*/ 823028 h 1054665"/>
                <a:gd name="connsiteX27" fmla="*/ 1526052 w 7893935"/>
                <a:gd name="connsiteY27" fmla="*/ 806457 h 1054665"/>
                <a:gd name="connsiteX28" fmla="*/ 1494680 w 7893935"/>
                <a:gd name="connsiteY28" fmla="*/ 775526 h 1054665"/>
                <a:gd name="connsiteX29" fmla="*/ 1248678 w 7893935"/>
                <a:gd name="connsiteY29" fmla="*/ 685731 h 1054665"/>
                <a:gd name="connsiteX30" fmla="*/ 1002677 w 7893935"/>
                <a:gd name="connsiteY30" fmla="*/ 775526 h 1054665"/>
                <a:gd name="connsiteX31" fmla="*/ 968113 w 7893935"/>
                <a:gd name="connsiteY31" fmla="*/ 809606 h 1054665"/>
                <a:gd name="connsiteX32" fmla="*/ 961765 w 7893935"/>
                <a:gd name="connsiteY32" fmla="*/ 821301 h 1054665"/>
                <a:gd name="connsiteX33" fmla="*/ 525780 w 7893935"/>
                <a:gd name="connsiteY33" fmla="*/ 1053112 h 1054665"/>
                <a:gd name="connsiteX34" fmla="*/ 0 w 7893935"/>
                <a:gd name="connsiteY34" fmla="*/ 527332 h 1054665"/>
                <a:gd name="connsiteX35" fmla="*/ 525780 w 7893935"/>
                <a:gd name="connsiteY35" fmla="*/ 1552 h 1054665"/>
                <a:gd name="connsiteX36" fmla="*/ 961765 w 7893935"/>
                <a:gd name="connsiteY36" fmla="*/ 233364 h 1054665"/>
                <a:gd name="connsiteX37" fmla="*/ 968115 w 7893935"/>
                <a:gd name="connsiteY37" fmla="*/ 245063 h 1054665"/>
                <a:gd name="connsiteX38" fmla="*/ 1002677 w 7893935"/>
                <a:gd name="connsiteY38" fmla="*/ 279139 h 1054665"/>
                <a:gd name="connsiteX39" fmla="*/ 1248678 w 7893935"/>
                <a:gd name="connsiteY39" fmla="*/ 368934 h 1054665"/>
                <a:gd name="connsiteX40" fmla="*/ 1494680 w 7893935"/>
                <a:gd name="connsiteY40" fmla="*/ 279139 h 1054665"/>
                <a:gd name="connsiteX41" fmla="*/ 1526054 w 7893935"/>
                <a:gd name="connsiteY41" fmla="*/ 248206 h 1054665"/>
                <a:gd name="connsiteX42" fmla="*/ 1534993 w 7893935"/>
                <a:gd name="connsiteY42" fmla="*/ 231639 h 1054665"/>
                <a:gd name="connsiteX43" fmla="*/ 1968075 w 7893935"/>
                <a:gd name="connsiteY43" fmla="*/ 2 h 1054665"/>
                <a:gd name="connsiteX44" fmla="*/ 2871503 w 7893935"/>
                <a:gd name="connsiteY44" fmla="*/ 2 h 1054665"/>
                <a:gd name="connsiteX45" fmla="*/ 2871517 w 7893935"/>
                <a:gd name="connsiteY45" fmla="*/ 0 h 1054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893935" h="1054665">
                  <a:moveTo>
                    <a:pt x="2871517" y="0"/>
                  </a:moveTo>
                  <a:lnTo>
                    <a:pt x="3649530" y="0"/>
                  </a:lnTo>
                  <a:lnTo>
                    <a:pt x="5925861" y="0"/>
                  </a:lnTo>
                  <a:cubicBezTo>
                    <a:pt x="6106141" y="0"/>
                    <a:pt x="6265085" y="91885"/>
                    <a:pt x="6358942" y="231638"/>
                  </a:cubicBezTo>
                  <a:lnTo>
                    <a:pt x="6367880" y="248204"/>
                  </a:lnTo>
                  <a:lnTo>
                    <a:pt x="6399256" y="279139"/>
                  </a:lnTo>
                  <a:cubicBezTo>
                    <a:pt x="6469478" y="335831"/>
                    <a:pt x="6554133" y="368934"/>
                    <a:pt x="6645257" y="368934"/>
                  </a:cubicBezTo>
                  <a:cubicBezTo>
                    <a:pt x="6736382" y="368934"/>
                    <a:pt x="6821036" y="335831"/>
                    <a:pt x="6891259" y="279139"/>
                  </a:cubicBezTo>
                  <a:lnTo>
                    <a:pt x="6925818" y="245066"/>
                  </a:lnTo>
                  <a:lnTo>
                    <a:pt x="6932170" y="233364"/>
                  </a:lnTo>
                  <a:cubicBezTo>
                    <a:pt x="7026657" y="93505"/>
                    <a:pt x="7186667" y="1552"/>
                    <a:pt x="7368155" y="1552"/>
                  </a:cubicBezTo>
                  <a:cubicBezTo>
                    <a:pt x="7658535" y="1552"/>
                    <a:pt x="7893935" y="236952"/>
                    <a:pt x="7893935" y="527332"/>
                  </a:cubicBezTo>
                  <a:cubicBezTo>
                    <a:pt x="7893935" y="817712"/>
                    <a:pt x="7658535" y="1053112"/>
                    <a:pt x="7368155" y="1053112"/>
                  </a:cubicBezTo>
                  <a:cubicBezTo>
                    <a:pt x="7186667" y="1053112"/>
                    <a:pt x="7026657" y="961159"/>
                    <a:pt x="6932170" y="821301"/>
                  </a:cubicBezTo>
                  <a:lnTo>
                    <a:pt x="6925820" y="809601"/>
                  </a:lnTo>
                  <a:lnTo>
                    <a:pt x="6891259" y="775526"/>
                  </a:lnTo>
                  <a:cubicBezTo>
                    <a:pt x="6821037" y="718834"/>
                    <a:pt x="6736382" y="685731"/>
                    <a:pt x="6645257" y="685731"/>
                  </a:cubicBezTo>
                  <a:cubicBezTo>
                    <a:pt x="6554133" y="685731"/>
                    <a:pt x="6469478" y="718834"/>
                    <a:pt x="6399256" y="775526"/>
                  </a:cubicBezTo>
                  <a:lnTo>
                    <a:pt x="6367880" y="806463"/>
                  </a:lnTo>
                  <a:lnTo>
                    <a:pt x="6358942" y="823027"/>
                  </a:lnTo>
                  <a:cubicBezTo>
                    <a:pt x="6265085" y="962781"/>
                    <a:pt x="6106141" y="1054664"/>
                    <a:pt x="5925861" y="1054664"/>
                  </a:cubicBezTo>
                  <a:lnTo>
                    <a:pt x="5164099" y="1054664"/>
                  </a:lnTo>
                  <a:lnTo>
                    <a:pt x="5164099" y="1054665"/>
                  </a:lnTo>
                  <a:lnTo>
                    <a:pt x="5022417" y="1054665"/>
                  </a:lnTo>
                  <a:lnTo>
                    <a:pt x="3649530" y="1054665"/>
                  </a:lnTo>
                  <a:lnTo>
                    <a:pt x="1968075" y="1054665"/>
                  </a:lnTo>
                  <a:cubicBezTo>
                    <a:pt x="1787795" y="1054665"/>
                    <a:pt x="1628850" y="962782"/>
                    <a:pt x="1534993" y="823028"/>
                  </a:cubicBezTo>
                  <a:lnTo>
                    <a:pt x="1526052" y="806457"/>
                  </a:lnTo>
                  <a:lnTo>
                    <a:pt x="1494680" y="775526"/>
                  </a:lnTo>
                  <a:cubicBezTo>
                    <a:pt x="1424458" y="718834"/>
                    <a:pt x="1339803" y="685731"/>
                    <a:pt x="1248678" y="685731"/>
                  </a:cubicBezTo>
                  <a:cubicBezTo>
                    <a:pt x="1157554" y="685731"/>
                    <a:pt x="1072900" y="718834"/>
                    <a:pt x="1002677" y="775526"/>
                  </a:cubicBezTo>
                  <a:lnTo>
                    <a:pt x="968113" y="809606"/>
                  </a:lnTo>
                  <a:lnTo>
                    <a:pt x="961765" y="821301"/>
                  </a:lnTo>
                  <a:cubicBezTo>
                    <a:pt x="867279" y="961159"/>
                    <a:pt x="707268" y="1053112"/>
                    <a:pt x="525780" y="1053112"/>
                  </a:cubicBezTo>
                  <a:cubicBezTo>
                    <a:pt x="235400" y="1053112"/>
                    <a:pt x="0" y="817712"/>
                    <a:pt x="0" y="527332"/>
                  </a:cubicBezTo>
                  <a:cubicBezTo>
                    <a:pt x="0" y="236952"/>
                    <a:pt x="235400" y="1552"/>
                    <a:pt x="525780" y="1552"/>
                  </a:cubicBezTo>
                  <a:cubicBezTo>
                    <a:pt x="707268" y="1552"/>
                    <a:pt x="867279" y="93505"/>
                    <a:pt x="961765" y="233364"/>
                  </a:cubicBezTo>
                  <a:lnTo>
                    <a:pt x="968115" y="245063"/>
                  </a:lnTo>
                  <a:lnTo>
                    <a:pt x="1002677" y="279139"/>
                  </a:lnTo>
                  <a:cubicBezTo>
                    <a:pt x="1072900" y="335831"/>
                    <a:pt x="1157554" y="368934"/>
                    <a:pt x="1248678" y="368934"/>
                  </a:cubicBezTo>
                  <a:cubicBezTo>
                    <a:pt x="1339803" y="368934"/>
                    <a:pt x="1424458" y="335831"/>
                    <a:pt x="1494680" y="279139"/>
                  </a:cubicBezTo>
                  <a:lnTo>
                    <a:pt x="1526054" y="248206"/>
                  </a:lnTo>
                  <a:lnTo>
                    <a:pt x="1534993" y="231639"/>
                  </a:lnTo>
                  <a:cubicBezTo>
                    <a:pt x="1628850" y="91886"/>
                    <a:pt x="1787795" y="2"/>
                    <a:pt x="1968075" y="2"/>
                  </a:cubicBezTo>
                  <a:lnTo>
                    <a:pt x="2871503" y="2"/>
                  </a:lnTo>
                  <a:cubicBezTo>
                    <a:pt x="2871508" y="1"/>
                    <a:pt x="2871512" y="1"/>
                    <a:pt x="2871517" y="0"/>
                  </a:cubicBezTo>
                  <a:close/>
                </a:path>
              </a:pathLst>
            </a:custGeom>
            <a:solidFill>
              <a:schemeClr val="tx2"/>
            </a:solidFill>
            <a:ln w="0" cap="flat">
              <a:noFill/>
              <a:prstDash val="solid"/>
              <a:miter/>
            </a:ln>
          </p:spPr>
          <p:txBody>
            <a:bodyPr wrap="square" rtlCol="0" anchor="ctr">
              <a:noAutofit/>
            </a:bodyPr>
            <a:lstStyle/>
            <a:p>
              <a:endParaRPr lang="en-US" sz="1400"/>
            </a:p>
          </p:txBody>
        </p:sp>
        <p:sp>
          <p:nvSpPr>
            <p:cNvPr id="15" name="Freeform 6">
              <a:extLst>
                <a:ext uri="{FF2B5EF4-FFF2-40B4-BE49-F238E27FC236}">
                  <a16:creationId xmlns:a16="http://schemas.microsoft.com/office/drawing/2014/main" id="{400FEA7F-2ED5-025C-CF42-D1944DCB24E8}"/>
                </a:ext>
              </a:extLst>
            </p:cNvPr>
            <p:cNvSpPr/>
            <p:nvPr/>
          </p:nvSpPr>
          <p:spPr>
            <a:xfrm>
              <a:off x="3668413" y="1421508"/>
              <a:ext cx="4855177" cy="906484"/>
            </a:xfrm>
            <a:custGeom>
              <a:avLst/>
              <a:gdLst>
                <a:gd name="connsiteX0" fmla="*/ 695865 w 767249"/>
                <a:gd name="connsiteY0" fmla="*/ 0 h 143249"/>
                <a:gd name="connsiteX1" fmla="*/ 767250 w 767249"/>
                <a:gd name="connsiteY1" fmla="*/ 71360 h 143249"/>
                <a:gd name="connsiteX2" fmla="*/ 767250 w 767249"/>
                <a:gd name="connsiteY2" fmla="*/ 71889 h 143249"/>
                <a:gd name="connsiteX3" fmla="*/ 695865 w 767249"/>
                <a:gd name="connsiteY3" fmla="*/ 143249 h 143249"/>
                <a:gd name="connsiteX4" fmla="*/ 71385 w 767249"/>
                <a:gd name="connsiteY4" fmla="*/ 143249 h 143249"/>
                <a:gd name="connsiteX5" fmla="*/ 0 w 767249"/>
                <a:gd name="connsiteY5" fmla="*/ 71889 h 143249"/>
                <a:gd name="connsiteX6" fmla="*/ 0 w 767249"/>
                <a:gd name="connsiteY6" fmla="*/ 71360 h 143249"/>
                <a:gd name="connsiteX7" fmla="*/ 71385 w 767249"/>
                <a:gd name="connsiteY7" fmla="*/ 0 h 14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7249" h="143249">
                  <a:moveTo>
                    <a:pt x="695865" y="0"/>
                  </a:moveTo>
                  <a:cubicBezTo>
                    <a:pt x="735290" y="0"/>
                    <a:pt x="767250" y="31949"/>
                    <a:pt x="767250" y="71360"/>
                  </a:cubicBezTo>
                  <a:lnTo>
                    <a:pt x="767250" y="71889"/>
                  </a:lnTo>
                  <a:cubicBezTo>
                    <a:pt x="767250" y="111300"/>
                    <a:pt x="735290" y="143249"/>
                    <a:pt x="695865" y="143249"/>
                  </a:cubicBezTo>
                  <a:lnTo>
                    <a:pt x="71385" y="143249"/>
                  </a:lnTo>
                  <a:cubicBezTo>
                    <a:pt x="31960" y="143249"/>
                    <a:pt x="0" y="111300"/>
                    <a:pt x="0" y="71889"/>
                  </a:cubicBezTo>
                  <a:lnTo>
                    <a:pt x="0" y="71360"/>
                  </a:lnTo>
                  <a:cubicBezTo>
                    <a:pt x="0" y="31949"/>
                    <a:pt x="31960" y="0"/>
                    <a:pt x="71385" y="0"/>
                  </a:cubicBezTo>
                  <a:close/>
                </a:path>
              </a:pathLst>
            </a:custGeom>
            <a:solidFill>
              <a:schemeClr val="accent1">
                <a:lumMod val="40000"/>
                <a:lumOff val="60000"/>
              </a:schemeClr>
            </a:solidFill>
            <a:ln w="0" cap="flat">
              <a:noFill/>
              <a:prstDash val="solid"/>
              <a:miter/>
            </a:ln>
          </p:spPr>
          <p:txBody>
            <a:bodyPr rtlCol="0" anchor="ctr"/>
            <a:lstStyle/>
            <a:p>
              <a:endParaRPr lang="en-US" sz="1400"/>
            </a:p>
          </p:txBody>
        </p:sp>
        <p:sp>
          <p:nvSpPr>
            <p:cNvPr id="16" name="Oval 15">
              <a:extLst>
                <a:ext uri="{FF2B5EF4-FFF2-40B4-BE49-F238E27FC236}">
                  <a16:creationId xmlns:a16="http://schemas.microsoft.com/office/drawing/2014/main" id="{4535260A-23FC-E84D-CE62-4377DDF16BB0}"/>
                </a:ext>
              </a:extLst>
            </p:cNvPr>
            <p:cNvSpPr/>
            <p:nvPr/>
          </p:nvSpPr>
          <p:spPr>
            <a:xfrm>
              <a:off x="9063947" y="1421509"/>
              <a:ext cx="906483" cy="906483"/>
            </a:xfrm>
            <a:prstGeom prst="ellipse">
              <a:avLst/>
            </a:prstGeom>
            <a:solidFill>
              <a:schemeClr val="accent1"/>
            </a:solidFill>
            <a:ln w="0" cap="flat">
              <a:noFill/>
              <a:prstDash val="solid"/>
              <a:miter/>
            </a:ln>
          </p:spPr>
          <p:txBody>
            <a:bodyPr rtlCol="0" anchor="ctr"/>
            <a:lstStyle/>
            <a:p>
              <a:endParaRPr lang="en-US" sz="1400"/>
            </a:p>
          </p:txBody>
        </p:sp>
        <p:sp>
          <p:nvSpPr>
            <p:cNvPr id="17" name="Oval 16">
              <a:extLst>
                <a:ext uri="{FF2B5EF4-FFF2-40B4-BE49-F238E27FC236}">
                  <a16:creationId xmlns:a16="http://schemas.microsoft.com/office/drawing/2014/main" id="{ECFFFBC8-C901-C7E4-2A07-9C42AAE35433}"/>
                </a:ext>
              </a:extLst>
            </p:cNvPr>
            <p:cNvSpPr/>
            <p:nvPr/>
          </p:nvSpPr>
          <p:spPr>
            <a:xfrm>
              <a:off x="2223886" y="1421509"/>
              <a:ext cx="906483" cy="906483"/>
            </a:xfrm>
            <a:prstGeom prst="ellipse">
              <a:avLst/>
            </a:prstGeom>
            <a:solidFill>
              <a:schemeClr val="accent1"/>
            </a:solidFill>
            <a:ln w="0" cap="flat">
              <a:noFill/>
              <a:prstDash val="solid"/>
              <a:miter/>
            </a:ln>
          </p:spPr>
          <p:txBody>
            <a:bodyPr rtlCol="0" anchor="ctr"/>
            <a:lstStyle/>
            <a:p>
              <a:pPr algn="ctr"/>
              <a:r>
                <a:rPr lang="en-US" sz="2400" b="1" dirty="0">
                  <a:solidFill>
                    <a:schemeClr val="bg2"/>
                  </a:solidFill>
                </a:rPr>
                <a:t>02</a:t>
              </a:r>
            </a:p>
          </p:txBody>
        </p:sp>
        <p:sp>
          <p:nvSpPr>
            <p:cNvPr id="21" name="TextBox 20">
              <a:extLst>
                <a:ext uri="{FF2B5EF4-FFF2-40B4-BE49-F238E27FC236}">
                  <a16:creationId xmlns:a16="http://schemas.microsoft.com/office/drawing/2014/main" id="{70D5C44D-5A96-DB97-DB9E-E2223B77081B}"/>
                </a:ext>
              </a:extLst>
            </p:cNvPr>
            <p:cNvSpPr txBox="1"/>
            <p:nvPr/>
          </p:nvSpPr>
          <p:spPr>
            <a:xfrm>
              <a:off x="3948574" y="1347418"/>
              <a:ext cx="4267228" cy="1310487"/>
            </a:xfrm>
            <a:prstGeom prst="rect">
              <a:avLst/>
            </a:prstGeom>
            <a:noFill/>
          </p:spPr>
          <p:txBody>
            <a:bodyPr wrap="square" lIns="0" rIns="0" rtlCol="0" anchor="t">
              <a:spAutoFit/>
            </a:bodyPr>
            <a:lstStyle/>
            <a:p>
              <a:pPr algn="ctr"/>
              <a:r>
                <a:rPr lang="en-US" sz="1200" b="1" dirty="0"/>
                <a:t>Overstretched Primary Care </a:t>
              </a:r>
              <a:r>
                <a:rPr lang="en-US" sz="1200" b="1" dirty="0" smtClean="0"/>
                <a:t>Facilities</a:t>
              </a:r>
              <a:endParaRPr lang="en-US" sz="1200" b="1" dirty="0"/>
            </a:p>
            <a:p>
              <a:pPr algn="ctr"/>
              <a:r>
                <a:rPr lang="en-US" sz="1200" b="1" dirty="0"/>
                <a:t>Primary care </a:t>
              </a:r>
              <a:r>
                <a:rPr lang="en-US" sz="1200" b="1" dirty="0" err="1"/>
                <a:t>centres</a:t>
              </a:r>
              <a:r>
                <a:rPr lang="en-US" sz="1200" b="1" dirty="0"/>
                <a:t> are already strained, and adding TB services may further burden limited resources, including staff and funding. Additionally, stigma surrounding TB can deter individuals from seeking </a:t>
              </a:r>
              <a:r>
                <a:rPr lang="en-US" sz="1000" b="1" dirty="0"/>
                <a:t>care.</a:t>
              </a:r>
            </a:p>
            <a:p>
              <a:pPr algn="ctr"/>
              <a:endParaRPr lang="en-US" sz="1000" noProof="1"/>
            </a:p>
          </p:txBody>
        </p:sp>
        <p:pic>
          <p:nvPicPr>
            <p:cNvPr id="19" name="Graphic 18" descr="Lightbulb with solid fill">
              <a:extLst>
                <a:ext uri="{FF2B5EF4-FFF2-40B4-BE49-F238E27FC236}">
                  <a16:creationId xmlns:a16="http://schemas.microsoft.com/office/drawing/2014/main" id="{7CE1EF46-8521-93D1-4EDC-B762E09798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9259071" y="1616633"/>
              <a:ext cx="516235" cy="516235"/>
            </a:xfrm>
            <a:prstGeom prst="rect">
              <a:avLst/>
            </a:prstGeom>
          </p:spPr>
        </p:pic>
      </p:grpSp>
      <p:grpSp>
        <p:nvGrpSpPr>
          <p:cNvPr id="22" name="Group 21">
            <a:extLst>
              <a:ext uri="{FF2B5EF4-FFF2-40B4-BE49-F238E27FC236}">
                <a16:creationId xmlns:a16="http://schemas.microsoft.com/office/drawing/2014/main" id="{5D1F7568-A56F-4B75-1A22-3280570E92D0}"/>
              </a:ext>
            </a:extLst>
          </p:cNvPr>
          <p:cNvGrpSpPr/>
          <p:nvPr/>
        </p:nvGrpSpPr>
        <p:grpSpPr>
          <a:xfrm>
            <a:off x="2243397" y="4331866"/>
            <a:ext cx="7044984" cy="1047622"/>
            <a:chOff x="2149033" y="1347418"/>
            <a:chExt cx="7893935" cy="1173864"/>
          </a:xfrm>
        </p:grpSpPr>
        <p:sp>
          <p:nvSpPr>
            <p:cNvPr id="23" name="Freeform: Shape 86">
              <a:extLst>
                <a:ext uri="{FF2B5EF4-FFF2-40B4-BE49-F238E27FC236}">
                  <a16:creationId xmlns:a16="http://schemas.microsoft.com/office/drawing/2014/main" id="{2CC6C83C-0C23-E7BE-BCE9-5AAA2B2B80B6}"/>
                </a:ext>
              </a:extLst>
            </p:cNvPr>
            <p:cNvSpPr/>
            <p:nvPr/>
          </p:nvSpPr>
          <p:spPr>
            <a:xfrm>
              <a:off x="2149033" y="1347418"/>
              <a:ext cx="7893935" cy="1054665"/>
            </a:xfrm>
            <a:custGeom>
              <a:avLst/>
              <a:gdLst>
                <a:gd name="connsiteX0" fmla="*/ 2871517 w 7893935"/>
                <a:gd name="connsiteY0" fmla="*/ 0 h 1054665"/>
                <a:gd name="connsiteX1" fmla="*/ 3649530 w 7893935"/>
                <a:gd name="connsiteY1" fmla="*/ 0 h 1054665"/>
                <a:gd name="connsiteX2" fmla="*/ 5925861 w 7893935"/>
                <a:gd name="connsiteY2" fmla="*/ 0 h 1054665"/>
                <a:gd name="connsiteX3" fmla="*/ 6358942 w 7893935"/>
                <a:gd name="connsiteY3" fmla="*/ 231638 h 1054665"/>
                <a:gd name="connsiteX4" fmla="*/ 6367880 w 7893935"/>
                <a:gd name="connsiteY4" fmla="*/ 248204 h 1054665"/>
                <a:gd name="connsiteX5" fmla="*/ 6399256 w 7893935"/>
                <a:gd name="connsiteY5" fmla="*/ 279139 h 1054665"/>
                <a:gd name="connsiteX6" fmla="*/ 6645257 w 7893935"/>
                <a:gd name="connsiteY6" fmla="*/ 368934 h 1054665"/>
                <a:gd name="connsiteX7" fmla="*/ 6891259 w 7893935"/>
                <a:gd name="connsiteY7" fmla="*/ 279139 h 1054665"/>
                <a:gd name="connsiteX8" fmla="*/ 6925818 w 7893935"/>
                <a:gd name="connsiteY8" fmla="*/ 245066 h 1054665"/>
                <a:gd name="connsiteX9" fmla="*/ 6932170 w 7893935"/>
                <a:gd name="connsiteY9" fmla="*/ 233364 h 1054665"/>
                <a:gd name="connsiteX10" fmla="*/ 7368155 w 7893935"/>
                <a:gd name="connsiteY10" fmla="*/ 1552 h 1054665"/>
                <a:gd name="connsiteX11" fmla="*/ 7893935 w 7893935"/>
                <a:gd name="connsiteY11" fmla="*/ 527332 h 1054665"/>
                <a:gd name="connsiteX12" fmla="*/ 7368155 w 7893935"/>
                <a:gd name="connsiteY12" fmla="*/ 1053112 h 1054665"/>
                <a:gd name="connsiteX13" fmla="*/ 6932170 w 7893935"/>
                <a:gd name="connsiteY13" fmla="*/ 821301 h 1054665"/>
                <a:gd name="connsiteX14" fmla="*/ 6925820 w 7893935"/>
                <a:gd name="connsiteY14" fmla="*/ 809601 h 1054665"/>
                <a:gd name="connsiteX15" fmla="*/ 6891259 w 7893935"/>
                <a:gd name="connsiteY15" fmla="*/ 775526 h 1054665"/>
                <a:gd name="connsiteX16" fmla="*/ 6645257 w 7893935"/>
                <a:gd name="connsiteY16" fmla="*/ 685731 h 1054665"/>
                <a:gd name="connsiteX17" fmla="*/ 6399256 w 7893935"/>
                <a:gd name="connsiteY17" fmla="*/ 775526 h 1054665"/>
                <a:gd name="connsiteX18" fmla="*/ 6367880 w 7893935"/>
                <a:gd name="connsiteY18" fmla="*/ 806463 h 1054665"/>
                <a:gd name="connsiteX19" fmla="*/ 6358942 w 7893935"/>
                <a:gd name="connsiteY19" fmla="*/ 823027 h 1054665"/>
                <a:gd name="connsiteX20" fmla="*/ 5925861 w 7893935"/>
                <a:gd name="connsiteY20" fmla="*/ 1054664 h 1054665"/>
                <a:gd name="connsiteX21" fmla="*/ 5164099 w 7893935"/>
                <a:gd name="connsiteY21" fmla="*/ 1054664 h 1054665"/>
                <a:gd name="connsiteX22" fmla="*/ 5164099 w 7893935"/>
                <a:gd name="connsiteY22" fmla="*/ 1054665 h 1054665"/>
                <a:gd name="connsiteX23" fmla="*/ 5022417 w 7893935"/>
                <a:gd name="connsiteY23" fmla="*/ 1054665 h 1054665"/>
                <a:gd name="connsiteX24" fmla="*/ 3649530 w 7893935"/>
                <a:gd name="connsiteY24" fmla="*/ 1054665 h 1054665"/>
                <a:gd name="connsiteX25" fmla="*/ 1968075 w 7893935"/>
                <a:gd name="connsiteY25" fmla="*/ 1054665 h 1054665"/>
                <a:gd name="connsiteX26" fmla="*/ 1534993 w 7893935"/>
                <a:gd name="connsiteY26" fmla="*/ 823028 h 1054665"/>
                <a:gd name="connsiteX27" fmla="*/ 1526052 w 7893935"/>
                <a:gd name="connsiteY27" fmla="*/ 806457 h 1054665"/>
                <a:gd name="connsiteX28" fmla="*/ 1494680 w 7893935"/>
                <a:gd name="connsiteY28" fmla="*/ 775526 h 1054665"/>
                <a:gd name="connsiteX29" fmla="*/ 1248678 w 7893935"/>
                <a:gd name="connsiteY29" fmla="*/ 685731 h 1054665"/>
                <a:gd name="connsiteX30" fmla="*/ 1002677 w 7893935"/>
                <a:gd name="connsiteY30" fmla="*/ 775526 h 1054665"/>
                <a:gd name="connsiteX31" fmla="*/ 968113 w 7893935"/>
                <a:gd name="connsiteY31" fmla="*/ 809606 h 1054665"/>
                <a:gd name="connsiteX32" fmla="*/ 961765 w 7893935"/>
                <a:gd name="connsiteY32" fmla="*/ 821301 h 1054665"/>
                <a:gd name="connsiteX33" fmla="*/ 525780 w 7893935"/>
                <a:gd name="connsiteY33" fmla="*/ 1053112 h 1054665"/>
                <a:gd name="connsiteX34" fmla="*/ 0 w 7893935"/>
                <a:gd name="connsiteY34" fmla="*/ 527332 h 1054665"/>
                <a:gd name="connsiteX35" fmla="*/ 525780 w 7893935"/>
                <a:gd name="connsiteY35" fmla="*/ 1552 h 1054665"/>
                <a:gd name="connsiteX36" fmla="*/ 961765 w 7893935"/>
                <a:gd name="connsiteY36" fmla="*/ 233364 h 1054665"/>
                <a:gd name="connsiteX37" fmla="*/ 968115 w 7893935"/>
                <a:gd name="connsiteY37" fmla="*/ 245063 h 1054665"/>
                <a:gd name="connsiteX38" fmla="*/ 1002677 w 7893935"/>
                <a:gd name="connsiteY38" fmla="*/ 279139 h 1054665"/>
                <a:gd name="connsiteX39" fmla="*/ 1248678 w 7893935"/>
                <a:gd name="connsiteY39" fmla="*/ 368934 h 1054665"/>
                <a:gd name="connsiteX40" fmla="*/ 1494680 w 7893935"/>
                <a:gd name="connsiteY40" fmla="*/ 279139 h 1054665"/>
                <a:gd name="connsiteX41" fmla="*/ 1526054 w 7893935"/>
                <a:gd name="connsiteY41" fmla="*/ 248206 h 1054665"/>
                <a:gd name="connsiteX42" fmla="*/ 1534993 w 7893935"/>
                <a:gd name="connsiteY42" fmla="*/ 231639 h 1054665"/>
                <a:gd name="connsiteX43" fmla="*/ 1968075 w 7893935"/>
                <a:gd name="connsiteY43" fmla="*/ 2 h 1054665"/>
                <a:gd name="connsiteX44" fmla="*/ 2871503 w 7893935"/>
                <a:gd name="connsiteY44" fmla="*/ 2 h 1054665"/>
                <a:gd name="connsiteX45" fmla="*/ 2871517 w 7893935"/>
                <a:gd name="connsiteY45" fmla="*/ 0 h 1054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893935" h="1054665">
                  <a:moveTo>
                    <a:pt x="2871517" y="0"/>
                  </a:moveTo>
                  <a:lnTo>
                    <a:pt x="3649530" y="0"/>
                  </a:lnTo>
                  <a:lnTo>
                    <a:pt x="5925861" y="0"/>
                  </a:lnTo>
                  <a:cubicBezTo>
                    <a:pt x="6106141" y="0"/>
                    <a:pt x="6265085" y="91885"/>
                    <a:pt x="6358942" y="231638"/>
                  </a:cubicBezTo>
                  <a:lnTo>
                    <a:pt x="6367880" y="248204"/>
                  </a:lnTo>
                  <a:lnTo>
                    <a:pt x="6399256" y="279139"/>
                  </a:lnTo>
                  <a:cubicBezTo>
                    <a:pt x="6469478" y="335831"/>
                    <a:pt x="6554133" y="368934"/>
                    <a:pt x="6645257" y="368934"/>
                  </a:cubicBezTo>
                  <a:cubicBezTo>
                    <a:pt x="6736382" y="368934"/>
                    <a:pt x="6821036" y="335831"/>
                    <a:pt x="6891259" y="279139"/>
                  </a:cubicBezTo>
                  <a:lnTo>
                    <a:pt x="6925818" y="245066"/>
                  </a:lnTo>
                  <a:lnTo>
                    <a:pt x="6932170" y="233364"/>
                  </a:lnTo>
                  <a:cubicBezTo>
                    <a:pt x="7026657" y="93505"/>
                    <a:pt x="7186667" y="1552"/>
                    <a:pt x="7368155" y="1552"/>
                  </a:cubicBezTo>
                  <a:cubicBezTo>
                    <a:pt x="7658535" y="1552"/>
                    <a:pt x="7893935" y="236952"/>
                    <a:pt x="7893935" y="527332"/>
                  </a:cubicBezTo>
                  <a:cubicBezTo>
                    <a:pt x="7893935" y="817712"/>
                    <a:pt x="7658535" y="1053112"/>
                    <a:pt x="7368155" y="1053112"/>
                  </a:cubicBezTo>
                  <a:cubicBezTo>
                    <a:pt x="7186667" y="1053112"/>
                    <a:pt x="7026657" y="961159"/>
                    <a:pt x="6932170" y="821301"/>
                  </a:cubicBezTo>
                  <a:lnTo>
                    <a:pt x="6925820" y="809601"/>
                  </a:lnTo>
                  <a:lnTo>
                    <a:pt x="6891259" y="775526"/>
                  </a:lnTo>
                  <a:cubicBezTo>
                    <a:pt x="6821037" y="718834"/>
                    <a:pt x="6736382" y="685731"/>
                    <a:pt x="6645257" y="685731"/>
                  </a:cubicBezTo>
                  <a:cubicBezTo>
                    <a:pt x="6554133" y="685731"/>
                    <a:pt x="6469478" y="718834"/>
                    <a:pt x="6399256" y="775526"/>
                  </a:cubicBezTo>
                  <a:lnTo>
                    <a:pt x="6367880" y="806463"/>
                  </a:lnTo>
                  <a:lnTo>
                    <a:pt x="6358942" y="823027"/>
                  </a:lnTo>
                  <a:cubicBezTo>
                    <a:pt x="6265085" y="962781"/>
                    <a:pt x="6106141" y="1054664"/>
                    <a:pt x="5925861" y="1054664"/>
                  </a:cubicBezTo>
                  <a:lnTo>
                    <a:pt x="5164099" y="1054664"/>
                  </a:lnTo>
                  <a:lnTo>
                    <a:pt x="5164099" y="1054665"/>
                  </a:lnTo>
                  <a:lnTo>
                    <a:pt x="5022417" y="1054665"/>
                  </a:lnTo>
                  <a:lnTo>
                    <a:pt x="3649530" y="1054665"/>
                  </a:lnTo>
                  <a:lnTo>
                    <a:pt x="1968075" y="1054665"/>
                  </a:lnTo>
                  <a:cubicBezTo>
                    <a:pt x="1787795" y="1054665"/>
                    <a:pt x="1628850" y="962782"/>
                    <a:pt x="1534993" y="823028"/>
                  </a:cubicBezTo>
                  <a:lnTo>
                    <a:pt x="1526052" y="806457"/>
                  </a:lnTo>
                  <a:lnTo>
                    <a:pt x="1494680" y="775526"/>
                  </a:lnTo>
                  <a:cubicBezTo>
                    <a:pt x="1424458" y="718834"/>
                    <a:pt x="1339803" y="685731"/>
                    <a:pt x="1248678" y="685731"/>
                  </a:cubicBezTo>
                  <a:cubicBezTo>
                    <a:pt x="1157554" y="685731"/>
                    <a:pt x="1072900" y="718834"/>
                    <a:pt x="1002677" y="775526"/>
                  </a:cubicBezTo>
                  <a:lnTo>
                    <a:pt x="968113" y="809606"/>
                  </a:lnTo>
                  <a:lnTo>
                    <a:pt x="961765" y="821301"/>
                  </a:lnTo>
                  <a:cubicBezTo>
                    <a:pt x="867279" y="961159"/>
                    <a:pt x="707268" y="1053112"/>
                    <a:pt x="525780" y="1053112"/>
                  </a:cubicBezTo>
                  <a:cubicBezTo>
                    <a:pt x="235400" y="1053112"/>
                    <a:pt x="0" y="817712"/>
                    <a:pt x="0" y="527332"/>
                  </a:cubicBezTo>
                  <a:cubicBezTo>
                    <a:pt x="0" y="236952"/>
                    <a:pt x="235400" y="1552"/>
                    <a:pt x="525780" y="1552"/>
                  </a:cubicBezTo>
                  <a:cubicBezTo>
                    <a:pt x="707268" y="1552"/>
                    <a:pt x="867279" y="93505"/>
                    <a:pt x="961765" y="233364"/>
                  </a:cubicBezTo>
                  <a:lnTo>
                    <a:pt x="968115" y="245063"/>
                  </a:lnTo>
                  <a:lnTo>
                    <a:pt x="1002677" y="279139"/>
                  </a:lnTo>
                  <a:cubicBezTo>
                    <a:pt x="1072900" y="335831"/>
                    <a:pt x="1157554" y="368934"/>
                    <a:pt x="1248678" y="368934"/>
                  </a:cubicBezTo>
                  <a:cubicBezTo>
                    <a:pt x="1339803" y="368934"/>
                    <a:pt x="1424458" y="335831"/>
                    <a:pt x="1494680" y="279139"/>
                  </a:cubicBezTo>
                  <a:lnTo>
                    <a:pt x="1526054" y="248206"/>
                  </a:lnTo>
                  <a:lnTo>
                    <a:pt x="1534993" y="231639"/>
                  </a:lnTo>
                  <a:cubicBezTo>
                    <a:pt x="1628850" y="91886"/>
                    <a:pt x="1787795" y="2"/>
                    <a:pt x="1968075" y="2"/>
                  </a:cubicBezTo>
                  <a:lnTo>
                    <a:pt x="2871503" y="2"/>
                  </a:lnTo>
                  <a:cubicBezTo>
                    <a:pt x="2871508" y="1"/>
                    <a:pt x="2871512" y="1"/>
                    <a:pt x="2871517" y="0"/>
                  </a:cubicBezTo>
                  <a:close/>
                </a:path>
              </a:pathLst>
            </a:custGeom>
            <a:solidFill>
              <a:schemeClr val="tx2"/>
            </a:solidFill>
            <a:ln w="0" cap="flat">
              <a:noFill/>
              <a:prstDash val="solid"/>
              <a:miter/>
            </a:ln>
          </p:spPr>
          <p:txBody>
            <a:bodyPr wrap="square" rtlCol="0" anchor="ctr">
              <a:noAutofit/>
            </a:bodyPr>
            <a:lstStyle/>
            <a:p>
              <a:endParaRPr lang="en-US" sz="1400"/>
            </a:p>
          </p:txBody>
        </p:sp>
        <p:sp>
          <p:nvSpPr>
            <p:cNvPr id="24" name="Freeform 6">
              <a:extLst>
                <a:ext uri="{FF2B5EF4-FFF2-40B4-BE49-F238E27FC236}">
                  <a16:creationId xmlns:a16="http://schemas.microsoft.com/office/drawing/2014/main" id="{D3959755-9451-1B81-49E5-C8E4A1615FD0}"/>
                </a:ext>
              </a:extLst>
            </p:cNvPr>
            <p:cNvSpPr/>
            <p:nvPr/>
          </p:nvSpPr>
          <p:spPr>
            <a:xfrm>
              <a:off x="3668413" y="1421508"/>
              <a:ext cx="4855177" cy="906484"/>
            </a:xfrm>
            <a:custGeom>
              <a:avLst/>
              <a:gdLst>
                <a:gd name="connsiteX0" fmla="*/ 695865 w 767249"/>
                <a:gd name="connsiteY0" fmla="*/ 0 h 143249"/>
                <a:gd name="connsiteX1" fmla="*/ 767250 w 767249"/>
                <a:gd name="connsiteY1" fmla="*/ 71360 h 143249"/>
                <a:gd name="connsiteX2" fmla="*/ 767250 w 767249"/>
                <a:gd name="connsiteY2" fmla="*/ 71889 h 143249"/>
                <a:gd name="connsiteX3" fmla="*/ 695865 w 767249"/>
                <a:gd name="connsiteY3" fmla="*/ 143249 h 143249"/>
                <a:gd name="connsiteX4" fmla="*/ 71385 w 767249"/>
                <a:gd name="connsiteY4" fmla="*/ 143249 h 143249"/>
                <a:gd name="connsiteX5" fmla="*/ 0 w 767249"/>
                <a:gd name="connsiteY5" fmla="*/ 71889 h 143249"/>
                <a:gd name="connsiteX6" fmla="*/ 0 w 767249"/>
                <a:gd name="connsiteY6" fmla="*/ 71360 h 143249"/>
                <a:gd name="connsiteX7" fmla="*/ 71385 w 767249"/>
                <a:gd name="connsiteY7" fmla="*/ 0 h 14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7249" h="143249">
                  <a:moveTo>
                    <a:pt x="695865" y="0"/>
                  </a:moveTo>
                  <a:cubicBezTo>
                    <a:pt x="735290" y="0"/>
                    <a:pt x="767250" y="31949"/>
                    <a:pt x="767250" y="71360"/>
                  </a:cubicBezTo>
                  <a:lnTo>
                    <a:pt x="767250" y="71889"/>
                  </a:lnTo>
                  <a:cubicBezTo>
                    <a:pt x="767250" y="111300"/>
                    <a:pt x="735290" y="143249"/>
                    <a:pt x="695865" y="143249"/>
                  </a:cubicBezTo>
                  <a:lnTo>
                    <a:pt x="71385" y="143249"/>
                  </a:lnTo>
                  <a:cubicBezTo>
                    <a:pt x="31960" y="143249"/>
                    <a:pt x="0" y="111300"/>
                    <a:pt x="0" y="71889"/>
                  </a:cubicBezTo>
                  <a:lnTo>
                    <a:pt x="0" y="71360"/>
                  </a:lnTo>
                  <a:cubicBezTo>
                    <a:pt x="0" y="31949"/>
                    <a:pt x="31960" y="0"/>
                    <a:pt x="71385" y="0"/>
                  </a:cubicBezTo>
                  <a:close/>
                </a:path>
              </a:pathLst>
            </a:custGeom>
            <a:solidFill>
              <a:schemeClr val="accent1">
                <a:lumMod val="40000"/>
                <a:lumOff val="60000"/>
              </a:schemeClr>
            </a:solidFill>
            <a:ln w="0" cap="flat">
              <a:noFill/>
              <a:prstDash val="solid"/>
              <a:miter/>
            </a:ln>
          </p:spPr>
          <p:txBody>
            <a:bodyPr rtlCol="0" anchor="ctr"/>
            <a:lstStyle/>
            <a:p>
              <a:endParaRPr lang="en-US" sz="1400"/>
            </a:p>
          </p:txBody>
        </p:sp>
        <p:sp>
          <p:nvSpPr>
            <p:cNvPr id="25" name="Oval 24">
              <a:extLst>
                <a:ext uri="{FF2B5EF4-FFF2-40B4-BE49-F238E27FC236}">
                  <a16:creationId xmlns:a16="http://schemas.microsoft.com/office/drawing/2014/main" id="{4255DB27-0CFA-59A9-8D42-E658315CAE08}"/>
                </a:ext>
              </a:extLst>
            </p:cNvPr>
            <p:cNvSpPr/>
            <p:nvPr/>
          </p:nvSpPr>
          <p:spPr>
            <a:xfrm>
              <a:off x="9063947" y="1421509"/>
              <a:ext cx="906483" cy="906483"/>
            </a:xfrm>
            <a:prstGeom prst="ellipse">
              <a:avLst/>
            </a:prstGeom>
            <a:solidFill>
              <a:schemeClr val="accent1"/>
            </a:solidFill>
            <a:ln w="0" cap="flat">
              <a:noFill/>
              <a:prstDash val="solid"/>
              <a:miter/>
            </a:ln>
          </p:spPr>
          <p:txBody>
            <a:bodyPr rtlCol="0" anchor="ctr"/>
            <a:lstStyle/>
            <a:p>
              <a:endParaRPr lang="en-US" sz="1400"/>
            </a:p>
          </p:txBody>
        </p:sp>
        <p:sp>
          <p:nvSpPr>
            <p:cNvPr id="26" name="Oval 25">
              <a:extLst>
                <a:ext uri="{FF2B5EF4-FFF2-40B4-BE49-F238E27FC236}">
                  <a16:creationId xmlns:a16="http://schemas.microsoft.com/office/drawing/2014/main" id="{99248684-A100-7E0A-EFDC-DDA2BCAEE29B}"/>
                </a:ext>
              </a:extLst>
            </p:cNvPr>
            <p:cNvSpPr/>
            <p:nvPr/>
          </p:nvSpPr>
          <p:spPr>
            <a:xfrm>
              <a:off x="2223886" y="1421509"/>
              <a:ext cx="906483" cy="906483"/>
            </a:xfrm>
            <a:prstGeom prst="ellipse">
              <a:avLst/>
            </a:prstGeom>
            <a:solidFill>
              <a:schemeClr val="accent1"/>
            </a:solidFill>
            <a:ln w="0" cap="flat">
              <a:noFill/>
              <a:prstDash val="solid"/>
              <a:miter/>
            </a:ln>
          </p:spPr>
          <p:txBody>
            <a:bodyPr rtlCol="0" anchor="ctr"/>
            <a:lstStyle/>
            <a:p>
              <a:pPr algn="ctr"/>
              <a:r>
                <a:rPr lang="en-US" sz="2400" b="1" dirty="0">
                  <a:solidFill>
                    <a:schemeClr val="bg2"/>
                  </a:solidFill>
                </a:rPr>
                <a:t>03</a:t>
              </a:r>
            </a:p>
          </p:txBody>
        </p:sp>
        <p:sp>
          <p:nvSpPr>
            <p:cNvPr id="27" name="TextBox 26">
              <a:extLst>
                <a:ext uri="{FF2B5EF4-FFF2-40B4-BE49-F238E27FC236}">
                  <a16:creationId xmlns:a16="http://schemas.microsoft.com/office/drawing/2014/main" id="{7C28BE5F-EEAB-1CB0-2D5B-6FF3913BF64F}"/>
                </a:ext>
              </a:extLst>
            </p:cNvPr>
            <p:cNvSpPr txBox="1"/>
            <p:nvPr/>
          </p:nvSpPr>
          <p:spPr>
            <a:xfrm>
              <a:off x="4072350" y="1383228"/>
              <a:ext cx="4192376" cy="1138054"/>
            </a:xfrm>
            <a:prstGeom prst="rect">
              <a:avLst/>
            </a:prstGeom>
            <a:noFill/>
          </p:spPr>
          <p:txBody>
            <a:bodyPr wrap="square" lIns="0" rIns="0" rtlCol="0" anchor="t">
              <a:spAutoFit/>
            </a:bodyPr>
            <a:lstStyle/>
            <a:p>
              <a:r>
                <a:rPr lang="en-US" sz="1000" b="1" dirty="0"/>
                <a:t>Health System Inadequacies</a:t>
              </a:r>
            </a:p>
            <a:p>
              <a:endParaRPr lang="en-US" sz="1000" b="1" dirty="0"/>
            </a:p>
            <a:p>
              <a:r>
                <a:rPr lang="en-US" sz="1000" b="1" dirty="0"/>
                <a:t>Inadequacies include insufficient health workforce, infrastructure, data management, surveillance systems, fragmented funding, and donor dependency.</a:t>
              </a:r>
            </a:p>
            <a:p>
              <a:pPr algn="ctr"/>
              <a:r>
                <a:rPr lang="en-US" sz="1000" dirty="0"/>
                <a:t>.</a:t>
              </a:r>
              <a:endParaRPr lang="en-US" sz="1000" noProof="1"/>
            </a:p>
          </p:txBody>
        </p:sp>
        <p:pic>
          <p:nvPicPr>
            <p:cNvPr id="28" name="Graphic 27" descr="Lightbulb with solid fill">
              <a:extLst>
                <a:ext uri="{FF2B5EF4-FFF2-40B4-BE49-F238E27FC236}">
                  <a16:creationId xmlns:a16="http://schemas.microsoft.com/office/drawing/2014/main" id="{880A983D-7157-B23B-B86D-A8F2EF85800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9259071" y="1616633"/>
              <a:ext cx="516235" cy="516235"/>
            </a:xfrm>
            <a:prstGeom prst="rect">
              <a:avLst/>
            </a:prstGeom>
          </p:spPr>
        </p:pic>
      </p:grpSp>
    </p:spTree>
    <p:extLst>
      <p:ext uri="{BB962C8B-B14F-4D97-AF65-F5344CB8AC3E}">
        <p14:creationId xmlns:p14="http://schemas.microsoft.com/office/powerpoint/2010/main" val="9946311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DB84C-4C91-EC21-FED6-414372FFE06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F431FA1-CAED-4D15-E935-516766B76B75}"/>
              </a:ext>
            </a:extLst>
          </p:cNvPr>
          <p:cNvSpPr txBox="1"/>
          <p:nvPr/>
        </p:nvSpPr>
        <p:spPr>
          <a:xfrm>
            <a:off x="74815" y="299258"/>
            <a:ext cx="7489767" cy="646331"/>
          </a:xfrm>
          <a:prstGeom prst="rect">
            <a:avLst/>
          </a:prstGeom>
          <a:noFill/>
        </p:spPr>
        <p:txBody>
          <a:bodyPr wrap="square" rtlCol="0">
            <a:spAutoFit/>
          </a:bodyPr>
          <a:lstStyle/>
          <a:p>
            <a:r>
              <a:rPr lang="en-US" sz="3600" dirty="0">
                <a:solidFill>
                  <a:schemeClr val="bg1"/>
                </a:solidFill>
              </a:rPr>
              <a:t>Call to Action</a:t>
            </a:r>
          </a:p>
        </p:txBody>
      </p:sp>
      <p:pic>
        <p:nvPicPr>
          <p:cNvPr id="3" name="Picture 2">
            <a:extLst>
              <a:ext uri="{FF2B5EF4-FFF2-40B4-BE49-F238E27FC236}">
                <a16:creationId xmlns:a16="http://schemas.microsoft.com/office/drawing/2014/main" id="{2751C0BF-5DCB-3030-DD0B-5BB91EA25254}"/>
              </a:ext>
            </a:extLst>
          </p:cNvPr>
          <p:cNvPicPr>
            <a:picLocks noChangeAspect="1"/>
          </p:cNvPicPr>
          <p:nvPr/>
        </p:nvPicPr>
        <p:blipFill rotWithShape="1">
          <a:blip r:embed="rId3"/>
          <a:srcRect t="1583"/>
          <a:stretch/>
        </p:blipFill>
        <p:spPr>
          <a:xfrm>
            <a:off x="798287" y="1263210"/>
            <a:ext cx="8606972" cy="4572454"/>
          </a:xfrm>
          <a:prstGeom prst="rect">
            <a:avLst/>
          </a:prstGeom>
        </p:spPr>
      </p:pic>
    </p:spTree>
    <p:extLst>
      <p:ext uri="{BB962C8B-B14F-4D97-AF65-F5344CB8AC3E}">
        <p14:creationId xmlns:p14="http://schemas.microsoft.com/office/powerpoint/2010/main" val="14975504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815" y="299258"/>
            <a:ext cx="7489767" cy="646331"/>
          </a:xfrm>
          <a:prstGeom prst="rect">
            <a:avLst/>
          </a:prstGeom>
          <a:noFill/>
        </p:spPr>
        <p:txBody>
          <a:bodyPr wrap="square" rtlCol="0">
            <a:spAutoFit/>
          </a:bodyPr>
          <a:lstStyle/>
          <a:p>
            <a:r>
              <a:rPr lang="en-US" sz="3600" dirty="0" smtClean="0">
                <a:solidFill>
                  <a:schemeClr val="bg1"/>
                </a:solidFill>
              </a:rPr>
              <a:t>Kenya’s PHC </a:t>
            </a:r>
            <a:r>
              <a:rPr lang="en-US" sz="3600" dirty="0" smtClean="0">
                <a:solidFill>
                  <a:schemeClr val="bg1"/>
                </a:solidFill>
                <a:latin typeface="Segoe Sans"/>
              </a:rPr>
              <a:t>I</a:t>
            </a:r>
            <a:r>
              <a:rPr lang="en-US" sz="3600" dirty="0" smtClean="0">
                <a:solidFill>
                  <a:schemeClr val="bg1"/>
                </a:solidFill>
                <a:latin typeface="Segoe Sans"/>
              </a:rPr>
              <a:t>mplementation Journey</a:t>
            </a:r>
            <a:endParaRPr lang="en-US" sz="3600" dirty="0">
              <a:solidFill>
                <a:schemeClr val="bg1"/>
              </a:solidFill>
            </a:endParaRPr>
          </a:p>
        </p:txBody>
      </p:sp>
      <p:sp>
        <p:nvSpPr>
          <p:cNvPr id="5" name="TextBox 4"/>
          <p:cNvSpPr txBox="1"/>
          <p:nvPr/>
        </p:nvSpPr>
        <p:spPr>
          <a:xfrm>
            <a:off x="540327" y="1272231"/>
            <a:ext cx="11296768" cy="954107"/>
          </a:xfrm>
          <a:prstGeom prst="rect">
            <a:avLst/>
          </a:prstGeom>
          <a:noFill/>
        </p:spPr>
        <p:txBody>
          <a:bodyPr wrap="square" rtlCol="0">
            <a:spAutoFit/>
          </a:bodyPr>
          <a:lstStyle/>
          <a:p>
            <a:pPr marL="457200" indent="-457200">
              <a:buFont typeface="Arial" panose="020B0604020202020204" pitchFamily="34" charset="0"/>
              <a:buChar char="•"/>
            </a:pPr>
            <a:endParaRPr lang="en-US" sz="2800" dirty="0"/>
          </a:p>
          <a:p>
            <a:pPr marL="285750" indent="-285750" algn="just">
              <a:buFont typeface="Arial" panose="020B0604020202020204" pitchFamily="34" charset="0"/>
              <a:buChar char="•"/>
            </a:pPr>
            <a:endParaRPr lang="en-US" sz="2800" dirty="0">
              <a:solidFill>
                <a:srgbClr val="002060"/>
              </a:solidFill>
            </a:endParaRPr>
          </a:p>
        </p:txBody>
      </p:sp>
      <p:sp>
        <p:nvSpPr>
          <p:cNvPr id="3" name="Title 1">
            <a:extLst>
              <a:ext uri="{FF2B5EF4-FFF2-40B4-BE49-F238E27FC236}">
                <a16:creationId xmlns:a16="http://schemas.microsoft.com/office/drawing/2014/main" id="{B86AAC1A-B627-40D6-030E-835E01918959}"/>
              </a:ext>
            </a:extLst>
          </p:cNvPr>
          <p:cNvSpPr txBox="1">
            <a:spLocks/>
          </p:cNvSpPr>
          <p:nvPr/>
        </p:nvSpPr>
        <p:spPr>
          <a:xfrm>
            <a:off x="74815" y="1321401"/>
            <a:ext cx="10515600" cy="904937"/>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800" b="1" dirty="0">
              <a:latin typeface="Comic Sans MS" panose="030F0702030302020204" pitchFamily="66" charset="0"/>
            </a:endParaRPr>
          </a:p>
        </p:txBody>
      </p:sp>
      <p:pic>
        <p:nvPicPr>
          <p:cNvPr id="7" name="Picture 6"/>
          <p:cNvPicPr>
            <a:picLocks noChangeAspect="1"/>
          </p:cNvPicPr>
          <p:nvPr/>
        </p:nvPicPr>
        <p:blipFill>
          <a:blip r:embed="rId3"/>
          <a:stretch>
            <a:fillRect/>
          </a:stretch>
        </p:blipFill>
        <p:spPr>
          <a:xfrm>
            <a:off x="160528" y="1238205"/>
            <a:ext cx="3415791" cy="1698035"/>
          </a:xfrm>
          <a:prstGeom prst="rect">
            <a:avLst/>
          </a:prstGeom>
        </p:spPr>
      </p:pic>
      <p:pic>
        <p:nvPicPr>
          <p:cNvPr id="8" name="Picture 7"/>
          <p:cNvPicPr>
            <a:picLocks noChangeAspect="1"/>
          </p:cNvPicPr>
          <p:nvPr/>
        </p:nvPicPr>
        <p:blipFill rotWithShape="1">
          <a:blip r:embed="rId4"/>
          <a:srcRect t="8155"/>
          <a:stretch/>
        </p:blipFill>
        <p:spPr>
          <a:xfrm>
            <a:off x="4075303" y="1463040"/>
            <a:ext cx="2803017" cy="975360"/>
          </a:xfrm>
          <a:prstGeom prst="rect">
            <a:avLst/>
          </a:prstGeom>
        </p:spPr>
      </p:pic>
      <p:pic>
        <p:nvPicPr>
          <p:cNvPr id="9" name="Picture 8"/>
          <p:cNvPicPr>
            <a:picLocks noChangeAspect="1"/>
          </p:cNvPicPr>
          <p:nvPr/>
        </p:nvPicPr>
        <p:blipFill rotWithShape="1">
          <a:blip r:embed="rId5"/>
          <a:srcRect l="22598" t="49786"/>
          <a:stretch/>
        </p:blipFill>
        <p:spPr>
          <a:xfrm>
            <a:off x="7660640" y="3931920"/>
            <a:ext cx="3261360" cy="772160"/>
          </a:xfrm>
          <a:prstGeom prst="rect">
            <a:avLst/>
          </a:prstGeom>
        </p:spPr>
      </p:pic>
      <p:pic>
        <p:nvPicPr>
          <p:cNvPr id="10" name="Picture 9"/>
          <p:cNvPicPr>
            <a:picLocks noChangeAspect="1"/>
          </p:cNvPicPr>
          <p:nvPr/>
        </p:nvPicPr>
        <p:blipFill>
          <a:blip r:embed="rId6"/>
          <a:stretch>
            <a:fillRect/>
          </a:stretch>
        </p:blipFill>
        <p:spPr>
          <a:xfrm>
            <a:off x="7618007" y="1526508"/>
            <a:ext cx="3397425" cy="1244664"/>
          </a:xfrm>
          <a:prstGeom prst="rect">
            <a:avLst/>
          </a:prstGeom>
        </p:spPr>
      </p:pic>
      <p:pic>
        <p:nvPicPr>
          <p:cNvPr id="12" name="Picture 11"/>
          <p:cNvPicPr>
            <a:picLocks noChangeAspect="1"/>
          </p:cNvPicPr>
          <p:nvPr/>
        </p:nvPicPr>
        <p:blipFill rotWithShape="1">
          <a:blip r:embed="rId7"/>
          <a:srcRect t="10002" b="-1"/>
          <a:stretch/>
        </p:blipFill>
        <p:spPr>
          <a:xfrm>
            <a:off x="7665008" y="3271520"/>
            <a:ext cx="3287472" cy="650240"/>
          </a:xfrm>
          <a:prstGeom prst="rect">
            <a:avLst/>
          </a:prstGeom>
        </p:spPr>
      </p:pic>
      <p:pic>
        <p:nvPicPr>
          <p:cNvPr id="13" name="Picture 12"/>
          <p:cNvPicPr>
            <a:picLocks noChangeAspect="1"/>
          </p:cNvPicPr>
          <p:nvPr/>
        </p:nvPicPr>
        <p:blipFill>
          <a:blip r:embed="rId8"/>
          <a:stretch>
            <a:fillRect/>
          </a:stretch>
        </p:blipFill>
        <p:spPr>
          <a:xfrm>
            <a:off x="1321298" y="3723621"/>
            <a:ext cx="5302523" cy="711237"/>
          </a:xfrm>
          <a:prstGeom prst="rect">
            <a:avLst/>
          </a:prstGeom>
        </p:spPr>
      </p:pic>
      <p:sp>
        <p:nvSpPr>
          <p:cNvPr id="14" name="Right Arrow 13"/>
          <p:cNvSpPr/>
          <p:nvPr/>
        </p:nvSpPr>
        <p:spPr>
          <a:xfrm>
            <a:off x="3566160" y="1991360"/>
            <a:ext cx="670560"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p:cNvSpPr/>
          <p:nvPr/>
        </p:nvSpPr>
        <p:spPr>
          <a:xfrm>
            <a:off x="6898640" y="1767840"/>
            <a:ext cx="731520"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Down Arrow 16"/>
          <p:cNvSpPr/>
          <p:nvPr/>
        </p:nvSpPr>
        <p:spPr>
          <a:xfrm>
            <a:off x="9377680" y="2794000"/>
            <a:ext cx="484632" cy="5994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Left Arrow 17"/>
          <p:cNvSpPr/>
          <p:nvPr/>
        </p:nvSpPr>
        <p:spPr>
          <a:xfrm>
            <a:off x="6593840" y="3769360"/>
            <a:ext cx="978408" cy="4846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91287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B8F068-270D-A244-96E6-14E0EBCF937C}"/>
              </a:ext>
            </a:extLst>
          </p:cNvPr>
          <p:cNvSpPr txBox="1"/>
          <p:nvPr/>
        </p:nvSpPr>
        <p:spPr>
          <a:xfrm>
            <a:off x="267854" y="1357745"/>
            <a:ext cx="6324675" cy="1014445"/>
          </a:xfrm>
          <a:prstGeom prst="rect">
            <a:avLst/>
          </a:prstGeom>
          <a:noFill/>
        </p:spPr>
        <p:txBody>
          <a:bodyPr wrap="square" rtlCol="0">
            <a:spAutoFit/>
          </a:bodyPr>
          <a:lstStyle/>
          <a:p>
            <a:pPr marL="0" marR="0" lvl="0" indent="0" algn="l" defTabSz="658368"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dobe Garamond Pro"/>
                <a:ea typeface="+mn-ea"/>
                <a:cs typeface="+mn-cs"/>
              </a:rPr>
              <a:t>Definition</a:t>
            </a:r>
          </a:p>
          <a:p>
            <a:pPr marL="0" marR="0" lvl="0" indent="0" algn="l" defTabSz="658368"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dobe Garamond Pro"/>
                <a:ea typeface="+mn-ea"/>
                <a:cs typeface="+mn-cs"/>
              </a:rPr>
              <a:t>A </a:t>
            </a:r>
            <a:r>
              <a:rPr kumimoji="0" lang="en-US" sz="1400" b="1" i="0" u="none" strike="noStrike" kern="1200" cap="none" spc="0" normalizeH="0" baseline="0" noProof="0" dirty="0">
                <a:ln>
                  <a:noFill/>
                </a:ln>
                <a:solidFill>
                  <a:prstClr val="black"/>
                </a:solidFill>
                <a:effectLst/>
                <a:uLnTx/>
                <a:uFillTx/>
                <a:latin typeface="Adobe Garamond Pro"/>
                <a:ea typeface="+mn-ea"/>
                <a:cs typeface="+mn-cs"/>
              </a:rPr>
              <a:t>PCN</a:t>
            </a:r>
            <a:r>
              <a:rPr kumimoji="0" lang="en-US" sz="1400" b="0" i="0" u="none" strike="noStrike" kern="1200" cap="none" spc="0" normalizeH="0" baseline="0" noProof="0" dirty="0">
                <a:ln>
                  <a:noFill/>
                </a:ln>
                <a:solidFill>
                  <a:prstClr val="black"/>
                </a:solidFill>
                <a:effectLst/>
                <a:uLnTx/>
                <a:uFillTx/>
                <a:latin typeface="Adobe Garamond Pro"/>
                <a:ea typeface="+mn-ea"/>
                <a:cs typeface="+mn-cs"/>
              </a:rPr>
              <a:t> is an administrative health region established to efficiently  improve access to coordinated primary health care(PHC) services.</a:t>
            </a:r>
          </a:p>
          <a:p>
            <a:pPr marL="0" marR="0" lvl="0" indent="0" algn="l" defTabSz="658368" rtl="0" eaLnBrk="1" fontAlgn="auto" latinLnBrk="0" hangingPunct="1">
              <a:lnSpc>
                <a:spcPct val="100000"/>
              </a:lnSpc>
              <a:spcBef>
                <a:spcPts val="0"/>
              </a:spcBef>
              <a:spcAft>
                <a:spcPts val="600"/>
              </a:spcAft>
              <a:buClrTx/>
              <a:buSzTx/>
              <a:buFontTx/>
              <a:buNone/>
              <a:tabLst/>
              <a:defRPr/>
            </a:pPr>
            <a:r>
              <a:rPr kumimoji="0" lang="en-US" sz="792" b="0" i="0" u="none" strike="noStrike" kern="1200" cap="none" spc="0" normalizeH="0" baseline="0" noProof="0" dirty="0">
                <a:ln>
                  <a:noFill/>
                </a:ln>
                <a:solidFill>
                  <a:prstClr val="black"/>
                </a:solidFill>
                <a:effectLst/>
                <a:uLnTx/>
                <a:uFillTx/>
                <a:latin typeface="Adobe Garamond Pro"/>
                <a:ea typeface="+mn-ea"/>
                <a:cs typeface="+mn-cs"/>
              </a:rPr>
              <a:t> </a:t>
            </a:r>
            <a:endParaRPr kumimoji="0" lang="aa-ET" sz="1100" b="0" i="0" u="none" strike="noStrike" kern="1200" cap="none" spc="0" normalizeH="0" baseline="0" noProof="0" dirty="0">
              <a:ln>
                <a:noFill/>
              </a:ln>
              <a:solidFill>
                <a:prstClr val="black"/>
              </a:solidFill>
              <a:effectLst/>
              <a:uLnTx/>
              <a:uFillTx/>
              <a:latin typeface="Adobe Garamond Pro"/>
              <a:ea typeface="+mn-ea"/>
              <a:cs typeface="+mn-cs"/>
            </a:endParaRPr>
          </a:p>
        </p:txBody>
      </p:sp>
      <p:sp>
        <p:nvSpPr>
          <p:cNvPr id="3" name="TextBox 2">
            <a:extLst>
              <a:ext uri="{FF2B5EF4-FFF2-40B4-BE49-F238E27FC236}">
                <a16:creationId xmlns:a16="http://schemas.microsoft.com/office/drawing/2014/main" id="{35F9B9EA-5001-6D47-AF5C-A4D1EF8CFD5F}"/>
              </a:ext>
            </a:extLst>
          </p:cNvPr>
          <p:cNvSpPr txBox="1"/>
          <p:nvPr/>
        </p:nvSpPr>
        <p:spPr>
          <a:xfrm>
            <a:off x="7416297" y="1450168"/>
            <a:ext cx="4636938" cy="307777"/>
          </a:xfrm>
          <a:prstGeom prst="rect">
            <a:avLst/>
          </a:prstGeom>
          <a:noFill/>
        </p:spPr>
        <p:txBody>
          <a:bodyPr wrap="square" rtlCol="0">
            <a:spAutoFit/>
          </a:bodyPr>
          <a:lstStyle/>
          <a:p>
            <a:pPr marL="0" marR="0" lvl="0" indent="0" algn="l" defTabSz="658368" rtl="0" eaLnBrk="1" fontAlgn="auto" latinLnBrk="0" hangingPunct="1">
              <a:lnSpc>
                <a:spcPct val="100000"/>
              </a:lnSpc>
              <a:spcBef>
                <a:spcPts val="0"/>
              </a:spcBef>
              <a:spcAft>
                <a:spcPts val="600"/>
              </a:spcAft>
              <a:buClrTx/>
              <a:buSzTx/>
              <a:buFontTx/>
              <a:buNone/>
              <a:tabLst/>
              <a:defRPr/>
            </a:pPr>
            <a:r>
              <a:rPr kumimoji="0" lang="aa-ET" sz="1400" b="1" i="0" u="none" strike="noStrike" kern="1200" cap="none" spc="0" normalizeH="0" baseline="0" noProof="0" dirty="0">
                <a:ln>
                  <a:noFill/>
                </a:ln>
                <a:solidFill>
                  <a:prstClr val="black"/>
                </a:solidFill>
                <a:effectLst/>
                <a:uLnTx/>
                <a:uFillTx/>
                <a:latin typeface="Adobe Garamond Pro"/>
                <a:ea typeface="+mn-ea"/>
                <a:cs typeface="+mn-cs"/>
              </a:rPr>
              <a:t>Coordination and Governance of PHC </a:t>
            </a:r>
          </a:p>
        </p:txBody>
      </p:sp>
      <p:sp>
        <p:nvSpPr>
          <p:cNvPr id="4" name="Rectangle 3">
            <a:extLst>
              <a:ext uri="{FF2B5EF4-FFF2-40B4-BE49-F238E27FC236}">
                <a16:creationId xmlns:a16="http://schemas.microsoft.com/office/drawing/2014/main" id="{C89C6F35-29D0-654F-A8C6-A220078CDB4C}"/>
              </a:ext>
            </a:extLst>
          </p:cNvPr>
          <p:cNvSpPr/>
          <p:nvPr/>
        </p:nvSpPr>
        <p:spPr>
          <a:xfrm>
            <a:off x="7375656" y="2034044"/>
            <a:ext cx="4163153" cy="1246495"/>
          </a:xfrm>
          <a:prstGeom prst="rect">
            <a:avLst/>
          </a:prstGeom>
        </p:spPr>
        <p:txBody>
          <a:bodyPr wrap="square">
            <a:spAutoFit/>
          </a:bodyPr>
          <a:lstStyle/>
          <a:p>
            <a:pPr marL="0" marR="0" lvl="0" indent="0" algn="l" defTabSz="658368" rtl="0" eaLnBrk="1" fontAlgn="auto" latinLnBrk="0" hangingPunct="1">
              <a:lnSpc>
                <a:spcPct val="100000"/>
              </a:lnSpc>
              <a:spcBef>
                <a:spcPts val="0"/>
              </a:spcBef>
              <a:spcAft>
                <a:spcPts val="600"/>
              </a:spcAft>
              <a:buClrTx/>
              <a:buSzTx/>
              <a:buFontTx/>
              <a:buNone/>
              <a:tabLst/>
              <a:defRPr/>
            </a:pPr>
            <a:r>
              <a:rPr kumimoji="0" lang="en-GB" sz="1400" b="1" i="0" u="none" strike="noStrike" kern="1200" cap="none" spc="0" normalizeH="0" baseline="0" noProof="0" dirty="0">
                <a:ln>
                  <a:noFill/>
                </a:ln>
                <a:solidFill>
                  <a:prstClr val="black"/>
                </a:solidFill>
                <a:effectLst/>
                <a:uLnTx/>
                <a:uFillTx/>
                <a:latin typeface="Titillium"/>
                <a:ea typeface="+mn-ea"/>
                <a:cs typeface="+mn-cs"/>
              </a:rPr>
              <a:t>Multi-Disciplinary Team</a:t>
            </a:r>
          </a:p>
          <a:p>
            <a:pPr marL="0" marR="0" lvl="0" indent="0" algn="l" defTabSz="658368" rtl="0" eaLnBrk="1" fontAlgn="auto" latinLnBrk="0" hangingPunct="1">
              <a:lnSpc>
                <a:spcPct val="100000"/>
              </a:lnSpc>
              <a:spcBef>
                <a:spcPts val="0"/>
              </a:spcBef>
              <a:spcAft>
                <a:spcPts val="60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Adobe Garamond Pro"/>
                <a:ea typeface="+mn-ea"/>
                <a:cs typeface="+mn-cs"/>
              </a:rPr>
              <a:t>A team of health professionals, working together to provide comprehensive and continuous person-centred PHC services for individuals, families and communities.</a:t>
            </a:r>
          </a:p>
        </p:txBody>
      </p:sp>
      <p:pic>
        <p:nvPicPr>
          <p:cNvPr id="5" name="Picture 4">
            <a:extLst>
              <a:ext uri="{FF2B5EF4-FFF2-40B4-BE49-F238E27FC236}">
                <a16:creationId xmlns:a16="http://schemas.microsoft.com/office/drawing/2014/main" id="{9C0C08B3-8699-9D4D-8BE2-E0CEEAAAFFAD}"/>
              </a:ext>
            </a:extLst>
          </p:cNvPr>
          <p:cNvPicPr/>
          <p:nvPr/>
        </p:nvPicPr>
        <p:blipFill>
          <a:blip r:embed="rId2"/>
          <a:stretch>
            <a:fillRect/>
          </a:stretch>
        </p:blipFill>
        <p:spPr>
          <a:xfrm>
            <a:off x="253225" y="2309092"/>
            <a:ext cx="5670055" cy="3014748"/>
          </a:xfrm>
          <a:prstGeom prst="rect">
            <a:avLst/>
          </a:prstGeom>
        </p:spPr>
      </p:pic>
      <p:sp>
        <p:nvSpPr>
          <p:cNvPr id="6" name="TextBox 5">
            <a:extLst>
              <a:ext uri="{FF2B5EF4-FFF2-40B4-BE49-F238E27FC236}">
                <a16:creationId xmlns:a16="http://schemas.microsoft.com/office/drawing/2014/main" id="{9FAC93C7-EF97-C54F-A846-195C58F451C4}"/>
              </a:ext>
            </a:extLst>
          </p:cNvPr>
          <p:cNvSpPr txBox="1"/>
          <p:nvPr/>
        </p:nvSpPr>
        <p:spPr>
          <a:xfrm>
            <a:off x="79434" y="4951399"/>
            <a:ext cx="6592530" cy="1031051"/>
          </a:xfrm>
          <a:prstGeom prst="rect">
            <a:avLst/>
          </a:prstGeom>
          <a:noFill/>
        </p:spPr>
        <p:txBody>
          <a:bodyPr wrap="square" rtlCol="0">
            <a:spAutoFit/>
          </a:bodyPr>
          <a:lstStyle/>
          <a:p>
            <a:pPr marL="0" marR="0" lvl="0" indent="0" algn="l" defTabSz="658368" rtl="0" eaLnBrk="1" fontAlgn="auto" latinLnBrk="0" hangingPunct="1">
              <a:lnSpc>
                <a:spcPct val="100000"/>
              </a:lnSpc>
              <a:spcBef>
                <a:spcPts val="0"/>
              </a:spcBef>
              <a:spcAft>
                <a:spcPts val="600"/>
              </a:spcAft>
              <a:buClrTx/>
              <a:buSzTx/>
              <a:buFontTx/>
              <a:buNone/>
              <a:tabLst/>
              <a:defRPr/>
            </a:pPr>
            <a:r>
              <a:rPr kumimoji="0" lang="aa-ET" sz="1400" b="1" i="0" u="none" strike="noStrike" kern="1200" cap="none" spc="0" normalizeH="0" baseline="0" noProof="0" dirty="0">
                <a:ln>
                  <a:noFill/>
                </a:ln>
                <a:solidFill>
                  <a:prstClr val="black"/>
                </a:solidFill>
                <a:effectLst/>
                <a:uLnTx/>
                <a:uFillTx/>
                <a:latin typeface="Adobe Garamond Pro"/>
                <a:ea typeface="+mn-ea"/>
                <a:cs typeface="+mn-cs"/>
              </a:rPr>
              <a:t>Structure</a:t>
            </a:r>
          </a:p>
          <a:p>
            <a:pPr marL="0" marR="0" lvl="0" indent="0" algn="l" defTabSz="658368"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dobe Garamond Pro"/>
                <a:ea typeface="+mn-ea"/>
                <a:cs typeface="+mn-cs"/>
              </a:rPr>
              <a:t>The PCNs are designed to have a modified ‘hub and spoke’ model. The hub is a L4PHC Referral facility and supports the PHC facilities (the spokes) and community health units (CHUs). </a:t>
            </a:r>
            <a:endParaRPr kumimoji="0" lang="aa-ET" sz="1400" b="1" i="0" u="none" strike="noStrike" kern="1200" cap="none" spc="0" normalizeH="0" baseline="0" noProof="0" dirty="0">
              <a:ln>
                <a:noFill/>
              </a:ln>
              <a:solidFill>
                <a:prstClr val="black"/>
              </a:solidFill>
              <a:effectLst/>
              <a:uLnTx/>
              <a:uFillTx/>
              <a:latin typeface="Adobe Garamond Pro"/>
              <a:ea typeface="+mn-ea"/>
              <a:cs typeface="+mn-cs"/>
            </a:endParaRPr>
          </a:p>
        </p:txBody>
      </p:sp>
      <p:sp>
        <p:nvSpPr>
          <p:cNvPr id="8" name="TextBox 7">
            <a:extLst>
              <a:ext uri="{FF2B5EF4-FFF2-40B4-BE49-F238E27FC236}">
                <a16:creationId xmlns:a16="http://schemas.microsoft.com/office/drawing/2014/main" id="{DBE07A1C-4BD4-A44A-832D-1202E3A6EAE4}"/>
              </a:ext>
            </a:extLst>
          </p:cNvPr>
          <p:cNvSpPr txBox="1"/>
          <p:nvPr/>
        </p:nvSpPr>
        <p:spPr>
          <a:xfrm>
            <a:off x="6879086" y="3428999"/>
            <a:ext cx="3988939"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Rockwell" panose="02060603020205020403" pitchFamily="18" charset="0"/>
                <a:ea typeface="Calibri" panose="020F0502020204030204" pitchFamily="34" charset="0"/>
                <a:cs typeface="Rockwell" panose="02060603020205020403" pitchFamily="18" charset="0"/>
              </a:rPr>
              <a:t>Primary Care Network committee (PCNC)</a:t>
            </a:r>
          </a:p>
        </p:txBody>
      </p:sp>
      <p:sp>
        <p:nvSpPr>
          <p:cNvPr id="11" name="Title 1">
            <a:extLst>
              <a:ext uri="{FF2B5EF4-FFF2-40B4-BE49-F238E27FC236}">
                <a16:creationId xmlns:a16="http://schemas.microsoft.com/office/drawing/2014/main" id="{D74CCC1C-9C98-4AF4-19C1-DD4A3CCFB41E}"/>
              </a:ext>
            </a:extLst>
          </p:cNvPr>
          <p:cNvSpPr txBox="1">
            <a:spLocks/>
          </p:cNvSpPr>
          <p:nvPr/>
        </p:nvSpPr>
        <p:spPr bwMode="auto">
          <a:xfrm>
            <a:off x="6827520" y="3921760"/>
            <a:ext cx="3911375" cy="1167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defTabSz="457200" rtl="0" eaLnBrk="1" fontAlgn="base" hangingPunct="1">
              <a:spcBef>
                <a:spcPct val="0"/>
              </a:spcBef>
              <a:spcAft>
                <a:spcPct val="0"/>
              </a:spcAft>
              <a:defRPr sz="4400" kern="1200">
                <a:solidFill>
                  <a:schemeClr val="tx1"/>
                </a:solidFill>
                <a:latin typeface="+mj-lt"/>
                <a:ea typeface="+mj-ea"/>
                <a:cs typeface="+mj-cs"/>
              </a:defRPr>
            </a:lvl1pPr>
            <a:lvl2pPr algn="ctr" defTabSz="457200" rtl="0" eaLnBrk="1" fontAlgn="base" hangingPunct="1">
              <a:spcBef>
                <a:spcPct val="0"/>
              </a:spcBef>
              <a:spcAft>
                <a:spcPct val="0"/>
              </a:spcAft>
              <a:defRPr sz="4400">
                <a:solidFill>
                  <a:schemeClr val="tx1"/>
                </a:solidFill>
                <a:latin typeface="Calibri" panose="020F0502020204030204" pitchFamily="34" charset="0"/>
              </a:defRPr>
            </a:lvl2pPr>
            <a:lvl3pPr algn="ctr" defTabSz="457200" rtl="0" eaLnBrk="1" fontAlgn="base" hangingPunct="1">
              <a:spcBef>
                <a:spcPct val="0"/>
              </a:spcBef>
              <a:spcAft>
                <a:spcPct val="0"/>
              </a:spcAft>
              <a:defRPr sz="4400">
                <a:solidFill>
                  <a:schemeClr val="tx1"/>
                </a:solidFill>
                <a:latin typeface="Calibri" panose="020F0502020204030204" pitchFamily="34" charset="0"/>
              </a:defRPr>
            </a:lvl3pPr>
            <a:lvl4pPr algn="ctr" defTabSz="457200" rtl="0" eaLnBrk="1" fontAlgn="base" hangingPunct="1">
              <a:spcBef>
                <a:spcPct val="0"/>
              </a:spcBef>
              <a:spcAft>
                <a:spcPct val="0"/>
              </a:spcAft>
              <a:defRPr sz="4400">
                <a:solidFill>
                  <a:schemeClr val="tx1"/>
                </a:solidFill>
                <a:latin typeface="Calibri" panose="020F0502020204030204" pitchFamily="34" charset="0"/>
              </a:defRPr>
            </a:lvl4pPr>
            <a:lvl5pPr algn="ctr" defTabSz="457200" rtl="0" eaLnBrk="1" fontAlgn="base" hangingPunct="1">
              <a:spcBef>
                <a:spcPct val="0"/>
              </a:spcBef>
              <a:spcAft>
                <a:spcPct val="0"/>
              </a:spcAft>
              <a:defRPr sz="4400">
                <a:solidFill>
                  <a:schemeClr val="tx1"/>
                </a:solidFill>
                <a:latin typeface="Calibri" panose="020F0502020204030204" pitchFamily="34" charset="0"/>
              </a:defRPr>
            </a:lvl5pPr>
            <a:lvl6pPr marL="457200" algn="ctr" defTabSz="457200" rtl="0" eaLnBrk="1" fontAlgn="base" hangingPunct="1">
              <a:spcBef>
                <a:spcPct val="0"/>
              </a:spcBef>
              <a:spcAft>
                <a:spcPct val="0"/>
              </a:spcAft>
              <a:defRPr sz="4400">
                <a:solidFill>
                  <a:schemeClr val="tx1"/>
                </a:solidFill>
                <a:latin typeface="Calibri" panose="020F0502020204030204" pitchFamily="34" charset="0"/>
              </a:defRPr>
            </a:lvl6pPr>
            <a:lvl7pPr marL="914400" algn="ctr" defTabSz="457200" rtl="0" eaLnBrk="1" fontAlgn="base" hangingPunct="1">
              <a:spcBef>
                <a:spcPct val="0"/>
              </a:spcBef>
              <a:spcAft>
                <a:spcPct val="0"/>
              </a:spcAft>
              <a:defRPr sz="4400">
                <a:solidFill>
                  <a:schemeClr val="tx1"/>
                </a:solidFill>
                <a:latin typeface="Calibri" panose="020F0502020204030204" pitchFamily="34" charset="0"/>
              </a:defRPr>
            </a:lvl7pPr>
            <a:lvl8pPr marL="1371600" algn="ctr" defTabSz="457200" rtl="0" eaLnBrk="1" fontAlgn="base" hangingPunct="1">
              <a:spcBef>
                <a:spcPct val="0"/>
              </a:spcBef>
              <a:spcAft>
                <a:spcPct val="0"/>
              </a:spcAft>
              <a:defRPr sz="4400">
                <a:solidFill>
                  <a:schemeClr val="tx1"/>
                </a:solidFill>
                <a:latin typeface="Calibri" panose="020F0502020204030204" pitchFamily="34" charset="0"/>
              </a:defRPr>
            </a:lvl8pPr>
            <a:lvl9pPr marL="1828800" algn="ctr" defTabSz="457200" rtl="0" eaLnBrk="1" fontAlgn="base" hangingPunct="1">
              <a:spcBef>
                <a:spcPct val="0"/>
              </a:spcBef>
              <a:spcAft>
                <a:spcPct val="0"/>
              </a:spcAft>
              <a:defRPr sz="4400">
                <a:solidFill>
                  <a:schemeClr val="tx1"/>
                </a:solidFill>
                <a:latin typeface="Calibri" panose="020F0502020204030204" pitchFamily="34" charset="0"/>
              </a:defRPr>
            </a:lvl9pPr>
          </a:lstStyle>
          <a:p>
            <a:pPr marL="742950" marR="0" lvl="1" indent="-285750" algn="l" defTabSz="457200" rtl="0" eaLnBrk="1" fontAlgn="base" latinLnBrk="0" hangingPunct="1">
              <a:lnSpc>
                <a:spcPct val="100000"/>
              </a:lnSpc>
              <a:spcBef>
                <a:spcPct val="0"/>
              </a:spcBef>
              <a:spcAft>
                <a:spcPct val="0"/>
              </a:spcAft>
              <a:buClrTx/>
              <a:buSzTx/>
              <a:buFont typeface="Wingdings" panose="05000000000000000000" pitchFamily="2" charset="2"/>
              <a:buChar char="ü"/>
              <a:tabLst/>
              <a:defRPr/>
            </a:pPr>
            <a:r>
              <a:rPr kumimoji="0" lang="en-US" sz="1200" b="0" i="0" u="none" strike="noStrike" kern="1200" cap="none" spc="0" normalizeH="0" baseline="0" noProof="0" dirty="0">
                <a:ln>
                  <a:noFill/>
                </a:ln>
                <a:solidFill>
                  <a:srgbClr val="000000"/>
                </a:solidFill>
                <a:effectLst/>
                <a:uLnTx/>
                <a:uFillTx/>
                <a:latin typeface="Rockwell" panose="02060603020205020403" pitchFamily="18" charset="0"/>
                <a:ea typeface="+mn-ea"/>
                <a:cs typeface="+mn-cs"/>
              </a:rPr>
              <a:t>SCHMT</a:t>
            </a:r>
          </a:p>
          <a:p>
            <a:pPr marL="742950" marR="0" lvl="1" indent="-285750" algn="l" defTabSz="457200" rtl="0" eaLnBrk="1" fontAlgn="base" latinLnBrk="0" hangingPunct="1">
              <a:lnSpc>
                <a:spcPct val="100000"/>
              </a:lnSpc>
              <a:spcBef>
                <a:spcPct val="0"/>
              </a:spcBef>
              <a:spcAft>
                <a:spcPct val="0"/>
              </a:spcAft>
              <a:buClrTx/>
              <a:buSzTx/>
              <a:buFont typeface="Wingdings" panose="05000000000000000000" pitchFamily="2" charset="2"/>
              <a:buChar char="ü"/>
              <a:tabLst/>
              <a:defRPr/>
            </a:pPr>
            <a:r>
              <a:rPr kumimoji="0" lang="en-US" sz="1200" b="0" i="0" u="none" strike="noStrike" kern="1200" cap="none" spc="0" normalizeH="0" baseline="0" noProof="0" dirty="0">
                <a:ln>
                  <a:noFill/>
                </a:ln>
                <a:solidFill>
                  <a:srgbClr val="000000"/>
                </a:solidFill>
                <a:effectLst/>
                <a:uLnTx/>
                <a:uFillTx/>
                <a:latin typeface="Rockwell" panose="02060603020205020403" pitchFamily="18" charset="0"/>
                <a:ea typeface="+mn-ea"/>
                <a:cs typeface="+mn-cs"/>
              </a:rPr>
              <a:t>Private</a:t>
            </a:r>
          </a:p>
          <a:p>
            <a:pPr marL="742950" marR="0" lvl="1" indent="-285750" algn="l" defTabSz="457200" rtl="0" eaLnBrk="1" fontAlgn="base" latinLnBrk="0" hangingPunct="1">
              <a:lnSpc>
                <a:spcPct val="100000"/>
              </a:lnSpc>
              <a:spcBef>
                <a:spcPct val="0"/>
              </a:spcBef>
              <a:spcAft>
                <a:spcPct val="0"/>
              </a:spcAft>
              <a:buClrTx/>
              <a:buSzTx/>
              <a:buFont typeface="Wingdings" panose="05000000000000000000" pitchFamily="2" charset="2"/>
              <a:buChar char="ü"/>
              <a:tabLst/>
              <a:defRPr/>
            </a:pPr>
            <a:r>
              <a:rPr kumimoji="0" lang="en-US" sz="1200" b="0" i="0" u="none" strike="noStrike" kern="1200" cap="none" spc="0" normalizeH="0" baseline="0" noProof="0" dirty="0">
                <a:ln>
                  <a:noFill/>
                </a:ln>
                <a:solidFill>
                  <a:srgbClr val="000000"/>
                </a:solidFill>
                <a:effectLst/>
                <a:uLnTx/>
                <a:uFillTx/>
                <a:latin typeface="Rockwell" panose="02060603020205020403" pitchFamily="18" charset="0"/>
                <a:ea typeface="+mn-ea"/>
                <a:cs typeface="+mn-cs"/>
              </a:rPr>
              <a:t>FBO</a:t>
            </a:r>
          </a:p>
          <a:p>
            <a:pPr marL="742950" marR="0" lvl="1" indent="-285750" algn="l" defTabSz="457200" rtl="0" eaLnBrk="1" fontAlgn="base" latinLnBrk="0" hangingPunct="1">
              <a:lnSpc>
                <a:spcPct val="100000"/>
              </a:lnSpc>
              <a:spcBef>
                <a:spcPct val="0"/>
              </a:spcBef>
              <a:spcAft>
                <a:spcPct val="0"/>
              </a:spcAft>
              <a:buClrTx/>
              <a:buSzTx/>
              <a:buFont typeface="Wingdings" panose="05000000000000000000" pitchFamily="2" charset="2"/>
              <a:buChar char="ü"/>
              <a:tabLst/>
              <a:defRPr/>
            </a:pPr>
            <a:r>
              <a:rPr kumimoji="0" lang="en-US" sz="1200" b="0" i="0" u="none" strike="noStrike" kern="1200" cap="none" spc="0" normalizeH="0" baseline="0" noProof="0" dirty="0">
                <a:ln>
                  <a:noFill/>
                </a:ln>
                <a:solidFill>
                  <a:srgbClr val="000000"/>
                </a:solidFill>
                <a:effectLst/>
                <a:uLnTx/>
                <a:uFillTx/>
                <a:latin typeface="Rockwell" panose="02060603020205020403" pitchFamily="18" charset="0"/>
                <a:ea typeface="+mn-ea"/>
                <a:cs typeface="+mn-cs"/>
              </a:rPr>
              <a:t>Partners</a:t>
            </a:r>
          </a:p>
          <a:p>
            <a:pPr marL="742950" marR="0" lvl="1" indent="-285750" algn="l" defTabSz="457200" rtl="0" eaLnBrk="1" fontAlgn="base" latinLnBrk="0" hangingPunct="1">
              <a:lnSpc>
                <a:spcPct val="100000"/>
              </a:lnSpc>
              <a:spcBef>
                <a:spcPct val="0"/>
              </a:spcBef>
              <a:spcAft>
                <a:spcPct val="0"/>
              </a:spcAft>
              <a:buClrTx/>
              <a:buSzTx/>
              <a:buFont typeface="Wingdings" panose="05000000000000000000" pitchFamily="2" charset="2"/>
              <a:buChar char="ü"/>
              <a:tabLst/>
              <a:defRPr/>
            </a:pPr>
            <a:r>
              <a:rPr kumimoji="0" lang="en-US" sz="1200" b="0" i="0" u="none" strike="noStrike" kern="1200" cap="none" spc="0" normalizeH="0" baseline="0" noProof="0" dirty="0">
                <a:ln>
                  <a:noFill/>
                </a:ln>
                <a:solidFill>
                  <a:srgbClr val="000000"/>
                </a:solidFill>
                <a:effectLst/>
                <a:uLnTx/>
                <a:uFillTx/>
                <a:latin typeface="Rockwell" panose="02060603020205020403" pitchFamily="18" charset="0"/>
                <a:ea typeface="+mn-ea"/>
                <a:cs typeface="+mn-cs"/>
              </a:rPr>
              <a:t>Community Rep</a:t>
            </a:r>
          </a:p>
          <a:p>
            <a:pPr marL="742950" marR="0" lvl="1" indent="-285750" algn="l" defTabSz="457200" rtl="0" eaLnBrk="1" fontAlgn="base" latinLnBrk="0" hangingPunct="1">
              <a:lnSpc>
                <a:spcPct val="100000"/>
              </a:lnSpc>
              <a:spcBef>
                <a:spcPct val="0"/>
              </a:spcBef>
              <a:spcAft>
                <a:spcPct val="0"/>
              </a:spcAft>
              <a:buClrTx/>
              <a:buSzTx/>
              <a:buFont typeface="Wingdings" panose="05000000000000000000" pitchFamily="2" charset="2"/>
              <a:buChar char="ü"/>
              <a:tabLst/>
              <a:defRPr/>
            </a:pPr>
            <a:r>
              <a:rPr kumimoji="0" lang="en-US" sz="1200" b="0" i="0" u="none" strike="noStrike" kern="1200" cap="none" spc="0" normalizeH="0" baseline="0" noProof="0" dirty="0">
                <a:ln>
                  <a:noFill/>
                </a:ln>
                <a:solidFill>
                  <a:srgbClr val="000000"/>
                </a:solidFill>
                <a:effectLst/>
                <a:uLnTx/>
                <a:uFillTx/>
                <a:latin typeface="Rockwell" panose="02060603020205020403" pitchFamily="18" charset="0"/>
                <a:ea typeface="+mn-ea"/>
                <a:cs typeface="+mn-cs"/>
              </a:rPr>
              <a:t>MDT rep</a:t>
            </a: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
        <p:nvSpPr>
          <p:cNvPr id="12" name="TextBox 11"/>
          <p:cNvSpPr txBox="1"/>
          <p:nvPr/>
        </p:nvSpPr>
        <p:spPr>
          <a:xfrm>
            <a:off x="74815" y="299258"/>
            <a:ext cx="7489767" cy="646331"/>
          </a:xfrm>
          <a:prstGeom prst="rect">
            <a:avLst/>
          </a:prstGeom>
          <a:noFill/>
        </p:spPr>
        <p:txBody>
          <a:bodyPr wrap="square" rtlCol="0">
            <a:spAutoFit/>
          </a:bodyPr>
          <a:lstStyle/>
          <a:p>
            <a:r>
              <a:rPr lang="en-US" sz="3600" dirty="0" smtClean="0">
                <a:solidFill>
                  <a:schemeClr val="bg1"/>
                </a:solidFill>
              </a:rPr>
              <a:t>Primary Care Network (PCN)</a:t>
            </a:r>
            <a:endParaRPr lang="en-US" sz="3600" dirty="0">
              <a:solidFill>
                <a:schemeClr val="bg1"/>
              </a:solidFill>
            </a:endParaRPr>
          </a:p>
        </p:txBody>
      </p:sp>
    </p:spTree>
    <p:extLst>
      <p:ext uri="{BB962C8B-B14F-4D97-AF65-F5344CB8AC3E}">
        <p14:creationId xmlns:p14="http://schemas.microsoft.com/office/powerpoint/2010/main" val="20806591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815" y="299258"/>
            <a:ext cx="7489767" cy="646331"/>
          </a:xfrm>
          <a:prstGeom prst="rect">
            <a:avLst/>
          </a:prstGeom>
          <a:noFill/>
        </p:spPr>
        <p:txBody>
          <a:bodyPr wrap="square" rtlCol="0">
            <a:spAutoFit/>
          </a:bodyPr>
          <a:lstStyle/>
          <a:p>
            <a:r>
              <a:rPr lang="en-US" sz="3600" dirty="0">
                <a:solidFill>
                  <a:schemeClr val="bg1"/>
                </a:solidFill>
              </a:rPr>
              <a:t>Kenya </a:t>
            </a:r>
            <a:r>
              <a:rPr lang="en-US" sz="3600" dirty="0" smtClean="0">
                <a:solidFill>
                  <a:schemeClr val="bg1"/>
                </a:solidFill>
              </a:rPr>
              <a:t>PHC for TB Situation</a:t>
            </a:r>
            <a:endParaRPr lang="en-US" sz="3600" dirty="0">
              <a:solidFill>
                <a:schemeClr val="bg1"/>
              </a:solidFill>
            </a:endParaRPr>
          </a:p>
        </p:txBody>
      </p:sp>
      <p:sp>
        <p:nvSpPr>
          <p:cNvPr id="5" name="TextBox 4"/>
          <p:cNvSpPr txBox="1"/>
          <p:nvPr/>
        </p:nvSpPr>
        <p:spPr>
          <a:xfrm>
            <a:off x="540327" y="1272231"/>
            <a:ext cx="11296768" cy="954107"/>
          </a:xfrm>
          <a:prstGeom prst="rect">
            <a:avLst/>
          </a:prstGeom>
          <a:noFill/>
        </p:spPr>
        <p:txBody>
          <a:bodyPr wrap="square" rtlCol="0">
            <a:spAutoFit/>
          </a:bodyPr>
          <a:lstStyle/>
          <a:p>
            <a:pPr marL="457200" indent="-457200">
              <a:buFont typeface="Arial" panose="020B0604020202020204" pitchFamily="34" charset="0"/>
              <a:buChar char="•"/>
            </a:pPr>
            <a:endParaRPr lang="en-US" sz="2800" dirty="0"/>
          </a:p>
          <a:p>
            <a:pPr marL="285750" indent="-285750" algn="just">
              <a:buFont typeface="Arial" panose="020B0604020202020204" pitchFamily="34" charset="0"/>
              <a:buChar char="•"/>
            </a:pPr>
            <a:endParaRPr lang="en-US" sz="2800" dirty="0">
              <a:solidFill>
                <a:srgbClr val="002060"/>
              </a:solidFill>
            </a:endParaRPr>
          </a:p>
        </p:txBody>
      </p:sp>
      <p:sp>
        <p:nvSpPr>
          <p:cNvPr id="3" name="Title 1">
            <a:extLst>
              <a:ext uri="{FF2B5EF4-FFF2-40B4-BE49-F238E27FC236}">
                <a16:creationId xmlns:a16="http://schemas.microsoft.com/office/drawing/2014/main" id="{B86AAC1A-B627-40D6-030E-835E01918959}"/>
              </a:ext>
            </a:extLst>
          </p:cNvPr>
          <p:cNvSpPr txBox="1">
            <a:spLocks/>
          </p:cNvSpPr>
          <p:nvPr/>
        </p:nvSpPr>
        <p:spPr>
          <a:xfrm>
            <a:off x="74815" y="1321401"/>
            <a:ext cx="10515600" cy="904937"/>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a:latin typeface="Comic Sans MS" panose="030F0702030302020204" pitchFamily="66" charset="0"/>
              </a:rPr>
              <a:t>TB Cases Diagnosed vs CHP Contribution and Performance, Jan 2023 - Jun 2025</a:t>
            </a:r>
            <a:endParaRPr lang="en-US" sz="2800" b="1" dirty="0">
              <a:latin typeface="Comic Sans MS" panose="030F0702030302020204" pitchFamily="66" charset="0"/>
            </a:endParaRPr>
          </a:p>
        </p:txBody>
      </p:sp>
      <p:graphicFrame>
        <p:nvGraphicFramePr>
          <p:cNvPr id="4" name="Content Placeholder 3">
            <a:extLst>
              <a:ext uri="{FF2B5EF4-FFF2-40B4-BE49-F238E27FC236}">
                <a16:creationId xmlns:a16="http://schemas.microsoft.com/office/drawing/2014/main" id="{0D5A2A25-697C-B267-DD9F-C54B39E35ACE}"/>
              </a:ext>
            </a:extLst>
          </p:cNvPr>
          <p:cNvGraphicFramePr>
            <a:graphicFrameLocks/>
          </p:cNvGraphicFramePr>
          <p:nvPr>
            <p:extLst/>
          </p:nvPr>
        </p:nvGraphicFramePr>
        <p:xfrm>
          <a:off x="1607457" y="2275508"/>
          <a:ext cx="8392886" cy="333216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103613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99F96-32E9-B356-455D-8986180D1AD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610F7CF-640D-94BA-D659-329DB3151A27}"/>
              </a:ext>
            </a:extLst>
          </p:cNvPr>
          <p:cNvSpPr txBox="1"/>
          <p:nvPr/>
        </p:nvSpPr>
        <p:spPr>
          <a:xfrm>
            <a:off x="74815" y="299258"/>
            <a:ext cx="7489767" cy="646331"/>
          </a:xfrm>
          <a:prstGeom prst="rect">
            <a:avLst/>
          </a:prstGeom>
          <a:noFill/>
        </p:spPr>
        <p:txBody>
          <a:bodyPr wrap="square" rtlCol="0">
            <a:spAutoFit/>
          </a:bodyPr>
          <a:lstStyle/>
          <a:p>
            <a:r>
              <a:rPr lang="en-US" sz="3600" dirty="0">
                <a:solidFill>
                  <a:schemeClr val="bg1"/>
                </a:solidFill>
              </a:rPr>
              <a:t>Kenya </a:t>
            </a:r>
            <a:r>
              <a:rPr lang="en-US" sz="3600" dirty="0">
                <a:solidFill>
                  <a:schemeClr val="bg1"/>
                </a:solidFill>
              </a:rPr>
              <a:t>PHC for TB Situation</a:t>
            </a:r>
            <a:endParaRPr lang="en-US" sz="3600" dirty="0">
              <a:solidFill>
                <a:schemeClr val="bg1"/>
              </a:solidFill>
            </a:endParaRPr>
          </a:p>
        </p:txBody>
      </p:sp>
      <p:sp>
        <p:nvSpPr>
          <p:cNvPr id="5" name="TextBox 4">
            <a:extLst>
              <a:ext uri="{FF2B5EF4-FFF2-40B4-BE49-F238E27FC236}">
                <a16:creationId xmlns:a16="http://schemas.microsoft.com/office/drawing/2014/main" id="{88073D8A-1BF5-FD6D-DFC0-6C9E0ECE80BF}"/>
              </a:ext>
            </a:extLst>
          </p:cNvPr>
          <p:cNvSpPr txBox="1"/>
          <p:nvPr/>
        </p:nvSpPr>
        <p:spPr>
          <a:xfrm>
            <a:off x="540327" y="1272231"/>
            <a:ext cx="11296768" cy="954107"/>
          </a:xfrm>
          <a:prstGeom prst="rect">
            <a:avLst/>
          </a:prstGeom>
          <a:noFill/>
        </p:spPr>
        <p:txBody>
          <a:bodyPr wrap="square" rtlCol="0">
            <a:spAutoFit/>
          </a:bodyPr>
          <a:lstStyle/>
          <a:p>
            <a:pPr marL="457200" indent="-457200">
              <a:buFont typeface="Arial" panose="020B0604020202020204" pitchFamily="34" charset="0"/>
              <a:buChar char="•"/>
            </a:pPr>
            <a:endParaRPr lang="en-US" sz="2800" dirty="0"/>
          </a:p>
          <a:p>
            <a:pPr marL="285750" indent="-285750" algn="just">
              <a:buFont typeface="Arial" panose="020B0604020202020204" pitchFamily="34" charset="0"/>
              <a:buChar char="•"/>
            </a:pPr>
            <a:endParaRPr lang="en-US" sz="2800" dirty="0">
              <a:solidFill>
                <a:srgbClr val="002060"/>
              </a:solidFill>
            </a:endParaRPr>
          </a:p>
        </p:txBody>
      </p:sp>
      <p:sp>
        <p:nvSpPr>
          <p:cNvPr id="8" name="Title 1">
            <a:extLst>
              <a:ext uri="{FF2B5EF4-FFF2-40B4-BE49-F238E27FC236}">
                <a16:creationId xmlns:a16="http://schemas.microsoft.com/office/drawing/2014/main" id="{845FC585-699F-9F28-8420-273F59C5FD38}"/>
              </a:ext>
            </a:extLst>
          </p:cNvPr>
          <p:cNvSpPr txBox="1">
            <a:spLocks/>
          </p:cNvSpPr>
          <p:nvPr/>
        </p:nvSpPr>
        <p:spPr>
          <a:xfrm>
            <a:off x="74815" y="1306887"/>
            <a:ext cx="10515600" cy="904937"/>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a:latin typeface="Comic Sans MS" panose="030F0702030302020204" pitchFamily="66" charset="0"/>
              </a:rPr>
              <a:t>Number of TB Cases Diagnosed by KEPH Level, Jan 2023 - Jun 2025</a:t>
            </a:r>
            <a:endParaRPr lang="en-US" sz="2800" b="1" dirty="0">
              <a:latin typeface="Comic Sans MS" panose="030F0702030302020204" pitchFamily="66" charset="0"/>
            </a:endParaRPr>
          </a:p>
        </p:txBody>
      </p:sp>
      <p:graphicFrame>
        <p:nvGraphicFramePr>
          <p:cNvPr id="9" name="Content Placeholder 5">
            <a:extLst>
              <a:ext uri="{FF2B5EF4-FFF2-40B4-BE49-F238E27FC236}">
                <a16:creationId xmlns:a16="http://schemas.microsoft.com/office/drawing/2014/main" id="{B011A534-6F2C-9460-9A0D-F1223A640D50}"/>
              </a:ext>
            </a:extLst>
          </p:cNvPr>
          <p:cNvGraphicFramePr>
            <a:graphicFrameLocks/>
          </p:cNvGraphicFramePr>
          <p:nvPr>
            <p:extLst>
              <p:ext uri="{D42A27DB-BD31-4B8C-83A1-F6EECF244321}">
                <p14:modId xmlns:p14="http://schemas.microsoft.com/office/powerpoint/2010/main" val="3115569616"/>
              </p:ext>
            </p:extLst>
          </p:nvPr>
        </p:nvGraphicFramePr>
        <p:xfrm>
          <a:off x="1946384" y="1988457"/>
          <a:ext cx="9548931" cy="375410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715607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6218E-E7BF-CC06-5D52-69193B11395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B7E1364-E83D-F1F4-8374-0EF0D5348937}"/>
              </a:ext>
            </a:extLst>
          </p:cNvPr>
          <p:cNvSpPr txBox="1"/>
          <p:nvPr/>
        </p:nvSpPr>
        <p:spPr>
          <a:xfrm>
            <a:off x="74815" y="299258"/>
            <a:ext cx="7489767" cy="646331"/>
          </a:xfrm>
          <a:prstGeom prst="rect">
            <a:avLst/>
          </a:prstGeom>
          <a:noFill/>
        </p:spPr>
        <p:txBody>
          <a:bodyPr wrap="square" rtlCol="0">
            <a:spAutoFit/>
          </a:bodyPr>
          <a:lstStyle/>
          <a:p>
            <a:r>
              <a:rPr lang="en-US" sz="3600" dirty="0">
                <a:solidFill>
                  <a:schemeClr val="bg1"/>
                </a:solidFill>
              </a:rPr>
              <a:t>Kenya </a:t>
            </a:r>
            <a:r>
              <a:rPr lang="en-US" sz="3600" dirty="0">
                <a:solidFill>
                  <a:schemeClr val="bg1"/>
                </a:solidFill>
              </a:rPr>
              <a:t>PHC for TB Situation</a:t>
            </a:r>
            <a:endParaRPr lang="en-US" sz="3600" dirty="0">
              <a:solidFill>
                <a:schemeClr val="bg1"/>
              </a:solidFill>
            </a:endParaRPr>
          </a:p>
        </p:txBody>
      </p:sp>
      <p:sp>
        <p:nvSpPr>
          <p:cNvPr id="5" name="TextBox 4">
            <a:extLst>
              <a:ext uri="{FF2B5EF4-FFF2-40B4-BE49-F238E27FC236}">
                <a16:creationId xmlns:a16="http://schemas.microsoft.com/office/drawing/2014/main" id="{0DCF658C-8788-9490-A149-43E70D2CB238}"/>
              </a:ext>
            </a:extLst>
          </p:cNvPr>
          <p:cNvSpPr txBox="1"/>
          <p:nvPr/>
        </p:nvSpPr>
        <p:spPr>
          <a:xfrm>
            <a:off x="540327" y="1272231"/>
            <a:ext cx="11296768" cy="954107"/>
          </a:xfrm>
          <a:prstGeom prst="rect">
            <a:avLst/>
          </a:prstGeom>
          <a:noFill/>
        </p:spPr>
        <p:txBody>
          <a:bodyPr wrap="square" rtlCol="0">
            <a:spAutoFit/>
          </a:bodyPr>
          <a:lstStyle/>
          <a:p>
            <a:pPr marL="457200" indent="-457200">
              <a:buFont typeface="Arial" panose="020B0604020202020204" pitchFamily="34" charset="0"/>
              <a:buChar char="•"/>
            </a:pPr>
            <a:endParaRPr lang="en-US" sz="2800" dirty="0"/>
          </a:p>
          <a:p>
            <a:pPr marL="285750" indent="-285750" algn="just">
              <a:buFont typeface="Arial" panose="020B0604020202020204" pitchFamily="34" charset="0"/>
              <a:buChar char="•"/>
            </a:pPr>
            <a:endParaRPr lang="en-US" sz="2800" dirty="0">
              <a:solidFill>
                <a:srgbClr val="002060"/>
              </a:solidFill>
            </a:endParaRPr>
          </a:p>
        </p:txBody>
      </p:sp>
      <p:sp>
        <p:nvSpPr>
          <p:cNvPr id="8" name="Title 1">
            <a:extLst>
              <a:ext uri="{FF2B5EF4-FFF2-40B4-BE49-F238E27FC236}">
                <a16:creationId xmlns:a16="http://schemas.microsoft.com/office/drawing/2014/main" id="{1FF63097-F2BB-9131-24F8-B3F6DFD24FF2}"/>
              </a:ext>
            </a:extLst>
          </p:cNvPr>
          <p:cNvSpPr txBox="1">
            <a:spLocks/>
          </p:cNvSpPr>
          <p:nvPr/>
        </p:nvSpPr>
        <p:spPr>
          <a:xfrm>
            <a:off x="74815" y="1272231"/>
            <a:ext cx="10515600" cy="904937"/>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a:latin typeface="Comic Sans MS" panose="030F0702030302020204" pitchFamily="66" charset="0"/>
              </a:rPr>
              <a:t>Proportion of TB Cases Diagnosed by KEPH Level, Jan 2023 - Jun 2025</a:t>
            </a:r>
            <a:endParaRPr lang="en-US" sz="2800" b="1" dirty="0">
              <a:latin typeface="Comic Sans MS" panose="030F0702030302020204" pitchFamily="66" charset="0"/>
            </a:endParaRPr>
          </a:p>
        </p:txBody>
      </p:sp>
      <p:graphicFrame>
        <p:nvGraphicFramePr>
          <p:cNvPr id="9" name="Content Placeholder 4">
            <a:extLst>
              <a:ext uri="{FF2B5EF4-FFF2-40B4-BE49-F238E27FC236}">
                <a16:creationId xmlns:a16="http://schemas.microsoft.com/office/drawing/2014/main" id="{D4B3FBE3-880C-EE3E-A1A7-41F4804DB1B2}"/>
              </a:ext>
            </a:extLst>
          </p:cNvPr>
          <p:cNvGraphicFramePr>
            <a:graphicFrameLocks/>
          </p:cNvGraphicFramePr>
          <p:nvPr>
            <p:extLst>
              <p:ext uri="{D42A27DB-BD31-4B8C-83A1-F6EECF244321}">
                <p14:modId xmlns:p14="http://schemas.microsoft.com/office/powerpoint/2010/main" val="3632462992"/>
              </p:ext>
            </p:extLst>
          </p:nvPr>
        </p:nvGraphicFramePr>
        <p:xfrm>
          <a:off x="2312869" y="1915885"/>
          <a:ext cx="8900886" cy="384016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381416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66531"/>
            <a:ext cx="6841375" cy="830997"/>
          </a:xfrm>
          <a:prstGeom prst="rect">
            <a:avLst/>
          </a:prstGeom>
          <a:noFill/>
        </p:spPr>
        <p:txBody>
          <a:bodyPr wrap="square" rtlCol="0">
            <a:spAutoFit/>
          </a:bodyPr>
          <a:lstStyle/>
          <a:p>
            <a:r>
              <a:rPr lang="en-US" sz="2400" b="1" dirty="0">
                <a:solidFill>
                  <a:schemeClr val="bg1"/>
                </a:solidFill>
              </a:rPr>
              <a:t>Contribution of the Community in Active Case Finding and Treatment Follow up</a:t>
            </a:r>
          </a:p>
        </p:txBody>
      </p:sp>
      <p:graphicFrame>
        <p:nvGraphicFramePr>
          <p:cNvPr id="7" name="Content Placeholder 2">
            <a:extLst>
              <a:ext uri="{FF2B5EF4-FFF2-40B4-BE49-F238E27FC236}">
                <a16:creationId xmlns:a16="http://schemas.microsoft.com/office/drawing/2014/main" id="{3D35334E-5292-8E05-88E9-FE771BC2BDBB}"/>
              </a:ext>
            </a:extLst>
          </p:cNvPr>
          <p:cNvGraphicFramePr>
            <a:graphicFrameLocks/>
          </p:cNvGraphicFramePr>
          <p:nvPr/>
        </p:nvGraphicFramePr>
        <p:xfrm>
          <a:off x="0" y="1936864"/>
          <a:ext cx="10066713" cy="32918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Rectangle 7"/>
          <p:cNvSpPr/>
          <p:nvPr/>
        </p:nvSpPr>
        <p:spPr>
          <a:xfrm>
            <a:off x="681642" y="1263534"/>
            <a:ext cx="9983586" cy="67333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endParaRPr lang="en-US" sz="2000" kern="100" dirty="0">
              <a:solidFill>
                <a:srgbClr val="002060"/>
              </a:solidFill>
              <a:ea typeface="Aptos" panose="020B0004020202020204" pitchFamily="34" charset="0"/>
              <a:cs typeface="Calibri"/>
            </a:endParaRPr>
          </a:p>
          <a:p>
            <a:pPr marL="285750" indent="-285750" algn="just">
              <a:buFont typeface="Arial" panose="020B0604020202020204" pitchFamily="34" charset="0"/>
              <a:buChar char="•"/>
            </a:pPr>
            <a:endParaRPr lang="en-US" sz="2000" kern="100" dirty="0">
              <a:solidFill>
                <a:srgbClr val="002060"/>
              </a:solidFill>
              <a:ea typeface="Aptos" panose="020B0004020202020204" pitchFamily="34" charset="0"/>
              <a:cs typeface="Calibri"/>
            </a:endParaRPr>
          </a:p>
          <a:p>
            <a:pPr marL="285750" indent="-285750" algn="just">
              <a:buFont typeface="Arial" panose="020B0604020202020204" pitchFamily="34" charset="0"/>
              <a:buChar char="•"/>
            </a:pPr>
            <a:r>
              <a:rPr lang="en-US" sz="2000" kern="100" dirty="0">
                <a:solidFill>
                  <a:srgbClr val="002060"/>
                </a:solidFill>
                <a:ea typeface="Aptos" panose="020B0004020202020204" pitchFamily="34" charset="0"/>
                <a:cs typeface="Calibri"/>
              </a:rPr>
              <a:t>NSP: I</a:t>
            </a:r>
            <a:r>
              <a:rPr lang="en-KE" sz="2000" kern="100" dirty="0">
                <a:solidFill>
                  <a:srgbClr val="002060"/>
                </a:solidFill>
                <a:ea typeface="Aptos" panose="020B0004020202020204" pitchFamily="34" charset="0"/>
                <a:cs typeface="Calibri"/>
              </a:rPr>
              <a:t>ncreas</a:t>
            </a:r>
            <a:r>
              <a:rPr lang="en-US" sz="2000" kern="100" dirty="0">
                <a:solidFill>
                  <a:srgbClr val="002060"/>
                </a:solidFill>
                <a:ea typeface="Aptos" panose="020B0004020202020204" pitchFamily="34" charset="0"/>
                <a:cs typeface="Calibri"/>
              </a:rPr>
              <a:t>e</a:t>
            </a:r>
            <a:r>
              <a:rPr lang="en-KE" sz="2000" kern="100" dirty="0">
                <a:solidFill>
                  <a:srgbClr val="002060"/>
                </a:solidFill>
                <a:ea typeface="Aptos" panose="020B0004020202020204" pitchFamily="34" charset="0"/>
                <a:cs typeface="Calibri"/>
              </a:rPr>
              <a:t> community TB case finding and notification </a:t>
            </a:r>
            <a:r>
              <a:rPr lang="en-US" sz="2000" kern="100" dirty="0">
                <a:solidFill>
                  <a:srgbClr val="002060"/>
                </a:solidFill>
                <a:ea typeface="Aptos" panose="020B0004020202020204" pitchFamily="34" charset="0"/>
                <a:cs typeface="Calibri"/>
              </a:rPr>
              <a:t>from 11% in 2022 </a:t>
            </a:r>
            <a:r>
              <a:rPr lang="en-KE" sz="2000" kern="100" dirty="0">
                <a:solidFill>
                  <a:srgbClr val="002060"/>
                </a:solidFill>
                <a:ea typeface="Aptos" panose="020B0004020202020204" pitchFamily="34" charset="0"/>
                <a:cs typeface="Calibri"/>
              </a:rPr>
              <a:t>to 30% by 2028</a:t>
            </a:r>
            <a:endParaRPr lang="en-US" sz="2000" kern="100" dirty="0">
              <a:solidFill>
                <a:srgbClr val="002060"/>
              </a:solidFill>
              <a:ea typeface="Aptos" panose="020B0004020202020204" pitchFamily="34" charset="0"/>
              <a:cs typeface="Calibri"/>
            </a:endParaRPr>
          </a:p>
          <a:p>
            <a:pPr marL="285750" indent="-285750" algn="just">
              <a:buFont typeface="Arial" panose="020B0604020202020204" pitchFamily="34" charset="0"/>
              <a:buChar char="•"/>
            </a:pPr>
            <a:r>
              <a:rPr lang="en-US" sz="2000" kern="100" dirty="0">
                <a:solidFill>
                  <a:srgbClr val="002060"/>
                </a:solidFill>
                <a:ea typeface="Aptos" panose="020B0004020202020204" pitchFamily="34" charset="0"/>
                <a:cs typeface="Calibri"/>
              </a:rPr>
              <a:t>End of June 2025 community contribution (CHPs, Contact Invitation and Outreaches at 18%</a:t>
            </a:r>
          </a:p>
          <a:p>
            <a:pPr algn="just"/>
            <a:r>
              <a:rPr lang="en-KE" sz="2000" kern="100" dirty="0">
                <a:solidFill>
                  <a:srgbClr val="002060"/>
                </a:solidFill>
                <a:ea typeface="Aptos" panose="020B0004020202020204" pitchFamily="34" charset="0"/>
                <a:cs typeface="Calibri"/>
              </a:rPr>
              <a:t> </a:t>
            </a:r>
            <a:endParaRPr lang="en-US" sz="2000" kern="100" dirty="0">
              <a:solidFill>
                <a:srgbClr val="002060"/>
              </a:solidFill>
              <a:ea typeface="Aptos" panose="020B0004020202020204" pitchFamily="34" charset="0"/>
              <a:cs typeface="Calibri"/>
            </a:endParaRPr>
          </a:p>
          <a:p>
            <a:endParaRPr lang="en-US" sz="2000" dirty="0"/>
          </a:p>
        </p:txBody>
      </p:sp>
      <p:sp>
        <p:nvSpPr>
          <p:cNvPr id="9" name="Rectangle 8"/>
          <p:cNvSpPr/>
          <p:nvPr/>
        </p:nvSpPr>
        <p:spPr>
          <a:xfrm>
            <a:off x="681642" y="5228705"/>
            <a:ext cx="9983586" cy="631767"/>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rPr>
              <a:t>Counties support Community Health Actors to do household sputum collection and transportation</a:t>
            </a:r>
          </a:p>
        </p:txBody>
      </p:sp>
      <p:sp>
        <p:nvSpPr>
          <p:cNvPr id="11" name="Rectangle 10"/>
          <p:cNvSpPr/>
          <p:nvPr/>
        </p:nvSpPr>
        <p:spPr>
          <a:xfrm>
            <a:off x="10158153" y="1936864"/>
            <a:ext cx="1953491" cy="3291841"/>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solidFill>
                  <a:srgbClr val="002060"/>
                </a:solidFill>
              </a:rPr>
              <a:t>Sputum collection and Transportation</a:t>
            </a:r>
          </a:p>
          <a:p>
            <a:pPr marL="285750" indent="-285750">
              <a:buFont typeface="Arial" panose="020B0604020202020204" pitchFamily="34" charset="0"/>
              <a:buChar char="•"/>
            </a:pPr>
            <a:r>
              <a:rPr lang="en-US" dirty="0">
                <a:solidFill>
                  <a:srgbClr val="002060"/>
                </a:solidFill>
              </a:rPr>
              <a:t>Treatment adherence support</a:t>
            </a:r>
          </a:p>
          <a:p>
            <a:pPr marL="285750" indent="-285750">
              <a:buFont typeface="Arial" panose="020B0604020202020204" pitchFamily="34" charset="0"/>
              <a:buChar char="•"/>
            </a:pPr>
            <a:r>
              <a:rPr lang="en-US" dirty="0">
                <a:solidFill>
                  <a:srgbClr val="002060"/>
                </a:solidFill>
              </a:rPr>
              <a:t>TPT follow up</a:t>
            </a:r>
          </a:p>
          <a:p>
            <a:pPr marL="285750" indent="-285750">
              <a:buFont typeface="Arial" panose="020B0604020202020204" pitchFamily="34" charset="0"/>
              <a:buChar char="•"/>
            </a:pPr>
            <a:r>
              <a:rPr lang="en-US" dirty="0">
                <a:solidFill>
                  <a:srgbClr val="002060"/>
                </a:solidFill>
              </a:rPr>
              <a:t>Treatment Interrupters follow up</a:t>
            </a:r>
          </a:p>
        </p:txBody>
      </p:sp>
    </p:spTree>
    <p:extLst>
      <p:ext uri="{BB962C8B-B14F-4D97-AF65-F5344CB8AC3E}">
        <p14:creationId xmlns:p14="http://schemas.microsoft.com/office/powerpoint/2010/main" val="3876152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7819" y="382385"/>
            <a:ext cx="7888778" cy="523220"/>
          </a:xfrm>
          <a:prstGeom prst="rect">
            <a:avLst/>
          </a:prstGeom>
          <a:noFill/>
        </p:spPr>
        <p:txBody>
          <a:bodyPr wrap="square" rtlCol="0">
            <a:spAutoFit/>
          </a:bodyPr>
          <a:lstStyle/>
          <a:p>
            <a:r>
              <a:rPr lang="en-US" sz="2800" b="1" dirty="0">
                <a:solidFill>
                  <a:schemeClr val="bg1"/>
                </a:solidFill>
              </a:rPr>
              <a:t>Utilization of Digital Systems (eCHIS) TB Screening</a:t>
            </a:r>
          </a:p>
        </p:txBody>
      </p:sp>
      <p:sp>
        <p:nvSpPr>
          <p:cNvPr id="6" name="Rectangle 5"/>
          <p:cNvSpPr/>
          <p:nvPr/>
        </p:nvSpPr>
        <p:spPr>
          <a:xfrm>
            <a:off x="207819" y="1419120"/>
            <a:ext cx="5727469" cy="304747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endParaRPr lang="en-US" sz="2400" dirty="0">
              <a:solidFill>
                <a:srgbClr val="002060"/>
              </a:solidFill>
            </a:endParaRPr>
          </a:p>
          <a:p>
            <a:pPr algn="just"/>
            <a:endParaRPr lang="en-US" sz="2400" dirty="0">
              <a:solidFill>
                <a:srgbClr val="002060"/>
              </a:solidFill>
            </a:endParaRPr>
          </a:p>
          <a:p>
            <a:pPr algn="just"/>
            <a:r>
              <a:rPr lang="en-US" sz="2400" b="1" dirty="0">
                <a:solidFill>
                  <a:srgbClr val="002060"/>
                </a:solidFill>
              </a:rPr>
              <a:t>Benefits of eCHIS</a:t>
            </a:r>
          </a:p>
          <a:p>
            <a:pPr marL="285750" indent="-285750" algn="just">
              <a:buFont typeface="Arial" panose="020B0604020202020204" pitchFamily="34" charset="0"/>
              <a:buChar char="•"/>
            </a:pPr>
            <a:r>
              <a:rPr lang="en-US" sz="2400" dirty="0">
                <a:solidFill>
                  <a:srgbClr val="002060"/>
                </a:solidFill>
              </a:rPr>
              <a:t>TB symptoms screening questions</a:t>
            </a:r>
          </a:p>
          <a:p>
            <a:pPr marL="285750" indent="-285750" algn="just">
              <a:buFont typeface="Arial" panose="020B0604020202020204" pitchFamily="34" charset="0"/>
              <a:buChar char="•"/>
            </a:pPr>
            <a:r>
              <a:rPr lang="en-US" sz="2400" dirty="0">
                <a:solidFill>
                  <a:srgbClr val="002060"/>
                </a:solidFill>
              </a:rPr>
              <a:t>Generates referrals to facilities and tracks completion of symptomatic households</a:t>
            </a:r>
          </a:p>
          <a:p>
            <a:pPr marL="285750" indent="-285750" algn="just">
              <a:buFont typeface="Arial" panose="020B0604020202020204" pitchFamily="34" charset="0"/>
              <a:buChar char="•"/>
            </a:pPr>
            <a:r>
              <a:rPr lang="en-US" sz="2400" dirty="0">
                <a:solidFill>
                  <a:srgbClr val="002060"/>
                </a:solidFill>
              </a:rPr>
              <a:t>Real time data reporting that can improve surveillance, early identification of hotspots and support decision making at sub county and count levels</a:t>
            </a:r>
          </a:p>
          <a:p>
            <a:pPr marL="285750" indent="-285750" algn="just">
              <a:buFont typeface="Arial" panose="020B0604020202020204" pitchFamily="34" charset="0"/>
              <a:buChar char="•"/>
            </a:pPr>
            <a:endParaRPr lang="en-US" sz="2400" dirty="0">
              <a:solidFill>
                <a:srgbClr val="002060"/>
              </a:solidFill>
            </a:endParaRPr>
          </a:p>
          <a:p>
            <a:pPr marL="285750" indent="-285750" algn="just">
              <a:buFont typeface="Arial" panose="020B0604020202020204" pitchFamily="34" charset="0"/>
              <a:buChar char="•"/>
            </a:pPr>
            <a:endParaRPr lang="en-US" sz="2400" dirty="0">
              <a:solidFill>
                <a:srgbClr val="002060"/>
              </a:solidFill>
            </a:endParaRPr>
          </a:p>
        </p:txBody>
      </p:sp>
      <p:sp>
        <p:nvSpPr>
          <p:cNvPr id="9" name="Rectangle 8"/>
          <p:cNvSpPr/>
          <p:nvPr/>
        </p:nvSpPr>
        <p:spPr>
          <a:xfrm>
            <a:off x="6373094" y="1372297"/>
            <a:ext cx="4984865" cy="304747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400" b="1" dirty="0">
                <a:solidFill>
                  <a:srgbClr val="002060"/>
                </a:solidFill>
              </a:rPr>
              <a:t>eCHIS Challenges</a:t>
            </a:r>
          </a:p>
          <a:p>
            <a:pPr marL="285750" indent="-285750" algn="just">
              <a:buFont typeface="Arial" panose="020B0604020202020204" pitchFamily="34" charset="0"/>
              <a:buChar char="•"/>
            </a:pPr>
            <a:r>
              <a:rPr lang="en-US" sz="2400" dirty="0">
                <a:solidFill>
                  <a:srgbClr val="002060"/>
                </a:solidFill>
              </a:rPr>
              <a:t>Poor understanding of the TB indicators </a:t>
            </a:r>
          </a:p>
          <a:p>
            <a:pPr marL="285750" indent="-285750" algn="just">
              <a:buFont typeface="Arial" panose="020B0604020202020204" pitchFamily="34" charset="0"/>
              <a:buChar char="•"/>
            </a:pPr>
            <a:r>
              <a:rPr lang="en-US" sz="2400" dirty="0">
                <a:solidFill>
                  <a:srgbClr val="002060"/>
                </a:solidFill>
              </a:rPr>
              <a:t>Limits CHPs to households</a:t>
            </a:r>
          </a:p>
          <a:p>
            <a:pPr marL="285750" indent="-285750" algn="just">
              <a:buFont typeface="Arial" panose="020B0604020202020204" pitchFamily="34" charset="0"/>
              <a:buChar char="•"/>
            </a:pPr>
            <a:r>
              <a:rPr lang="en-US" sz="2400" dirty="0">
                <a:solidFill>
                  <a:srgbClr val="002060"/>
                </a:solidFill>
              </a:rPr>
              <a:t>System downtimes</a:t>
            </a:r>
          </a:p>
          <a:p>
            <a:pPr marL="285750" indent="-285750" algn="just">
              <a:buFont typeface="Arial" panose="020B0604020202020204" pitchFamily="34" charset="0"/>
              <a:buChar char="•"/>
            </a:pPr>
            <a:r>
              <a:rPr lang="en-US" sz="2400" dirty="0">
                <a:solidFill>
                  <a:srgbClr val="002060"/>
                </a:solidFill>
              </a:rPr>
              <a:t>Network challenges</a:t>
            </a:r>
          </a:p>
          <a:p>
            <a:pPr marL="285750" indent="-285750" algn="just">
              <a:buFont typeface="Arial" panose="020B0604020202020204" pitchFamily="34" charset="0"/>
              <a:buChar char="•"/>
            </a:pPr>
            <a:r>
              <a:rPr lang="en-US" sz="2400" dirty="0">
                <a:solidFill>
                  <a:srgbClr val="002060"/>
                </a:solidFill>
              </a:rPr>
              <a:t>Faulty phones</a:t>
            </a:r>
          </a:p>
        </p:txBody>
      </p:sp>
    </p:spTree>
    <p:extLst>
      <p:ext uri="{BB962C8B-B14F-4D97-AF65-F5344CB8AC3E}">
        <p14:creationId xmlns:p14="http://schemas.microsoft.com/office/powerpoint/2010/main" val="34632611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A0AB0-75DB-E647-0C4D-C22F6334FFFE}"/>
              </a:ext>
            </a:extLst>
          </p:cNvPr>
          <p:cNvSpPr>
            <a:spLocks noGrp="1"/>
          </p:cNvSpPr>
          <p:nvPr>
            <p:ph type="title"/>
          </p:nvPr>
        </p:nvSpPr>
        <p:spPr>
          <a:xfrm>
            <a:off x="5596501" y="489508"/>
            <a:ext cx="5754896" cy="1667569"/>
          </a:xfrm>
        </p:spPr>
        <p:txBody>
          <a:bodyPr vert="horz" lIns="91440" tIns="45720" rIns="91440" bIns="45720" rtlCol="0" anchor="b">
            <a:normAutofit/>
          </a:bodyPr>
          <a:lstStyle/>
          <a:p>
            <a:r>
              <a:rPr lang="en-US" sz="4000" kern="1200">
                <a:solidFill>
                  <a:schemeClr val="tx1"/>
                </a:solidFill>
                <a:latin typeface="+mj-lt"/>
                <a:ea typeface="+mj-ea"/>
                <a:cs typeface="+mj-cs"/>
              </a:rPr>
              <a:t>TIBULite-POC PMS</a:t>
            </a:r>
          </a:p>
        </p:txBody>
      </p:sp>
      <p:pic>
        <p:nvPicPr>
          <p:cNvPr id="7" name="Content Placeholder 6" descr="A screenshot of a phone&#10;&#10;AI-generated content may be incorrect.">
            <a:extLst>
              <a:ext uri="{FF2B5EF4-FFF2-40B4-BE49-F238E27FC236}">
                <a16:creationId xmlns:a16="http://schemas.microsoft.com/office/drawing/2014/main" id="{138795F0-C8A5-F8C4-B864-74AA54BFFA7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973682" y="918640"/>
            <a:ext cx="2065061" cy="4589025"/>
          </a:xfrm>
          <a:prstGeom prst="rect">
            <a:avLst/>
          </a:prstGeom>
        </p:spPr>
      </p:pic>
      <p:sp>
        <p:nvSpPr>
          <p:cNvPr id="5" name="Content Placeholder 4">
            <a:extLst>
              <a:ext uri="{FF2B5EF4-FFF2-40B4-BE49-F238E27FC236}">
                <a16:creationId xmlns:a16="http://schemas.microsoft.com/office/drawing/2014/main" id="{1813B462-1A06-0369-F35A-D029ED25F52E}"/>
              </a:ext>
            </a:extLst>
          </p:cNvPr>
          <p:cNvSpPr>
            <a:spLocks noGrp="1"/>
          </p:cNvSpPr>
          <p:nvPr>
            <p:ph sz="half" idx="2"/>
          </p:nvPr>
        </p:nvSpPr>
        <p:spPr>
          <a:xfrm>
            <a:off x="5596502" y="2405894"/>
            <a:ext cx="5754896" cy="3197464"/>
          </a:xfrm>
        </p:spPr>
        <p:txBody>
          <a:bodyPr vert="horz" lIns="91440" tIns="45720" rIns="91440" bIns="45720" rtlCol="0" anchor="t">
            <a:normAutofit/>
          </a:bodyPr>
          <a:lstStyle/>
          <a:p>
            <a:pPr marL="0"/>
            <a:r>
              <a:rPr lang="en-US" sz="2000" dirty="0"/>
              <a:t>Nakuru County: </a:t>
            </a:r>
            <a:r>
              <a:rPr lang="en-US" sz="2000" dirty="0" err="1"/>
              <a:t>Tibulite</a:t>
            </a:r>
            <a:r>
              <a:rPr lang="en-US" sz="2000" dirty="0"/>
              <a:t> was piloted in 20 sites supported by </a:t>
            </a:r>
            <a:r>
              <a:rPr lang="en-US" sz="2000" dirty="0" err="1" smtClean="0"/>
              <a:t>Amref</a:t>
            </a:r>
            <a:endParaRPr lang="en-US" sz="2000" dirty="0"/>
          </a:p>
          <a:p>
            <a:pPr marL="0"/>
            <a:r>
              <a:rPr lang="en-US" sz="2000" dirty="0"/>
              <a:t>Nakuru county: 38 sites supported by CHS through </a:t>
            </a:r>
            <a:r>
              <a:rPr lang="en-US" sz="2000" dirty="0" err="1"/>
              <a:t>Tamatisha</a:t>
            </a:r>
            <a:r>
              <a:rPr lang="en-US" sz="2000" dirty="0"/>
              <a:t> TB</a:t>
            </a:r>
          </a:p>
          <a:p>
            <a:pPr marL="0"/>
            <a:r>
              <a:rPr lang="en-US" sz="2000" dirty="0"/>
              <a:t>Kirinyaga county: 55 sites supported by  CHS through </a:t>
            </a:r>
            <a:r>
              <a:rPr lang="en-US" sz="2000" dirty="0" err="1"/>
              <a:t>Tamatisha</a:t>
            </a:r>
            <a:r>
              <a:rPr lang="en-US" sz="2000" dirty="0"/>
              <a:t> TB</a:t>
            </a:r>
          </a:p>
          <a:p>
            <a:pPr marL="0"/>
            <a:endParaRPr lang="en-US" sz="2000" dirty="0"/>
          </a:p>
        </p:txBody>
      </p:sp>
    </p:spTree>
    <p:extLst>
      <p:ext uri="{BB962C8B-B14F-4D97-AF65-F5344CB8AC3E}">
        <p14:creationId xmlns:p14="http://schemas.microsoft.com/office/powerpoint/2010/main" val="39304908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815" y="299258"/>
            <a:ext cx="7489767" cy="646331"/>
          </a:xfrm>
          <a:prstGeom prst="rect">
            <a:avLst/>
          </a:prstGeom>
          <a:noFill/>
        </p:spPr>
        <p:txBody>
          <a:bodyPr wrap="square" rtlCol="0">
            <a:spAutoFit/>
          </a:bodyPr>
          <a:lstStyle/>
          <a:p>
            <a:r>
              <a:rPr lang="en-US" sz="3600" b="1" dirty="0">
                <a:solidFill>
                  <a:schemeClr val="bg1"/>
                </a:solidFill>
              </a:rPr>
              <a:t>Conclusion</a:t>
            </a:r>
          </a:p>
        </p:txBody>
      </p:sp>
      <p:sp>
        <p:nvSpPr>
          <p:cNvPr id="5" name="TextBox 4"/>
          <p:cNvSpPr txBox="1"/>
          <p:nvPr/>
        </p:nvSpPr>
        <p:spPr>
          <a:xfrm>
            <a:off x="0" y="1160115"/>
            <a:ext cx="12117185" cy="5509200"/>
          </a:xfrm>
          <a:prstGeom prst="rect">
            <a:avLst/>
          </a:prstGeom>
          <a:noFill/>
        </p:spPr>
        <p:txBody>
          <a:bodyPr wrap="square" rtlCol="0">
            <a:spAutoFit/>
          </a:bodyPr>
          <a:lstStyle/>
          <a:p>
            <a:pPr marL="457200" indent="-457200">
              <a:buFont typeface="Arial" panose="020B0604020202020204" pitchFamily="34" charset="0"/>
              <a:buChar char="•"/>
            </a:pPr>
            <a:r>
              <a:rPr lang="en-US" sz="2400" dirty="0"/>
              <a:t>To achieve health-related SDGs, including ending TB, and sustain these gains amid complex demands on health systems, optimizing resources is essential. </a:t>
            </a:r>
          </a:p>
          <a:p>
            <a:pPr marL="457200" indent="-457200">
              <a:buFont typeface="Arial" panose="020B0604020202020204" pitchFamily="34" charset="0"/>
              <a:buChar char="•"/>
            </a:pPr>
            <a:r>
              <a:rPr lang="en-US" sz="2400" dirty="0"/>
              <a:t>Scaling up high-quality, people-</a:t>
            </a:r>
            <a:r>
              <a:rPr lang="en-US" sz="2400" dirty="0" err="1"/>
              <a:t>centred</a:t>
            </a:r>
            <a:r>
              <a:rPr lang="en-US" sz="2400" dirty="0"/>
              <a:t> services through a PHC approach is crucial for meeting both disease-specific and broader health goals. </a:t>
            </a:r>
          </a:p>
          <a:p>
            <a:pPr marL="457200" indent="-457200">
              <a:buFont typeface="Arial" panose="020B0604020202020204" pitchFamily="34" charset="0"/>
              <a:buChar char="•"/>
            </a:pPr>
            <a:r>
              <a:rPr lang="en-US" sz="2400" dirty="0"/>
              <a:t>All populations must access health services and benefit from resources free from stigma and discrimination.</a:t>
            </a:r>
          </a:p>
          <a:p>
            <a:pPr marL="342900" indent="-342900">
              <a:buFont typeface="Arial" panose="020B0604020202020204" pitchFamily="34" charset="0"/>
              <a:buChar char="•"/>
            </a:pPr>
            <a:r>
              <a:rPr lang="en-US" sz="2400" dirty="0"/>
              <a:t>Conducting an analysis of the policy environment at the country level is a crucial first step towards identifying entry points to develop a pathway for aligning the TB response with the PHC approach. </a:t>
            </a:r>
          </a:p>
          <a:p>
            <a:pPr marL="342900" indent="-342900">
              <a:buFont typeface="Arial" panose="020B0604020202020204" pitchFamily="34" charset="0"/>
              <a:buChar char="•"/>
            </a:pPr>
            <a:r>
              <a:rPr lang="en-US" sz="2400" dirty="0"/>
              <a:t>A sustainable system that ensures a PHC approach to TB will require continued advocacy and adaptation. </a:t>
            </a:r>
            <a:endParaRPr lang="en-US" sz="2400" dirty="0" smtClean="0"/>
          </a:p>
          <a:p>
            <a:pPr marL="342900" indent="-342900">
              <a:buFont typeface="Arial" panose="020B0604020202020204" pitchFamily="34" charset="0"/>
              <a:buChar char="•"/>
            </a:pPr>
            <a:r>
              <a:rPr lang="en-US" sz="2400" dirty="0" smtClean="0"/>
              <a:t>Coordinated </a:t>
            </a:r>
            <a:r>
              <a:rPr lang="en-US" sz="2400" dirty="0"/>
              <a:t>planning for system development </a:t>
            </a:r>
            <a:r>
              <a:rPr lang="en-US" sz="2400" dirty="0" smtClean="0"/>
              <a:t>will address </a:t>
            </a:r>
            <a:r>
              <a:rPr lang="en-US" sz="2400" dirty="0"/>
              <a:t>multiple health issues </a:t>
            </a:r>
            <a:r>
              <a:rPr lang="en-US" sz="2400" dirty="0" smtClean="0"/>
              <a:t> at the same time, </a:t>
            </a:r>
            <a:r>
              <a:rPr lang="en-US" sz="2400" dirty="0"/>
              <a:t>while also helping to achieve the targets for specific diseases, </a:t>
            </a:r>
            <a:r>
              <a:rPr lang="en-US" sz="2400" dirty="0" smtClean="0"/>
              <a:t>like for </a:t>
            </a:r>
            <a:r>
              <a:rPr lang="en-US" sz="2400" dirty="0"/>
              <a:t>TB.</a:t>
            </a:r>
          </a:p>
          <a:p>
            <a:pPr marL="457200" indent="-457200">
              <a:buFont typeface="Arial" panose="020B0604020202020204" pitchFamily="34" charset="0"/>
              <a:buChar char="•"/>
            </a:pPr>
            <a:endParaRPr lang="en-US" sz="2000" dirty="0"/>
          </a:p>
          <a:p>
            <a:pPr marL="285750" indent="-285750" algn="just">
              <a:buFont typeface="Arial" panose="020B0604020202020204" pitchFamily="34" charset="0"/>
              <a:buChar char="•"/>
            </a:pPr>
            <a:endParaRPr lang="en-US" sz="2000" dirty="0">
              <a:solidFill>
                <a:srgbClr val="002060"/>
              </a:solidFill>
            </a:endParaRPr>
          </a:p>
        </p:txBody>
      </p:sp>
    </p:spTree>
    <p:extLst>
      <p:ext uri="{BB962C8B-B14F-4D97-AF65-F5344CB8AC3E}">
        <p14:creationId xmlns:p14="http://schemas.microsoft.com/office/powerpoint/2010/main" val="27181705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032435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11516</TotalTime>
  <Words>2162</Words>
  <Application>Microsoft Office PowerPoint</Application>
  <PresentationFormat>Widescreen</PresentationFormat>
  <Paragraphs>272</Paragraphs>
  <Slides>33</Slides>
  <Notes>3</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33</vt:i4>
      </vt:variant>
    </vt:vector>
  </HeadingPairs>
  <TitlesOfParts>
    <vt:vector size="47" baseType="lpstr">
      <vt:lpstr>Adobe Garamond Pro</vt:lpstr>
      <vt:lpstr>Aptos</vt:lpstr>
      <vt:lpstr>Arial</vt:lpstr>
      <vt:lpstr>Calibri</vt:lpstr>
      <vt:lpstr>Calibri Light</vt:lpstr>
      <vt:lpstr>Comic Sans MS</vt:lpstr>
      <vt:lpstr>CorisandeBold</vt:lpstr>
      <vt:lpstr>Rockwell</vt:lpstr>
      <vt:lpstr>Segoe Sans</vt:lpstr>
      <vt:lpstr>Titillium</vt:lpstr>
      <vt:lpstr>Wingdings</vt:lpstr>
      <vt:lpstr>Office Theme</vt:lpstr>
      <vt:lpstr>2_Office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TIBULite-POC PMS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Boaz Ouma</dc:creator>
  <cp:lastModifiedBy>Clarice Ambale</cp:lastModifiedBy>
  <cp:revision>135</cp:revision>
  <dcterms:created xsi:type="dcterms:W3CDTF">2024-08-15T13:48:28Z</dcterms:created>
  <dcterms:modified xsi:type="dcterms:W3CDTF">2025-09-28T17:15:33Z</dcterms:modified>
</cp:coreProperties>
</file>