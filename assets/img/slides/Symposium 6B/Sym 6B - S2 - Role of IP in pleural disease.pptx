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5" r:id="rId10"/>
    <p:sldId id="266" r:id="rId11"/>
    <p:sldId id="268" r:id="rId12"/>
    <p:sldId id="269" r:id="rId13"/>
    <p:sldId id="278" r:id="rId14"/>
    <p:sldId id="279" r:id="rId15"/>
    <p:sldId id="270" r:id="rId16"/>
    <p:sldId id="272" r:id="rId17"/>
    <p:sldId id="275" r:id="rId18"/>
    <p:sldId id="277" r:id="rId19"/>
    <p:sldId id="276" r:id="rId20"/>
    <p:sldId id="273" r:id="rId21"/>
    <p:sldId id="274" r:id="rId22"/>
    <p:sldId id="280" r:id="rId23"/>
    <p:sldId id="282" r:id="rId24"/>
    <p:sldId id="281" r:id="rId25"/>
    <p:sldId id="284" r:id="rId26"/>
    <p:sldId id="285" r:id="rId27"/>
    <p:sldId id="286"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4" d="100"/>
          <a:sy n="74" d="100"/>
        </p:scale>
        <p:origin x="1013"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64B2EEB-DE52-47A8-A1DA-4434F2D2A24B}" type="datetimeFigureOut">
              <a:rPr lang="en-KE" smtClean="0"/>
              <a:t>27/09/2025</a:t>
            </a:fld>
            <a:endParaRPr lang="en-KE"/>
          </a:p>
        </p:txBody>
      </p:sp>
      <p:sp>
        <p:nvSpPr>
          <p:cNvPr id="5" name="Footer Placeholder 4"/>
          <p:cNvSpPr>
            <a:spLocks noGrp="1"/>
          </p:cNvSpPr>
          <p:nvPr>
            <p:ph type="ftr" sz="quarter" idx="11"/>
          </p:nvPr>
        </p:nvSpPr>
        <p:spPr/>
        <p:txBody>
          <a:bodyPr/>
          <a:lstStyle/>
          <a:p>
            <a:endParaRPr lang="en-KE"/>
          </a:p>
        </p:txBody>
      </p:sp>
      <p:sp>
        <p:nvSpPr>
          <p:cNvPr id="6" name="Slide Number Placeholder 5"/>
          <p:cNvSpPr>
            <a:spLocks noGrp="1"/>
          </p:cNvSpPr>
          <p:nvPr>
            <p:ph type="sldNum" sz="quarter" idx="12"/>
          </p:nvPr>
        </p:nvSpPr>
        <p:spPr/>
        <p:txBody>
          <a:bodyPr/>
          <a:lstStyle/>
          <a:p>
            <a:fld id="{1B6DDEF6-FC6D-4733-89CD-27A0ADACE177}" type="slidenum">
              <a:rPr lang="en-KE" smtClean="0"/>
              <a:t>‹#›</a:t>
            </a:fld>
            <a:endParaRPr lang="en-KE"/>
          </a:p>
        </p:txBody>
      </p:sp>
    </p:spTree>
    <p:extLst>
      <p:ext uri="{BB962C8B-B14F-4D97-AF65-F5344CB8AC3E}">
        <p14:creationId xmlns:p14="http://schemas.microsoft.com/office/powerpoint/2010/main" val="39691650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64B2EEB-DE52-47A8-A1DA-4434F2D2A24B}" type="datetimeFigureOut">
              <a:rPr lang="en-KE" smtClean="0"/>
              <a:t>27/09/2025</a:t>
            </a:fld>
            <a:endParaRPr lang="en-KE"/>
          </a:p>
        </p:txBody>
      </p:sp>
      <p:sp>
        <p:nvSpPr>
          <p:cNvPr id="5" name="Footer Placeholder 4"/>
          <p:cNvSpPr>
            <a:spLocks noGrp="1"/>
          </p:cNvSpPr>
          <p:nvPr>
            <p:ph type="ftr" sz="quarter" idx="11"/>
          </p:nvPr>
        </p:nvSpPr>
        <p:spPr/>
        <p:txBody>
          <a:bodyPr/>
          <a:lstStyle/>
          <a:p>
            <a:endParaRPr lang="en-KE"/>
          </a:p>
        </p:txBody>
      </p:sp>
      <p:sp>
        <p:nvSpPr>
          <p:cNvPr id="6" name="Slide Number Placeholder 5"/>
          <p:cNvSpPr>
            <a:spLocks noGrp="1"/>
          </p:cNvSpPr>
          <p:nvPr>
            <p:ph type="sldNum" sz="quarter" idx="12"/>
          </p:nvPr>
        </p:nvSpPr>
        <p:spPr/>
        <p:txBody>
          <a:bodyPr/>
          <a:lstStyle/>
          <a:p>
            <a:fld id="{1B6DDEF6-FC6D-4733-89CD-27A0ADACE177}" type="slidenum">
              <a:rPr lang="en-KE" smtClean="0"/>
              <a:t>‹#›</a:t>
            </a:fld>
            <a:endParaRPr lang="en-KE"/>
          </a:p>
        </p:txBody>
      </p:sp>
    </p:spTree>
    <p:extLst>
      <p:ext uri="{BB962C8B-B14F-4D97-AF65-F5344CB8AC3E}">
        <p14:creationId xmlns:p14="http://schemas.microsoft.com/office/powerpoint/2010/main" val="19667322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64B2EEB-DE52-47A8-A1DA-4434F2D2A24B}" type="datetimeFigureOut">
              <a:rPr lang="en-KE" smtClean="0"/>
              <a:t>27/09/2025</a:t>
            </a:fld>
            <a:endParaRPr lang="en-KE"/>
          </a:p>
        </p:txBody>
      </p:sp>
      <p:sp>
        <p:nvSpPr>
          <p:cNvPr id="5" name="Footer Placeholder 4"/>
          <p:cNvSpPr>
            <a:spLocks noGrp="1"/>
          </p:cNvSpPr>
          <p:nvPr>
            <p:ph type="ftr" sz="quarter" idx="11"/>
          </p:nvPr>
        </p:nvSpPr>
        <p:spPr/>
        <p:txBody>
          <a:bodyPr/>
          <a:lstStyle/>
          <a:p>
            <a:endParaRPr lang="en-KE"/>
          </a:p>
        </p:txBody>
      </p:sp>
      <p:sp>
        <p:nvSpPr>
          <p:cNvPr id="6" name="Slide Number Placeholder 5"/>
          <p:cNvSpPr>
            <a:spLocks noGrp="1"/>
          </p:cNvSpPr>
          <p:nvPr>
            <p:ph type="sldNum" sz="quarter" idx="12"/>
          </p:nvPr>
        </p:nvSpPr>
        <p:spPr/>
        <p:txBody>
          <a:bodyPr/>
          <a:lstStyle/>
          <a:p>
            <a:fld id="{1B6DDEF6-FC6D-4733-89CD-27A0ADACE177}" type="slidenum">
              <a:rPr lang="en-KE" smtClean="0"/>
              <a:t>‹#›</a:t>
            </a:fld>
            <a:endParaRPr lang="en-KE"/>
          </a:p>
        </p:txBody>
      </p:sp>
    </p:spTree>
    <p:extLst>
      <p:ext uri="{BB962C8B-B14F-4D97-AF65-F5344CB8AC3E}">
        <p14:creationId xmlns:p14="http://schemas.microsoft.com/office/powerpoint/2010/main" val="28971278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64B2EEB-DE52-47A8-A1DA-4434F2D2A24B}" type="datetimeFigureOut">
              <a:rPr lang="en-KE" smtClean="0"/>
              <a:t>27/09/2025</a:t>
            </a:fld>
            <a:endParaRPr lang="en-KE"/>
          </a:p>
        </p:txBody>
      </p:sp>
      <p:sp>
        <p:nvSpPr>
          <p:cNvPr id="6" name="Footer Placeholder 5"/>
          <p:cNvSpPr>
            <a:spLocks noGrp="1"/>
          </p:cNvSpPr>
          <p:nvPr>
            <p:ph type="ftr" sz="quarter" idx="11"/>
          </p:nvPr>
        </p:nvSpPr>
        <p:spPr/>
        <p:txBody>
          <a:bodyPr/>
          <a:lstStyle/>
          <a:p>
            <a:endParaRPr lang="en-KE"/>
          </a:p>
        </p:txBody>
      </p:sp>
      <p:sp>
        <p:nvSpPr>
          <p:cNvPr id="7" name="Slide Number Placeholder 6"/>
          <p:cNvSpPr>
            <a:spLocks noGrp="1"/>
          </p:cNvSpPr>
          <p:nvPr>
            <p:ph type="sldNum" sz="quarter" idx="12"/>
          </p:nvPr>
        </p:nvSpPr>
        <p:spPr/>
        <p:txBody>
          <a:bodyPr/>
          <a:lstStyle/>
          <a:p>
            <a:fld id="{1B6DDEF6-FC6D-4733-89CD-27A0ADACE177}" type="slidenum">
              <a:rPr lang="en-KE" smtClean="0"/>
              <a:t>‹#›</a:t>
            </a:fld>
            <a:endParaRPr lang="en-KE"/>
          </a:p>
        </p:txBody>
      </p:sp>
    </p:spTree>
    <p:extLst>
      <p:ext uri="{BB962C8B-B14F-4D97-AF65-F5344CB8AC3E}">
        <p14:creationId xmlns:p14="http://schemas.microsoft.com/office/powerpoint/2010/main" val="30612028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64B2EEB-DE52-47A8-A1DA-4434F2D2A24B}" type="datetimeFigureOut">
              <a:rPr lang="en-KE" smtClean="0"/>
              <a:t>27/09/2025</a:t>
            </a:fld>
            <a:endParaRPr lang="en-KE"/>
          </a:p>
        </p:txBody>
      </p:sp>
      <p:sp>
        <p:nvSpPr>
          <p:cNvPr id="8" name="Footer Placeholder 7"/>
          <p:cNvSpPr>
            <a:spLocks noGrp="1"/>
          </p:cNvSpPr>
          <p:nvPr>
            <p:ph type="ftr" sz="quarter" idx="11"/>
          </p:nvPr>
        </p:nvSpPr>
        <p:spPr/>
        <p:txBody>
          <a:bodyPr/>
          <a:lstStyle/>
          <a:p>
            <a:endParaRPr lang="en-KE"/>
          </a:p>
        </p:txBody>
      </p:sp>
      <p:sp>
        <p:nvSpPr>
          <p:cNvPr id="9" name="Slide Number Placeholder 8"/>
          <p:cNvSpPr>
            <a:spLocks noGrp="1"/>
          </p:cNvSpPr>
          <p:nvPr>
            <p:ph type="sldNum" sz="quarter" idx="12"/>
          </p:nvPr>
        </p:nvSpPr>
        <p:spPr/>
        <p:txBody>
          <a:bodyPr/>
          <a:lstStyle/>
          <a:p>
            <a:fld id="{1B6DDEF6-FC6D-4733-89CD-27A0ADACE177}" type="slidenum">
              <a:rPr lang="en-KE" smtClean="0"/>
              <a:t>‹#›</a:t>
            </a:fld>
            <a:endParaRPr lang="en-KE"/>
          </a:p>
        </p:txBody>
      </p:sp>
    </p:spTree>
    <p:extLst>
      <p:ext uri="{BB962C8B-B14F-4D97-AF65-F5344CB8AC3E}">
        <p14:creationId xmlns:p14="http://schemas.microsoft.com/office/powerpoint/2010/main" val="39735258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64B2EEB-DE52-47A8-A1DA-4434F2D2A24B}" type="datetimeFigureOut">
              <a:rPr lang="en-KE" smtClean="0"/>
              <a:t>27/09/2025</a:t>
            </a:fld>
            <a:endParaRPr lang="en-KE"/>
          </a:p>
        </p:txBody>
      </p:sp>
      <p:sp>
        <p:nvSpPr>
          <p:cNvPr id="4" name="Footer Placeholder 3"/>
          <p:cNvSpPr>
            <a:spLocks noGrp="1"/>
          </p:cNvSpPr>
          <p:nvPr>
            <p:ph type="ftr" sz="quarter" idx="11"/>
          </p:nvPr>
        </p:nvSpPr>
        <p:spPr/>
        <p:txBody>
          <a:bodyPr/>
          <a:lstStyle/>
          <a:p>
            <a:endParaRPr lang="en-KE"/>
          </a:p>
        </p:txBody>
      </p:sp>
      <p:sp>
        <p:nvSpPr>
          <p:cNvPr id="5" name="Slide Number Placeholder 4"/>
          <p:cNvSpPr>
            <a:spLocks noGrp="1"/>
          </p:cNvSpPr>
          <p:nvPr>
            <p:ph type="sldNum" sz="quarter" idx="12"/>
          </p:nvPr>
        </p:nvSpPr>
        <p:spPr/>
        <p:txBody>
          <a:bodyPr/>
          <a:lstStyle/>
          <a:p>
            <a:fld id="{1B6DDEF6-FC6D-4733-89CD-27A0ADACE177}" type="slidenum">
              <a:rPr lang="en-KE" smtClean="0"/>
              <a:t>‹#›</a:t>
            </a:fld>
            <a:endParaRPr lang="en-KE"/>
          </a:p>
        </p:txBody>
      </p:sp>
    </p:spTree>
    <p:extLst>
      <p:ext uri="{BB962C8B-B14F-4D97-AF65-F5344CB8AC3E}">
        <p14:creationId xmlns:p14="http://schemas.microsoft.com/office/powerpoint/2010/main" val="20854891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4B2EEB-DE52-47A8-A1DA-4434F2D2A24B}" type="datetimeFigureOut">
              <a:rPr lang="en-KE" smtClean="0"/>
              <a:t>27/09/2025</a:t>
            </a:fld>
            <a:endParaRPr lang="en-KE"/>
          </a:p>
        </p:txBody>
      </p:sp>
      <p:sp>
        <p:nvSpPr>
          <p:cNvPr id="3" name="Footer Placeholder 2"/>
          <p:cNvSpPr>
            <a:spLocks noGrp="1"/>
          </p:cNvSpPr>
          <p:nvPr>
            <p:ph type="ftr" sz="quarter" idx="11"/>
          </p:nvPr>
        </p:nvSpPr>
        <p:spPr/>
        <p:txBody>
          <a:bodyPr/>
          <a:lstStyle/>
          <a:p>
            <a:endParaRPr lang="en-KE"/>
          </a:p>
        </p:txBody>
      </p:sp>
      <p:sp>
        <p:nvSpPr>
          <p:cNvPr id="4" name="Slide Number Placeholder 3"/>
          <p:cNvSpPr>
            <a:spLocks noGrp="1"/>
          </p:cNvSpPr>
          <p:nvPr>
            <p:ph type="sldNum" sz="quarter" idx="12"/>
          </p:nvPr>
        </p:nvSpPr>
        <p:spPr/>
        <p:txBody>
          <a:bodyPr/>
          <a:lstStyle/>
          <a:p>
            <a:fld id="{1B6DDEF6-FC6D-4733-89CD-27A0ADACE177}" type="slidenum">
              <a:rPr lang="en-KE" smtClean="0"/>
              <a:t>‹#›</a:t>
            </a:fld>
            <a:endParaRPr lang="en-KE"/>
          </a:p>
        </p:txBody>
      </p:sp>
    </p:spTree>
    <p:extLst>
      <p:ext uri="{BB962C8B-B14F-4D97-AF65-F5344CB8AC3E}">
        <p14:creationId xmlns:p14="http://schemas.microsoft.com/office/powerpoint/2010/main" val="34527450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64B2EEB-DE52-47A8-A1DA-4434F2D2A24B}" type="datetimeFigureOut">
              <a:rPr lang="en-KE" smtClean="0"/>
              <a:t>27/09/2025</a:t>
            </a:fld>
            <a:endParaRPr lang="en-KE"/>
          </a:p>
        </p:txBody>
      </p:sp>
      <p:sp>
        <p:nvSpPr>
          <p:cNvPr id="6" name="Footer Placeholder 5"/>
          <p:cNvSpPr>
            <a:spLocks noGrp="1"/>
          </p:cNvSpPr>
          <p:nvPr>
            <p:ph type="ftr" sz="quarter" idx="11"/>
          </p:nvPr>
        </p:nvSpPr>
        <p:spPr/>
        <p:txBody>
          <a:bodyPr/>
          <a:lstStyle/>
          <a:p>
            <a:endParaRPr lang="en-KE"/>
          </a:p>
        </p:txBody>
      </p:sp>
      <p:sp>
        <p:nvSpPr>
          <p:cNvPr id="7" name="Slide Number Placeholder 6"/>
          <p:cNvSpPr>
            <a:spLocks noGrp="1"/>
          </p:cNvSpPr>
          <p:nvPr>
            <p:ph type="sldNum" sz="quarter" idx="12"/>
          </p:nvPr>
        </p:nvSpPr>
        <p:spPr/>
        <p:txBody>
          <a:bodyPr/>
          <a:lstStyle/>
          <a:p>
            <a:fld id="{1B6DDEF6-FC6D-4733-89CD-27A0ADACE177}" type="slidenum">
              <a:rPr lang="en-KE" smtClean="0"/>
              <a:t>‹#›</a:t>
            </a:fld>
            <a:endParaRPr lang="en-KE"/>
          </a:p>
        </p:txBody>
      </p:sp>
    </p:spTree>
    <p:extLst>
      <p:ext uri="{BB962C8B-B14F-4D97-AF65-F5344CB8AC3E}">
        <p14:creationId xmlns:p14="http://schemas.microsoft.com/office/powerpoint/2010/main" val="29117048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64B2EEB-DE52-47A8-A1DA-4434F2D2A24B}" type="datetimeFigureOut">
              <a:rPr lang="en-KE" smtClean="0"/>
              <a:t>27/09/2025</a:t>
            </a:fld>
            <a:endParaRPr lang="en-KE"/>
          </a:p>
        </p:txBody>
      </p:sp>
      <p:sp>
        <p:nvSpPr>
          <p:cNvPr id="6" name="Footer Placeholder 5"/>
          <p:cNvSpPr>
            <a:spLocks noGrp="1"/>
          </p:cNvSpPr>
          <p:nvPr>
            <p:ph type="ftr" sz="quarter" idx="11"/>
          </p:nvPr>
        </p:nvSpPr>
        <p:spPr/>
        <p:txBody>
          <a:bodyPr/>
          <a:lstStyle/>
          <a:p>
            <a:endParaRPr lang="en-KE"/>
          </a:p>
        </p:txBody>
      </p:sp>
      <p:sp>
        <p:nvSpPr>
          <p:cNvPr id="7" name="Slide Number Placeholder 6"/>
          <p:cNvSpPr>
            <a:spLocks noGrp="1"/>
          </p:cNvSpPr>
          <p:nvPr>
            <p:ph type="sldNum" sz="quarter" idx="12"/>
          </p:nvPr>
        </p:nvSpPr>
        <p:spPr/>
        <p:txBody>
          <a:bodyPr/>
          <a:lstStyle/>
          <a:p>
            <a:fld id="{1B6DDEF6-FC6D-4733-89CD-27A0ADACE177}" type="slidenum">
              <a:rPr lang="en-KE" smtClean="0"/>
              <a:t>‹#›</a:t>
            </a:fld>
            <a:endParaRPr lang="en-KE"/>
          </a:p>
        </p:txBody>
      </p:sp>
    </p:spTree>
    <p:extLst>
      <p:ext uri="{BB962C8B-B14F-4D97-AF65-F5344CB8AC3E}">
        <p14:creationId xmlns:p14="http://schemas.microsoft.com/office/powerpoint/2010/main" val="5983135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64B2EEB-DE52-47A8-A1DA-4434F2D2A24B}" type="datetimeFigureOut">
              <a:rPr lang="en-KE" smtClean="0"/>
              <a:t>27/09/2025</a:t>
            </a:fld>
            <a:endParaRPr lang="en-KE"/>
          </a:p>
        </p:txBody>
      </p:sp>
      <p:sp>
        <p:nvSpPr>
          <p:cNvPr id="5" name="Footer Placeholder 4"/>
          <p:cNvSpPr>
            <a:spLocks noGrp="1"/>
          </p:cNvSpPr>
          <p:nvPr>
            <p:ph type="ftr" sz="quarter" idx="11"/>
          </p:nvPr>
        </p:nvSpPr>
        <p:spPr/>
        <p:txBody>
          <a:bodyPr/>
          <a:lstStyle/>
          <a:p>
            <a:endParaRPr lang="en-KE"/>
          </a:p>
        </p:txBody>
      </p:sp>
      <p:sp>
        <p:nvSpPr>
          <p:cNvPr id="6" name="Slide Number Placeholder 5"/>
          <p:cNvSpPr>
            <a:spLocks noGrp="1"/>
          </p:cNvSpPr>
          <p:nvPr>
            <p:ph type="sldNum" sz="quarter" idx="12"/>
          </p:nvPr>
        </p:nvSpPr>
        <p:spPr/>
        <p:txBody>
          <a:bodyPr/>
          <a:lstStyle/>
          <a:p>
            <a:fld id="{1B6DDEF6-FC6D-4733-89CD-27A0ADACE177}" type="slidenum">
              <a:rPr lang="en-KE" smtClean="0"/>
              <a:t>‹#›</a:t>
            </a:fld>
            <a:endParaRPr lang="en-KE"/>
          </a:p>
        </p:txBody>
      </p:sp>
    </p:spTree>
    <p:extLst>
      <p:ext uri="{BB962C8B-B14F-4D97-AF65-F5344CB8AC3E}">
        <p14:creationId xmlns:p14="http://schemas.microsoft.com/office/powerpoint/2010/main" val="13641659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64B2EEB-DE52-47A8-A1DA-4434F2D2A24B}" type="datetimeFigureOut">
              <a:rPr lang="en-KE" smtClean="0"/>
              <a:t>27/09/2025</a:t>
            </a:fld>
            <a:endParaRPr lang="en-KE"/>
          </a:p>
        </p:txBody>
      </p:sp>
      <p:sp>
        <p:nvSpPr>
          <p:cNvPr id="5" name="Footer Placeholder 4"/>
          <p:cNvSpPr>
            <a:spLocks noGrp="1"/>
          </p:cNvSpPr>
          <p:nvPr>
            <p:ph type="ftr" sz="quarter" idx="11"/>
          </p:nvPr>
        </p:nvSpPr>
        <p:spPr/>
        <p:txBody>
          <a:bodyPr/>
          <a:lstStyle/>
          <a:p>
            <a:endParaRPr lang="en-KE"/>
          </a:p>
        </p:txBody>
      </p:sp>
      <p:sp>
        <p:nvSpPr>
          <p:cNvPr id="6" name="Slide Number Placeholder 5"/>
          <p:cNvSpPr>
            <a:spLocks noGrp="1"/>
          </p:cNvSpPr>
          <p:nvPr>
            <p:ph type="sldNum" sz="quarter" idx="12"/>
          </p:nvPr>
        </p:nvSpPr>
        <p:spPr/>
        <p:txBody>
          <a:bodyPr/>
          <a:lstStyle/>
          <a:p>
            <a:fld id="{1B6DDEF6-FC6D-4733-89CD-27A0ADACE177}" type="slidenum">
              <a:rPr lang="en-KE" smtClean="0"/>
              <a:t>‹#›</a:t>
            </a:fld>
            <a:endParaRPr lang="en-KE"/>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40910356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64B2EEB-DE52-47A8-A1DA-4434F2D2A24B}" type="datetimeFigureOut">
              <a:rPr lang="en-KE" smtClean="0"/>
              <a:t>27/09/2025</a:t>
            </a:fld>
            <a:endParaRPr lang="en-KE"/>
          </a:p>
        </p:txBody>
      </p:sp>
      <p:sp>
        <p:nvSpPr>
          <p:cNvPr id="5" name="Footer Placeholder 4"/>
          <p:cNvSpPr>
            <a:spLocks noGrp="1"/>
          </p:cNvSpPr>
          <p:nvPr>
            <p:ph type="ftr" sz="quarter" idx="11"/>
          </p:nvPr>
        </p:nvSpPr>
        <p:spPr/>
        <p:txBody>
          <a:bodyPr/>
          <a:lstStyle/>
          <a:p>
            <a:endParaRPr lang="en-KE"/>
          </a:p>
        </p:txBody>
      </p:sp>
      <p:sp>
        <p:nvSpPr>
          <p:cNvPr id="6" name="Slide Number Placeholder 5"/>
          <p:cNvSpPr>
            <a:spLocks noGrp="1"/>
          </p:cNvSpPr>
          <p:nvPr>
            <p:ph type="sldNum" sz="quarter" idx="12"/>
          </p:nvPr>
        </p:nvSpPr>
        <p:spPr/>
        <p:txBody>
          <a:bodyPr/>
          <a:lstStyle/>
          <a:p>
            <a:fld id="{1B6DDEF6-FC6D-4733-89CD-27A0ADACE177}" type="slidenum">
              <a:rPr lang="en-KE" smtClean="0"/>
              <a:t>‹#›</a:t>
            </a:fld>
            <a:endParaRPr lang="en-KE"/>
          </a:p>
        </p:txBody>
      </p:sp>
    </p:spTree>
    <p:extLst>
      <p:ext uri="{BB962C8B-B14F-4D97-AF65-F5344CB8AC3E}">
        <p14:creationId xmlns:p14="http://schemas.microsoft.com/office/powerpoint/2010/main" val="4611621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64B2EEB-DE52-47A8-A1DA-4434F2D2A24B}" type="datetimeFigureOut">
              <a:rPr lang="en-KE" smtClean="0"/>
              <a:t>27/09/2025</a:t>
            </a:fld>
            <a:endParaRPr lang="en-KE"/>
          </a:p>
        </p:txBody>
      </p:sp>
      <p:sp>
        <p:nvSpPr>
          <p:cNvPr id="5" name="Footer Placeholder 4"/>
          <p:cNvSpPr>
            <a:spLocks noGrp="1"/>
          </p:cNvSpPr>
          <p:nvPr>
            <p:ph type="ftr" sz="quarter" idx="11"/>
          </p:nvPr>
        </p:nvSpPr>
        <p:spPr/>
        <p:txBody>
          <a:bodyPr/>
          <a:lstStyle/>
          <a:p>
            <a:endParaRPr lang="en-KE"/>
          </a:p>
        </p:txBody>
      </p:sp>
      <p:sp>
        <p:nvSpPr>
          <p:cNvPr id="6" name="Slide Number Placeholder 5"/>
          <p:cNvSpPr>
            <a:spLocks noGrp="1"/>
          </p:cNvSpPr>
          <p:nvPr>
            <p:ph type="sldNum" sz="quarter" idx="12"/>
          </p:nvPr>
        </p:nvSpPr>
        <p:spPr/>
        <p:txBody>
          <a:bodyPr/>
          <a:lstStyle/>
          <a:p>
            <a:fld id="{1B6DDEF6-FC6D-4733-89CD-27A0ADACE177}" type="slidenum">
              <a:rPr lang="en-KE" smtClean="0"/>
              <a:t>‹#›</a:t>
            </a:fld>
            <a:endParaRPr lang="en-KE"/>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9917803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64B2EEB-DE52-47A8-A1DA-4434F2D2A24B}" type="datetimeFigureOut">
              <a:rPr lang="en-KE" smtClean="0"/>
              <a:t>27/09/2025</a:t>
            </a:fld>
            <a:endParaRPr lang="en-KE"/>
          </a:p>
        </p:txBody>
      </p:sp>
      <p:sp>
        <p:nvSpPr>
          <p:cNvPr id="5" name="Footer Placeholder 4"/>
          <p:cNvSpPr>
            <a:spLocks noGrp="1"/>
          </p:cNvSpPr>
          <p:nvPr>
            <p:ph type="ftr" sz="quarter" idx="11"/>
          </p:nvPr>
        </p:nvSpPr>
        <p:spPr/>
        <p:txBody>
          <a:bodyPr/>
          <a:lstStyle/>
          <a:p>
            <a:endParaRPr lang="en-KE"/>
          </a:p>
        </p:txBody>
      </p:sp>
      <p:sp>
        <p:nvSpPr>
          <p:cNvPr id="6" name="Slide Number Placeholder 5"/>
          <p:cNvSpPr>
            <a:spLocks noGrp="1"/>
          </p:cNvSpPr>
          <p:nvPr>
            <p:ph type="sldNum" sz="quarter" idx="12"/>
          </p:nvPr>
        </p:nvSpPr>
        <p:spPr/>
        <p:txBody>
          <a:bodyPr/>
          <a:lstStyle/>
          <a:p>
            <a:fld id="{1B6DDEF6-FC6D-4733-89CD-27A0ADACE177}" type="slidenum">
              <a:rPr lang="en-KE" smtClean="0"/>
              <a:t>‹#›</a:t>
            </a:fld>
            <a:endParaRPr lang="en-KE"/>
          </a:p>
        </p:txBody>
      </p:sp>
    </p:spTree>
    <p:extLst>
      <p:ext uri="{BB962C8B-B14F-4D97-AF65-F5344CB8AC3E}">
        <p14:creationId xmlns:p14="http://schemas.microsoft.com/office/powerpoint/2010/main" val="15855048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64B2EEB-DE52-47A8-A1DA-4434F2D2A24B}" type="datetimeFigureOut">
              <a:rPr lang="en-KE" smtClean="0"/>
              <a:t>27/09/2025</a:t>
            </a:fld>
            <a:endParaRPr lang="en-KE"/>
          </a:p>
        </p:txBody>
      </p:sp>
      <p:sp>
        <p:nvSpPr>
          <p:cNvPr id="5" name="Footer Placeholder 4"/>
          <p:cNvSpPr>
            <a:spLocks noGrp="1"/>
          </p:cNvSpPr>
          <p:nvPr>
            <p:ph type="ftr" sz="quarter" idx="11"/>
          </p:nvPr>
        </p:nvSpPr>
        <p:spPr/>
        <p:txBody>
          <a:bodyPr/>
          <a:lstStyle/>
          <a:p>
            <a:endParaRPr lang="en-KE"/>
          </a:p>
        </p:txBody>
      </p:sp>
      <p:sp>
        <p:nvSpPr>
          <p:cNvPr id="6" name="Slide Number Placeholder 5"/>
          <p:cNvSpPr>
            <a:spLocks noGrp="1"/>
          </p:cNvSpPr>
          <p:nvPr>
            <p:ph type="sldNum" sz="quarter" idx="12"/>
          </p:nvPr>
        </p:nvSpPr>
        <p:spPr/>
        <p:txBody>
          <a:bodyPr/>
          <a:lstStyle/>
          <a:p>
            <a:fld id="{1B6DDEF6-FC6D-4733-89CD-27A0ADACE177}" type="slidenum">
              <a:rPr lang="en-KE" smtClean="0"/>
              <a:t>‹#›</a:t>
            </a:fld>
            <a:endParaRPr lang="en-KE"/>
          </a:p>
        </p:txBody>
      </p:sp>
    </p:spTree>
    <p:extLst>
      <p:ext uri="{BB962C8B-B14F-4D97-AF65-F5344CB8AC3E}">
        <p14:creationId xmlns:p14="http://schemas.microsoft.com/office/powerpoint/2010/main" val="235552949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64B2EEB-DE52-47A8-A1DA-4434F2D2A24B}" type="datetimeFigureOut">
              <a:rPr lang="en-KE" smtClean="0"/>
              <a:t>27/09/2025</a:t>
            </a:fld>
            <a:endParaRPr lang="en-KE"/>
          </a:p>
        </p:txBody>
      </p:sp>
      <p:sp>
        <p:nvSpPr>
          <p:cNvPr id="5" name="Footer Placeholder 4"/>
          <p:cNvSpPr>
            <a:spLocks noGrp="1"/>
          </p:cNvSpPr>
          <p:nvPr>
            <p:ph type="ftr" sz="quarter" idx="11"/>
          </p:nvPr>
        </p:nvSpPr>
        <p:spPr/>
        <p:txBody>
          <a:bodyPr/>
          <a:lstStyle/>
          <a:p>
            <a:endParaRPr lang="en-KE"/>
          </a:p>
        </p:txBody>
      </p:sp>
      <p:sp>
        <p:nvSpPr>
          <p:cNvPr id="6" name="Slide Number Placeholder 5"/>
          <p:cNvSpPr>
            <a:spLocks noGrp="1"/>
          </p:cNvSpPr>
          <p:nvPr>
            <p:ph type="sldNum" sz="quarter" idx="12"/>
          </p:nvPr>
        </p:nvSpPr>
        <p:spPr/>
        <p:txBody>
          <a:bodyPr/>
          <a:lstStyle/>
          <a:p>
            <a:fld id="{1B6DDEF6-FC6D-4733-89CD-27A0ADACE177}" type="slidenum">
              <a:rPr lang="en-KE" smtClean="0"/>
              <a:t>‹#›</a:t>
            </a:fld>
            <a:endParaRPr lang="en-KE"/>
          </a:p>
        </p:txBody>
      </p:sp>
    </p:spTree>
    <p:extLst>
      <p:ext uri="{BB962C8B-B14F-4D97-AF65-F5344CB8AC3E}">
        <p14:creationId xmlns:p14="http://schemas.microsoft.com/office/powerpoint/2010/main" val="12800373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64B2EEB-DE52-47A8-A1DA-4434F2D2A24B}" type="datetimeFigureOut">
              <a:rPr lang="en-KE" smtClean="0"/>
              <a:t>27/09/2025</a:t>
            </a:fld>
            <a:endParaRPr lang="en-KE"/>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KE"/>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1B6DDEF6-FC6D-4733-89CD-27A0ADACE177}" type="slidenum">
              <a:rPr lang="en-KE" smtClean="0"/>
              <a:t>‹#›</a:t>
            </a:fld>
            <a:endParaRPr lang="en-KE"/>
          </a:p>
        </p:txBody>
      </p:sp>
    </p:spTree>
    <p:extLst>
      <p:ext uri="{BB962C8B-B14F-4D97-AF65-F5344CB8AC3E}">
        <p14:creationId xmlns:p14="http://schemas.microsoft.com/office/powerpoint/2010/main" val="10915876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65A3C-777B-CDD1-F6C4-E23E30D6DE01}"/>
              </a:ext>
            </a:extLst>
          </p:cNvPr>
          <p:cNvSpPr>
            <a:spLocks noGrp="1"/>
          </p:cNvSpPr>
          <p:nvPr>
            <p:ph type="ctrTitle"/>
          </p:nvPr>
        </p:nvSpPr>
        <p:spPr/>
        <p:txBody>
          <a:bodyPr>
            <a:normAutofit fontScale="90000"/>
          </a:bodyPr>
          <a:lstStyle/>
          <a:p>
            <a:r>
              <a:rPr lang="en-US" dirty="0"/>
              <a:t>ROLE OF INTERVENTIONAL PULMONOLOGY IN PLEURAL DISEASE</a:t>
            </a:r>
            <a:endParaRPr lang="en-KE" dirty="0"/>
          </a:p>
        </p:txBody>
      </p:sp>
      <p:sp>
        <p:nvSpPr>
          <p:cNvPr id="3" name="Subtitle 2">
            <a:extLst>
              <a:ext uri="{FF2B5EF4-FFF2-40B4-BE49-F238E27FC236}">
                <a16:creationId xmlns:a16="http://schemas.microsoft.com/office/drawing/2014/main" id="{32FE6F4C-F000-B1DC-7EA7-02B9F68784BB}"/>
              </a:ext>
            </a:extLst>
          </p:cNvPr>
          <p:cNvSpPr>
            <a:spLocks noGrp="1"/>
          </p:cNvSpPr>
          <p:nvPr>
            <p:ph type="subTitle" idx="1"/>
          </p:nvPr>
        </p:nvSpPr>
        <p:spPr/>
        <p:txBody>
          <a:bodyPr/>
          <a:lstStyle/>
          <a:p>
            <a:r>
              <a:rPr lang="en-US" dirty="0"/>
              <a:t>Dr Waweru Munyu</a:t>
            </a:r>
            <a:endParaRPr lang="en-KE" dirty="0"/>
          </a:p>
        </p:txBody>
      </p:sp>
    </p:spTree>
    <p:extLst>
      <p:ext uri="{BB962C8B-B14F-4D97-AF65-F5344CB8AC3E}">
        <p14:creationId xmlns:p14="http://schemas.microsoft.com/office/powerpoint/2010/main" val="35934779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742843-6F27-C0F4-01BC-51E5B948288C}"/>
              </a:ext>
            </a:extLst>
          </p:cNvPr>
          <p:cNvSpPr>
            <a:spLocks noGrp="1"/>
          </p:cNvSpPr>
          <p:nvPr>
            <p:ph type="title"/>
          </p:nvPr>
        </p:nvSpPr>
        <p:spPr/>
        <p:txBody>
          <a:bodyPr/>
          <a:lstStyle/>
          <a:p>
            <a:r>
              <a:rPr lang="en-US" dirty="0"/>
              <a:t>Interventional Pulmonology in Pleural disease</a:t>
            </a:r>
            <a:endParaRPr lang="en-KE" dirty="0"/>
          </a:p>
        </p:txBody>
      </p:sp>
      <p:sp>
        <p:nvSpPr>
          <p:cNvPr id="3" name="Content Placeholder 2">
            <a:extLst>
              <a:ext uri="{FF2B5EF4-FFF2-40B4-BE49-F238E27FC236}">
                <a16:creationId xmlns:a16="http://schemas.microsoft.com/office/drawing/2014/main" id="{06BA3C80-8231-CD7C-76B6-3E35349FBB16}"/>
              </a:ext>
            </a:extLst>
          </p:cNvPr>
          <p:cNvSpPr>
            <a:spLocks noGrp="1"/>
          </p:cNvSpPr>
          <p:nvPr>
            <p:ph idx="1"/>
          </p:nvPr>
        </p:nvSpPr>
        <p:spPr/>
        <p:txBody>
          <a:bodyPr/>
          <a:lstStyle/>
          <a:p>
            <a:r>
              <a:rPr lang="en-US" dirty="0"/>
              <a:t>Interventional pulmonology offers minimally invasive tools to diagnose and treat pleural diseases, such as pleural effusions and pneumothorax. </a:t>
            </a:r>
          </a:p>
          <a:p>
            <a:r>
              <a:rPr lang="en-US" dirty="0"/>
              <a:t>Key procedures include thoracentesis for fluid removal, medical thoracoscopy for guided biopsies, indwelling pleural catheter (IPC) insertion for chronic effusions, and pleurodesis to prevent fluid or air </a:t>
            </a:r>
            <a:r>
              <a:rPr lang="en-US" dirty="0" err="1"/>
              <a:t>reaccumulation</a:t>
            </a:r>
            <a:r>
              <a:rPr lang="en-US" dirty="0"/>
              <a:t>. </a:t>
            </a:r>
          </a:p>
          <a:p>
            <a:r>
              <a:rPr lang="en-US" dirty="0"/>
              <a:t>These techniques provide faster, safer, and often more effective management of pleural conditions compared to traditional methods.</a:t>
            </a:r>
            <a:endParaRPr lang="en-KE" dirty="0"/>
          </a:p>
        </p:txBody>
      </p:sp>
    </p:spTree>
    <p:extLst>
      <p:ext uri="{BB962C8B-B14F-4D97-AF65-F5344CB8AC3E}">
        <p14:creationId xmlns:p14="http://schemas.microsoft.com/office/powerpoint/2010/main" val="41208910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39B22-67FD-6DEA-45A8-8547120061B3}"/>
              </a:ext>
            </a:extLst>
          </p:cNvPr>
          <p:cNvSpPr>
            <a:spLocks noGrp="1"/>
          </p:cNvSpPr>
          <p:nvPr>
            <p:ph type="title"/>
          </p:nvPr>
        </p:nvSpPr>
        <p:spPr/>
        <p:txBody>
          <a:bodyPr/>
          <a:lstStyle/>
          <a:p>
            <a:r>
              <a:rPr lang="en-US" dirty="0"/>
              <a:t>Available modalities</a:t>
            </a:r>
            <a:endParaRPr lang="en-KE" dirty="0"/>
          </a:p>
        </p:txBody>
      </p:sp>
      <p:sp>
        <p:nvSpPr>
          <p:cNvPr id="3" name="Content Placeholder 2">
            <a:extLst>
              <a:ext uri="{FF2B5EF4-FFF2-40B4-BE49-F238E27FC236}">
                <a16:creationId xmlns:a16="http://schemas.microsoft.com/office/drawing/2014/main" id="{0CDE13CF-E746-043A-F1D3-E0BBFDE408EC}"/>
              </a:ext>
            </a:extLst>
          </p:cNvPr>
          <p:cNvSpPr>
            <a:spLocks noGrp="1"/>
          </p:cNvSpPr>
          <p:nvPr>
            <p:ph idx="1"/>
          </p:nvPr>
        </p:nvSpPr>
        <p:spPr/>
        <p:txBody>
          <a:bodyPr/>
          <a:lstStyle/>
          <a:p>
            <a:r>
              <a:rPr lang="en-US" dirty="0"/>
              <a:t>Thoracic ultrasound</a:t>
            </a:r>
          </a:p>
          <a:p>
            <a:r>
              <a:rPr lang="en-US" dirty="0"/>
              <a:t>Trans thoracic biopsies</a:t>
            </a:r>
          </a:p>
          <a:p>
            <a:r>
              <a:rPr lang="en-US" dirty="0"/>
              <a:t>Medical thoracoscopy</a:t>
            </a:r>
          </a:p>
          <a:p>
            <a:r>
              <a:rPr lang="en-US" dirty="0"/>
              <a:t>Pleural drains</a:t>
            </a:r>
            <a:endParaRPr lang="en-KE" dirty="0"/>
          </a:p>
        </p:txBody>
      </p:sp>
    </p:spTree>
    <p:extLst>
      <p:ext uri="{BB962C8B-B14F-4D97-AF65-F5344CB8AC3E}">
        <p14:creationId xmlns:p14="http://schemas.microsoft.com/office/powerpoint/2010/main" val="32072111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E4CDE6-D9F9-CA00-243B-E5280D963758}"/>
              </a:ext>
            </a:extLst>
          </p:cNvPr>
          <p:cNvSpPr>
            <a:spLocks noGrp="1"/>
          </p:cNvSpPr>
          <p:nvPr>
            <p:ph type="title"/>
          </p:nvPr>
        </p:nvSpPr>
        <p:spPr/>
        <p:txBody>
          <a:bodyPr/>
          <a:lstStyle/>
          <a:p>
            <a:r>
              <a:rPr lang="en-US" dirty="0"/>
              <a:t>Thoracic ultrasound</a:t>
            </a:r>
            <a:endParaRPr lang="en-KE" dirty="0"/>
          </a:p>
        </p:txBody>
      </p:sp>
      <p:sp>
        <p:nvSpPr>
          <p:cNvPr id="3" name="Content Placeholder 2">
            <a:extLst>
              <a:ext uri="{FF2B5EF4-FFF2-40B4-BE49-F238E27FC236}">
                <a16:creationId xmlns:a16="http://schemas.microsoft.com/office/drawing/2014/main" id="{E43E47F5-C082-30FD-4E7C-59D7798B1E42}"/>
              </a:ext>
            </a:extLst>
          </p:cNvPr>
          <p:cNvSpPr>
            <a:spLocks noGrp="1"/>
          </p:cNvSpPr>
          <p:nvPr>
            <p:ph idx="1"/>
          </p:nvPr>
        </p:nvSpPr>
        <p:spPr/>
        <p:txBody>
          <a:bodyPr/>
          <a:lstStyle/>
          <a:p>
            <a:r>
              <a:rPr lang="en-US" dirty="0"/>
              <a:t>Currently, we have u/sound devices that fit in the pocket</a:t>
            </a:r>
          </a:p>
          <a:p>
            <a:pPr lvl="1"/>
            <a:r>
              <a:rPr lang="en-US" dirty="0"/>
              <a:t>Enhances access</a:t>
            </a:r>
          </a:p>
          <a:p>
            <a:pPr lvl="1"/>
            <a:r>
              <a:rPr lang="en-US" dirty="0"/>
              <a:t>Image quality is excellent</a:t>
            </a:r>
          </a:p>
          <a:p>
            <a:pPr lvl="1"/>
            <a:r>
              <a:rPr lang="en-US" dirty="0"/>
              <a:t>No need for different probes for different organs</a:t>
            </a:r>
          </a:p>
          <a:p>
            <a:r>
              <a:rPr lang="en-US" dirty="0"/>
              <a:t>Training on the use of the devices is easy and locally available</a:t>
            </a:r>
          </a:p>
          <a:p>
            <a:pPr lvl="1"/>
            <a:r>
              <a:rPr lang="en-US" dirty="0"/>
              <a:t>Online resources available</a:t>
            </a:r>
          </a:p>
          <a:p>
            <a:r>
              <a:rPr lang="en-US" dirty="0"/>
              <a:t>Quality image acquisition and interpretation is key for optimal use</a:t>
            </a:r>
            <a:endParaRPr lang="en-KE" dirty="0"/>
          </a:p>
        </p:txBody>
      </p:sp>
    </p:spTree>
    <p:extLst>
      <p:ext uri="{BB962C8B-B14F-4D97-AF65-F5344CB8AC3E}">
        <p14:creationId xmlns:p14="http://schemas.microsoft.com/office/powerpoint/2010/main" val="7966038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89143-E2D8-8170-2F88-37D83029FB77}"/>
              </a:ext>
            </a:extLst>
          </p:cNvPr>
          <p:cNvSpPr>
            <a:spLocks noGrp="1"/>
          </p:cNvSpPr>
          <p:nvPr>
            <p:ph type="title"/>
          </p:nvPr>
        </p:nvSpPr>
        <p:spPr/>
        <p:txBody>
          <a:bodyPr/>
          <a:lstStyle/>
          <a:p>
            <a:r>
              <a:rPr lang="en-US" dirty="0"/>
              <a:t>Advantages</a:t>
            </a:r>
            <a:endParaRPr lang="en-KE" dirty="0"/>
          </a:p>
        </p:txBody>
      </p:sp>
      <p:sp>
        <p:nvSpPr>
          <p:cNvPr id="3" name="Content Placeholder 2">
            <a:extLst>
              <a:ext uri="{FF2B5EF4-FFF2-40B4-BE49-F238E27FC236}">
                <a16:creationId xmlns:a16="http://schemas.microsoft.com/office/drawing/2014/main" id="{28813DBD-FBF9-63B1-3685-ECB4EACB1DB9}"/>
              </a:ext>
            </a:extLst>
          </p:cNvPr>
          <p:cNvSpPr>
            <a:spLocks noGrp="1"/>
          </p:cNvSpPr>
          <p:nvPr>
            <p:ph idx="1"/>
          </p:nvPr>
        </p:nvSpPr>
        <p:spPr/>
        <p:txBody>
          <a:bodyPr/>
          <a:lstStyle/>
          <a:p>
            <a:r>
              <a:rPr lang="en-US" dirty="0"/>
              <a:t>Real time – enables instant decision making</a:t>
            </a:r>
          </a:p>
          <a:p>
            <a:pPr lvl="1"/>
            <a:r>
              <a:rPr lang="en-US" dirty="0"/>
              <a:t>Do we need drainage now</a:t>
            </a:r>
          </a:p>
          <a:p>
            <a:pPr lvl="1"/>
            <a:r>
              <a:rPr lang="en-US" dirty="0"/>
              <a:t>Is it empyema</a:t>
            </a:r>
          </a:p>
          <a:p>
            <a:pPr lvl="1"/>
            <a:r>
              <a:rPr lang="en-US" dirty="0"/>
              <a:t>Guiding biopsy/fluid acquisition – lung, pleura, mass</a:t>
            </a:r>
          </a:p>
          <a:p>
            <a:pPr lvl="1"/>
            <a:r>
              <a:rPr lang="en-US" dirty="0"/>
              <a:t>Best site to access during thoracoscopy</a:t>
            </a:r>
            <a:endParaRPr lang="en-KE" dirty="0"/>
          </a:p>
        </p:txBody>
      </p:sp>
    </p:spTree>
    <p:extLst>
      <p:ext uri="{BB962C8B-B14F-4D97-AF65-F5344CB8AC3E}">
        <p14:creationId xmlns:p14="http://schemas.microsoft.com/office/powerpoint/2010/main" val="19086235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DF94A-0A59-E94B-9E8A-3361B63D71C2}"/>
              </a:ext>
            </a:extLst>
          </p:cNvPr>
          <p:cNvSpPr>
            <a:spLocks noGrp="1"/>
          </p:cNvSpPr>
          <p:nvPr>
            <p:ph type="title"/>
          </p:nvPr>
        </p:nvSpPr>
        <p:spPr/>
        <p:txBody>
          <a:bodyPr/>
          <a:lstStyle/>
          <a:p>
            <a:r>
              <a:rPr lang="en-US" dirty="0"/>
              <a:t>Challenges</a:t>
            </a:r>
            <a:endParaRPr lang="en-KE" dirty="0"/>
          </a:p>
        </p:txBody>
      </p:sp>
      <p:sp>
        <p:nvSpPr>
          <p:cNvPr id="3" name="Content Placeholder 2">
            <a:extLst>
              <a:ext uri="{FF2B5EF4-FFF2-40B4-BE49-F238E27FC236}">
                <a16:creationId xmlns:a16="http://schemas.microsoft.com/office/drawing/2014/main" id="{7ADCB313-E5D3-8285-DBB4-BA1F1D355227}"/>
              </a:ext>
            </a:extLst>
          </p:cNvPr>
          <p:cNvSpPr>
            <a:spLocks noGrp="1"/>
          </p:cNvSpPr>
          <p:nvPr>
            <p:ph idx="1"/>
          </p:nvPr>
        </p:nvSpPr>
        <p:spPr/>
        <p:txBody>
          <a:bodyPr/>
          <a:lstStyle/>
          <a:p>
            <a:r>
              <a:rPr lang="en-US" dirty="0"/>
              <a:t>Cost of equipment</a:t>
            </a:r>
          </a:p>
          <a:p>
            <a:r>
              <a:rPr lang="en-US" dirty="0"/>
              <a:t>Skill training</a:t>
            </a:r>
          </a:p>
          <a:p>
            <a:r>
              <a:rPr lang="en-US" dirty="0"/>
              <a:t>Appropriate tools for pleura biopsy</a:t>
            </a:r>
            <a:endParaRPr lang="en-KE" dirty="0"/>
          </a:p>
        </p:txBody>
      </p:sp>
    </p:spTree>
    <p:extLst>
      <p:ext uri="{BB962C8B-B14F-4D97-AF65-F5344CB8AC3E}">
        <p14:creationId xmlns:p14="http://schemas.microsoft.com/office/powerpoint/2010/main" val="10511251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1F21BE-6FDC-8DA3-13B4-0A55DB8CB2F3}"/>
              </a:ext>
            </a:extLst>
          </p:cNvPr>
          <p:cNvSpPr>
            <a:spLocks noGrp="1"/>
          </p:cNvSpPr>
          <p:nvPr>
            <p:ph type="title"/>
          </p:nvPr>
        </p:nvSpPr>
        <p:spPr/>
        <p:txBody>
          <a:bodyPr/>
          <a:lstStyle/>
          <a:p>
            <a:r>
              <a:rPr lang="en-US" dirty="0"/>
              <a:t>Transthoracic biopsies</a:t>
            </a:r>
            <a:endParaRPr lang="en-KE" dirty="0"/>
          </a:p>
        </p:txBody>
      </p:sp>
      <p:sp>
        <p:nvSpPr>
          <p:cNvPr id="3" name="Content Placeholder 2">
            <a:extLst>
              <a:ext uri="{FF2B5EF4-FFF2-40B4-BE49-F238E27FC236}">
                <a16:creationId xmlns:a16="http://schemas.microsoft.com/office/drawing/2014/main" id="{AAE1E102-5D77-2E30-0D8D-391F98E0E944}"/>
              </a:ext>
            </a:extLst>
          </p:cNvPr>
          <p:cNvSpPr>
            <a:spLocks noGrp="1"/>
          </p:cNvSpPr>
          <p:nvPr>
            <p:ph idx="1"/>
          </p:nvPr>
        </p:nvSpPr>
        <p:spPr/>
        <p:txBody>
          <a:bodyPr/>
          <a:lstStyle/>
          <a:p>
            <a:r>
              <a:rPr lang="en-US" dirty="0"/>
              <a:t>May be blind or image guided</a:t>
            </a:r>
          </a:p>
          <a:p>
            <a:r>
              <a:rPr lang="en-US" dirty="0"/>
              <a:t>Blind procedures</a:t>
            </a:r>
          </a:p>
          <a:p>
            <a:pPr lvl="1"/>
            <a:r>
              <a:rPr lang="en-US" dirty="0"/>
              <a:t>More useful in diffuse disease </a:t>
            </a:r>
            <a:r>
              <a:rPr lang="en-US" dirty="0" err="1"/>
              <a:t>eg</a:t>
            </a:r>
            <a:r>
              <a:rPr lang="en-US" dirty="0"/>
              <a:t> TB</a:t>
            </a:r>
          </a:p>
          <a:p>
            <a:pPr lvl="1"/>
            <a:r>
              <a:rPr lang="en-US" dirty="0"/>
              <a:t>Uses Abram’s needle</a:t>
            </a:r>
          </a:p>
          <a:p>
            <a:pPr lvl="1"/>
            <a:r>
              <a:rPr lang="en-US" dirty="0"/>
              <a:t>Yield may be increased by image </a:t>
            </a:r>
            <a:r>
              <a:rPr lang="en-US" dirty="0" err="1"/>
              <a:t>eg</a:t>
            </a:r>
            <a:r>
              <a:rPr lang="en-US" dirty="0"/>
              <a:t> US guidance </a:t>
            </a:r>
            <a:r>
              <a:rPr lang="en-US" dirty="0" err="1"/>
              <a:t>esp</a:t>
            </a:r>
            <a:r>
              <a:rPr lang="en-US" dirty="0"/>
              <a:t> for </a:t>
            </a:r>
            <a:r>
              <a:rPr lang="en-US" dirty="0" err="1"/>
              <a:t>thichened</a:t>
            </a:r>
            <a:r>
              <a:rPr lang="en-US" dirty="0"/>
              <a:t> pleura or masses</a:t>
            </a:r>
          </a:p>
          <a:p>
            <a:pPr lvl="1"/>
            <a:endParaRPr lang="en-KE" dirty="0"/>
          </a:p>
        </p:txBody>
      </p:sp>
    </p:spTree>
    <p:extLst>
      <p:ext uri="{BB962C8B-B14F-4D97-AF65-F5344CB8AC3E}">
        <p14:creationId xmlns:p14="http://schemas.microsoft.com/office/powerpoint/2010/main" val="8839772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CED3B-A8D9-DAFB-F349-0CB1077C0C98}"/>
              </a:ext>
            </a:extLst>
          </p:cNvPr>
          <p:cNvSpPr>
            <a:spLocks noGrp="1"/>
          </p:cNvSpPr>
          <p:nvPr>
            <p:ph type="title"/>
          </p:nvPr>
        </p:nvSpPr>
        <p:spPr/>
        <p:txBody>
          <a:bodyPr/>
          <a:lstStyle/>
          <a:p>
            <a:r>
              <a:rPr lang="en-US" dirty="0"/>
              <a:t>Image guided</a:t>
            </a:r>
            <a:endParaRPr lang="en-KE" dirty="0"/>
          </a:p>
        </p:txBody>
      </p:sp>
      <p:sp>
        <p:nvSpPr>
          <p:cNvPr id="3" name="Content Placeholder 2">
            <a:extLst>
              <a:ext uri="{FF2B5EF4-FFF2-40B4-BE49-F238E27FC236}">
                <a16:creationId xmlns:a16="http://schemas.microsoft.com/office/drawing/2014/main" id="{B6ED2968-198D-C316-B275-6B1955CB8272}"/>
              </a:ext>
            </a:extLst>
          </p:cNvPr>
          <p:cNvSpPr>
            <a:spLocks noGrp="1"/>
          </p:cNvSpPr>
          <p:nvPr>
            <p:ph idx="1"/>
          </p:nvPr>
        </p:nvSpPr>
        <p:spPr/>
        <p:txBody>
          <a:bodyPr/>
          <a:lstStyle/>
          <a:p>
            <a:r>
              <a:rPr lang="en-US" dirty="0"/>
              <a:t>May target pleural or lung lesions</a:t>
            </a:r>
          </a:p>
          <a:p>
            <a:r>
              <a:rPr lang="en-US" dirty="0"/>
              <a:t>Ultrasound more useful in pleural lesions</a:t>
            </a:r>
          </a:p>
          <a:p>
            <a:r>
              <a:rPr lang="en-US" dirty="0"/>
              <a:t>May use Abrams or </a:t>
            </a:r>
            <a:r>
              <a:rPr lang="en-US" dirty="0" err="1"/>
              <a:t>Trucut</a:t>
            </a:r>
            <a:r>
              <a:rPr lang="en-US" dirty="0"/>
              <a:t> needle</a:t>
            </a:r>
            <a:endParaRPr lang="en-KE" dirty="0"/>
          </a:p>
        </p:txBody>
      </p:sp>
    </p:spTree>
    <p:extLst>
      <p:ext uri="{BB962C8B-B14F-4D97-AF65-F5344CB8AC3E}">
        <p14:creationId xmlns:p14="http://schemas.microsoft.com/office/powerpoint/2010/main" val="21801716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F7CE1-72F2-0B1B-3044-8D620FA9FCC2}"/>
              </a:ext>
            </a:extLst>
          </p:cNvPr>
          <p:cNvSpPr>
            <a:spLocks noGrp="1"/>
          </p:cNvSpPr>
          <p:nvPr>
            <p:ph type="title"/>
          </p:nvPr>
        </p:nvSpPr>
        <p:spPr>
          <a:xfrm>
            <a:off x="677334" y="609600"/>
            <a:ext cx="8596668" cy="460664"/>
          </a:xfrm>
        </p:spPr>
        <p:txBody>
          <a:bodyPr>
            <a:normAutofit fontScale="90000"/>
          </a:bodyPr>
          <a:lstStyle/>
          <a:p>
            <a:r>
              <a:rPr lang="en-US" dirty="0"/>
              <a:t>Types of biopsy needles</a:t>
            </a:r>
            <a:endParaRPr lang="en-KE" dirty="0"/>
          </a:p>
        </p:txBody>
      </p:sp>
      <p:pic>
        <p:nvPicPr>
          <p:cNvPr id="5" name="Content Placeholder 4">
            <a:extLst>
              <a:ext uri="{FF2B5EF4-FFF2-40B4-BE49-F238E27FC236}">
                <a16:creationId xmlns:a16="http://schemas.microsoft.com/office/drawing/2014/main" id="{FF59EC7E-A634-53FA-AA23-72C45FF9641E}"/>
              </a:ext>
            </a:extLst>
          </p:cNvPr>
          <p:cNvPicPr>
            <a:picLocks noGrp="1" noChangeAspect="1"/>
          </p:cNvPicPr>
          <p:nvPr>
            <p:ph sz="half" idx="1"/>
          </p:nvPr>
        </p:nvPicPr>
        <p:blipFill>
          <a:blip r:embed="rId2"/>
          <a:stretch>
            <a:fillRect/>
          </a:stretch>
        </p:blipFill>
        <p:spPr>
          <a:xfrm>
            <a:off x="838200" y="1825625"/>
            <a:ext cx="4533900" cy="4351338"/>
          </a:xfrm>
          <a:prstGeom prst="rect">
            <a:avLst/>
          </a:prstGeom>
        </p:spPr>
      </p:pic>
      <p:pic>
        <p:nvPicPr>
          <p:cNvPr id="6" name="Content Placeholder 5">
            <a:extLst>
              <a:ext uri="{FF2B5EF4-FFF2-40B4-BE49-F238E27FC236}">
                <a16:creationId xmlns:a16="http://schemas.microsoft.com/office/drawing/2014/main" id="{E0C885E6-C1CB-698A-593D-26C811331A23}"/>
              </a:ext>
            </a:extLst>
          </p:cNvPr>
          <p:cNvPicPr>
            <a:picLocks noGrp="1" noChangeAspect="1"/>
          </p:cNvPicPr>
          <p:nvPr>
            <p:ph sz="half" idx="2"/>
          </p:nvPr>
        </p:nvPicPr>
        <p:blipFill>
          <a:blip r:embed="rId3"/>
          <a:stretch>
            <a:fillRect/>
          </a:stretch>
        </p:blipFill>
        <p:spPr>
          <a:xfrm>
            <a:off x="5912426" y="1666874"/>
            <a:ext cx="5441373" cy="4510089"/>
          </a:xfrm>
          <a:prstGeom prst="rect">
            <a:avLst/>
          </a:prstGeom>
        </p:spPr>
      </p:pic>
    </p:spTree>
    <p:extLst>
      <p:ext uri="{BB962C8B-B14F-4D97-AF65-F5344CB8AC3E}">
        <p14:creationId xmlns:p14="http://schemas.microsoft.com/office/powerpoint/2010/main" val="5780392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B4CBA5-300D-EDD9-B466-3A4771100566}"/>
              </a:ext>
            </a:extLst>
          </p:cNvPr>
          <p:cNvSpPr>
            <a:spLocks noGrp="1"/>
          </p:cNvSpPr>
          <p:nvPr>
            <p:ph type="title"/>
          </p:nvPr>
        </p:nvSpPr>
        <p:spPr>
          <a:xfrm>
            <a:off x="677334" y="609600"/>
            <a:ext cx="8596668" cy="626918"/>
          </a:xfrm>
        </p:spPr>
        <p:txBody>
          <a:bodyPr>
            <a:normAutofit fontScale="90000"/>
          </a:bodyPr>
          <a:lstStyle/>
          <a:p>
            <a:r>
              <a:rPr lang="en-US" dirty="0"/>
              <a:t>Performance</a:t>
            </a:r>
            <a:endParaRPr lang="en-KE" dirty="0"/>
          </a:p>
        </p:txBody>
      </p:sp>
      <p:pic>
        <p:nvPicPr>
          <p:cNvPr id="6" name="Content Placeholder 5">
            <a:extLst>
              <a:ext uri="{FF2B5EF4-FFF2-40B4-BE49-F238E27FC236}">
                <a16:creationId xmlns:a16="http://schemas.microsoft.com/office/drawing/2014/main" id="{AC5E046B-44E6-4EDF-CF03-F47A6DF5F595}"/>
              </a:ext>
            </a:extLst>
          </p:cNvPr>
          <p:cNvPicPr>
            <a:picLocks noGrp="1" noChangeAspect="1"/>
          </p:cNvPicPr>
          <p:nvPr>
            <p:ph sz="half" idx="1"/>
          </p:nvPr>
        </p:nvPicPr>
        <p:blipFill>
          <a:blip r:embed="rId2"/>
          <a:stretch>
            <a:fillRect/>
          </a:stretch>
        </p:blipFill>
        <p:spPr>
          <a:xfrm>
            <a:off x="677334" y="1485900"/>
            <a:ext cx="8757534" cy="4301836"/>
          </a:xfrm>
          <a:prstGeom prst="rect">
            <a:avLst/>
          </a:prstGeom>
        </p:spPr>
      </p:pic>
    </p:spTree>
    <p:extLst>
      <p:ext uri="{BB962C8B-B14F-4D97-AF65-F5344CB8AC3E}">
        <p14:creationId xmlns:p14="http://schemas.microsoft.com/office/powerpoint/2010/main" val="36510780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F1F17-170A-CA34-6E59-8471CC0A44B2}"/>
              </a:ext>
            </a:extLst>
          </p:cNvPr>
          <p:cNvSpPr>
            <a:spLocks noGrp="1"/>
          </p:cNvSpPr>
          <p:nvPr>
            <p:ph type="title"/>
          </p:nvPr>
        </p:nvSpPr>
        <p:spPr/>
        <p:txBody>
          <a:bodyPr/>
          <a:lstStyle/>
          <a:p>
            <a:r>
              <a:rPr lang="en-US" dirty="0"/>
              <a:t>Medical thoracoscopy</a:t>
            </a:r>
            <a:endParaRPr lang="en-KE" dirty="0"/>
          </a:p>
        </p:txBody>
      </p:sp>
      <p:sp>
        <p:nvSpPr>
          <p:cNvPr id="3" name="Content Placeholder 2">
            <a:extLst>
              <a:ext uri="{FF2B5EF4-FFF2-40B4-BE49-F238E27FC236}">
                <a16:creationId xmlns:a16="http://schemas.microsoft.com/office/drawing/2014/main" id="{702E2E0B-24B8-897E-7ED5-9A4C57118196}"/>
              </a:ext>
            </a:extLst>
          </p:cNvPr>
          <p:cNvSpPr>
            <a:spLocks noGrp="1"/>
          </p:cNvSpPr>
          <p:nvPr>
            <p:ph idx="1"/>
          </p:nvPr>
        </p:nvSpPr>
        <p:spPr/>
        <p:txBody>
          <a:bodyPr/>
          <a:lstStyle/>
          <a:p>
            <a:r>
              <a:rPr lang="en-US" dirty="0"/>
              <a:t>A minimally invasive endoscopic procedure that allows for direct visualization and intervention within the pleural space using a thoracoscope. </a:t>
            </a:r>
          </a:p>
          <a:p>
            <a:r>
              <a:rPr lang="en-US" dirty="0"/>
              <a:t>It is performed under local anesthesia and conscious sedation by pulmonologists to diagnose and treat pleural conditions, such as undiagnosed pleural effusions, pleural thickening, complicated infections, and malignant effusions, often involving simultaneous biopsies or therapeutic procedures like pleurodesis.  </a:t>
            </a:r>
          </a:p>
          <a:p>
            <a:pPr lvl="1"/>
            <a:r>
              <a:rPr lang="en-US" dirty="0"/>
              <a:t>Clin Chest Med. 2021 Dec;42(4):751-766</a:t>
            </a:r>
            <a:endParaRPr lang="en-KE" dirty="0"/>
          </a:p>
        </p:txBody>
      </p:sp>
    </p:spTree>
    <p:extLst>
      <p:ext uri="{BB962C8B-B14F-4D97-AF65-F5344CB8AC3E}">
        <p14:creationId xmlns:p14="http://schemas.microsoft.com/office/powerpoint/2010/main" val="26356866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7BA75-F2D0-6D1D-901B-A3AEFBA434F0}"/>
              </a:ext>
            </a:extLst>
          </p:cNvPr>
          <p:cNvSpPr>
            <a:spLocks noGrp="1"/>
          </p:cNvSpPr>
          <p:nvPr>
            <p:ph type="title"/>
          </p:nvPr>
        </p:nvSpPr>
        <p:spPr/>
        <p:txBody>
          <a:bodyPr/>
          <a:lstStyle/>
          <a:p>
            <a:endParaRPr lang="en-KE"/>
          </a:p>
        </p:txBody>
      </p:sp>
      <p:sp>
        <p:nvSpPr>
          <p:cNvPr id="3" name="Content Placeholder 2">
            <a:extLst>
              <a:ext uri="{FF2B5EF4-FFF2-40B4-BE49-F238E27FC236}">
                <a16:creationId xmlns:a16="http://schemas.microsoft.com/office/drawing/2014/main" id="{2D781C5A-6F2F-A9CC-B3FA-6FF1654057B7}"/>
              </a:ext>
            </a:extLst>
          </p:cNvPr>
          <p:cNvSpPr>
            <a:spLocks noGrp="1"/>
          </p:cNvSpPr>
          <p:nvPr>
            <p:ph idx="1"/>
          </p:nvPr>
        </p:nvSpPr>
        <p:spPr/>
        <p:txBody>
          <a:bodyPr/>
          <a:lstStyle/>
          <a:p>
            <a:r>
              <a:rPr lang="en-US" dirty="0"/>
              <a:t>Equipment: A thin tube-like instrument called a thoracoscope, equipped with a camera, is passed through a small hole made between the ribs into the pleural space. </a:t>
            </a:r>
          </a:p>
          <a:p>
            <a:r>
              <a:rPr lang="en-US" dirty="0"/>
              <a:t>Visualization: The camera provides a real-time view of the pleura, diaphragm, and the outside of the lung on a video screen. </a:t>
            </a:r>
          </a:p>
          <a:p>
            <a:r>
              <a:rPr lang="en-US" dirty="0"/>
              <a:t>Working Instruments: Instruments like biopsy forceps, scissors, and electrocoagulation forceps are passed through the working channel of the thoracoscope to perform procedures</a:t>
            </a:r>
            <a:endParaRPr lang="en-KE" dirty="0"/>
          </a:p>
        </p:txBody>
      </p:sp>
    </p:spTree>
    <p:extLst>
      <p:ext uri="{BB962C8B-B14F-4D97-AF65-F5344CB8AC3E}">
        <p14:creationId xmlns:p14="http://schemas.microsoft.com/office/powerpoint/2010/main" val="36272182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66316D2-4ED9-16DF-A8A6-5B664B73175B}"/>
              </a:ext>
            </a:extLst>
          </p:cNvPr>
          <p:cNvSpPr>
            <a:spLocks noGrp="1"/>
          </p:cNvSpPr>
          <p:nvPr>
            <p:ph type="title"/>
          </p:nvPr>
        </p:nvSpPr>
        <p:spPr/>
        <p:txBody>
          <a:bodyPr/>
          <a:lstStyle/>
          <a:p>
            <a:r>
              <a:rPr lang="en-US" dirty="0" err="1"/>
              <a:t>Pleuroscopy</a:t>
            </a:r>
            <a:endParaRPr lang="en-KE" dirty="0"/>
          </a:p>
        </p:txBody>
      </p:sp>
      <p:pic>
        <p:nvPicPr>
          <p:cNvPr id="3074" name="Picture 2" descr="Pleuroscopy / Medical Thoracoscopy">
            <a:extLst>
              <a:ext uri="{FF2B5EF4-FFF2-40B4-BE49-F238E27FC236}">
                <a16:creationId xmlns:a16="http://schemas.microsoft.com/office/drawing/2014/main" id="{EE6A808E-2FB3-218F-F1DB-0DB0D636D757}"/>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921327" y="1753032"/>
            <a:ext cx="5521346" cy="4355999"/>
          </a:xfrm>
          <a:prstGeom prst="rect">
            <a:avLst/>
          </a:prstGeom>
          <a:noFill/>
          <a:extLst>
            <a:ext uri="{909E8E84-426E-40DD-AFC4-6F175D3DCCD1}">
              <a14:hiddenFill xmlns:a14="http://schemas.microsoft.com/office/drawing/2010/main">
                <a:solidFill>
                  <a:srgbClr val="FFFFFF"/>
                </a:solidFill>
              </a14:hiddenFill>
            </a:ext>
          </a:extLst>
        </p:spPr>
      </p:pic>
      <p:pic>
        <p:nvPicPr>
          <p:cNvPr id="7" name="Content Placeholder 6">
            <a:extLst>
              <a:ext uri="{FF2B5EF4-FFF2-40B4-BE49-F238E27FC236}">
                <a16:creationId xmlns:a16="http://schemas.microsoft.com/office/drawing/2014/main" id="{3264374A-6BC3-17E9-93EA-272DD8B54AF0}"/>
              </a:ext>
            </a:extLst>
          </p:cNvPr>
          <p:cNvPicPr>
            <a:picLocks noGrp="1" noChangeAspect="1"/>
          </p:cNvPicPr>
          <p:nvPr>
            <p:ph sz="half" idx="2"/>
          </p:nvPr>
        </p:nvPicPr>
        <p:blipFill>
          <a:blip r:embed="rId3"/>
          <a:stretch>
            <a:fillRect/>
          </a:stretch>
        </p:blipFill>
        <p:spPr>
          <a:xfrm>
            <a:off x="6650182" y="1753033"/>
            <a:ext cx="4904509" cy="4356000"/>
          </a:xfrm>
          <a:prstGeom prst="rect">
            <a:avLst/>
          </a:prstGeom>
        </p:spPr>
      </p:pic>
    </p:spTree>
    <p:extLst>
      <p:ext uri="{BB962C8B-B14F-4D97-AF65-F5344CB8AC3E}">
        <p14:creationId xmlns:p14="http://schemas.microsoft.com/office/powerpoint/2010/main" val="8085708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A105473-8AD0-6BC2-D083-CCD69416ACEC}"/>
              </a:ext>
            </a:extLst>
          </p:cNvPr>
          <p:cNvSpPr>
            <a:spLocks noGrp="1"/>
          </p:cNvSpPr>
          <p:nvPr>
            <p:ph type="title"/>
          </p:nvPr>
        </p:nvSpPr>
        <p:spPr/>
        <p:txBody>
          <a:bodyPr/>
          <a:lstStyle/>
          <a:p>
            <a:r>
              <a:rPr lang="en-US" dirty="0" err="1"/>
              <a:t>Pleuroscopy</a:t>
            </a:r>
            <a:r>
              <a:rPr lang="en-US" dirty="0"/>
              <a:t> findings</a:t>
            </a:r>
            <a:endParaRPr lang="en-KE" dirty="0"/>
          </a:p>
        </p:txBody>
      </p:sp>
      <p:sp>
        <p:nvSpPr>
          <p:cNvPr id="7" name="Text Placeholder 6">
            <a:extLst>
              <a:ext uri="{FF2B5EF4-FFF2-40B4-BE49-F238E27FC236}">
                <a16:creationId xmlns:a16="http://schemas.microsoft.com/office/drawing/2014/main" id="{0A6D2E90-8B1B-78E0-6E28-9C97C3E6616A}"/>
              </a:ext>
            </a:extLst>
          </p:cNvPr>
          <p:cNvSpPr>
            <a:spLocks noGrp="1"/>
          </p:cNvSpPr>
          <p:nvPr>
            <p:ph type="body" idx="1"/>
          </p:nvPr>
        </p:nvSpPr>
        <p:spPr>
          <a:xfrm>
            <a:off x="839788" y="1681163"/>
            <a:ext cx="5157787" cy="376237"/>
          </a:xfrm>
        </p:spPr>
        <p:txBody>
          <a:bodyPr>
            <a:normAutofit fontScale="92500" lnSpcReduction="20000"/>
          </a:bodyPr>
          <a:lstStyle/>
          <a:p>
            <a:r>
              <a:rPr lang="en-US" dirty="0"/>
              <a:t>TB</a:t>
            </a:r>
            <a:endParaRPr lang="en-KE" dirty="0"/>
          </a:p>
        </p:txBody>
      </p:sp>
      <p:pic>
        <p:nvPicPr>
          <p:cNvPr id="4098" name="Picture 2" descr="Diagnostic value and safety of medical thoracoscopy in tuberculous pleural  effusion - ScienceDirect">
            <a:extLst>
              <a:ext uri="{FF2B5EF4-FFF2-40B4-BE49-F238E27FC236}">
                <a16:creationId xmlns:a16="http://schemas.microsoft.com/office/drawing/2014/main" id="{5241B9CA-2F1E-39E6-42F8-0BC6E42F9F71}"/>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tretch>
            <a:fillRect/>
          </a:stretch>
        </p:blipFill>
        <p:spPr bwMode="auto">
          <a:xfrm>
            <a:off x="902058" y="2057400"/>
            <a:ext cx="5033246" cy="3932652"/>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7">
            <a:extLst>
              <a:ext uri="{FF2B5EF4-FFF2-40B4-BE49-F238E27FC236}">
                <a16:creationId xmlns:a16="http://schemas.microsoft.com/office/drawing/2014/main" id="{38A6EBB0-FD39-0E4C-9C89-25EE36D2F09F}"/>
              </a:ext>
            </a:extLst>
          </p:cNvPr>
          <p:cNvSpPr>
            <a:spLocks noGrp="1"/>
          </p:cNvSpPr>
          <p:nvPr>
            <p:ph type="body" sz="quarter" idx="3"/>
          </p:nvPr>
        </p:nvSpPr>
        <p:spPr>
          <a:xfrm>
            <a:off x="6172200" y="1681163"/>
            <a:ext cx="5183188" cy="376237"/>
          </a:xfrm>
        </p:spPr>
        <p:txBody>
          <a:bodyPr>
            <a:normAutofit fontScale="92500" lnSpcReduction="20000"/>
          </a:bodyPr>
          <a:lstStyle/>
          <a:p>
            <a:r>
              <a:rPr lang="en-US" dirty="0"/>
              <a:t>Malignancy</a:t>
            </a:r>
            <a:endParaRPr lang="en-KE" dirty="0"/>
          </a:p>
        </p:txBody>
      </p:sp>
      <p:pic>
        <p:nvPicPr>
          <p:cNvPr id="5" name="Content Placeholder 4">
            <a:extLst>
              <a:ext uri="{FF2B5EF4-FFF2-40B4-BE49-F238E27FC236}">
                <a16:creationId xmlns:a16="http://schemas.microsoft.com/office/drawing/2014/main" id="{625E340A-6E47-FB9D-5B88-B80FA24C1793}"/>
              </a:ext>
            </a:extLst>
          </p:cNvPr>
          <p:cNvPicPr>
            <a:picLocks noGrp="1" noChangeAspect="1"/>
          </p:cNvPicPr>
          <p:nvPr>
            <p:ph sz="quarter" idx="4"/>
          </p:nvPr>
        </p:nvPicPr>
        <p:blipFill>
          <a:blip r:embed="rId3"/>
          <a:stretch>
            <a:fillRect/>
          </a:stretch>
        </p:blipFill>
        <p:spPr>
          <a:xfrm>
            <a:off x="6172200" y="2057400"/>
            <a:ext cx="5183188" cy="3973942"/>
          </a:xfrm>
          <a:prstGeom prst="rect">
            <a:avLst/>
          </a:prstGeom>
        </p:spPr>
      </p:pic>
    </p:spTree>
    <p:extLst>
      <p:ext uri="{BB962C8B-B14F-4D97-AF65-F5344CB8AC3E}">
        <p14:creationId xmlns:p14="http://schemas.microsoft.com/office/powerpoint/2010/main" val="23906494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3D6262-2B17-F5A5-B679-A9A173CAF83F}"/>
              </a:ext>
            </a:extLst>
          </p:cNvPr>
          <p:cNvSpPr>
            <a:spLocks noGrp="1"/>
          </p:cNvSpPr>
          <p:nvPr>
            <p:ph type="title"/>
          </p:nvPr>
        </p:nvSpPr>
        <p:spPr/>
        <p:txBody>
          <a:bodyPr/>
          <a:lstStyle/>
          <a:p>
            <a:r>
              <a:rPr lang="en-US" dirty="0"/>
              <a:t>Advantages</a:t>
            </a:r>
            <a:endParaRPr lang="en-KE" dirty="0"/>
          </a:p>
        </p:txBody>
      </p:sp>
      <p:sp>
        <p:nvSpPr>
          <p:cNvPr id="3" name="Content Placeholder 2">
            <a:extLst>
              <a:ext uri="{FF2B5EF4-FFF2-40B4-BE49-F238E27FC236}">
                <a16:creationId xmlns:a16="http://schemas.microsoft.com/office/drawing/2014/main" id="{2149C978-77EB-A16E-80B5-7D858D1A5BB2}"/>
              </a:ext>
            </a:extLst>
          </p:cNvPr>
          <p:cNvSpPr>
            <a:spLocks noGrp="1"/>
          </p:cNvSpPr>
          <p:nvPr>
            <p:ph idx="1"/>
          </p:nvPr>
        </p:nvSpPr>
        <p:spPr/>
        <p:txBody>
          <a:bodyPr>
            <a:normAutofit/>
          </a:bodyPr>
          <a:lstStyle/>
          <a:p>
            <a:r>
              <a:rPr lang="en-US" dirty="0"/>
              <a:t>Minimally Invasive: A single port of entry is used, making it less invasive than surgical thoracoscopy. </a:t>
            </a:r>
          </a:p>
          <a:p>
            <a:r>
              <a:rPr lang="en-US" dirty="0"/>
              <a:t>Simultaneous Diagnosis and Therapy: Both diagnostic and therapeutic procedures can be performed during the same session. </a:t>
            </a:r>
          </a:p>
          <a:p>
            <a:r>
              <a:rPr lang="en-US" dirty="0"/>
              <a:t>Effective Diagnosis: It provides direct visualization for diagnosing unknown pleural fluid, pleural thickening, and malignant or tuberculous diseases. </a:t>
            </a:r>
          </a:p>
          <a:p>
            <a:r>
              <a:rPr lang="en-US" dirty="0"/>
              <a:t>Therapeutic Applications: It is used to drain complicated pleural fluid collections, divide septations in pleural infections, and perform pleurodesis to manage recurrent malignant effusions. </a:t>
            </a:r>
            <a:endParaRPr lang="en-KE" dirty="0"/>
          </a:p>
        </p:txBody>
      </p:sp>
    </p:spTree>
    <p:extLst>
      <p:ext uri="{BB962C8B-B14F-4D97-AF65-F5344CB8AC3E}">
        <p14:creationId xmlns:p14="http://schemas.microsoft.com/office/powerpoint/2010/main" val="34724512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2F2D1A-6CCB-F30F-781F-E2B7A6445CE6}"/>
              </a:ext>
            </a:extLst>
          </p:cNvPr>
          <p:cNvSpPr>
            <a:spLocks noGrp="1"/>
          </p:cNvSpPr>
          <p:nvPr>
            <p:ph type="title"/>
          </p:nvPr>
        </p:nvSpPr>
        <p:spPr/>
        <p:txBody>
          <a:bodyPr/>
          <a:lstStyle/>
          <a:p>
            <a:r>
              <a:rPr lang="en-US" dirty="0"/>
              <a:t>Complications</a:t>
            </a:r>
            <a:endParaRPr lang="en-KE" dirty="0"/>
          </a:p>
        </p:txBody>
      </p:sp>
      <p:sp>
        <p:nvSpPr>
          <p:cNvPr id="3" name="Content Placeholder 2">
            <a:extLst>
              <a:ext uri="{FF2B5EF4-FFF2-40B4-BE49-F238E27FC236}">
                <a16:creationId xmlns:a16="http://schemas.microsoft.com/office/drawing/2014/main" id="{B9ECDDA9-F48D-146F-2ED6-08FF044BDDDD}"/>
              </a:ext>
            </a:extLst>
          </p:cNvPr>
          <p:cNvSpPr>
            <a:spLocks noGrp="1"/>
          </p:cNvSpPr>
          <p:nvPr>
            <p:ph idx="1"/>
          </p:nvPr>
        </p:nvSpPr>
        <p:spPr/>
        <p:txBody>
          <a:bodyPr/>
          <a:lstStyle/>
          <a:p>
            <a:r>
              <a:rPr lang="en-US" dirty="0"/>
              <a:t>Pain: Mild chest pain can occur after the procedure.</a:t>
            </a:r>
          </a:p>
          <a:p>
            <a:r>
              <a:rPr lang="en-US" dirty="0"/>
              <a:t>Pneumothorax: Air leakage from the lung into the pleural space, causing the lung to collapse.</a:t>
            </a:r>
          </a:p>
          <a:p>
            <a:r>
              <a:rPr lang="en-US" dirty="0"/>
              <a:t>Bleeding: Can occur at incision or biopsy sites.</a:t>
            </a:r>
          </a:p>
          <a:p>
            <a:r>
              <a:rPr lang="en-US" dirty="0"/>
              <a:t>Infection: Infection in the pleural space is a possibility.</a:t>
            </a:r>
          </a:p>
          <a:p>
            <a:r>
              <a:rPr lang="en-US" dirty="0"/>
              <a:t>Pulmonary Edema: Swelling in the lungs, leading to breathlessness.</a:t>
            </a:r>
          </a:p>
          <a:p>
            <a:r>
              <a:rPr lang="en-US" dirty="0"/>
              <a:t>Allergic Reactions: Possible reactions to sedatives, equipment, or materials used during the procedure</a:t>
            </a:r>
            <a:endParaRPr lang="en-KE" dirty="0"/>
          </a:p>
        </p:txBody>
      </p:sp>
    </p:spTree>
    <p:extLst>
      <p:ext uri="{BB962C8B-B14F-4D97-AF65-F5344CB8AC3E}">
        <p14:creationId xmlns:p14="http://schemas.microsoft.com/office/powerpoint/2010/main" val="26423546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24E31-D98B-5B7A-FE53-021EE5C4CB77}"/>
              </a:ext>
            </a:extLst>
          </p:cNvPr>
          <p:cNvSpPr>
            <a:spLocks noGrp="1"/>
          </p:cNvSpPr>
          <p:nvPr>
            <p:ph type="title"/>
          </p:nvPr>
        </p:nvSpPr>
        <p:spPr/>
        <p:txBody>
          <a:bodyPr/>
          <a:lstStyle/>
          <a:p>
            <a:r>
              <a:rPr lang="en-US" dirty="0"/>
              <a:t>Medical thoracoscopy Vs Video assisted thoracoscopy</a:t>
            </a:r>
            <a:endParaRPr lang="en-KE" dirty="0"/>
          </a:p>
        </p:txBody>
      </p:sp>
      <p:pic>
        <p:nvPicPr>
          <p:cNvPr id="4" name="Content Placeholder 3">
            <a:extLst>
              <a:ext uri="{FF2B5EF4-FFF2-40B4-BE49-F238E27FC236}">
                <a16:creationId xmlns:a16="http://schemas.microsoft.com/office/drawing/2014/main" id="{16C3C9DB-547B-283E-1BC4-768C74FAE1CF}"/>
              </a:ext>
            </a:extLst>
          </p:cNvPr>
          <p:cNvPicPr>
            <a:picLocks noGrp="1" noChangeAspect="1"/>
          </p:cNvPicPr>
          <p:nvPr>
            <p:ph idx="1"/>
          </p:nvPr>
        </p:nvPicPr>
        <p:blipFill>
          <a:blip r:embed="rId2"/>
          <a:stretch>
            <a:fillRect/>
          </a:stretch>
        </p:blipFill>
        <p:spPr>
          <a:xfrm>
            <a:off x="838200" y="2022691"/>
            <a:ext cx="10256046" cy="3411753"/>
          </a:xfrm>
          <a:prstGeom prst="rect">
            <a:avLst/>
          </a:prstGeom>
        </p:spPr>
      </p:pic>
    </p:spTree>
    <p:extLst>
      <p:ext uri="{BB962C8B-B14F-4D97-AF65-F5344CB8AC3E}">
        <p14:creationId xmlns:p14="http://schemas.microsoft.com/office/powerpoint/2010/main" val="1232583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178A6-BCD7-2BDE-A33B-522D4636C50C}"/>
              </a:ext>
            </a:extLst>
          </p:cNvPr>
          <p:cNvSpPr>
            <a:spLocks noGrp="1"/>
          </p:cNvSpPr>
          <p:nvPr>
            <p:ph type="title"/>
          </p:nvPr>
        </p:nvSpPr>
        <p:spPr>
          <a:xfrm>
            <a:off x="838200" y="365125"/>
            <a:ext cx="10515600" cy="777875"/>
          </a:xfrm>
        </p:spPr>
        <p:txBody>
          <a:bodyPr/>
          <a:lstStyle/>
          <a:p>
            <a:r>
              <a:rPr lang="en-US" dirty="0"/>
              <a:t>Indications of VATS and/ or MT</a:t>
            </a:r>
            <a:endParaRPr lang="en-KE" dirty="0"/>
          </a:p>
        </p:txBody>
      </p:sp>
      <p:pic>
        <p:nvPicPr>
          <p:cNvPr id="4" name="Content Placeholder 3">
            <a:extLst>
              <a:ext uri="{FF2B5EF4-FFF2-40B4-BE49-F238E27FC236}">
                <a16:creationId xmlns:a16="http://schemas.microsoft.com/office/drawing/2014/main" id="{8551B2B9-969F-BB89-4AC2-7A5089272349}"/>
              </a:ext>
            </a:extLst>
          </p:cNvPr>
          <p:cNvPicPr>
            <a:picLocks noGrp="1" noChangeAspect="1"/>
          </p:cNvPicPr>
          <p:nvPr>
            <p:ph idx="1"/>
          </p:nvPr>
        </p:nvPicPr>
        <p:blipFill>
          <a:blip r:embed="rId2"/>
          <a:stretch>
            <a:fillRect/>
          </a:stretch>
        </p:blipFill>
        <p:spPr>
          <a:xfrm>
            <a:off x="838200" y="1545069"/>
            <a:ext cx="10520118" cy="4608000"/>
          </a:xfrm>
          <a:prstGeom prst="rect">
            <a:avLst/>
          </a:prstGeom>
        </p:spPr>
      </p:pic>
    </p:spTree>
    <p:extLst>
      <p:ext uri="{BB962C8B-B14F-4D97-AF65-F5344CB8AC3E}">
        <p14:creationId xmlns:p14="http://schemas.microsoft.com/office/powerpoint/2010/main" val="3695572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42FD2-5E72-E649-3A22-0EFC734B7ECA}"/>
              </a:ext>
            </a:extLst>
          </p:cNvPr>
          <p:cNvSpPr>
            <a:spLocks noGrp="1"/>
          </p:cNvSpPr>
          <p:nvPr>
            <p:ph type="title"/>
          </p:nvPr>
        </p:nvSpPr>
        <p:spPr>
          <a:xfrm>
            <a:off x="838200" y="365126"/>
            <a:ext cx="10515600" cy="424584"/>
          </a:xfrm>
        </p:spPr>
        <p:txBody>
          <a:bodyPr>
            <a:normAutofit fontScale="90000"/>
          </a:bodyPr>
          <a:lstStyle/>
          <a:p>
            <a:r>
              <a:rPr lang="en-US" dirty="0" err="1"/>
              <a:t>Pleuroscopy</a:t>
            </a:r>
            <a:r>
              <a:rPr lang="en-US" dirty="0"/>
              <a:t> and VATS complications</a:t>
            </a:r>
            <a:endParaRPr lang="en-KE" dirty="0"/>
          </a:p>
        </p:txBody>
      </p:sp>
      <p:pic>
        <p:nvPicPr>
          <p:cNvPr id="2050" name="Picture 2" descr="Potential complications of medical thoracoscopy/pleuroscopy">
            <a:extLst>
              <a:ext uri="{FF2B5EF4-FFF2-40B4-BE49-F238E27FC236}">
                <a16:creationId xmlns:a16="http://schemas.microsoft.com/office/drawing/2014/main" id="{BB42A0DB-CB67-CB61-6BE5-FA4F8F0A267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12730" y="920740"/>
            <a:ext cx="7988469" cy="57190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503796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2AC5F-CA86-31DE-D8BD-E4817A35B573}"/>
              </a:ext>
            </a:extLst>
          </p:cNvPr>
          <p:cNvSpPr>
            <a:spLocks noGrp="1"/>
          </p:cNvSpPr>
          <p:nvPr>
            <p:ph type="title"/>
          </p:nvPr>
        </p:nvSpPr>
        <p:spPr/>
        <p:txBody>
          <a:bodyPr/>
          <a:lstStyle/>
          <a:p>
            <a:r>
              <a:rPr lang="en-US" dirty="0"/>
              <a:t>Pleural fluid management</a:t>
            </a:r>
            <a:endParaRPr lang="en-KE" dirty="0"/>
          </a:p>
        </p:txBody>
      </p:sp>
      <p:sp>
        <p:nvSpPr>
          <p:cNvPr id="3" name="Content Placeholder 2">
            <a:extLst>
              <a:ext uri="{FF2B5EF4-FFF2-40B4-BE49-F238E27FC236}">
                <a16:creationId xmlns:a16="http://schemas.microsoft.com/office/drawing/2014/main" id="{62AFADAB-8542-DEA5-0379-418842572B31}"/>
              </a:ext>
            </a:extLst>
          </p:cNvPr>
          <p:cNvSpPr>
            <a:spLocks noGrp="1"/>
          </p:cNvSpPr>
          <p:nvPr>
            <p:ph idx="1"/>
          </p:nvPr>
        </p:nvSpPr>
        <p:spPr/>
        <p:txBody>
          <a:bodyPr/>
          <a:lstStyle/>
          <a:p>
            <a:r>
              <a:rPr lang="en-US" dirty="0"/>
              <a:t>Acute</a:t>
            </a:r>
          </a:p>
          <a:p>
            <a:r>
              <a:rPr lang="en-US" dirty="0"/>
              <a:t>Recurrent collection</a:t>
            </a:r>
          </a:p>
          <a:p>
            <a:r>
              <a:rPr lang="en-US" dirty="0"/>
              <a:t>Loculated and/or chronic effusions</a:t>
            </a:r>
            <a:endParaRPr lang="en-KE" dirty="0"/>
          </a:p>
        </p:txBody>
      </p:sp>
    </p:spTree>
    <p:extLst>
      <p:ext uri="{BB962C8B-B14F-4D97-AF65-F5344CB8AC3E}">
        <p14:creationId xmlns:p14="http://schemas.microsoft.com/office/powerpoint/2010/main" val="37580626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697BC8-E58D-6058-0493-798EA2C04FDA}"/>
              </a:ext>
            </a:extLst>
          </p:cNvPr>
          <p:cNvSpPr>
            <a:spLocks noGrp="1"/>
          </p:cNvSpPr>
          <p:nvPr>
            <p:ph type="title"/>
          </p:nvPr>
        </p:nvSpPr>
        <p:spPr/>
        <p:txBody>
          <a:bodyPr/>
          <a:lstStyle/>
          <a:p>
            <a:endParaRPr lang="en-KE"/>
          </a:p>
        </p:txBody>
      </p:sp>
      <p:pic>
        <p:nvPicPr>
          <p:cNvPr id="5122" name="Picture 2">
            <a:extLst>
              <a:ext uri="{FF2B5EF4-FFF2-40B4-BE49-F238E27FC236}">
                <a16:creationId xmlns:a16="http://schemas.microsoft.com/office/drawing/2014/main" id="{D1627D26-53CC-4F73-21E7-D04813EAA5E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0"/>
            <a:ext cx="10676534" cy="68461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658626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710221-C439-7229-73CE-F7028EF6E5C0}"/>
              </a:ext>
            </a:extLst>
          </p:cNvPr>
          <p:cNvSpPr>
            <a:spLocks noGrp="1"/>
          </p:cNvSpPr>
          <p:nvPr>
            <p:ph type="title"/>
          </p:nvPr>
        </p:nvSpPr>
        <p:spPr/>
        <p:txBody>
          <a:bodyPr/>
          <a:lstStyle/>
          <a:p>
            <a:r>
              <a:rPr lang="en-US" dirty="0"/>
              <a:t>Recurrent effusions</a:t>
            </a:r>
            <a:endParaRPr lang="en-KE" dirty="0"/>
          </a:p>
        </p:txBody>
      </p:sp>
      <p:sp>
        <p:nvSpPr>
          <p:cNvPr id="3" name="Content Placeholder 2">
            <a:extLst>
              <a:ext uri="{FF2B5EF4-FFF2-40B4-BE49-F238E27FC236}">
                <a16:creationId xmlns:a16="http://schemas.microsoft.com/office/drawing/2014/main" id="{279A9A68-B149-A363-315E-B277DEFE9D35}"/>
              </a:ext>
            </a:extLst>
          </p:cNvPr>
          <p:cNvSpPr>
            <a:spLocks noGrp="1"/>
          </p:cNvSpPr>
          <p:nvPr>
            <p:ph idx="1"/>
          </p:nvPr>
        </p:nvSpPr>
        <p:spPr/>
        <p:txBody>
          <a:bodyPr>
            <a:normAutofit fontScale="92500" lnSpcReduction="20000"/>
          </a:bodyPr>
          <a:lstStyle/>
          <a:p>
            <a:r>
              <a:rPr lang="en-US" dirty="0"/>
              <a:t>Consider </a:t>
            </a:r>
          </a:p>
          <a:p>
            <a:pPr lvl="1"/>
            <a:r>
              <a:rPr lang="en-US" dirty="0"/>
              <a:t>Pleurodesis</a:t>
            </a:r>
          </a:p>
          <a:p>
            <a:pPr lvl="2"/>
            <a:r>
              <a:rPr lang="en-US" dirty="0"/>
              <a:t>Talc- slurry or poudrage</a:t>
            </a:r>
          </a:p>
          <a:p>
            <a:pPr lvl="2"/>
            <a:r>
              <a:rPr lang="en-US" dirty="0"/>
              <a:t>Doxycycline, bleomycin</a:t>
            </a:r>
          </a:p>
          <a:p>
            <a:pPr lvl="2"/>
            <a:r>
              <a:rPr lang="en-US" dirty="0"/>
              <a:t>VATS partial pleurectomy</a:t>
            </a:r>
          </a:p>
          <a:p>
            <a:pPr lvl="1"/>
            <a:r>
              <a:rPr lang="en-US" dirty="0"/>
              <a:t>Indwelling pleural catheters</a:t>
            </a:r>
          </a:p>
          <a:p>
            <a:pPr lvl="2"/>
            <a:r>
              <a:rPr lang="en-US" dirty="0"/>
              <a:t>IPCs provide the option of managing recurrent pleural effusion in the home setting and insertion is done as a day case procedure</a:t>
            </a:r>
          </a:p>
          <a:p>
            <a:pPr lvl="2"/>
            <a:r>
              <a:rPr lang="en-US" dirty="0"/>
              <a:t>Compared to chest tube and talc pleurodesis, the question to ask is which is better when it comes to improving </a:t>
            </a:r>
            <a:r>
              <a:rPr lang="en-US" dirty="0" err="1"/>
              <a:t>dyspnoea</a:t>
            </a:r>
            <a:r>
              <a:rPr lang="en-US" dirty="0"/>
              <a:t> scores and quality of life. The TIME 2 trial looked at both these entities the primary outcome being the difference in the degree of </a:t>
            </a:r>
            <a:r>
              <a:rPr lang="en-US" dirty="0" err="1"/>
              <a:t>dyspnoea</a:t>
            </a:r>
            <a:r>
              <a:rPr lang="en-US" dirty="0"/>
              <a:t> at 42 days between the two groups. No significant difference. Any as primary option – BTS guideline 2023</a:t>
            </a:r>
          </a:p>
          <a:p>
            <a:pPr lvl="3"/>
            <a:r>
              <a:rPr lang="en-US" dirty="0" err="1"/>
              <a:t>Eur</a:t>
            </a:r>
            <a:r>
              <a:rPr lang="en-US" dirty="0"/>
              <a:t> Respir J. 2018;52:1800349</a:t>
            </a:r>
          </a:p>
          <a:p>
            <a:pPr lvl="3"/>
            <a:r>
              <a:rPr lang="en-US" b="0" i="0" dirty="0">
                <a:solidFill>
                  <a:srgbClr val="333333"/>
                </a:solidFill>
                <a:effectLst/>
                <a:latin typeface="-apple-system"/>
              </a:rPr>
              <a:t>JAMA. 2012;307:2383–9.</a:t>
            </a:r>
          </a:p>
          <a:p>
            <a:pPr lvl="3"/>
            <a:r>
              <a:rPr lang="en-US" dirty="0"/>
              <a:t>Thorax. 2023;78:1–42.</a:t>
            </a:r>
            <a:endParaRPr lang="en-KE" dirty="0"/>
          </a:p>
        </p:txBody>
      </p:sp>
    </p:spTree>
    <p:extLst>
      <p:ext uri="{BB962C8B-B14F-4D97-AF65-F5344CB8AC3E}">
        <p14:creationId xmlns:p14="http://schemas.microsoft.com/office/powerpoint/2010/main" val="8784849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5CC58-08B7-7E63-8BE9-C4DEB32EAF69}"/>
              </a:ext>
            </a:extLst>
          </p:cNvPr>
          <p:cNvSpPr>
            <a:spLocks noGrp="1"/>
          </p:cNvSpPr>
          <p:nvPr>
            <p:ph type="title"/>
          </p:nvPr>
        </p:nvSpPr>
        <p:spPr/>
        <p:txBody>
          <a:bodyPr/>
          <a:lstStyle/>
          <a:p>
            <a:endParaRPr lang="en-KE"/>
          </a:p>
        </p:txBody>
      </p:sp>
      <p:pic>
        <p:nvPicPr>
          <p:cNvPr id="4" name="Content Placeholder 3">
            <a:extLst>
              <a:ext uri="{FF2B5EF4-FFF2-40B4-BE49-F238E27FC236}">
                <a16:creationId xmlns:a16="http://schemas.microsoft.com/office/drawing/2014/main" id="{49437D81-09F1-4464-92C7-5A7ACCD68BB6}"/>
              </a:ext>
            </a:extLst>
          </p:cNvPr>
          <p:cNvPicPr>
            <a:picLocks noGrp="1" noChangeAspect="1"/>
          </p:cNvPicPr>
          <p:nvPr>
            <p:ph idx="1"/>
          </p:nvPr>
        </p:nvPicPr>
        <p:blipFill>
          <a:blip r:embed="rId2"/>
          <a:stretch>
            <a:fillRect/>
          </a:stretch>
        </p:blipFill>
        <p:spPr>
          <a:xfrm>
            <a:off x="2129269" y="444874"/>
            <a:ext cx="8165358" cy="6194917"/>
          </a:xfrm>
          <a:prstGeom prst="rect">
            <a:avLst/>
          </a:prstGeom>
        </p:spPr>
      </p:pic>
    </p:spTree>
    <p:extLst>
      <p:ext uri="{BB962C8B-B14F-4D97-AF65-F5344CB8AC3E}">
        <p14:creationId xmlns:p14="http://schemas.microsoft.com/office/powerpoint/2010/main" val="4459597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DEBEC-55AD-95D5-7817-F0A444E47E18}"/>
              </a:ext>
            </a:extLst>
          </p:cNvPr>
          <p:cNvSpPr>
            <a:spLocks noGrp="1"/>
          </p:cNvSpPr>
          <p:nvPr>
            <p:ph type="title"/>
          </p:nvPr>
        </p:nvSpPr>
        <p:spPr>
          <a:xfrm>
            <a:off x="838200" y="365125"/>
            <a:ext cx="10515600" cy="819439"/>
          </a:xfrm>
        </p:spPr>
        <p:txBody>
          <a:bodyPr/>
          <a:lstStyle/>
          <a:p>
            <a:r>
              <a:rPr lang="en-US" dirty="0"/>
              <a:t>Management of Malignant pleural effusion</a:t>
            </a:r>
            <a:endParaRPr lang="en-KE" dirty="0"/>
          </a:p>
        </p:txBody>
      </p:sp>
      <p:pic>
        <p:nvPicPr>
          <p:cNvPr id="6146" name="Picture 2" descr="Fig. 2">
            <a:extLst>
              <a:ext uri="{FF2B5EF4-FFF2-40B4-BE49-F238E27FC236}">
                <a16:creationId xmlns:a16="http://schemas.microsoft.com/office/drawing/2014/main" id="{FD8E9F93-2DB4-7ECD-2817-15463575A7C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15636" y="1690687"/>
            <a:ext cx="9746671" cy="427369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C616C1C5-F530-B231-02C6-5E17B2BC5DDB}"/>
              </a:ext>
            </a:extLst>
          </p:cNvPr>
          <p:cNvSpPr txBox="1"/>
          <p:nvPr/>
        </p:nvSpPr>
        <p:spPr>
          <a:xfrm>
            <a:off x="10162308" y="3105835"/>
            <a:ext cx="1776847" cy="646331"/>
          </a:xfrm>
          <a:prstGeom prst="rect">
            <a:avLst/>
          </a:prstGeom>
          <a:noFill/>
        </p:spPr>
        <p:txBody>
          <a:bodyPr wrap="square">
            <a:spAutoFit/>
          </a:bodyPr>
          <a:lstStyle/>
          <a:p>
            <a:r>
              <a:rPr lang="en-US" b="0" i="1" dirty="0">
                <a:solidFill>
                  <a:srgbClr val="333333"/>
                </a:solidFill>
                <a:effectLst/>
                <a:latin typeface="-apple-system"/>
              </a:rPr>
              <a:t>Respir Res</a:t>
            </a:r>
            <a:r>
              <a:rPr lang="en-US" b="0" i="0" dirty="0">
                <a:solidFill>
                  <a:srgbClr val="333333"/>
                </a:solidFill>
                <a:effectLst/>
                <a:latin typeface="-apple-system"/>
              </a:rPr>
              <a:t> </a:t>
            </a:r>
            <a:r>
              <a:rPr lang="en-US" b="1" i="0" dirty="0">
                <a:solidFill>
                  <a:srgbClr val="333333"/>
                </a:solidFill>
                <a:effectLst/>
                <a:latin typeface="-apple-system"/>
              </a:rPr>
              <a:t>25</a:t>
            </a:r>
            <a:r>
              <a:rPr lang="en-US" b="0" i="0" dirty="0">
                <a:solidFill>
                  <a:srgbClr val="333333"/>
                </a:solidFill>
                <a:effectLst/>
                <a:latin typeface="-apple-system"/>
              </a:rPr>
              <a:t>, 47 (2024). </a:t>
            </a:r>
            <a:endParaRPr lang="en-KE" dirty="0"/>
          </a:p>
        </p:txBody>
      </p:sp>
    </p:spTree>
    <p:extLst>
      <p:ext uri="{BB962C8B-B14F-4D97-AF65-F5344CB8AC3E}">
        <p14:creationId xmlns:p14="http://schemas.microsoft.com/office/powerpoint/2010/main" val="39512809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C9533-98D0-BB99-D75E-A5E186022BB7}"/>
              </a:ext>
            </a:extLst>
          </p:cNvPr>
          <p:cNvSpPr>
            <a:spLocks noGrp="1"/>
          </p:cNvSpPr>
          <p:nvPr>
            <p:ph type="title"/>
          </p:nvPr>
        </p:nvSpPr>
        <p:spPr/>
        <p:txBody>
          <a:bodyPr/>
          <a:lstStyle/>
          <a:p>
            <a:r>
              <a:rPr lang="en-US" dirty="0"/>
              <a:t>Loculated effusions - Fibrinolysis vs </a:t>
            </a:r>
            <a:r>
              <a:rPr lang="en-US" dirty="0" err="1"/>
              <a:t>Pleuroscopy</a:t>
            </a:r>
            <a:r>
              <a:rPr lang="en-US" dirty="0"/>
              <a:t> Vs VATS</a:t>
            </a:r>
            <a:endParaRPr lang="en-KE" dirty="0"/>
          </a:p>
        </p:txBody>
      </p:sp>
      <p:sp>
        <p:nvSpPr>
          <p:cNvPr id="3" name="Content Placeholder 2">
            <a:extLst>
              <a:ext uri="{FF2B5EF4-FFF2-40B4-BE49-F238E27FC236}">
                <a16:creationId xmlns:a16="http://schemas.microsoft.com/office/drawing/2014/main" id="{34B1CC63-3224-0694-03DA-6A8A53328A5C}"/>
              </a:ext>
            </a:extLst>
          </p:cNvPr>
          <p:cNvSpPr>
            <a:spLocks noGrp="1"/>
          </p:cNvSpPr>
          <p:nvPr>
            <p:ph idx="1"/>
          </p:nvPr>
        </p:nvSpPr>
        <p:spPr/>
        <p:txBody>
          <a:bodyPr>
            <a:normAutofit fontScale="32500" lnSpcReduction="20000"/>
          </a:bodyPr>
          <a:lstStyle/>
          <a:p>
            <a:endParaRPr lang="en-US" dirty="0"/>
          </a:p>
          <a:p>
            <a:r>
              <a:rPr lang="en-US" sz="5000" dirty="0"/>
              <a:t>Initial consideration to chest drain insertion – small bore 12/14f vs surgical intervention</a:t>
            </a:r>
          </a:p>
          <a:p>
            <a:r>
              <a:rPr lang="en-US" sz="5000" dirty="0"/>
              <a:t>Fibrinolysis to be considered if residual fluid – </a:t>
            </a:r>
            <a:r>
              <a:rPr lang="en-US" sz="5000" dirty="0" err="1"/>
              <a:t>Tpa</a:t>
            </a:r>
            <a:r>
              <a:rPr lang="en-US" sz="5000" dirty="0"/>
              <a:t> and </a:t>
            </a:r>
            <a:r>
              <a:rPr lang="en-US" sz="5000" dirty="0" err="1"/>
              <a:t>DNAase</a:t>
            </a:r>
            <a:r>
              <a:rPr lang="en-US" sz="5000" dirty="0"/>
              <a:t> (or saline)</a:t>
            </a:r>
          </a:p>
          <a:p>
            <a:r>
              <a:rPr lang="en-US" sz="5000" dirty="0"/>
              <a:t>VATS access should be considered over thoracotomy for adults in the surgical management of pleural infection. </a:t>
            </a:r>
          </a:p>
          <a:p>
            <a:r>
              <a:rPr lang="en-US" sz="5000" dirty="0"/>
              <a:t>When selecting a surgical access for the treatment of pleural infection in adults, it is important to ensure the technique can facilitate optimal clearance of infected material and achieve lung re-expansion where appropriate.</a:t>
            </a:r>
          </a:p>
          <a:p>
            <a:r>
              <a:rPr lang="en-US" sz="5000" dirty="0"/>
              <a:t>Extent of surgery should be tailored according to patient and empyema stage when the lung is not completely trapped (drainage vs debridement)</a:t>
            </a:r>
          </a:p>
          <a:p>
            <a:r>
              <a:rPr lang="en-US" sz="5000" dirty="0"/>
              <a:t>Decortication should be a decision that is </a:t>
            </a:r>
            <a:r>
              <a:rPr lang="en-US" sz="5000" dirty="0" err="1"/>
              <a:t>individualised</a:t>
            </a:r>
            <a:r>
              <a:rPr lang="en-US" sz="5000" dirty="0"/>
              <a:t> to the patient with a trapped lung based on assessment of patient fitness and empyema stage.</a:t>
            </a:r>
          </a:p>
          <a:p>
            <a:pPr marL="0" indent="0">
              <a:buNone/>
            </a:pPr>
            <a:endParaRPr lang="en-US" dirty="0"/>
          </a:p>
          <a:p>
            <a:pPr lvl="1"/>
            <a:r>
              <a:rPr lang="en-US" dirty="0"/>
              <a:t>British Thoracic Society Guideline for pleural disease 2023 .</a:t>
            </a:r>
            <a:r>
              <a:rPr lang="en-US" dirty="0">
                <a:solidFill>
                  <a:srgbClr val="2A6EBB"/>
                </a:solidFill>
                <a:latin typeface="interfaceregular"/>
              </a:rPr>
              <a:t>https://doi.org/10.1136/thorax-2023-220304</a:t>
            </a:r>
            <a:endParaRPr lang="en-KE" dirty="0"/>
          </a:p>
          <a:p>
            <a:endParaRPr lang="en-KE" dirty="0"/>
          </a:p>
        </p:txBody>
      </p:sp>
    </p:spTree>
    <p:extLst>
      <p:ext uri="{BB962C8B-B14F-4D97-AF65-F5344CB8AC3E}">
        <p14:creationId xmlns:p14="http://schemas.microsoft.com/office/powerpoint/2010/main" val="32326647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F255B0-C01A-17FA-700A-C6A1DED1B569}"/>
              </a:ext>
            </a:extLst>
          </p:cNvPr>
          <p:cNvSpPr>
            <a:spLocks noGrp="1"/>
          </p:cNvSpPr>
          <p:nvPr>
            <p:ph type="title"/>
          </p:nvPr>
        </p:nvSpPr>
        <p:spPr/>
        <p:txBody>
          <a:bodyPr/>
          <a:lstStyle/>
          <a:p>
            <a:r>
              <a:rPr lang="en-US" dirty="0"/>
              <a:t>Summary</a:t>
            </a:r>
            <a:endParaRPr lang="en-KE" dirty="0"/>
          </a:p>
        </p:txBody>
      </p:sp>
      <p:sp>
        <p:nvSpPr>
          <p:cNvPr id="3" name="Content Placeholder 2">
            <a:extLst>
              <a:ext uri="{FF2B5EF4-FFF2-40B4-BE49-F238E27FC236}">
                <a16:creationId xmlns:a16="http://schemas.microsoft.com/office/drawing/2014/main" id="{3E622426-1A58-673E-0AAD-E957CA08DD90}"/>
              </a:ext>
            </a:extLst>
          </p:cNvPr>
          <p:cNvSpPr>
            <a:spLocks noGrp="1"/>
          </p:cNvSpPr>
          <p:nvPr>
            <p:ph idx="1"/>
          </p:nvPr>
        </p:nvSpPr>
        <p:spPr/>
        <p:txBody>
          <a:bodyPr>
            <a:normAutofit/>
          </a:bodyPr>
          <a:lstStyle/>
          <a:p>
            <a:r>
              <a:rPr lang="en-US" sz="2400" dirty="0"/>
              <a:t>IP has lots to offer in the management of pleural diseases</a:t>
            </a:r>
          </a:p>
          <a:p>
            <a:r>
              <a:rPr lang="en-US" sz="2400" dirty="0"/>
              <a:t>Advantage – minimal access intervention with proven good outcomes</a:t>
            </a:r>
          </a:p>
          <a:p>
            <a:r>
              <a:rPr lang="en-US" sz="2400" dirty="0"/>
              <a:t>Challenge – skill acquisition, cost of equipment and procedures</a:t>
            </a:r>
          </a:p>
          <a:p>
            <a:r>
              <a:rPr lang="en-US" sz="2400" dirty="0"/>
              <a:t>Opportunity – favorable outcomes and relatively short </a:t>
            </a:r>
            <a:r>
              <a:rPr lang="en-US" sz="2400" dirty="0" err="1"/>
              <a:t>hospitalisation</a:t>
            </a:r>
            <a:endParaRPr lang="en-KE" sz="2400" dirty="0"/>
          </a:p>
        </p:txBody>
      </p:sp>
    </p:spTree>
    <p:extLst>
      <p:ext uri="{BB962C8B-B14F-4D97-AF65-F5344CB8AC3E}">
        <p14:creationId xmlns:p14="http://schemas.microsoft.com/office/powerpoint/2010/main" val="21508894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2019658-A9CA-FF19-D149-A34B6A4B7D6A}"/>
              </a:ext>
            </a:extLst>
          </p:cNvPr>
          <p:cNvSpPr>
            <a:spLocks noGrp="1"/>
          </p:cNvSpPr>
          <p:nvPr>
            <p:ph idx="1"/>
          </p:nvPr>
        </p:nvSpPr>
        <p:spPr/>
        <p:txBody>
          <a:bodyPr>
            <a:normAutofit/>
          </a:bodyPr>
          <a:lstStyle/>
          <a:p>
            <a:r>
              <a:rPr lang="en-US" sz="4000" dirty="0"/>
              <a:t>Thanks</a:t>
            </a:r>
          </a:p>
          <a:p>
            <a:endParaRPr lang="en-US" sz="4000" dirty="0"/>
          </a:p>
          <a:p>
            <a:endParaRPr lang="en-US" sz="4000" dirty="0"/>
          </a:p>
          <a:p>
            <a:r>
              <a:rPr lang="en-US" sz="4000" dirty="0"/>
              <a:t>Discussion</a:t>
            </a:r>
            <a:endParaRPr lang="en-KE" sz="4000" dirty="0"/>
          </a:p>
        </p:txBody>
      </p:sp>
    </p:spTree>
    <p:extLst>
      <p:ext uri="{BB962C8B-B14F-4D97-AF65-F5344CB8AC3E}">
        <p14:creationId xmlns:p14="http://schemas.microsoft.com/office/powerpoint/2010/main" val="1824502711"/>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1922</TotalTime>
  <Words>944</Words>
  <Application>Microsoft Office PowerPoint</Application>
  <PresentationFormat>Widescreen</PresentationFormat>
  <Paragraphs>104</Paragraphs>
  <Slides>27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-apple-system</vt:lpstr>
      <vt:lpstr>Arial</vt:lpstr>
      <vt:lpstr>interfaceregular</vt:lpstr>
      <vt:lpstr>Trebuchet MS</vt:lpstr>
      <vt:lpstr>Wingdings 3</vt:lpstr>
      <vt:lpstr>Facet</vt:lpstr>
      <vt:lpstr>ROLE OF INTERVENTIONAL PULMONOLOGY IN PLEURAL DISEASE</vt:lpstr>
      <vt:lpstr>Interventional Pulmonology in Pleural disease</vt:lpstr>
      <vt:lpstr>Available modalities</vt:lpstr>
      <vt:lpstr>Thoracic ultrasound</vt:lpstr>
      <vt:lpstr>Advantages</vt:lpstr>
      <vt:lpstr>Challenges</vt:lpstr>
      <vt:lpstr>Transthoracic biopsies</vt:lpstr>
      <vt:lpstr>Image guided</vt:lpstr>
      <vt:lpstr>Types of biopsy needles</vt:lpstr>
      <vt:lpstr>Performance</vt:lpstr>
      <vt:lpstr>Medical thoracoscopy</vt:lpstr>
      <vt:lpstr>PowerPoint Presentation</vt:lpstr>
      <vt:lpstr>Pleuroscopy</vt:lpstr>
      <vt:lpstr>Pleuroscopy findings</vt:lpstr>
      <vt:lpstr>Advantages</vt:lpstr>
      <vt:lpstr>Complications</vt:lpstr>
      <vt:lpstr>Medical thoracoscopy Vs Video assisted thoracoscopy</vt:lpstr>
      <vt:lpstr>Indications of VATS and/ or MT</vt:lpstr>
      <vt:lpstr>Pleuroscopy and VATS complications</vt:lpstr>
      <vt:lpstr>Pleural fluid management</vt:lpstr>
      <vt:lpstr>PowerPoint Presentation</vt:lpstr>
      <vt:lpstr>Recurrent effusions</vt:lpstr>
      <vt:lpstr>PowerPoint Presentation</vt:lpstr>
      <vt:lpstr>Management of Malignant pleural effusion</vt:lpstr>
      <vt:lpstr>Loculated effusions - Fibrinolysis vs Pleuroscopy Vs VATS</vt:lpstr>
      <vt:lpstr>Summary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Waweru Munyu</dc:creator>
  <cp:lastModifiedBy>Patrick M Waweru</cp:lastModifiedBy>
  <cp:revision>37</cp:revision>
  <dcterms:created xsi:type="dcterms:W3CDTF">2025-09-27T05:54:24Z</dcterms:created>
  <dcterms:modified xsi:type="dcterms:W3CDTF">2025-09-28T13:56:34Z</dcterms:modified>
</cp:coreProperties>
</file>