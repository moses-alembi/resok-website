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93" r:id="rId2"/>
    <p:sldId id="257" r:id="rId3"/>
    <p:sldId id="277" r:id="rId4"/>
    <p:sldId id="279" r:id="rId5"/>
    <p:sldId id="281" r:id="rId6"/>
    <p:sldId id="259" r:id="rId7"/>
    <p:sldId id="267" r:id="rId8"/>
    <p:sldId id="266" r:id="rId9"/>
    <p:sldId id="284" r:id="rId10"/>
    <p:sldId id="285" r:id="rId11"/>
    <p:sldId id="264" r:id="rId12"/>
    <p:sldId id="286" r:id="rId13"/>
    <p:sldId id="287" r:id="rId14"/>
    <p:sldId id="288" r:id="rId15"/>
    <p:sldId id="289" r:id="rId16"/>
    <p:sldId id="290" r:id="rId17"/>
    <p:sldId id="296" r:id="rId18"/>
    <p:sldId id="302" r:id="rId19"/>
    <p:sldId id="304" r:id="rId20"/>
    <p:sldId id="305" r:id="rId21"/>
    <p:sldId id="306" r:id="rId22"/>
    <p:sldId id="307" r:id="rId23"/>
    <p:sldId id="309" r:id="rId24"/>
    <p:sldId id="310" r:id="rId25"/>
    <p:sldId id="301" r:id="rId26"/>
    <p:sldId id="271" r:id="rId27"/>
    <p:sldId id="291" r:id="rId28"/>
    <p:sldId id="292" r:id="rId29"/>
    <p:sldId id="30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FB9A2C-D340-4CE2-B7B4-93C8504DE103}"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9277466B-0EDD-4BC1-915D-A5FF92ACF377}">
      <dgm:prSet phldrT="[Text]"/>
      <dgm:spPr>
        <a:solidFill>
          <a:schemeClr val="accent6">
            <a:lumMod val="50000"/>
          </a:schemeClr>
        </a:solidFill>
      </dgm:spPr>
      <dgm:t>
        <a:bodyPr/>
        <a:lstStyle/>
        <a:p>
          <a:r>
            <a:rPr lang="en-US" dirty="0"/>
            <a:t>PR</a:t>
          </a:r>
        </a:p>
      </dgm:t>
    </dgm:pt>
    <dgm:pt modelId="{61BB6A41-7833-4574-97E1-8794C9E3DAE2}" type="parTrans" cxnId="{FEEE1511-C229-4FD3-9E02-D69687834FBF}">
      <dgm:prSet/>
      <dgm:spPr/>
      <dgm:t>
        <a:bodyPr/>
        <a:lstStyle/>
        <a:p>
          <a:endParaRPr lang="en-US"/>
        </a:p>
      </dgm:t>
    </dgm:pt>
    <dgm:pt modelId="{BFA21E9F-F8AF-4704-9486-19ACB9D87DF6}" type="sibTrans" cxnId="{FEEE1511-C229-4FD3-9E02-D69687834FBF}">
      <dgm:prSet/>
      <dgm:spPr/>
      <dgm:t>
        <a:bodyPr/>
        <a:lstStyle/>
        <a:p>
          <a:endParaRPr lang="en-US"/>
        </a:p>
      </dgm:t>
    </dgm:pt>
    <dgm:pt modelId="{CE854EE7-78BF-42CE-8EE0-99D504E9AD94}">
      <dgm:prSet phldrT="[Text]"/>
      <dgm:spPr>
        <a:solidFill>
          <a:schemeClr val="tx1">
            <a:lumMod val="85000"/>
            <a:lumOff val="15000"/>
          </a:schemeClr>
        </a:solidFill>
      </dgm:spPr>
      <dgm:t>
        <a:bodyPr/>
        <a:lstStyle/>
        <a:p>
          <a:r>
            <a:rPr lang="en-US" dirty="0"/>
            <a:t>COPD</a:t>
          </a:r>
        </a:p>
      </dgm:t>
    </dgm:pt>
    <dgm:pt modelId="{A9D59DAD-1BFD-43A0-936B-579D91CC74E9}" type="parTrans" cxnId="{69EE3B7A-9F9C-48CB-9D30-2AE1962C039D}">
      <dgm:prSet/>
      <dgm:spPr/>
      <dgm:t>
        <a:bodyPr/>
        <a:lstStyle/>
        <a:p>
          <a:endParaRPr lang="en-US"/>
        </a:p>
      </dgm:t>
    </dgm:pt>
    <dgm:pt modelId="{0C082268-81E0-4FF8-994C-0A9D35627AE3}" type="sibTrans" cxnId="{69EE3B7A-9F9C-48CB-9D30-2AE1962C039D}">
      <dgm:prSet/>
      <dgm:spPr/>
      <dgm:t>
        <a:bodyPr/>
        <a:lstStyle/>
        <a:p>
          <a:endParaRPr lang="en-US"/>
        </a:p>
      </dgm:t>
    </dgm:pt>
    <dgm:pt modelId="{3731773B-513D-4722-AFF6-3F30408428A3}">
      <dgm:prSet phldrT="[Text]"/>
      <dgm:spPr>
        <a:solidFill>
          <a:schemeClr val="tx1"/>
        </a:solidFill>
      </dgm:spPr>
      <dgm:t>
        <a:bodyPr/>
        <a:lstStyle/>
        <a:p>
          <a:r>
            <a:rPr lang="en-US" dirty="0"/>
            <a:t>ILD</a:t>
          </a:r>
        </a:p>
      </dgm:t>
    </dgm:pt>
    <dgm:pt modelId="{C8257CB7-38D9-409B-BB3D-65401A13D7F8}" type="parTrans" cxnId="{C4043EE1-092D-4A5F-B908-B2D5EFAC996E}">
      <dgm:prSet/>
      <dgm:spPr/>
      <dgm:t>
        <a:bodyPr/>
        <a:lstStyle/>
        <a:p>
          <a:endParaRPr lang="en-US"/>
        </a:p>
      </dgm:t>
    </dgm:pt>
    <dgm:pt modelId="{78AE78B2-5E9C-42A7-B68A-E47DEEE5C242}" type="sibTrans" cxnId="{C4043EE1-092D-4A5F-B908-B2D5EFAC996E}">
      <dgm:prSet/>
      <dgm:spPr/>
      <dgm:t>
        <a:bodyPr/>
        <a:lstStyle/>
        <a:p>
          <a:endParaRPr lang="en-US"/>
        </a:p>
      </dgm:t>
    </dgm:pt>
    <dgm:pt modelId="{3BAA6B0E-D150-4CD5-9015-DF78D332E548}">
      <dgm:prSet phldrT="[Text]"/>
      <dgm:spPr>
        <a:solidFill>
          <a:schemeClr val="tx1"/>
        </a:solidFill>
      </dgm:spPr>
      <dgm:t>
        <a:bodyPr/>
        <a:lstStyle/>
        <a:p>
          <a:r>
            <a:rPr lang="en-US" dirty="0"/>
            <a:t>Post-TB</a:t>
          </a:r>
        </a:p>
      </dgm:t>
    </dgm:pt>
    <dgm:pt modelId="{60B3D754-F5A3-4141-B429-64785D3F060E}" type="parTrans" cxnId="{856BC9EF-7A38-4A16-BA6F-9BB68009A42D}">
      <dgm:prSet/>
      <dgm:spPr/>
      <dgm:t>
        <a:bodyPr/>
        <a:lstStyle/>
        <a:p>
          <a:endParaRPr lang="en-US"/>
        </a:p>
      </dgm:t>
    </dgm:pt>
    <dgm:pt modelId="{10707F05-E387-4F2F-BD2A-11C97BC95A66}" type="sibTrans" cxnId="{856BC9EF-7A38-4A16-BA6F-9BB68009A42D}">
      <dgm:prSet/>
      <dgm:spPr/>
      <dgm:t>
        <a:bodyPr/>
        <a:lstStyle/>
        <a:p>
          <a:endParaRPr lang="en-US"/>
        </a:p>
      </dgm:t>
    </dgm:pt>
    <dgm:pt modelId="{C5F56A83-03E9-4DBD-8745-F5106CBF8232}">
      <dgm:prSet phldrT="[Text]"/>
      <dgm:spPr>
        <a:solidFill>
          <a:schemeClr val="tx1"/>
        </a:solidFill>
      </dgm:spPr>
      <dgm:t>
        <a:bodyPr/>
        <a:lstStyle/>
        <a:p>
          <a:r>
            <a:rPr lang="en-US" dirty="0"/>
            <a:t>Pre-Post lung transplant</a:t>
          </a:r>
        </a:p>
      </dgm:t>
    </dgm:pt>
    <dgm:pt modelId="{5B7E4AF3-A5E5-4E1E-AC54-CBE0377589B4}" type="parTrans" cxnId="{A21ADC00-593B-4630-A664-E4DFA10D1F10}">
      <dgm:prSet/>
      <dgm:spPr/>
      <dgm:t>
        <a:bodyPr/>
        <a:lstStyle/>
        <a:p>
          <a:endParaRPr lang="en-US"/>
        </a:p>
      </dgm:t>
    </dgm:pt>
    <dgm:pt modelId="{9E14B0F3-76B7-4607-A3B5-59B3BA4B6E6F}" type="sibTrans" cxnId="{A21ADC00-593B-4630-A664-E4DFA10D1F10}">
      <dgm:prSet/>
      <dgm:spPr/>
      <dgm:t>
        <a:bodyPr/>
        <a:lstStyle/>
        <a:p>
          <a:endParaRPr lang="en-US"/>
        </a:p>
      </dgm:t>
    </dgm:pt>
    <dgm:pt modelId="{FEA82EFC-DDC4-40A3-BD93-CE883143452B}">
      <dgm:prSet/>
      <dgm:spPr/>
      <dgm:t>
        <a:bodyPr/>
        <a:lstStyle/>
        <a:p>
          <a:endParaRPr lang="en-US"/>
        </a:p>
      </dgm:t>
    </dgm:pt>
    <dgm:pt modelId="{ACB24ED9-43D8-4D71-8C64-4F7A94E91CAA}" type="parTrans" cxnId="{EF4BB9EE-8175-43AE-8D55-1922319FCBD9}">
      <dgm:prSet/>
      <dgm:spPr/>
      <dgm:t>
        <a:bodyPr/>
        <a:lstStyle/>
        <a:p>
          <a:endParaRPr lang="en-US"/>
        </a:p>
      </dgm:t>
    </dgm:pt>
    <dgm:pt modelId="{735B7E29-AF68-4272-9ADF-F939AEC45B94}" type="sibTrans" cxnId="{EF4BB9EE-8175-43AE-8D55-1922319FCBD9}">
      <dgm:prSet/>
      <dgm:spPr/>
      <dgm:t>
        <a:bodyPr/>
        <a:lstStyle/>
        <a:p>
          <a:endParaRPr lang="en-US"/>
        </a:p>
      </dgm:t>
    </dgm:pt>
    <dgm:pt modelId="{703745D4-B737-4292-B212-03DFB8964453}" type="pres">
      <dgm:prSet presAssocID="{0DFB9A2C-D340-4CE2-B7B4-93C8504DE103}" presName="Name0" presStyleCnt="0">
        <dgm:presLayoutVars>
          <dgm:chMax val="1"/>
          <dgm:dir/>
          <dgm:animLvl val="ctr"/>
          <dgm:resizeHandles val="exact"/>
        </dgm:presLayoutVars>
      </dgm:prSet>
      <dgm:spPr/>
    </dgm:pt>
    <dgm:pt modelId="{FF6A141D-F60D-40A9-A4A3-805D2ABC6696}" type="pres">
      <dgm:prSet presAssocID="{9277466B-0EDD-4BC1-915D-A5FF92ACF377}" presName="centerShape" presStyleLbl="node0" presStyleIdx="0" presStyleCnt="1"/>
      <dgm:spPr/>
    </dgm:pt>
    <dgm:pt modelId="{4742BFEA-2E2F-4144-90E5-EFDEE918814B}" type="pres">
      <dgm:prSet presAssocID="{CE854EE7-78BF-42CE-8EE0-99D504E9AD94}" presName="node" presStyleLbl="node1" presStyleIdx="0" presStyleCnt="4">
        <dgm:presLayoutVars>
          <dgm:bulletEnabled val="1"/>
        </dgm:presLayoutVars>
      </dgm:prSet>
      <dgm:spPr/>
    </dgm:pt>
    <dgm:pt modelId="{8F80A7E1-174D-4521-978E-84CEBDC7EE33}" type="pres">
      <dgm:prSet presAssocID="{CE854EE7-78BF-42CE-8EE0-99D504E9AD94}" presName="dummy" presStyleCnt="0"/>
      <dgm:spPr/>
    </dgm:pt>
    <dgm:pt modelId="{B0025083-870E-4CAB-902B-A45DAC331FE7}" type="pres">
      <dgm:prSet presAssocID="{0C082268-81E0-4FF8-994C-0A9D35627AE3}" presName="sibTrans" presStyleLbl="sibTrans2D1" presStyleIdx="0" presStyleCnt="4"/>
      <dgm:spPr/>
    </dgm:pt>
    <dgm:pt modelId="{38066D3A-94F9-462C-9EEA-39FD80B97859}" type="pres">
      <dgm:prSet presAssocID="{3731773B-513D-4722-AFF6-3F30408428A3}" presName="node" presStyleLbl="node1" presStyleIdx="1" presStyleCnt="4">
        <dgm:presLayoutVars>
          <dgm:bulletEnabled val="1"/>
        </dgm:presLayoutVars>
      </dgm:prSet>
      <dgm:spPr/>
    </dgm:pt>
    <dgm:pt modelId="{6C087AAF-51A2-4F46-AAEE-85AF2CA7CC8B}" type="pres">
      <dgm:prSet presAssocID="{3731773B-513D-4722-AFF6-3F30408428A3}" presName="dummy" presStyleCnt="0"/>
      <dgm:spPr/>
    </dgm:pt>
    <dgm:pt modelId="{8E0B7D7B-4EBD-4837-931A-6B7F6DD4A9B5}" type="pres">
      <dgm:prSet presAssocID="{78AE78B2-5E9C-42A7-B68A-E47DEEE5C242}" presName="sibTrans" presStyleLbl="sibTrans2D1" presStyleIdx="1" presStyleCnt="4"/>
      <dgm:spPr/>
    </dgm:pt>
    <dgm:pt modelId="{6A2474D1-1C11-4A7A-B9C6-86AAC518E873}" type="pres">
      <dgm:prSet presAssocID="{3BAA6B0E-D150-4CD5-9015-DF78D332E548}" presName="node" presStyleLbl="node1" presStyleIdx="2" presStyleCnt="4">
        <dgm:presLayoutVars>
          <dgm:bulletEnabled val="1"/>
        </dgm:presLayoutVars>
      </dgm:prSet>
      <dgm:spPr/>
    </dgm:pt>
    <dgm:pt modelId="{C85904E6-1A4C-4589-9417-34008F9397C6}" type="pres">
      <dgm:prSet presAssocID="{3BAA6B0E-D150-4CD5-9015-DF78D332E548}" presName="dummy" presStyleCnt="0"/>
      <dgm:spPr/>
    </dgm:pt>
    <dgm:pt modelId="{9B89FF6D-B230-4221-93F0-C6CAD13E6C9A}" type="pres">
      <dgm:prSet presAssocID="{10707F05-E387-4F2F-BD2A-11C97BC95A66}" presName="sibTrans" presStyleLbl="sibTrans2D1" presStyleIdx="2" presStyleCnt="4"/>
      <dgm:spPr/>
    </dgm:pt>
    <dgm:pt modelId="{51694969-707C-45EA-B9E9-0A46EA3343D7}" type="pres">
      <dgm:prSet presAssocID="{C5F56A83-03E9-4DBD-8745-F5106CBF8232}" presName="node" presStyleLbl="node1" presStyleIdx="3" presStyleCnt="4">
        <dgm:presLayoutVars>
          <dgm:bulletEnabled val="1"/>
        </dgm:presLayoutVars>
      </dgm:prSet>
      <dgm:spPr/>
    </dgm:pt>
    <dgm:pt modelId="{29E9235E-EC6E-419C-8608-26EB6D7099F6}" type="pres">
      <dgm:prSet presAssocID="{C5F56A83-03E9-4DBD-8745-F5106CBF8232}" presName="dummy" presStyleCnt="0"/>
      <dgm:spPr/>
    </dgm:pt>
    <dgm:pt modelId="{3B8C7954-F248-448F-AA93-942D19FCA73E}" type="pres">
      <dgm:prSet presAssocID="{9E14B0F3-76B7-4607-A3B5-59B3BA4B6E6F}" presName="sibTrans" presStyleLbl="sibTrans2D1" presStyleIdx="3" presStyleCnt="4"/>
      <dgm:spPr/>
    </dgm:pt>
  </dgm:ptLst>
  <dgm:cxnLst>
    <dgm:cxn modelId="{A21ADC00-593B-4630-A664-E4DFA10D1F10}" srcId="{9277466B-0EDD-4BC1-915D-A5FF92ACF377}" destId="{C5F56A83-03E9-4DBD-8745-F5106CBF8232}" srcOrd="3" destOrd="0" parTransId="{5B7E4AF3-A5E5-4E1E-AC54-CBE0377589B4}" sibTransId="{9E14B0F3-76B7-4607-A3B5-59B3BA4B6E6F}"/>
    <dgm:cxn modelId="{E626D10C-D5A7-47AD-B724-599186F11BB2}" type="presOf" srcId="{78AE78B2-5E9C-42A7-B68A-E47DEEE5C242}" destId="{8E0B7D7B-4EBD-4837-931A-6B7F6DD4A9B5}" srcOrd="0" destOrd="0" presId="urn:microsoft.com/office/officeart/2005/8/layout/radial6"/>
    <dgm:cxn modelId="{FEEE1511-C229-4FD3-9E02-D69687834FBF}" srcId="{0DFB9A2C-D340-4CE2-B7B4-93C8504DE103}" destId="{9277466B-0EDD-4BC1-915D-A5FF92ACF377}" srcOrd="0" destOrd="0" parTransId="{61BB6A41-7833-4574-97E1-8794C9E3DAE2}" sibTransId="{BFA21E9F-F8AF-4704-9486-19ACB9D87DF6}"/>
    <dgm:cxn modelId="{1057681F-094F-4322-8691-BED5170D947A}" type="presOf" srcId="{3BAA6B0E-D150-4CD5-9015-DF78D332E548}" destId="{6A2474D1-1C11-4A7A-B9C6-86AAC518E873}" srcOrd="0" destOrd="0" presId="urn:microsoft.com/office/officeart/2005/8/layout/radial6"/>
    <dgm:cxn modelId="{B13C2B5D-2927-44AC-AA5A-5688AE10836D}" type="presOf" srcId="{CE854EE7-78BF-42CE-8EE0-99D504E9AD94}" destId="{4742BFEA-2E2F-4144-90E5-EFDEE918814B}" srcOrd="0" destOrd="0" presId="urn:microsoft.com/office/officeart/2005/8/layout/radial6"/>
    <dgm:cxn modelId="{4CB69249-B7AC-4393-9D30-C906FDEF0986}" type="presOf" srcId="{3731773B-513D-4722-AFF6-3F30408428A3}" destId="{38066D3A-94F9-462C-9EEA-39FD80B97859}" srcOrd="0" destOrd="0" presId="urn:microsoft.com/office/officeart/2005/8/layout/radial6"/>
    <dgm:cxn modelId="{3627EB70-BF67-459A-8B4E-DBFD144A2BF2}" type="presOf" srcId="{9E14B0F3-76B7-4607-A3B5-59B3BA4B6E6F}" destId="{3B8C7954-F248-448F-AA93-942D19FCA73E}" srcOrd="0" destOrd="0" presId="urn:microsoft.com/office/officeart/2005/8/layout/radial6"/>
    <dgm:cxn modelId="{34BF2251-9C6A-47EF-8450-F2AFA83E13BE}" type="presOf" srcId="{0DFB9A2C-D340-4CE2-B7B4-93C8504DE103}" destId="{703745D4-B737-4292-B212-03DFB8964453}" srcOrd="0" destOrd="0" presId="urn:microsoft.com/office/officeart/2005/8/layout/radial6"/>
    <dgm:cxn modelId="{69EE3B7A-9F9C-48CB-9D30-2AE1962C039D}" srcId="{9277466B-0EDD-4BC1-915D-A5FF92ACF377}" destId="{CE854EE7-78BF-42CE-8EE0-99D504E9AD94}" srcOrd="0" destOrd="0" parTransId="{A9D59DAD-1BFD-43A0-936B-579D91CC74E9}" sibTransId="{0C082268-81E0-4FF8-994C-0A9D35627AE3}"/>
    <dgm:cxn modelId="{F571697F-5FFB-4861-9691-DB66943F4D94}" type="presOf" srcId="{10707F05-E387-4F2F-BD2A-11C97BC95A66}" destId="{9B89FF6D-B230-4221-93F0-C6CAD13E6C9A}" srcOrd="0" destOrd="0" presId="urn:microsoft.com/office/officeart/2005/8/layout/radial6"/>
    <dgm:cxn modelId="{036E9289-BC1C-4A85-B853-B5301008FE6F}" type="presOf" srcId="{9277466B-0EDD-4BC1-915D-A5FF92ACF377}" destId="{FF6A141D-F60D-40A9-A4A3-805D2ABC6696}" srcOrd="0" destOrd="0" presId="urn:microsoft.com/office/officeart/2005/8/layout/radial6"/>
    <dgm:cxn modelId="{7ECEC3CE-E30D-4743-B466-15F2D08BCD8A}" type="presOf" srcId="{0C082268-81E0-4FF8-994C-0A9D35627AE3}" destId="{B0025083-870E-4CAB-902B-A45DAC331FE7}" srcOrd="0" destOrd="0" presId="urn:microsoft.com/office/officeart/2005/8/layout/radial6"/>
    <dgm:cxn modelId="{D1A5F3CF-8263-4506-9F73-998D7878B993}" type="presOf" srcId="{C5F56A83-03E9-4DBD-8745-F5106CBF8232}" destId="{51694969-707C-45EA-B9E9-0A46EA3343D7}" srcOrd="0" destOrd="0" presId="urn:microsoft.com/office/officeart/2005/8/layout/radial6"/>
    <dgm:cxn modelId="{C4043EE1-092D-4A5F-B908-B2D5EFAC996E}" srcId="{9277466B-0EDD-4BC1-915D-A5FF92ACF377}" destId="{3731773B-513D-4722-AFF6-3F30408428A3}" srcOrd="1" destOrd="0" parTransId="{C8257CB7-38D9-409B-BB3D-65401A13D7F8}" sibTransId="{78AE78B2-5E9C-42A7-B68A-E47DEEE5C242}"/>
    <dgm:cxn modelId="{EF4BB9EE-8175-43AE-8D55-1922319FCBD9}" srcId="{0DFB9A2C-D340-4CE2-B7B4-93C8504DE103}" destId="{FEA82EFC-DDC4-40A3-BD93-CE883143452B}" srcOrd="1" destOrd="0" parTransId="{ACB24ED9-43D8-4D71-8C64-4F7A94E91CAA}" sibTransId="{735B7E29-AF68-4272-9ADF-F939AEC45B94}"/>
    <dgm:cxn modelId="{856BC9EF-7A38-4A16-BA6F-9BB68009A42D}" srcId="{9277466B-0EDD-4BC1-915D-A5FF92ACF377}" destId="{3BAA6B0E-D150-4CD5-9015-DF78D332E548}" srcOrd="2" destOrd="0" parTransId="{60B3D754-F5A3-4141-B429-64785D3F060E}" sibTransId="{10707F05-E387-4F2F-BD2A-11C97BC95A66}"/>
    <dgm:cxn modelId="{2CBB1C66-1204-49D3-A46C-A1F2E38E96A7}" type="presParOf" srcId="{703745D4-B737-4292-B212-03DFB8964453}" destId="{FF6A141D-F60D-40A9-A4A3-805D2ABC6696}" srcOrd="0" destOrd="0" presId="urn:microsoft.com/office/officeart/2005/8/layout/radial6"/>
    <dgm:cxn modelId="{1E56C9D2-11C5-4E1B-BEBB-10231647CAF1}" type="presParOf" srcId="{703745D4-B737-4292-B212-03DFB8964453}" destId="{4742BFEA-2E2F-4144-90E5-EFDEE918814B}" srcOrd="1" destOrd="0" presId="urn:microsoft.com/office/officeart/2005/8/layout/radial6"/>
    <dgm:cxn modelId="{6E17ED93-3A08-4F2A-8405-324EE6804C10}" type="presParOf" srcId="{703745D4-B737-4292-B212-03DFB8964453}" destId="{8F80A7E1-174D-4521-978E-84CEBDC7EE33}" srcOrd="2" destOrd="0" presId="urn:microsoft.com/office/officeart/2005/8/layout/radial6"/>
    <dgm:cxn modelId="{C7BEB73D-CD72-4B77-93E7-69E4CB52E760}" type="presParOf" srcId="{703745D4-B737-4292-B212-03DFB8964453}" destId="{B0025083-870E-4CAB-902B-A45DAC331FE7}" srcOrd="3" destOrd="0" presId="urn:microsoft.com/office/officeart/2005/8/layout/radial6"/>
    <dgm:cxn modelId="{4E7EC8C8-2C8D-4F4F-975A-5BD27BA0888F}" type="presParOf" srcId="{703745D4-B737-4292-B212-03DFB8964453}" destId="{38066D3A-94F9-462C-9EEA-39FD80B97859}" srcOrd="4" destOrd="0" presId="urn:microsoft.com/office/officeart/2005/8/layout/radial6"/>
    <dgm:cxn modelId="{66F6DF05-FB25-48B1-862A-B3C35DD38BF5}" type="presParOf" srcId="{703745D4-B737-4292-B212-03DFB8964453}" destId="{6C087AAF-51A2-4F46-AAEE-85AF2CA7CC8B}" srcOrd="5" destOrd="0" presId="urn:microsoft.com/office/officeart/2005/8/layout/radial6"/>
    <dgm:cxn modelId="{BAB3C0D4-89FF-48C3-903F-43F459AD23EC}" type="presParOf" srcId="{703745D4-B737-4292-B212-03DFB8964453}" destId="{8E0B7D7B-4EBD-4837-931A-6B7F6DD4A9B5}" srcOrd="6" destOrd="0" presId="urn:microsoft.com/office/officeart/2005/8/layout/radial6"/>
    <dgm:cxn modelId="{5D32C373-3001-495F-979C-93D1FAF1AC7F}" type="presParOf" srcId="{703745D4-B737-4292-B212-03DFB8964453}" destId="{6A2474D1-1C11-4A7A-B9C6-86AAC518E873}" srcOrd="7" destOrd="0" presId="urn:microsoft.com/office/officeart/2005/8/layout/radial6"/>
    <dgm:cxn modelId="{3210912B-4508-4D78-A281-7296673217FE}" type="presParOf" srcId="{703745D4-B737-4292-B212-03DFB8964453}" destId="{C85904E6-1A4C-4589-9417-34008F9397C6}" srcOrd="8" destOrd="0" presId="urn:microsoft.com/office/officeart/2005/8/layout/radial6"/>
    <dgm:cxn modelId="{943B9431-BE58-466B-AB28-9A4FBA14ACB6}" type="presParOf" srcId="{703745D4-B737-4292-B212-03DFB8964453}" destId="{9B89FF6D-B230-4221-93F0-C6CAD13E6C9A}" srcOrd="9" destOrd="0" presId="urn:microsoft.com/office/officeart/2005/8/layout/radial6"/>
    <dgm:cxn modelId="{A1A2810E-02E8-4CC8-B013-E5BB2564E21B}" type="presParOf" srcId="{703745D4-B737-4292-B212-03DFB8964453}" destId="{51694969-707C-45EA-B9E9-0A46EA3343D7}" srcOrd="10" destOrd="0" presId="urn:microsoft.com/office/officeart/2005/8/layout/radial6"/>
    <dgm:cxn modelId="{D3CBB5FD-287E-4A61-83AD-370BF9115421}" type="presParOf" srcId="{703745D4-B737-4292-B212-03DFB8964453}" destId="{29E9235E-EC6E-419C-8608-26EB6D7099F6}" srcOrd="11" destOrd="0" presId="urn:microsoft.com/office/officeart/2005/8/layout/radial6"/>
    <dgm:cxn modelId="{7C6BF241-CE5F-4E84-A844-229E8E760619}" type="presParOf" srcId="{703745D4-B737-4292-B212-03DFB8964453}" destId="{3B8C7954-F248-448F-AA93-942D19FCA73E}"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C7954-F248-448F-AA93-942D19FCA73E}">
      <dsp:nvSpPr>
        <dsp:cNvPr id="0" name=""/>
        <dsp:cNvSpPr/>
      </dsp:nvSpPr>
      <dsp:spPr>
        <a:xfrm>
          <a:off x="4039739" y="616182"/>
          <a:ext cx="4112520" cy="4112520"/>
        </a:xfrm>
        <a:prstGeom prst="blockArc">
          <a:avLst>
            <a:gd name="adj1" fmla="val 10800000"/>
            <a:gd name="adj2" fmla="val 1620000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B89FF6D-B230-4221-93F0-C6CAD13E6C9A}">
      <dsp:nvSpPr>
        <dsp:cNvPr id="0" name=""/>
        <dsp:cNvSpPr/>
      </dsp:nvSpPr>
      <dsp:spPr>
        <a:xfrm>
          <a:off x="4039739" y="616182"/>
          <a:ext cx="4112520" cy="4112520"/>
        </a:xfrm>
        <a:prstGeom prst="blockArc">
          <a:avLst>
            <a:gd name="adj1" fmla="val 5400000"/>
            <a:gd name="adj2" fmla="val 1080000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0B7D7B-4EBD-4837-931A-6B7F6DD4A9B5}">
      <dsp:nvSpPr>
        <dsp:cNvPr id="0" name=""/>
        <dsp:cNvSpPr/>
      </dsp:nvSpPr>
      <dsp:spPr>
        <a:xfrm>
          <a:off x="4039739" y="616182"/>
          <a:ext cx="4112520" cy="4112520"/>
        </a:xfrm>
        <a:prstGeom prst="blockArc">
          <a:avLst>
            <a:gd name="adj1" fmla="val 0"/>
            <a:gd name="adj2" fmla="val 540000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025083-870E-4CAB-902B-A45DAC331FE7}">
      <dsp:nvSpPr>
        <dsp:cNvPr id="0" name=""/>
        <dsp:cNvSpPr/>
      </dsp:nvSpPr>
      <dsp:spPr>
        <a:xfrm>
          <a:off x="4039739" y="616182"/>
          <a:ext cx="4112520" cy="4112520"/>
        </a:xfrm>
        <a:prstGeom prst="blockArc">
          <a:avLst>
            <a:gd name="adj1" fmla="val 16200000"/>
            <a:gd name="adj2" fmla="val 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F6A141D-F60D-40A9-A4A3-805D2ABC6696}">
      <dsp:nvSpPr>
        <dsp:cNvPr id="0" name=""/>
        <dsp:cNvSpPr/>
      </dsp:nvSpPr>
      <dsp:spPr>
        <a:xfrm>
          <a:off x="5149453" y="1725895"/>
          <a:ext cx="1893093" cy="1893093"/>
        </a:xfrm>
        <a:prstGeom prst="ellipse">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dirty="0"/>
            <a:t>PR</a:t>
          </a:r>
        </a:p>
      </dsp:txBody>
      <dsp:txXfrm>
        <a:off x="5426690" y="2003132"/>
        <a:ext cx="1338619" cy="1338619"/>
      </dsp:txXfrm>
    </dsp:sp>
    <dsp:sp modelId="{4742BFEA-2E2F-4144-90E5-EFDEE918814B}">
      <dsp:nvSpPr>
        <dsp:cNvPr id="0" name=""/>
        <dsp:cNvSpPr/>
      </dsp:nvSpPr>
      <dsp:spPr>
        <a:xfrm>
          <a:off x="5433417" y="1305"/>
          <a:ext cx="1325165" cy="1325165"/>
        </a:xfrm>
        <a:prstGeom prst="ellipse">
          <a:avLst/>
        </a:prstGeom>
        <a:solidFill>
          <a:schemeClr val="tx1">
            <a:lumMod val="85000"/>
            <a:lumOff val="1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COPD</a:t>
          </a:r>
        </a:p>
      </dsp:txBody>
      <dsp:txXfrm>
        <a:off x="5627483" y="195371"/>
        <a:ext cx="937033" cy="937033"/>
      </dsp:txXfrm>
    </dsp:sp>
    <dsp:sp modelId="{38066D3A-94F9-462C-9EEA-39FD80B97859}">
      <dsp:nvSpPr>
        <dsp:cNvPr id="0" name=""/>
        <dsp:cNvSpPr/>
      </dsp:nvSpPr>
      <dsp:spPr>
        <a:xfrm>
          <a:off x="7441971" y="2009859"/>
          <a:ext cx="1325165" cy="1325165"/>
        </a:xfrm>
        <a:prstGeom prst="ellipse">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ILD</a:t>
          </a:r>
        </a:p>
      </dsp:txBody>
      <dsp:txXfrm>
        <a:off x="7636037" y="2203925"/>
        <a:ext cx="937033" cy="937033"/>
      </dsp:txXfrm>
    </dsp:sp>
    <dsp:sp modelId="{6A2474D1-1C11-4A7A-B9C6-86AAC518E873}">
      <dsp:nvSpPr>
        <dsp:cNvPr id="0" name=""/>
        <dsp:cNvSpPr/>
      </dsp:nvSpPr>
      <dsp:spPr>
        <a:xfrm>
          <a:off x="5433417" y="4018413"/>
          <a:ext cx="1325165" cy="1325165"/>
        </a:xfrm>
        <a:prstGeom prst="ellipse">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Post-TB</a:t>
          </a:r>
        </a:p>
      </dsp:txBody>
      <dsp:txXfrm>
        <a:off x="5627483" y="4212479"/>
        <a:ext cx="937033" cy="937033"/>
      </dsp:txXfrm>
    </dsp:sp>
    <dsp:sp modelId="{51694969-707C-45EA-B9E9-0A46EA3343D7}">
      <dsp:nvSpPr>
        <dsp:cNvPr id="0" name=""/>
        <dsp:cNvSpPr/>
      </dsp:nvSpPr>
      <dsp:spPr>
        <a:xfrm>
          <a:off x="3424863" y="2009859"/>
          <a:ext cx="1325165" cy="1325165"/>
        </a:xfrm>
        <a:prstGeom prst="ellipse">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Pre-Post lung transplant</a:t>
          </a:r>
        </a:p>
      </dsp:txBody>
      <dsp:txXfrm>
        <a:off x="3618929" y="2203925"/>
        <a:ext cx="937033" cy="93703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2:39.8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1 183,'1'-7,"1"1,0 0,0-1,0 1,1 0,0 0,0 0,1 1,0-1,4-4,-6 7,2-3,1 1,0 1,0-1,0 1,0 0,1 0,-1 0,1 1,0-1,0 2,0-1,1 1,8-3,12-1,53-6,-45 7,26-7,-37 7,37-4,306 5,-198 6,-130 0,63 11,-59-6,44 1,-54-8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2:45.07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0,'1452'31'0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2:58.7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 0,'1359'0'0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3:02.59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2450 0 0,'-2450'151'0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3:04.52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265 27,'-5'0,"-7"0,-6 0,-6 0,-4 0,-1 0,2-5,-2-1,-3 0,-1 0,6 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3:08.4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3053 275,'-7'1,"1"-1,0 1,0 1,-1-1,1 1,-6 3,-7 1,-478 126,419-118,1-4,-2-3,-130-6,-173-3,292 2,58-1,-63-12,-12-1,69 9,-1-1,1-2,0-1,-68-28,-39-10,110 41,1 1,0 2,-1 1,-37 3,30 0,-1-2,-45-6,-8-4,-182 4,262 6,-1-1,0 0,-20-6,-15-3,19 4,33 7,0 0,0 0,0 0,-1 0,1 0,0 0,0 0,-1 0,1 0,0 0,0 0,0 0,-1 0,1 0,0-1,0 1,0 0,0 0,-1 0,1 0,0-1,0 1,0 0,0 0,0 0,0 0,0-1,-1 1,1 0,0 0,0-1,0 1,0 0,0 0,0 0,0-1,0 1,0 0,17-7,315-73,-243 55,-65 16,-1 2,1 1,0 1,1 1,25-1,-6 5,11 0,73-10,93-27,-185 32,62 0,-24 2,87-22,235 20,-220 7,876-2,-1035 1,1 0,0 2,0 0,19 7,-16-4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3:13.46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1487 0 0,'-1486'288'0,"2972"1"0,-1-578 0,-2970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3:38.8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0,'6623'0'0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3:49.8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 0,'6742'61'0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4:05.4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0,'3146'152'0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17.9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1 123,'15'1,"-1"0,1 1,0 1,19 7,-6-3,254 74,-210-59,-9-7,-37-9,46 17,-47-14,1 0,0-2,1 0,35 3,-29-4,56 17,-62-15,0-1,0-1,41 4,200-9,-126-3,-127 2,1-1,-1-1,0-1,0 0,23-8,69-34,-95 39,3 1,-1 0,1 1,0 0,1 1,16-1,26-5,-10-1,39-10,-5 2,-26 6,-23 6,-1 1,1 2,57 2,19-2,-82-1,0 0,45-16,-40 11,40-7,-34 10,0-2,70-25,-90 28,1 0,1 1,-1 1,37 0,-31 2,-1-2,34-6,104-21,-110 22,0 1,0 3,67 2,85-7,-76-2,143 4,-259 7,0 1,0 1,0 0,0 1,0 0,-1 0,1 1,17 10,-1 1,51 39,-78-53,1 0,-1 0,0 0,0 0,0 0,0 0,1 0,-2 0,1 1,0-1,0 1,1 2,-2-4,0 1,0 0,0-1,1 1,-1 0,0-1,-1 1,1-1,0 1,0 0,0-1,0 1,0 0,-1-1,1 1,0-1,0 1,-1-1,1 1,-1-1,1 1,-1 0,-1 1,-1 0,1-1,-1 1,0-1,1 1,-1-1,0 0,0 0,0 0,0-1,-4 2,-60 3,35-4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32.8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35.1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1689 3,'-17'1,"1"1,-1 0,1 2,-30 10,18-6,-12 4,-1 1,-1-2,1-2,-72 7,-99 2,130-10,-135-4,145-5,55 1,1-1,-1-1,1-1,0-1,-20-6,-76-36,83 34,-1 2,-1 1,1 1,-40-4,18 7,-89 4,93 2,20-1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38.2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1178 1,'-1'1,"1"0,0 0,-1 0,1 0,0 0,-1 0,1 0,-1 0,0 0,1 0,-1 0,0 0,1 0,-1-1,0 1,0 0,-1 0,-21 14,11-7,3-1,-1 1,-1 0,0 0,0-1,-1 0,0-1,0 0,0-1,-1 0,-20 4,-90 17,60-11,-73 7,-159-17,159-8,-69 4,179-1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42.27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1467 123,'-334'0,"320"-1,0 0,0-1,0 0,-27-9,-53-24,8 1,61 26,8 2,-1 1,0 0,-34-4,-245 6,153 5,79-3,-79 3,140-1,-1-1,0 1,1 1,-1-1,1 1,0 0,-1 0,1 0,0 0,0 1,0 0,-5 5,-5 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4:51.7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0,'1815'0'0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4:54.33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60 0,'1421'-60'0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56.21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33,'476'0,"-444"-2,-1-1,35-8,39-4,-73 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1T09:14:57.9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0 104,'56'1,"67"-3,-117 1,0-1,0 1,0-1,0 0,0-1,-1 0,1 0,8-6,-7 5,0 0,0 0,0 1,14-6,4 5,-1 0,1 2,0 0,29 3,-29 0,0-1,0-1,0-1,28-7,-28 4,44-4,11-1,-56 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09:15:01.1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0,'1331'0'0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09:12:44.6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 0,'2973'0'0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6T09:12:49.0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1 126,'473'-32,"-2"0,546 34,-987-4,0-1,0-2,55-15,-50 10,0 2,41-4,210 9,-157 5,-102-2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6T09:12:52.90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1 313,'5'0,"1"-1,-1 0,0 0,1 0,8-4,20-4,11 2,163-28,-157 24,100-36,-118 36,0 2,0 1,40-5,-29 6,48-14,-86 20,149-52,-19 3,-114 44,0 1,1 1,0 1,30 0,125 5,-161 0,0 1,-1 0,1 1,-1 0,29 13,2 0,-31-12,12 5,0-2,1-1,0 0,40 2,-61-9,0 0,0 1,0 0,0 0,0 1,0 0,0 0,0 1,-1 0,1 1,-1-1,0 1,0 1,0 0,10 9,-9-7,-1-1,1 0,0-1,0 0,0 0,1-1,-1 0,1 0,10 2,8 1,49 5,15 3,-59-8,0-2,56 3,66-9,-61-1,-59 2,-18 1,0-1,0 0,1-2,19-3,-14-2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1T11:12:15.59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2262 0 0,'-2262'487'0,"6785"-487"0,-6784-487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3AAEB0-3A79-483A-AD2C-C9F44E711F7E}" type="datetimeFigureOut">
              <a:rPr lang="en-US" smtClean="0"/>
              <a:t>9/25/2025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92DC8-307E-4CB9-9560-2FEA9CAC0498}" type="slidenum">
              <a:rPr lang="en-US" smtClean="0"/>
              <a:t>‹#›</a:t>
            </a:fld>
            <a:endParaRPr lang="en-US"/>
          </a:p>
        </p:txBody>
      </p:sp>
    </p:spTree>
    <p:extLst>
      <p:ext uri="{BB962C8B-B14F-4D97-AF65-F5344CB8AC3E}">
        <p14:creationId xmlns:p14="http://schemas.microsoft.com/office/powerpoint/2010/main" val="145921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E92DC8-307E-4CB9-9560-2FEA9CAC0498}" type="slidenum">
              <a:rPr lang="en-US" smtClean="0"/>
              <a:t>7</a:t>
            </a:fld>
            <a:endParaRPr lang="en-US"/>
          </a:p>
        </p:txBody>
      </p:sp>
    </p:spTree>
    <p:extLst>
      <p:ext uri="{BB962C8B-B14F-4D97-AF65-F5344CB8AC3E}">
        <p14:creationId xmlns:p14="http://schemas.microsoft.com/office/powerpoint/2010/main" val="1822274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E92DC8-307E-4CB9-9560-2FEA9CAC0498}" type="slidenum">
              <a:rPr lang="en-US" smtClean="0"/>
              <a:t>16</a:t>
            </a:fld>
            <a:endParaRPr lang="en-US"/>
          </a:p>
        </p:txBody>
      </p:sp>
    </p:spTree>
    <p:extLst>
      <p:ext uri="{BB962C8B-B14F-4D97-AF65-F5344CB8AC3E}">
        <p14:creationId xmlns:p14="http://schemas.microsoft.com/office/powerpoint/2010/main" val="2397355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B9B14-C32A-1694-2AA9-5C9E9A71CE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6888F2-6408-CB6D-201A-9A50280DD1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BC7946-0A55-B945-6E25-6ADBF560B89C}"/>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5" name="Footer Placeholder 4">
            <a:extLst>
              <a:ext uri="{FF2B5EF4-FFF2-40B4-BE49-F238E27FC236}">
                <a16:creationId xmlns:a16="http://schemas.microsoft.com/office/drawing/2014/main" id="{F824C4C0-9B7C-EF17-0591-C90206065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C0DB3-0602-4068-380A-8AD2A8A57ECD}"/>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2041003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F9B6-2B06-E5F7-C21F-CCFBAE57FD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F55495-FD41-A602-892D-219AB76017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1C861-70B0-C21A-C507-952304DDC1E8}"/>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5" name="Footer Placeholder 4">
            <a:extLst>
              <a:ext uri="{FF2B5EF4-FFF2-40B4-BE49-F238E27FC236}">
                <a16:creationId xmlns:a16="http://schemas.microsoft.com/office/drawing/2014/main" id="{C1B5F584-97EB-39B4-690D-9F527C307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41F974-5A56-7311-D3AF-91F1028521AA}"/>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74133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7ED4A-87D6-7885-CF92-09E7860D37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AD15C0-FFA0-39ED-7BC6-C4645F5C66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53B5E5-6E72-A54C-8C92-88EDE6AC7B2B}"/>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5" name="Footer Placeholder 4">
            <a:extLst>
              <a:ext uri="{FF2B5EF4-FFF2-40B4-BE49-F238E27FC236}">
                <a16:creationId xmlns:a16="http://schemas.microsoft.com/office/drawing/2014/main" id="{DA4A2F5D-4072-5477-0FC5-9ED191E191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66D805-C9EB-2815-CF3E-BCB0F128DEDD}"/>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3812610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36E05-9C17-B59B-5498-CECE63C92B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742B42-06C8-C70A-1FC4-8B37BE6448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65A6C8-5E67-DD32-5643-FD1CDC6F24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BDB870-19E2-1CA6-6608-108984F5B64C}"/>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6" name="Footer Placeholder 5">
            <a:extLst>
              <a:ext uri="{FF2B5EF4-FFF2-40B4-BE49-F238E27FC236}">
                <a16:creationId xmlns:a16="http://schemas.microsoft.com/office/drawing/2014/main" id="{F418F848-DB8B-7858-A933-2428D6F1CC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E72F3C-7AF8-48EB-1A1E-01797847BCBA}"/>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19436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1B40-CB3C-95E5-4215-7D5C461E53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52A027-3652-E63F-E98D-2CF198B8A2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B8BDA7-D056-DDA9-A122-865D25296E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3585A7-0051-CE58-FFAD-14EB353C53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47B071-50AD-60A3-D05E-02ABF28168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F7AC84-A363-B418-0B10-D0D562E07503}"/>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8" name="Footer Placeholder 7">
            <a:extLst>
              <a:ext uri="{FF2B5EF4-FFF2-40B4-BE49-F238E27FC236}">
                <a16:creationId xmlns:a16="http://schemas.microsoft.com/office/drawing/2014/main" id="{FB8FFE87-0135-6B92-B176-F1DAC5B86D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A7C1D-B373-0D46-0EA6-E5B30BF0E1BF}"/>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3261256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32F7-E6D9-0362-0C64-E861400024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4FE9D3-BAEE-53E3-A2B0-C740C320EBFF}"/>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4" name="Footer Placeholder 3">
            <a:extLst>
              <a:ext uri="{FF2B5EF4-FFF2-40B4-BE49-F238E27FC236}">
                <a16:creationId xmlns:a16="http://schemas.microsoft.com/office/drawing/2014/main" id="{FBF8B4D8-050F-E2AE-5F6A-A2136F9D21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E616BA-CD86-F7DA-50DE-A66A86EB6217}"/>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3026714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29EB2A-EDFB-C0B2-C512-B00954225DFA}"/>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3" name="Footer Placeholder 2">
            <a:extLst>
              <a:ext uri="{FF2B5EF4-FFF2-40B4-BE49-F238E27FC236}">
                <a16:creationId xmlns:a16="http://schemas.microsoft.com/office/drawing/2014/main" id="{B19D3FCD-4569-B06E-7073-C2DA952D7A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96D51E-C246-BEDF-0530-800A567BCB69}"/>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3796301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7E6E-854D-1A93-0882-1048337376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C9A4E1-7823-E4ED-6A5D-63E6A50F4A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CE36E7-7A47-F8E5-0999-D08769FA9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7A07AB-D186-849B-D30C-A971EFC49A84}"/>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6" name="Footer Placeholder 5">
            <a:extLst>
              <a:ext uri="{FF2B5EF4-FFF2-40B4-BE49-F238E27FC236}">
                <a16:creationId xmlns:a16="http://schemas.microsoft.com/office/drawing/2014/main" id="{C67BEE1E-6EE2-47B8-DC22-ED772D9154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82BB69-0D80-68D8-0649-BCB25F151E44}"/>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3357861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13DA0-51D1-5D5E-054C-70D20594DD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996011-7DB1-65AD-F230-4B3990465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4B797A-2A38-0498-A000-13B0D1C058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3921B-8D7E-E954-0ABE-54094C684C6F}"/>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6" name="Footer Placeholder 5">
            <a:extLst>
              <a:ext uri="{FF2B5EF4-FFF2-40B4-BE49-F238E27FC236}">
                <a16:creationId xmlns:a16="http://schemas.microsoft.com/office/drawing/2014/main" id="{E399AC0F-BC7F-7A9A-6597-13FE32A690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6A5503-08F2-C231-92D2-7CE627F199F2}"/>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457366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EA77-5E2A-0413-5AA7-9C75E33E76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8752CA-8EC8-5D32-64C3-30FA200927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C0B296-9B15-5371-C5AC-24ABCDEA672E}"/>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5" name="Footer Placeholder 4">
            <a:extLst>
              <a:ext uri="{FF2B5EF4-FFF2-40B4-BE49-F238E27FC236}">
                <a16:creationId xmlns:a16="http://schemas.microsoft.com/office/drawing/2014/main" id="{26CC1B68-C8B9-451F-E91B-4973F8B0A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787E9-FE58-2480-FFF9-FA8053D7FEE8}"/>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1821154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DF46F4-B999-678B-077A-1807068D30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D2A0D6-828A-0BDA-4670-3DD17C93D0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F2E309-FDFC-0D02-6924-06922738DCDF}"/>
              </a:ext>
            </a:extLst>
          </p:cNvPr>
          <p:cNvSpPr>
            <a:spLocks noGrp="1"/>
          </p:cNvSpPr>
          <p:nvPr>
            <p:ph type="dt" sz="half" idx="10"/>
          </p:nvPr>
        </p:nvSpPr>
        <p:spPr/>
        <p:txBody>
          <a:bodyPr/>
          <a:lstStyle/>
          <a:p>
            <a:fld id="{331DCE1F-89C5-4A49-AF10-5CECE7DBD9FF}" type="datetimeFigureOut">
              <a:rPr lang="en-US" smtClean="0"/>
              <a:t>9/25/2025</a:t>
            </a:fld>
            <a:endParaRPr lang="en-US"/>
          </a:p>
        </p:txBody>
      </p:sp>
      <p:sp>
        <p:nvSpPr>
          <p:cNvPr id="5" name="Footer Placeholder 4">
            <a:extLst>
              <a:ext uri="{FF2B5EF4-FFF2-40B4-BE49-F238E27FC236}">
                <a16:creationId xmlns:a16="http://schemas.microsoft.com/office/drawing/2014/main" id="{653BFA63-1CEE-B613-3749-D1A6B1E83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6F17C-CEAA-8203-F243-A472E2D2051B}"/>
              </a:ext>
            </a:extLst>
          </p:cNvPr>
          <p:cNvSpPr>
            <a:spLocks noGrp="1"/>
          </p:cNvSpPr>
          <p:nvPr>
            <p:ph type="sldNum" sz="quarter" idx="12"/>
          </p:nvPr>
        </p:nvSpPr>
        <p:spPr/>
        <p:txBody>
          <a:bodyPr/>
          <a:lstStyle/>
          <a:p>
            <a:fld id="{9AB83ED4-B338-43D4-BF97-340EAA7B1C23}" type="slidenum">
              <a:rPr lang="en-US" smtClean="0"/>
              <a:t>‹#›</a:t>
            </a:fld>
            <a:endParaRPr lang="en-US"/>
          </a:p>
        </p:txBody>
      </p:sp>
    </p:spTree>
    <p:extLst>
      <p:ext uri="{BB962C8B-B14F-4D97-AF65-F5344CB8AC3E}">
        <p14:creationId xmlns:p14="http://schemas.microsoft.com/office/powerpoint/2010/main" val="2223670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4268B7-0215-247C-1C1E-C5B6F4825E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374D0D-D9FC-4F1E-CE06-AC02290BE2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49A9B-9E22-40B7-85BF-D473E3F4D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DCE1F-89C5-4A49-AF10-5CECE7DBD9FF}" type="datetimeFigureOut">
              <a:rPr lang="en-US" smtClean="0"/>
              <a:t>9/25/2025</a:t>
            </a:fld>
            <a:endParaRPr lang="en-US"/>
          </a:p>
        </p:txBody>
      </p:sp>
      <p:sp>
        <p:nvSpPr>
          <p:cNvPr id="5" name="Footer Placeholder 4">
            <a:extLst>
              <a:ext uri="{FF2B5EF4-FFF2-40B4-BE49-F238E27FC236}">
                <a16:creationId xmlns:a16="http://schemas.microsoft.com/office/drawing/2014/main" id="{81CD87CF-EA80-F046-A8B1-EAAD4ADE45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01E4ED-3769-FDBA-CA08-7F78F8B364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B83ED4-B338-43D4-BF97-340EAA7B1C23}" type="slidenum">
              <a:rPr lang="en-US" smtClean="0"/>
              <a:t>‹#›</a:t>
            </a:fld>
            <a:endParaRPr lang="en-US"/>
          </a:p>
        </p:txBody>
      </p:sp>
    </p:spTree>
    <p:extLst>
      <p:ext uri="{BB962C8B-B14F-4D97-AF65-F5344CB8AC3E}">
        <p14:creationId xmlns:p14="http://schemas.microsoft.com/office/powerpoint/2010/main" val="1107413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36.png"/><Relationship Id="rId26" Type="http://schemas.openxmlformats.org/officeDocument/2006/relationships/image" Target="../media/image40.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44.png"/><Relationship Id="rId42" Type="http://schemas.openxmlformats.org/officeDocument/2006/relationships/image" Target="../media/image48.png"/><Relationship Id="rId47" Type="http://schemas.openxmlformats.org/officeDocument/2006/relationships/customXml" Target="../ink/ink23.xml"/><Relationship Id="rId7" Type="http://schemas.openxmlformats.org/officeDocument/2006/relationships/customXml" Target="../ink/ink3.xml"/><Relationship Id="rId2" Type="http://schemas.openxmlformats.org/officeDocument/2006/relationships/image" Target="../media/image29.png"/><Relationship Id="rId16" Type="http://schemas.openxmlformats.org/officeDocument/2006/relationships/image" Target="../media/image35.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customXml" Target="../ink/ink5.xml"/><Relationship Id="rId24" Type="http://schemas.openxmlformats.org/officeDocument/2006/relationships/image" Target="../media/image39.png"/><Relationship Id="rId32" Type="http://schemas.openxmlformats.org/officeDocument/2006/relationships/image" Target="../media/image43.png"/><Relationship Id="rId37" Type="http://schemas.openxmlformats.org/officeDocument/2006/relationships/customXml" Target="../ink/ink18.xml"/><Relationship Id="rId40" Type="http://schemas.openxmlformats.org/officeDocument/2006/relationships/image" Target="../media/image47.png"/><Relationship Id="rId45"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41.png"/><Relationship Id="rId36" Type="http://schemas.openxmlformats.org/officeDocument/2006/relationships/image" Target="../media/image45.png"/><Relationship Id="rId10" Type="http://schemas.openxmlformats.org/officeDocument/2006/relationships/image" Target="../media/image32.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49.png"/><Relationship Id="rId4" Type="http://schemas.openxmlformats.org/officeDocument/2006/relationships/image" Target="../media/image290.png"/><Relationship Id="rId9" Type="http://schemas.openxmlformats.org/officeDocument/2006/relationships/customXml" Target="../ink/ink4.xml"/><Relationship Id="rId14" Type="http://schemas.openxmlformats.org/officeDocument/2006/relationships/image" Target="../media/image34.png"/><Relationship Id="rId22" Type="http://schemas.openxmlformats.org/officeDocument/2006/relationships/image" Target="../media/image38.png"/><Relationship Id="rId27" Type="http://schemas.openxmlformats.org/officeDocument/2006/relationships/customXml" Target="../ink/ink13.xml"/><Relationship Id="rId30" Type="http://schemas.openxmlformats.org/officeDocument/2006/relationships/image" Target="../media/image42.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51.png"/><Relationship Id="rId8" Type="http://schemas.openxmlformats.org/officeDocument/2006/relationships/image" Target="../media/image31.png"/><Relationship Id="rId3" Type="http://schemas.openxmlformats.org/officeDocument/2006/relationships/customXml" Target="../ink/ink1.xml"/><Relationship Id="rId12" Type="http://schemas.openxmlformats.org/officeDocument/2006/relationships/image" Target="../media/image33.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46.png"/><Relationship Id="rId46" Type="http://schemas.openxmlformats.org/officeDocument/2006/relationships/image" Target="../media/image50.png"/><Relationship Id="rId20" Type="http://schemas.openxmlformats.org/officeDocument/2006/relationships/image" Target="../media/image37.png"/><Relationship Id="rId41" Type="http://schemas.openxmlformats.org/officeDocument/2006/relationships/customXml" Target="../ink/ink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2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A80CE-8C77-EF99-8938-3DDFDD0C644B}"/>
              </a:ext>
            </a:extLst>
          </p:cNvPr>
          <p:cNvSpPr>
            <a:spLocks noGrp="1"/>
          </p:cNvSpPr>
          <p:nvPr>
            <p:ph type="title"/>
          </p:nvPr>
        </p:nvSpPr>
        <p:spPr>
          <a:xfrm>
            <a:off x="0" y="18255"/>
            <a:ext cx="12192000" cy="1325563"/>
          </a:xfrm>
        </p:spPr>
        <p:txBody>
          <a:bodyPr/>
          <a:lstStyle/>
          <a:p>
            <a:r>
              <a:rPr lang="en-US" dirty="0">
                <a:solidFill>
                  <a:srgbClr val="FF0000"/>
                </a:solidFill>
              </a:rPr>
              <a:t>PULMONARY REHABILITATION</a:t>
            </a:r>
          </a:p>
        </p:txBody>
      </p:sp>
      <p:sp>
        <p:nvSpPr>
          <p:cNvPr id="3" name="Content Placeholder 2">
            <a:extLst>
              <a:ext uri="{FF2B5EF4-FFF2-40B4-BE49-F238E27FC236}">
                <a16:creationId xmlns:a16="http://schemas.microsoft.com/office/drawing/2014/main" id="{E64FB6BF-CB01-07A4-F9CB-F9D5455C92BB}"/>
              </a:ext>
            </a:extLst>
          </p:cNvPr>
          <p:cNvSpPr>
            <a:spLocks noGrp="1"/>
          </p:cNvSpPr>
          <p:nvPr>
            <p:ph idx="1"/>
          </p:nvPr>
        </p:nvSpPr>
        <p:spPr>
          <a:xfrm>
            <a:off x="-1" y="1343818"/>
            <a:ext cx="12191999" cy="4833145"/>
          </a:xfrm>
        </p:spPr>
        <p:txBody>
          <a:bodyPr>
            <a:normAutofit/>
          </a:bodyPr>
          <a:lstStyle/>
          <a:p>
            <a:pPr marL="0" indent="0">
              <a:buNone/>
            </a:pPr>
            <a:r>
              <a:rPr lang="en-US" dirty="0"/>
              <a:t>ERICK OUMA</a:t>
            </a:r>
          </a:p>
          <a:p>
            <a:pPr marL="0" indent="0">
              <a:buNone/>
            </a:pPr>
            <a:r>
              <a:rPr lang="en-US" b="1" dirty="0">
                <a:solidFill>
                  <a:srgbClr val="00B0F0"/>
                </a:solidFill>
              </a:rPr>
              <a:t>MSC-</a:t>
            </a:r>
            <a:r>
              <a:rPr lang="en-US" dirty="0">
                <a:solidFill>
                  <a:srgbClr val="00B0F0"/>
                </a:solidFill>
              </a:rPr>
              <a:t>Respiratory medicine: University of Chester</a:t>
            </a:r>
          </a:p>
          <a:p>
            <a:pPr marL="0" indent="0">
              <a:buNone/>
            </a:pPr>
            <a:r>
              <a:rPr lang="en-US" b="1" dirty="0">
                <a:solidFill>
                  <a:srgbClr val="00B0F0"/>
                </a:solidFill>
              </a:rPr>
              <a:t>BSC-PT: </a:t>
            </a:r>
            <a:r>
              <a:rPr lang="en-US" dirty="0">
                <a:solidFill>
                  <a:srgbClr val="00B0F0"/>
                </a:solidFill>
              </a:rPr>
              <a:t>Moi University</a:t>
            </a:r>
          </a:p>
          <a:p>
            <a:pPr marL="0" indent="0">
              <a:buNone/>
            </a:pPr>
            <a:r>
              <a:rPr lang="en-US" b="1" dirty="0">
                <a:solidFill>
                  <a:srgbClr val="00B0F0"/>
                </a:solidFill>
              </a:rPr>
              <a:t>Cert: </a:t>
            </a:r>
            <a:r>
              <a:rPr lang="en-US" dirty="0">
                <a:solidFill>
                  <a:srgbClr val="00B0F0"/>
                </a:solidFill>
              </a:rPr>
              <a:t>PR</a:t>
            </a:r>
            <a:r>
              <a:rPr lang="en-US" b="1" dirty="0">
                <a:solidFill>
                  <a:srgbClr val="00B0F0"/>
                </a:solidFill>
              </a:rPr>
              <a:t>, </a:t>
            </a:r>
            <a:r>
              <a:rPr lang="en-US" dirty="0">
                <a:solidFill>
                  <a:srgbClr val="00B0F0"/>
                </a:solidFill>
              </a:rPr>
              <a:t>NIV and MV: University Hospitals Dorset</a:t>
            </a:r>
          </a:p>
          <a:p>
            <a:pPr marL="0" indent="0">
              <a:buNone/>
            </a:pPr>
            <a:r>
              <a:rPr lang="en-US" b="1" dirty="0">
                <a:solidFill>
                  <a:srgbClr val="00B0F0"/>
                </a:solidFill>
              </a:rPr>
              <a:t>Practice Educator: </a:t>
            </a:r>
            <a:r>
              <a:rPr lang="en-US" dirty="0">
                <a:solidFill>
                  <a:srgbClr val="00B0F0"/>
                </a:solidFill>
              </a:rPr>
              <a:t>University of Winchester</a:t>
            </a:r>
          </a:p>
          <a:p>
            <a:pPr marL="0" indent="0">
              <a:buNone/>
            </a:pPr>
            <a:endParaRPr lang="en-US" dirty="0"/>
          </a:p>
        </p:txBody>
      </p:sp>
      <p:pic>
        <p:nvPicPr>
          <p:cNvPr id="10242" name="Picture 2" descr="Liberty Classic Tunable Stethoscope ...">
            <a:extLst>
              <a:ext uri="{FF2B5EF4-FFF2-40B4-BE49-F238E27FC236}">
                <a16:creationId xmlns:a16="http://schemas.microsoft.com/office/drawing/2014/main" id="{D23783CB-2BDA-C698-EC9D-DB1F8BA1D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1975" y="4360141"/>
            <a:ext cx="4330022" cy="247960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C91BDC9-FDE2-87C3-2D13-B0424190EE15}"/>
              </a:ext>
            </a:extLst>
          </p:cNvPr>
          <p:cNvSpPr/>
          <p:nvPr/>
        </p:nvSpPr>
        <p:spPr>
          <a:xfrm>
            <a:off x="0" y="1085870"/>
            <a:ext cx="12192000" cy="9647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8" name="Picture 8" descr="Lecturer in Psychology - 0.8FTE at ...">
            <a:extLst>
              <a:ext uri="{FF2B5EF4-FFF2-40B4-BE49-F238E27FC236}">
                <a16:creationId xmlns:a16="http://schemas.microsoft.com/office/drawing/2014/main" id="{DAE21DEE-9C5F-1BDC-3D90-A7F8A939DD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1" y="5772130"/>
            <a:ext cx="2766422" cy="10858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AB00B16-0205-74E7-402E-CEDE8D5B3553}"/>
              </a:ext>
            </a:extLst>
          </p:cNvPr>
          <p:cNvSpPr txBox="1"/>
          <p:nvPr/>
        </p:nvSpPr>
        <p:spPr>
          <a:xfrm>
            <a:off x="2991138" y="4835301"/>
            <a:ext cx="6230038" cy="461665"/>
          </a:xfrm>
          <a:prstGeom prst="rect">
            <a:avLst/>
          </a:prstGeom>
          <a:noFill/>
        </p:spPr>
        <p:txBody>
          <a:bodyPr wrap="square">
            <a:spAutoFit/>
          </a:bodyPr>
          <a:lstStyle/>
          <a:p>
            <a:pPr marL="0" indent="0">
              <a:buNone/>
            </a:pPr>
            <a:r>
              <a:rPr lang="en-US" sz="2400" i="1" dirty="0"/>
              <a:t>SENIOR RESPIRATORY PHYSIOTHERAPIST</a:t>
            </a:r>
          </a:p>
        </p:txBody>
      </p:sp>
      <p:sp>
        <p:nvSpPr>
          <p:cNvPr id="11" name="TextBox 10">
            <a:extLst>
              <a:ext uri="{FF2B5EF4-FFF2-40B4-BE49-F238E27FC236}">
                <a16:creationId xmlns:a16="http://schemas.microsoft.com/office/drawing/2014/main" id="{4FC57FA1-EE51-D9D9-B16F-18B978CFCAAE}"/>
              </a:ext>
            </a:extLst>
          </p:cNvPr>
          <p:cNvSpPr txBox="1"/>
          <p:nvPr/>
        </p:nvSpPr>
        <p:spPr>
          <a:xfrm>
            <a:off x="2980979" y="6166873"/>
            <a:ext cx="6230038" cy="461665"/>
          </a:xfrm>
          <a:prstGeom prst="rect">
            <a:avLst/>
          </a:prstGeom>
          <a:noFill/>
        </p:spPr>
        <p:txBody>
          <a:bodyPr wrap="square">
            <a:spAutoFit/>
          </a:bodyPr>
          <a:lstStyle/>
          <a:p>
            <a:pPr marL="0" indent="0">
              <a:buNone/>
            </a:pPr>
            <a:r>
              <a:rPr lang="en-US" sz="2400" i="1" dirty="0"/>
              <a:t>VISITING LECTURER</a:t>
            </a:r>
          </a:p>
        </p:txBody>
      </p:sp>
      <p:sp>
        <p:nvSpPr>
          <p:cNvPr id="12" name="Rectangle: Single Corner Rounded 11">
            <a:extLst>
              <a:ext uri="{FF2B5EF4-FFF2-40B4-BE49-F238E27FC236}">
                <a16:creationId xmlns:a16="http://schemas.microsoft.com/office/drawing/2014/main" id="{974EDE91-FFFE-2A83-F01F-E495FECED3DF}"/>
              </a:ext>
            </a:extLst>
          </p:cNvPr>
          <p:cNvSpPr/>
          <p:nvPr/>
        </p:nvSpPr>
        <p:spPr>
          <a:xfrm>
            <a:off x="20318" y="4199062"/>
            <a:ext cx="12171679" cy="161079"/>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Our Values">
            <a:extLst>
              <a:ext uri="{FF2B5EF4-FFF2-40B4-BE49-F238E27FC236}">
                <a16:creationId xmlns:a16="http://schemas.microsoft.com/office/drawing/2014/main" id="{72F2F469-2E5C-C040-C5FA-0F8CF6BE7E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 y="4508922"/>
            <a:ext cx="2786746" cy="111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742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40B2-0C06-EC89-67E2-D62DAA7F4123}"/>
              </a:ext>
            </a:extLst>
          </p:cNvPr>
          <p:cNvSpPr>
            <a:spLocks noGrp="1"/>
          </p:cNvSpPr>
          <p:nvPr>
            <p:ph type="title"/>
          </p:nvPr>
        </p:nvSpPr>
        <p:spPr>
          <a:xfrm>
            <a:off x="838199" y="38506"/>
            <a:ext cx="10515600" cy="934889"/>
          </a:xfrm>
        </p:spPr>
        <p:txBody>
          <a:bodyPr/>
          <a:lstStyle/>
          <a:p>
            <a:r>
              <a:rPr lang="en-US" dirty="0">
                <a:solidFill>
                  <a:srgbClr val="00B0F0"/>
                </a:solidFill>
              </a:rPr>
              <a:t>Pulmonary Rehabilitation</a:t>
            </a:r>
          </a:p>
        </p:txBody>
      </p:sp>
      <p:sp>
        <p:nvSpPr>
          <p:cNvPr id="3" name="Content Placeholder 2">
            <a:extLst>
              <a:ext uri="{FF2B5EF4-FFF2-40B4-BE49-F238E27FC236}">
                <a16:creationId xmlns:a16="http://schemas.microsoft.com/office/drawing/2014/main" id="{AB10643E-0868-07B1-7435-2C031A21003A}"/>
              </a:ext>
            </a:extLst>
          </p:cNvPr>
          <p:cNvSpPr>
            <a:spLocks noGrp="1"/>
          </p:cNvSpPr>
          <p:nvPr>
            <p:ph idx="1"/>
          </p:nvPr>
        </p:nvSpPr>
        <p:spPr/>
        <p:txBody>
          <a:bodyPr/>
          <a:lstStyle/>
          <a:p>
            <a:pPr marL="0" indent="0">
              <a:buNone/>
            </a:pP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Pulmonary rehabilitation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(PR) is an interdisciplinary program of care for patients with chronic respiratory impairment which </a:t>
            </a: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is individually tailored and designed to optimize each patient’s physical</a:t>
            </a:r>
            <a:r>
              <a:rPr lang="en-US" sz="18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and </a:t>
            </a: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social performance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(ESR,2006) </a:t>
            </a:r>
            <a:endParaRPr lang="en-US" dirty="0"/>
          </a:p>
        </p:txBody>
      </p:sp>
      <p:pic>
        <p:nvPicPr>
          <p:cNvPr id="1028" name="Picture 4" descr="Pulmonary Rehabilitation | Salem ...">
            <a:extLst>
              <a:ext uri="{FF2B5EF4-FFF2-40B4-BE49-F238E27FC236}">
                <a16:creationId xmlns:a16="http://schemas.microsoft.com/office/drawing/2014/main" id="{1F8BC4FC-DAEE-F6CD-065F-7BDD91CC0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9129" y="3172506"/>
            <a:ext cx="4593771" cy="313939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ulmonary rehabilitation - ERS ...">
            <a:extLst>
              <a:ext uri="{FF2B5EF4-FFF2-40B4-BE49-F238E27FC236}">
                <a16:creationId xmlns:a16="http://schemas.microsoft.com/office/drawing/2014/main" id="{B6D5D12D-F9DC-DAA8-7E39-EE53D15B7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72506"/>
            <a:ext cx="4669972" cy="31393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19B45EF-7879-A5DA-8A46-4ECFFC1CD1F1}"/>
              </a:ext>
            </a:extLst>
          </p:cNvPr>
          <p:cNvSpPr txBox="1"/>
          <p:nvPr/>
        </p:nvSpPr>
        <p:spPr>
          <a:xfrm>
            <a:off x="261258" y="6311900"/>
            <a:ext cx="6096000" cy="584775"/>
          </a:xfrm>
          <a:prstGeom prst="rect">
            <a:avLst/>
          </a:prstGeom>
          <a:noFill/>
        </p:spPr>
        <p:txBody>
          <a:bodyPr wrap="square">
            <a:spAutoFit/>
          </a:bodyPr>
          <a:lstStyle/>
          <a:p>
            <a:r>
              <a:rPr lang="en-US" sz="3200" kern="100" dirty="0">
                <a:effectLst/>
                <a:latin typeface="Calibri" panose="020F0502020204030204" pitchFamily="34" charset="0"/>
                <a:ea typeface="Calibri" panose="020F0502020204030204" pitchFamily="34" charset="0"/>
                <a:cs typeface="Times New Roman" panose="02020603050405020304" pitchFamily="18" charset="0"/>
              </a:rPr>
              <a:t>Exercise training </a:t>
            </a:r>
            <a:endParaRPr lang="en-US" sz="3200" dirty="0"/>
          </a:p>
        </p:txBody>
      </p:sp>
      <p:sp>
        <p:nvSpPr>
          <p:cNvPr id="9" name="TextBox 8">
            <a:extLst>
              <a:ext uri="{FF2B5EF4-FFF2-40B4-BE49-F238E27FC236}">
                <a16:creationId xmlns:a16="http://schemas.microsoft.com/office/drawing/2014/main" id="{8FC23149-DCD7-67C1-C34B-808C2DCA1767}"/>
              </a:ext>
            </a:extLst>
          </p:cNvPr>
          <p:cNvSpPr txBox="1"/>
          <p:nvPr/>
        </p:nvSpPr>
        <p:spPr>
          <a:xfrm>
            <a:off x="7483929" y="6311900"/>
            <a:ext cx="6096000" cy="584775"/>
          </a:xfrm>
          <a:prstGeom prst="rect">
            <a:avLst/>
          </a:prstGeom>
          <a:noFill/>
        </p:spPr>
        <p:txBody>
          <a:bodyPr wrap="square">
            <a:spAutoFit/>
          </a:bodyPr>
          <a:lstStyle/>
          <a:p>
            <a:pPr marL="0" indent="0">
              <a:buNone/>
            </a:pPr>
            <a:r>
              <a:rPr lang="en-US" sz="32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Education</a:t>
            </a:r>
          </a:p>
        </p:txBody>
      </p:sp>
      <p:sp>
        <p:nvSpPr>
          <p:cNvPr id="11" name="TextBox 10">
            <a:extLst>
              <a:ext uri="{FF2B5EF4-FFF2-40B4-BE49-F238E27FC236}">
                <a16:creationId xmlns:a16="http://schemas.microsoft.com/office/drawing/2014/main" id="{796FDAC2-283B-4FE3-97E4-01F14F2545BB}"/>
              </a:ext>
            </a:extLst>
          </p:cNvPr>
          <p:cNvSpPr txBox="1"/>
          <p:nvPr/>
        </p:nvSpPr>
        <p:spPr>
          <a:xfrm>
            <a:off x="5105402" y="4001294"/>
            <a:ext cx="6792684" cy="1323439"/>
          </a:xfrm>
          <a:prstGeom prst="rect">
            <a:avLst/>
          </a:prstGeom>
          <a:noFill/>
        </p:spPr>
        <p:txBody>
          <a:bodyPr wrap="square">
            <a:spAutoFit/>
          </a:bodyPr>
          <a:lstStyle/>
          <a:p>
            <a:r>
              <a:rPr lang="en-US" sz="80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0" kern="100" dirty="0">
                <a:solidFill>
                  <a:srgbClr val="00B050"/>
                </a:solidFill>
                <a:effectLst/>
                <a:latin typeface="Arial Black" panose="020B0A04020102020204" pitchFamily="34" charset="0"/>
                <a:ea typeface="Calibri" panose="020F0502020204030204" pitchFamily="34" charset="0"/>
                <a:cs typeface="Times New Roman" panose="02020603050405020304" pitchFamily="18" charset="0"/>
              </a:rPr>
              <a:t>+</a:t>
            </a:r>
            <a:endParaRPr lang="en-US" sz="8000" dirty="0">
              <a:solidFill>
                <a:srgbClr val="00B050"/>
              </a:solidFill>
            </a:endParaRPr>
          </a:p>
        </p:txBody>
      </p:sp>
      <p:sp>
        <p:nvSpPr>
          <p:cNvPr id="4" name="Rectangle 3">
            <a:extLst>
              <a:ext uri="{FF2B5EF4-FFF2-40B4-BE49-F238E27FC236}">
                <a16:creationId xmlns:a16="http://schemas.microsoft.com/office/drawing/2014/main" id="{73554B72-CA4C-0F6B-65B5-D8E476CF36D9}"/>
              </a:ext>
            </a:extLst>
          </p:cNvPr>
          <p:cNvSpPr/>
          <p:nvPr/>
        </p:nvSpPr>
        <p:spPr>
          <a:xfrm flipV="1">
            <a:off x="-1" y="1067906"/>
            <a:ext cx="12192001"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660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30EE7-AA89-D316-74BF-24B43E8AA445}"/>
              </a:ext>
            </a:extLst>
          </p:cNvPr>
          <p:cNvSpPr>
            <a:spLocks noGrp="1"/>
          </p:cNvSpPr>
          <p:nvPr>
            <p:ph type="title"/>
          </p:nvPr>
        </p:nvSpPr>
        <p:spPr>
          <a:xfrm>
            <a:off x="838200" y="18256"/>
            <a:ext cx="10515600" cy="941048"/>
          </a:xfrm>
        </p:spPr>
        <p:txBody>
          <a:bodyPr/>
          <a:lstStyle/>
          <a:p>
            <a:r>
              <a:rPr lang="en-US" dirty="0"/>
              <a:t>PR is the cornerstone of managing COPD</a:t>
            </a:r>
          </a:p>
        </p:txBody>
      </p:sp>
      <p:sp>
        <p:nvSpPr>
          <p:cNvPr id="3" name="Content Placeholder 2">
            <a:extLst>
              <a:ext uri="{FF2B5EF4-FFF2-40B4-BE49-F238E27FC236}">
                <a16:creationId xmlns:a16="http://schemas.microsoft.com/office/drawing/2014/main" id="{201B2C4F-8290-ECD0-315C-39D04AD16C79}"/>
              </a:ext>
            </a:extLst>
          </p:cNvPr>
          <p:cNvSpPr>
            <a:spLocks noGrp="1"/>
          </p:cNvSpPr>
          <p:nvPr>
            <p:ph idx="1"/>
          </p:nvPr>
        </p:nvSpPr>
        <p:spPr>
          <a:xfrm>
            <a:off x="10886" y="1343818"/>
            <a:ext cx="10515600" cy="4351338"/>
          </a:xfrm>
        </p:spPr>
        <p:txBody>
          <a:bodyPr/>
          <a:lstStyle/>
          <a:p>
            <a:pPr marL="0" indent="0">
              <a:buNone/>
            </a:pPr>
            <a:r>
              <a:rPr lang="en-US" dirty="0">
                <a:highlight>
                  <a:srgbClr val="FFFF00"/>
                </a:highlight>
              </a:rPr>
              <a:t>PR provides greater improvements in exercise capacity, quality of life and dyspnea in COPD than inhalers</a:t>
            </a:r>
          </a:p>
        </p:txBody>
      </p:sp>
      <p:pic>
        <p:nvPicPr>
          <p:cNvPr id="5" name="Picture 4">
            <a:extLst>
              <a:ext uri="{FF2B5EF4-FFF2-40B4-BE49-F238E27FC236}">
                <a16:creationId xmlns:a16="http://schemas.microsoft.com/office/drawing/2014/main" id="{42F30973-F9EE-C4A6-0FFB-8082B741E91E}"/>
              </a:ext>
            </a:extLst>
          </p:cNvPr>
          <p:cNvPicPr>
            <a:picLocks noChangeAspect="1"/>
          </p:cNvPicPr>
          <p:nvPr/>
        </p:nvPicPr>
        <p:blipFill>
          <a:blip r:embed="rId2"/>
          <a:stretch>
            <a:fillRect/>
          </a:stretch>
        </p:blipFill>
        <p:spPr>
          <a:xfrm>
            <a:off x="1" y="2619413"/>
            <a:ext cx="12181114" cy="3873462"/>
          </a:xfrm>
          <a:prstGeom prst="rect">
            <a:avLst/>
          </a:prstGeom>
        </p:spPr>
      </p:pic>
      <p:sp>
        <p:nvSpPr>
          <p:cNvPr id="7" name="TextBox 6">
            <a:extLst>
              <a:ext uri="{FF2B5EF4-FFF2-40B4-BE49-F238E27FC236}">
                <a16:creationId xmlns:a16="http://schemas.microsoft.com/office/drawing/2014/main" id="{888B5051-4337-7EB2-67C4-4C43B8DC4156}"/>
              </a:ext>
            </a:extLst>
          </p:cNvPr>
          <p:cNvSpPr txBox="1"/>
          <p:nvPr/>
        </p:nvSpPr>
        <p:spPr>
          <a:xfrm>
            <a:off x="5181600" y="6492875"/>
            <a:ext cx="2819400" cy="461665"/>
          </a:xfrm>
          <a:prstGeom prst="rect">
            <a:avLst/>
          </a:prstGeom>
          <a:noFill/>
        </p:spPr>
        <p:txBody>
          <a:bodyPr wrap="square">
            <a:spAutoFit/>
          </a:bodyPr>
          <a:lstStyle/>
          <a:p>
            <a:r>
              <a:rPr lang="en-US" sz="2400" dirty="0" err="1">
                <a:effectLst/>
                <a:latin typeface="Calibri" panose="020F0502020204030204" pitchFamily="34" charset="0"/>
                <a:ea typeface="Calibri" panose="020F0502020204030204" pitchFamily="34" charset="0"/>
                <a:cs typeface="Times New Roman" panose="02020603050405020304" pitchFamily="18" charset="0"/>
              </a:rPr>
              <a:t>Casabur</a:t>
            </a:r>
            <a:r>
              <a:rPr lang="en-US" sz="2400" dirty="0">
                <a:effectLst/>
                <a:latin typeface="Calibri" panose="020F0502020204030204" pitchFamily="34" charset="0"/>
                <a:ea typeface="Calibri" panose="020F0502020204030204" pitchFamily="34" charset="0"/>
                <a:cs typeface="Times New Roman" panose="02020603050405020304" pitchFamily="18" charset="0"/>
              </a:rPr>
              <a:t> et al.,2018</a:t>
            </a:r>
            <a:endParaRPr lang="en-US" sz="2400" dirty="0"/>
          </a:p>
        </p:txBody>
      </p:sp>
      <p:sp>
        <p:nvSpPr>
          <p:cNvPr id="4" name="Rectangle 3">
            <a:extLst>
              <a:ext uri="{FF2B5EF4-FFF2-40B4-BE49-F238E27FC236}">
                <a16:creationId xmlns:a16="http://schemas.microsoft.com/office/drawing/2014/main" id="{59FCD949-E7F8-9F9A-3299-ABF6939A4EB3}"/>
              </a:ext>
            </a:extLst>
          </p:cNvPr>
          <p:cNvSpPr/>
          <p:nvPr/>
        </p:nvSpPr>
        <p:spPr>
          <a:xfrm>
            <a:off x="-10886" y="832080"/>
            <a:ext cx="12192001" cy="500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065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FCEC5-6332-67C0-F49A-14D3F6A5BF37}"/>
              </a:ext>
            </a:extLst>
          </p:cNvPr>
          <p:cNvSpPr>
            <a:spLocks noGrp="1"/>
          </p:cNvSpPr>
          <p:nvPr>
            <p:ph type="title"/>
          </p:nvPr>
        </p:nvSpPr>
        <p:spPr>
          <a:xfrm>
            <a:off x="0" y="18255"/>
            <a:ext cx="10515600" cy="692027"/>
          </a:xfrm>
        </p:spPr>
        <p:txBody>
          <a:bodyPr>
            <a:normAutofit fontScale="90000"/>
          </a:bodyPr>
          <a:lstStyle/>
          <a:p>
            <a:r>
              <a:rPr lang="en-US" dirty="0"/>
              <a:t>Benefits of PR</a:t>
            </a:r>
          </a:p>
        </p:txBody>
      </p:sp>
      <p:sp>
        <p:nvSpPr>
          <p:cNvPr id="4" name="Content Placeholder 3">
            <a:extLst>
              <a:ext uri="{FF2B5EF4-FFF2-40B4-BE49-F238E27FC236}">
                <a16:creationId xmlns:a16="http://schemas.microsoft.com/office/drawing/2014/main" id="{154ABBEB-B32F-6618-B424-EE28119764FA}"/>
              </a:ext>
            </a:extLst>
          </p:cNvPr>
          <p:cNvSpPr>
            <a:spLocks noGrp="1"/>
          </p:cNvSpPr>
          <p:nvPr>
            <p:ph sz="half" idx="2"/>
          </p:nvPr>
        </p:nvSpPr>
        <p:spPr>
          <a:xfrm>
            <a:off x="6277575" y="1671728"/>
            <a:ext cx="5181600" cy="5111410"/>
          </a:xfrm>
        </p:spPr>
        <p:txBody>
          <a:bodyPr>
            <a:normAutofit fontScale="85000" lnSpcReduction="20000"/>
          </a:bodyPr>
          <a:lstStyle/>
          <a:p>
            <a:r>
              <a:rPr lang="en-US" dirty="0"/>
              <a:t>A meta-analysis of 65RCT, 3822 participants</a:t>
            </a:r>
          </a:p>
          <a:p>
            <a:r>
              <a:rPr lang="en-US" dirty="0"/>
              <a:t>PR improves</a:t>
            </a:r>
          </a:p>
          <a:p>
            <a:pPr>
              <a:buFont typeface="Wingdings" panose="05000000000000000000" pitchFamily="2" charset="2"/>
              <a:buChar char="v"/>
            </a:pPr>
            <a:r>
              <a:rPr lang="en-US" dirty="0">
                <a:solidFill>
                  <a:srgbClr val="C00000"/>
                </a:solidFill>
              </a:rPr>
              <a:t>Health related quality of life</a:t>
            </a:r>
          </a:p>
          <a:p>
            <a:pPr>
              <a:buFont typeface="Wingdings" panose="05000000000000000000" pitchFamily="2" charset="2"/>
              <a:buChar char="v"/>
            </a:pPr>
            <a:r>
              <a:rPr lang="en-US" dirty="0">
                <a:solidFill>
                  <a:srgbClr val="C00000"/>
                </a:solidFill>
              </a:rPr>
              <a:t>Functional and maximal exercise capacity</a:t>
            </a:r>
          </a:p>
          <a:p>
            <a:pPr>
              <a:buFont typeface="Wingdings" panose="05000000000000000000" pitchFamily="2" charset="2"/>
              <a:buChar char="v"/>
            </a:pPr>
            <a:r>
              <a:rPr lang="en-US" dirty="0">
                <a:solidFill>
                  <a:srgbClr val="C00000"/>
                </a:solidFill>
              </a:rPr>
              <a:t>Dyspnea and fatigue</a:t>
            </a:r>
          </a:p>
          <a:p>
            <a:pPr>
              <a:buFont typeface="Wingdings" panose="05000000000000000000" pitchFamily="2" charset="2"/>
              <a:buChar char="v"/>
            </a:pPr>
            <a:r>
              <a:rPr lang="en-US" dirty="0">
                <a:solidFill>
                  <a:srgbClr val="C00000"/>
                </a:solidFill>
              </a:rPr>
              <a:t>Emotional function and sense of control</a:t>
            </a:r>
          </a:p>
          <a:p>
            <a:pPr marL="0" indent="0">
              <a:buNone/>
            </a:pPr>
            <a:r>
              <a:rPr lang="en-US" dirty="0">
                <a:solidFill>
                  <a:srgbClr val="00B050"/>
                </a:solidFill>
              </a:rPr>
              <a:t>Cornerstone in management of COPD</a:t>
            </a:r>
          </a:p>
          <a:p>
            <a:pPr marL="0" indent="0">
              <a:buNone/>
            </a:pPr>
            <a:r>
              <a:rPr lang="en-US" dirty="0">
                <a:solidFill>
                  <a:srgbClr val="00B050"/>
                </a:solidFill>
              </a:rPr>
              <a:t>PR is fundamental rather than optional extra</a:t>
            </a:r>
          </a:p>
          <a:p>
            <a:pPr marL="0" indent="0">
              <a:buNone/>
            </a:pPr>
            <a:r>
              <a:rPr lang="en-US" dirty="0">
                <a:solidFill>
                  <a:srgbClr val="00B050"/>
                </a:solidFill>
              </a:rPr>
              <a:t>No further RCTS were needed comparing PR to usual care</a:t>
            </a:r>
          </a:p>
        </p:txBody>
      </p:sp>
      <p:pic>
        <p:nvPicPr>
          <p:cNvPr id="5" name="Picture 4">
            <a:extLst>
              <a:ext uri="{FF2B5EF4-FFF2-40B4-BE49-F238E27FC236}">
                <a16:creationId xmlns:a16="http://schemas.microsoft.com/office/drawing/2014/main" id="{33281943-3C67-6CE5-FD9E-E76C3571A1BB}"/>
              </a:ext>
            </a:extLst>
          </p:cNvPr>
          <p:cNvPicPr>
            <a:picLocks noChangeAspect="1"/>
          </p:cNvPicPr>
          <p:nvPr/>
        </p:nvPicPr>
        <p:blipFill>
          <a:blip r:embed="rId2"/>
          <a:stretch>
            <a:fillRect/>
          </a:stretch>
        </p:blipFill>
        <p:spPr>
          <a:xfrm>
            <a:off x="0" y="1825625"/>
            <a:ext cx="5914427" cy="5019675"/>
          </a:xfrm>
          <a:prstGeom prst="rect">
            <a:avLst/>
          </a:prstGeom>
        </p:spPr>
      </p:pic>
      <p:sp>
        <p:nvSpPr>
          <p:cNvPr id="7" name="TextBox 6">
            <a:extLst>
              <a:ext uri="{FF2B5EF4-FFF2-40B4-BE49-F238E27FC236}">
                <a16:creationId xmlns:a16="http://schemas.microsoft.com/office/drawing/2014/main" id="{697326F7-A879-234A-C0A8-3F94428C8188}"/>
              </a:ext>
            </a:extLst>
          </p:cNvPr>
          <p:cNvSpPr txBox="1"/>
          <p:nvPr/>
        </p:nvSpPr>
        <p:spPr>
          <a:xfrm>
            <a:off x="4156114" y="6361555"/>
            <a:ext cx="5914425" cy="461665"/>
          </a:xfrm>
          <a:prstGeom prst="rect">
            <a:avLst/>
          </a:prstGeom>
          <a:noFill/>
        </p:spPr>
        <p:txBody>
          <a:bodyPr wrap="square">
            <a:spAutoFit/>
          </a:bodyPr>
          <a:lstStyle/>
          <a:p>
            <a:r>
              <a:rPr lang="en-US" sz="2400" dirty="0">
                <a:effectLst/>
                <a:latin typeface="Calibri" panose="020F0502020204030204" pitchFamily="34" charset="0"/>
                <a:ea typeface="Calibri" panose="020F0502020204030204" pitchFamily="34" charset="0"/>
                <a:cs typeface="Times New Roman" panose="02020603050405020304" pitchFamily="18" charset="0"/>
              </a:rPr>
              <a:t>McCarthy et al.,2015</a:t>
            </a:r>
            <a:endParaRPr lang="en-US" sz="2400" dirty="0"/>
          </a:p>
        </p:txBody>
      </p:sp>
      <p:sp>
        <p:nvSpPr>
          <p:cNvPr id="3" name="TextBox 2">
            <a:extLst>
              <a:ext uri="{FF2B5EF4-FFF2-40B4-BE49-F238E27FC236}">
                <a16:creationId xmlns:a16="http://schemas.microsoft.com/office/drawing/2014/main" id="{1A76098C-8244-715D-4A23-4822F4A8FEE9}"/>
              </a:ext>
            </a:extLst>
          </p:cNvPr>
          <p:cNvSpPr txBox="1"/>
          <p:nvPr/>
        </p:nvSpPr>
        <p:spPr>
          <a:xfrm>
            <a:off x="1052112" y="1036873"/>
            <a:ext cx="6208004" cy="461665"/>
          </a:xfrm>
          <a:prstGeom prst="rect">
            <a:avLst/>
          </a:prstGeom>
          <a:noFill/>
        </p:spPr>
        <p:txBody>
          <a:bodyPr wrap="square">
            <a:spAutoFit/>
          </a:bodyPr>
          <a:lstStyle/>
          <a:p>
            <a:r>
              <a:rPr lang="en-US" sz="2400" dirty="0"/>
              <a:t>Post hospitalization PR</a:t>
            </a:r>
          </a:p>
        </p:txBody>
      </p:sp>
      <p:sp>
        <p:nvSpPr>
          <p:cNvPr id="6" name="Rectangle 5">
            <a:extLst>
              <a:ext uri="{FF2B5EF4-FFF2-40B4-BE49-F238E27FC236}">
                <a16:creationId xmlns:a16="http://schemas.microsoft.com/office/drawing/2014/main" id="{639915AD-DF2A-2B6D-28DA-E0A16404BFAD}"/>
              </a:ext>
            </a:extLst>
          </p:cNvPr>
          <p:cNvSpPr/>
          <p:nvPr/>
        </p:nvSpPr>
        <p:spPr>
          <a:xfrm>
            <a:off x="-1" y="826419"/>
            <a:ext cx="12192001" cy="5705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8515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7A7A-D503-613E-73F3-3A9F1A648EDA}"/>
              </a:ext>
            </a:extLst>
          </p:cNvPr>
          <p:cNvSpPr>
            <a:spLocks noGrp="1"/>
          </p:cNvSpPr>
          <p:nvPr>
            <p:ph type="title"/>
          </p:nvPr>
        </p:nvSpPr>
        <p:spPr>
          <a:xfrm>
            <a:off x="0" y="58127"/>
            <a:ext cx="11210581" cy="1002352"/>
          </a:xfrm>
        </p:spPr>
        <p:txBody>
          <a:bodyPr>
            <a:normAutofit fontScale="90000"/>
          </a:bodyPr>
          <a:lstStyle/>
          <a:p>
            <a:r>
              <a:rPr lang="en-US" dirty="0"/>
              <a:t>Benefits of PR</a:t>
            </a:r>
            <a:br>
              <a:rPr lang="en-US" dirty="0"/>
            </a:br>
            <a:endParaRPr lang="en-US" dirty="0"/>
          </a:p>
        </p:txBody>
      </p:sp>
      <p:sp>
        <p:nvSpPr>
          <p:cNvPr id="3" name="Rectangle 2">
            <a:extLst>
              <a:ext uri="{FF2B5EF4-FFF2-40B4-BE49-F238E27FC236}">
                <a16:creationId xmlns:a16="http://schemas.microsoft.com/office/drawing/2014/main" id="{86114B06-C4E1-B454-90E6-3D2DF35399F4}"/>
              </a:ext>
            </a:extLst>
          </p:cNvPr>
          <p:cNvSpPr/>
          <p:nvPr/>
        </p:nvSpPr>
        <p:spPr>
          <a:xfrm>
            <a:off x="-1" y="739065"/>
            <a:ext cx="12192001"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00D6AC4-863F-FC85-D38D-63FFC326B9CE}"/>
              </a:ext>
            </a:extLst>
          </p:cNvPr>
          <p:cNvSpPr txBox="1"/>
          <p:nvPr/>
        </p:nvSpPr>
        <p:spPr>
          <a:xfrm>
            <a:off x="3613533" y="2191481"/>
            <a:ext cx="6638088" cy="2074094"/>
          </a:xfrm>
          <a:prstGeom prst="rect">
            <a:avLst/>
          </a:prstGeom>
          <a:noFill/>
        </p:spPr>
        <p:txBody>
          <a:bodyPr wrap="square">
            <a:spAutoFit/>
          </a:bodyPr>
          <a:lstStyle/>
          <a:p>
            <a:pPr>
              <a:lnSpc>
                <a:spcPct val="115000"/>
              </a:lnSpc>
              <a:spcAft>
                <a:spcPts val="800"/>
              </a:spcAft>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20 studies,1477 participants</a:t>
            </a:r>
          </a:p>
          <a:p>
            <a:pPr>
              <a:lnSpc>
                <a:spcPct val="115000"/>
              </a:lnSpc>
              <a:spcAft>
                <a:spcPts val="800"/>
              </a:spcAft>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Reduces readmission</a:t>
            </a:r>
          </a:p>
          <a:p>
            <a:pPr>
              <a:lnSpc>
                <a:spcPct val="115000"/>
              </a:lnSpc>
              <a:spcAft>
                <a:spcPts val="800"/>
              </a:spcAft>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Improves health quality of life</a:t>
            </a:r>
          </a:p>
          <a:p>
            <a:pPr>
              <a:lnSpc>
                <a:spcPct val="115000"/>
              </a:lnSpc>
              <a:spcAft>
                <a:spcPts val="800"/>
              </a:spcAft>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Improves exercise capacity</a:t>
            </a:r>
          </a:p>
        </p:txBody>
      </p:sp>
      <p:pic>
        <p:nvPicPr>
          <p:cNvPr id="2050" name="Picture 2" descr="pulmonary rehabilitation">
            <a:extLst>
              <a:ext uri="{FF2B5EF4-FFF2-40B4-BE49-F238E27FC236}">
                <a16:creationId xmlns:a16="http://schemas.microsoft.com/office/drawing/2014/main" id="{15EE7CAB-5CCC-CC8A-C0DA-8FD1363A46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9896" y="3428999"/>
            <a:ext cx="2876550" cy="15906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ulmonary Rehabilitation Service ...">
            <a:extLst>
              <a:ext uri="{FF2B5EF4-FFF2-40B4-BE49-F238E27FC236}">
                <a16:creationId xmlns:a16="http://schemas.microsoft.com/office/drawing/2014/main" id="{C9F0AC22-07EE-3908-1DBF-B28E4A5BF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2746" y="1845807"/>
            <a:ext cx="29337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spiratory Therapy for COPD Patients ...">
            <a:extLst>
              <a:ext uri="{FF2B5EF4-FFF2-40B4-BE49-F238E27FC236}">
                <a16:creationId xmlns:a16="http://schemas.microsoft.com/office/drawing/2014/main" id="{CE8FB1EB-BA02-E3FA-C6E3-0404523623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9897" y="5114926"/>
            <a:ext cx="2876549" cy="174307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9E6FC78-835D-7FA0-C17F-1A3144CF21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817914"/>
            <a:ext cx="3483430" cy="4953000"/>
          </a:xfrm>
          <a:prstGeom prst="rect">
            <a:avLst/>
          </a:prstGeom>
        </p:spPr>
      </p:pic>
      <p:sp>
        <p:nvSpPr>
          <p:cNvPr id="9" name="TextBox 8">
            <a:extLst>
              <a:ext uri="{FF2B5EF4-FFF2-40B4-BE49-F238E27FC236}">
                <a16:creationId xmlns:a16="http://schemas.microsoft.com/office/drawing/2014/main" id="{43B20A1E-3D55-E538-31A0-A5E7FC6C1A93}"/>
              </a:ext>
            </a:extLst>
          </p:cNvPr>
          <p:cNvSpPr txBox="1"/>
          <p:nvPr/>
        </p:nvSpPr>
        <p:spPr>
          <a:xfrm>
            <a:off x="3216729" y="6254995"/>
            <a:ext cx="4446814" cy="461665"/>
          </a:xfrm>
          <a:prstGeom prst="rect">
            <a:avLst/>
          </a:prstGeom>
          <a:noFill/>
        </p:spPr>
        <p:txBody>
          <a:bodyPr wrap="square">
            <a:spAutoFit/>
          </a:bodyPr>
          <a:lstStyle/>
          <a:p>
            <a:r>
              <a:rPr lang="en-US" sz="2400" dirty="0" err="1">
                <a:effectLst/>
                <a:latin typeface="Calibri" panose="020F0502020204030204" pitchFamily="34" charset="0"/>
                <a:ea typeface="Calibri" panose="020F0502020204030204" pitchFamily="34" charset="0"/>
                <a:cs typeface="Times New Roman" panose="02020603050405020304" pitchFamily="18" charset="0"/>
              </a:rPr>
              <a:t>Puhan</a:t>
            </a:r>
            <a:r>
              <a:rPr lang="en-US" sz="2400" dirty="0">
                <a:effectLst/>
                <a:latin typeface="Calibri" panose="020F0502020204030204" pitchFamily="34" charset="0"/>
                <a:ea typeface="Calibri" panose="020F0502020204030204" pitchFamily="34" charset="0"/>
                <a:cs typeface="Times New Roman" panose="02020603050405020304" pitchFamily="18" charset="0"/>
              </a:rPr>
              <a:t> et al.,2016</a:t>
            </a:r>
            <a:endParaRPr lang="en-US" sz="2400" dirty="0"/>
          </a:p>
        </p:txBody>
      </p:sp>
      <p:sp>
        <p:nvSpPr>
          <p:cNvPr id="11" name="TextBox 10">
            <a:extLst>
              <a:ext uri="{FF2B5EF4-FFF2-40B4-BE49-F238E27FC236}">
                <a16:creationId xmlns:a16="http://schemas.microsoft.com/office/drawing/2014/main" id="{1A7D407C-20CC-DA1A-CCB6-837EB15E6E6A}"/>
              </a:ext>
            </a:extLst>
          </p:cNvPr>
          <p:cNvSpPr txBox="1"/>
          <p:nvPr/>
        </p:nvSpPr>
        <p:spPr>
          <a:xfrm>
            <a:off x="893498" y="856774"/>
            <a:ext cx="6213512" cy="461665"/>
          </a:xfrm>
          <a:prstGeom prst="rect">
            <a:avLst/>
          </a:prstGeom>
          <a:noFill/>
        </p:spPr>
        <p:txBody>
          <a:bodyPr wrap="square">
            <a:spAutoFit/>
          </a:bodyPr>
          <a:lstStyle/>
          <a:p>
            <a:r>
              <a:rPr lang="en-US" sz="2400" dirty="0"/>
              <a:t>Post hospitalization PR for pts with AECOPD</a:t>
            </a:r>
          </a:p>
        </p:txBody>
      </p:sp>
    </p:spTree>
    <p:extLst>
      <p:ext uri="{BB962C8B-B14F-4D97-AF65-F5344CB8AC3E}">
        <p14:creationId xmlns:p14="http://schemas.microsoft.com/office/powerpoint/2010/main" val="2311489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B5D9-7B4E-25C0-0F12-F869A68EF6B5}"/>
              </a:ext>
            </a:extLst>
          </p:cNvPr>
          <p:cNvSpPr>
            <a:spLocks noGrp="1"/>
          </p:cNvSpPr>
          <p:nvPr>
            <p:ph type="title"/>
          </p:nvPr>
        </p:nvSpPr>
        <p:spPr>
          <a:xfrm>
            <a:off x="0" y="37398"/>
            <a:ext cx="12192000" cy="662780"/>
          </a:xfrm>
        </p:spPr>
        <p:txBody>
          <a:bodyPr>
            <a:normAutofit fontScale="90000"/>
          </a:bodyPr>
          <a:lstStyle/>
          <a:p>
            <a:r>
              <a:rPr lang="en-US" dirty="0"/>
              <a:t>Benefits of PR</a:t>
            </a:r>
          </a:p>
        </p:txBody>
      </p:sp>
      <p:sp>
        <p:nvSpPr>
          <p:cNvPr id="3" name="Content Placeholder 2">
            <a:extLst>
              <a:ext uri="{FF2B5EF4-FFF2-40B4-BE49-F238E27FC236}">
                <a16:creationId xmlns:a16="http://schemas.microsoft.com/office/drawing/2014/main" id="{02BDAC2F-063A-E635-3F62-DD1986075208}"/>
              </a:ext>
            </a:extLst>
          </p:cNvPr>
          <p:cNvSpPr>
            <a:spLocks noGrp="1"/>
          </p:cNvSpPr>
          <p:nvPr>
            <p:ph idx="1"/>
          </p:nvPr>
        </p:nvSpPr>
        <p:spPr>
          <a:xfrm>
            <a:off x="304800" y="1253331"/>
            <a:ext cx="10515600" cy="4351338"/>
          </a:xfrm>
        </p:spPr>
        <p:txBody>
          <a:bodyPr/>
          <a:lstStyle/>
          <a:p>
            <a:pPr marL="0" indent="0">
              <a:buNone/>
            </a:pPr>
            <a:r>
              <a:rPr lang="en-US" dirty="0"/>
              <a:t>Hospital readmissions</a:t>
            </a:r>
          </a:p>
        </p:txBody>
      </p:sp>
      <p:pic>
        <p:nvPicPr>
          <p:cNvPr id="9" name="Main graphic">
            <a:extLst>
              <a:ext uri="{FF2B5EF4-FFF2-40B4-BE49-F238E27FC236}">
                <a16:creationId xmlns:a16="http://schemas.microsoft.com/office/drawing/2014/main" id="{031496D9-6C83-72C9-0DDD-56963CDCCFC6}"/>
              </a:ext>
            </a:extLst>
          </p:cNvPr>
          <p:cNvPicPr/>
          <p:nvPr/>
        </p:nvPicPr>
        <p:blipFill>
          <a:blip r:embed="rId2"/>
          <a:stretch/>
        </p:blipFill>
        <p:spPr>
          <a:xfrm>
            <a:off x="0" y="1741714"/>
            <a:ext cx="12192000" cy="5078889"/>
          </a:xfrm>
          <a:prstGeom prst="rect">
            <a:avLst/>
          </a:prstGeom>
          <a:ln>
            <a:noFill/>
          </a:ln>
        </p:spPr>
      </p:pic>
      <p:sp>
        <p:nvSpPr>
          <p:cNvPr id="4" name="TextBox 3">
            <a:extLst>
              <a:ext uri="{FF2B5EF4-FFF2-40B4-BE49-F238E27FC236}">
                <a16:creationId xmlns:a16="http://schemas.microsoft.com/office/drawing/2014/main" id="{D36E0A1B-D9A6-D0FA-B18C-9E72E5B723EB}"/>
              </a:ext>
            </a:extLst>
          </p:cNvPr>
          <p:cNvSpPr txBox="1"/>
          <p:nvPr/>
        </p:nvSpPr>
        <p:spPr>
          <a:xfrm>
            <a:off x="6686549" y="180227"/>
            <a:ext cx="5505451" cy="461665"/>
          </a:xfrm>
          <a:prstGeom prst="rect">
            <a:avLst/>
          </a:prstGeom>
          <a:noFill/>
        </p:spPr>
        <p:txBody>
          <a:bodyPr wrap="square">
            <a:spAutoFit/>
          </a:bodyPr>
          <a:lstStyle/>
          <a:p>
            <a:r>
              <a:rPr lang="en-US" sz="2400" dirty="0">
                <a:effectLst/>
                <a:latin typeface="Calibri" panose="020F0502020204030204" pitchFamily="34" charset="0"/>
                <a:ea typeface="Calibri" panose="020F0502020204030204" pitchFamily="34" charset="0"/>
                <a:cs typeface="Times New Roman" panose="02020603050405020304" pitchFamily="18" charset="0"/>
              </a:rPr>
              <a:t>Bhatt SP et al.,2019</a:t>
            </a:r>
            <a:endParaRPr lang="en-US" sz="2400" dirty="0"/>
          </a:p>
        </p:txBody>
      </p:sp>
      <p:sp>
        <p:nvSpPr>
          <p:cNvPr id="5" name="Rectangle: Single Corner Rounded 4">
            <a:extLst>
              <a:ext uri="{FF2B5EF4-FFF2-40B4-BE49-F238E27FC236}">
                <a16:creationId xmlns:a16="http://schemas.microsoft.com/office/drawing/2014/main" id="{5CB23813-CA1A-70A2-12EA-C38607F930DD}"/>
              </a:ext>
            </a:extLst>
          </p:cNvPr>
          <p:cNvSpPr/>
          <p:nvPr/>
        </p:nvSpPr>
        <p:spPr>
          <a:xfrm>
            <a:off x="0" y="700178"/>
            <a:ext cx="12192000" cy="84543"/>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323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4CF7-B48B-712A-B169-59150534BB97}"/>
              </a:ext>
            </a:extLst>
          </p:cNvPr>
          <p:cNvSpPr>
            <a:spLocks noGrp="1"/>
          </p:cNvSpPr>
          <p:nvPr>
            <p:ph type="title"/>
          </p:nvPr>
        </p:nvSpPr>
        <p:spPr>
          <a:xfrm>
            <a:off x="572877" y="1215493"/>
            <a:ext cx="5838939" cy="676607"/>
          </a:xfrm>
        </p:spPr>
        <p:txBody>
          <a:bodyPr>
            <a:normAutofit fontScale="90000"/>
          </a:bodyPr>
          <a:lstStyle/>
          <a:p>
            <a:r>
              <a:rPr lang="en-US" dirty="0"/>
              <a:t> </a:t>
            </a:r>
            <a:r>
              <a:rPr lang="en-US" sz="2400" dirty="0">
                <a:latin typeface="+mn-lt"/>
              </a:rPr>
              <a:t>Post hospitalization PR and Mortality </a:t>
            </a:r>
          </a:p>
        </p:txBody>
      </p:sp>
      <p:pic>
        <p:nvPicPr>
          <p:cNvPr id="5" name="Picture 4">
            <a:extLst>
              <a:ext uri="{FF2B5EF4-FFF2-40B4-BE49-F238E27FC236}">
                <a16:creationId xmlns:a16="http://schemas.microsoft.com/office/drawing/2014/main" id="{F5EA8E46-1416-C35A-D00B-16869C71D316}"/>
              </a:ext>
            </a:extLst>
          </p:cNvPr>
          <p:cNvPicPr>
            <a:picLocks noChangeAspect="1"/>
          </p:cNvPicPr>
          <p:nvPr/>
        </p:nvPicPr>
        <p:blipFill>
          <a:blip r:embed="rId3"/>
          <a:stretch>
            <a:fillRect/>
          </a:stretch>
        </p:blipFill>
        <p:spPr>
          <a:xfrm>
            <a:off x="-1" y="2158147"/>
            <a:ext cx="8703325" cy="4699853"/>
          </a:xfrm>
          <a:prstGeom prst="rect">
            <a:avLst/>
          </a:prstGeom>
        </p:spPr>
      </p:pic>
      <p:sp>
        <p:nvSpPr>
          <p:cNvPr id="7" name="TextBox 6">
            <a:extLst>
              <a:ext uri="{FF2B5EF4-FFF2-40B4-BE49-F238E27FC236}">
                <a16:creationId xmlns:a16="http://schemas.microsoft.com/office/drawing/2014/main" id="{4EE7905F-DF37-4454-0ABE-A9D5210BD317}"/>
              </a:ext>
            </a:extLst>
          </p:cNvPr>
          <p:cNvSpPr txBox="1"/>
          <p:nvPr/>
        </p:nvSpPr>
        <p:spPr>
          <a:xfrm>
            <a:off x="7458584" y="333892"/>
            <a:ext cx="6221184" cy="461665"/>
          </a:xfrm>
          <a:prstGeom prst="rect">
            <a:avLst/>
          </a:prstGeom>
          <a:noFill/>
        </p:spPr>
        <p:txBody>
          <a:bodyPr wrap="square">
            <a:spAutoFit/>
          </a:bodyPr>
          <a:lstStyle/>
          <a:p>
            <a:r>
              <a:rPr lang="en-US" sz="2400" dirty="0">
                <a:effectLst/>
                <a:latin typeface="Calibri" panose="020F0502020204030204" pitchFamily="34" charset="0"/>
                <a:ea typeface="Calibri" panose="020F0502020204030204" pitchFamily="34" charset="0"/>
                <a:cs typeface="Times New Roman" panose="02020603050405020304" pitchFamily="18" charset="0"/>
              </a:rPr>
              <a:t>Lindenauer et al.,2020</a:t>
            </a:r>
            <a:endParaRPr lang="en-US" sz="2400" dirty="0"/>
          </a:p>
        </p:txBody>
      </p:sp>
      <p:sp>
        <p:nvSpPr>
          <p:cNvPr id="6" name="TextBox 5">
            <a:extLst>
              <a:ext uri="{FF2B5EF4-FFF2-40B4-BE49-F238E27FC236}">
                <a16:creationId xmlns:a16="http://schemas.microsoft.com/office/drawing/2014/main" id="{13A5E8B2-705B-DB89-EA40-77468AEFE267}"/>
              </a:ext>
            </a:extLst>
          </p:cNvPr>
          <p:cNvSpPr txBox="1"/>
          <p:nvPr/>
        </p:nvSpPr>
        <p:spPr>
          <a:xfrm>
            <a:off x="8624207" y="2589014"/>
            <a:ext cx="3567793" cy="710707"/>
          </a:xfrm>
          <a:prstGeom prst="rect">
            <a:avLst/>
          </a:prstGeom>
          <a:noFill/>
        </p:spPr>
        <p:txBody>
          <a:bodyPr wrap="square">
            <a:spAutoFit/>
          </a:bodyPr>
          <a:lstStyle/>
          <a:p>
            <a:pPr>
              <a:lnSpc>
                <a:spcPct val="115000"/>
              </a:lnSpc>
              <a:spcAft>
                <a:spcPts val="800"/>
              </a:spcAft>
            </a:pP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PR within 90 days= lower risks of death over 1 year</a:t>
            </a:r>
          </a:p>
        </p:txBody>
      </p:sp>
      <p:sp>
        <p:nvSpPr>
          <p:cNvPr id="9" name="TextBox 8">
            <a:extLst>
              <a:ext uri="{FF2B5EF4-FFF2-40B4-BE49-F238E27FC236}">
                <a16:creationId xmlns:a16="http://schemas.microsoft.com/office/drawing/2014/main" id="{4654B185-89F4-786A-F2C4-579A84C80063}"/>
              </a:ext>
            </a:extLst>
          </p:cNvPr>
          <p:cNvSpPr txBox="1"/>
          <p:nvPr/>
        </p:nvSpPr>
        <p:spPr>
          <a:xfrm>
            <a:off x="1393634" y="180005"/>
            <a:ext cx="6158428" cy="769441"/>
          </a:xfrm>
          <a:prstGeom prst="rect">
            <a:avLst/>
          </a:prstGeom>
          <a:noFill/>
        </p:spPr>
        <p:txBody>
          <a:bodyPr wrap="square">
            <a:spAutoFit/>
          </a:bodyPr>
          <a:lstStyle/>
          <a:p>
            <a:r>
              <a:rPr lang="en-US" sz="4400" dirty="0"/>
              <a:t>Benefits of PR</a:t>
            </a:r>
          </a:p>
        </p:txBody>
      </p:sp>
      <p:sp>
        <p:nvSpPr>
          <p:cNvPr id="10" name="Rectangle 9">
            <a:extLst>
              <a:ext uri="{FF2B5EF4-FFF2-40B4-BE49-F238E27FC236}">
                <a16:creationId xmlns:a16="http://schemas.microsoft.com/office/drawing/2014/main" id="{48A38829-CBB6-A534-A8C9-F1152921BA44}"/>
              </a:ext>
            </a:extLst>
          </p:cNvPr>
          <p:cNvSpPr/>
          <p:nvPr/>
        </p:nvSpPr>
        <p:spPr>
          <a:xfrm>
            <a:off x="0" y="795557"/>
            <a:ext cx="121920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8643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3DE5-1A1C-1DDF-30B7-46618FBF3A58}"/>
              </a:ext>
            </a:extLst>
          </p:cNvPr>
          <p:cNvSpPr>
            <a:spLocks noGrp="1"/>
          </p:cNvSpPr>
          <p:nvPr>
            <p:ph type="title"/>
          </p:nvPr>
        </p:nvSpPr>
        <p:spPr>
          <a:xfrm>
            <a:off x="0" y="34156"/>
            <a:ext cx="12192000" cy="901162"/>
          </a:xfrm>
        </p:spPr>
        <p:txBody>
          <a:bodyPr/>
          <a:lstStyle/>
          <a:p>
            <a:r>
              <a:rPr lang="en-US" dirty="0"/>
              <a:t>Who can participate in PR</a:t>
            </a:r>
          </a:p>
        </p:txBody>
      </p:sp>
      <p:graphicFrame>
        <p:nvGraphicFramePr>
          <p:cNvPr id="4" name="Content Placeholder 3">
            <a:extLst>
              <a:ext uri="{FF2B5EF4-FFF2-40B4-BE49-F238E27FC236}">
                <a16:creationId xmlns:a16="http://schemas.microsoft.com/office/drawing/2014/main" id="{F0B4361A-68C2-A588-8247-9D1F22CC5B4C}"/>
              </a:ext>
            </a:extLst>
          </p:cNvPr>
          <p:cNvGraphicFramePr>
            <a:graphicFrameLocks noGrp="1"/>
          </p:cNvGraphicFramePr>
          <p:nvPr>
            <p:ph idx="1"/>
            <p:extLst>
              <p:ext uri="{D42A27DB-BD31-4B8C-83A1-F6EECF244321}">
                <p14:modId xmlns:p14="http://schemas.microsoft.com/office/powerpoint/2010/main" val="3400651821"/>
              </p:ext>
            </p:extLst>
          </p:nvPr>
        </p:nvGraphicFramePr>
        <p:xfrm>
          <a:off x="0" y="1513114"/>
          <a:ext cx="12192000" cy="5344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08784B81-7F14-E7D0-D712-4942ECF18962}"/>
              </a:ext>
            </a:extLst>
          </p:cNvPr>
          <p:cNvSpPr txBox="1"/>
          <p:nvPr/>
        </p:nvSpPr>
        <p:spPr>
          <a:xfrm>
            <a:off x="8763000" y="4000890"/>
            <a:ext cx="4495800"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(Dowman et al.,2021)</a:t>
            </a:r>
            <a:endParaRPr lang="en-US" dirty="0"/>
          </a:p>
        </p:txBody>
      </p:sp>
      <p:sp>
        <p:nvSpPr>
          <p:cNvPr id="10" name="TextBox 9">
            <a:extLst>
              <a:ext uri="{FF2B5EF4-FFF2-40B4-BE49-F238E27FC236}">
                <a16:creationId xmlns:a16="http://schemas.microsoft.com/office/drawing/2014/main" id="{9C46AF0F-80EA-BE7B-F2EF-5959FC5CF078}"/>
              </a:ext>
            </a:extLst>
          </p:cNvPr>
          <p:cNvSpPr txBox="1"/>
          <p:nvPr/>
        </p:nvSpPr>
        <p:spPr>
          <a:xfrm>
            <a:off x="1268185" y="4000890"/>
            <a:ext cx="6629400"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(Hoffman et al.,2017)</a:t>
            </a:r>
            <a:endParaRPr lang="en-US" dirty="0"/>
          </a:p>
        </p:txBody>
      </p:sp>
      <p:sp>
        <p:nvSpPr>
          <p:cNvPr id="12" name="TextBox 11">
            <a:extLst>
              <a:ext uri="{FF2B5EF4-FFF2-40B4-BE49-F238E27FC236}">
                <a16:creationId xmlns:a16="http://schemas.microsoft.com/office/drawing/2014/main" id="{3BF4E367-7381-301F-A6A8-F868F7B9EC8B}"/>
              </a:ext>
            </a:extLst>
          </p:cNvPr>
          <p:cNvSpPr txBox="1"/>
          <p:nvPr/>
        </p:nvSpPr>
        <p:spPr>
          <a:xfrm>
            <a:off x="6629400" y="1442646"/>
            <a:ext cx="6629400" cy="369332"/>
          </a:xfrm>
          <a:prstGeom prst="rect">
            <a:avLst/>
          </a:prstGeom>
          <a:noFill/>
        </p:spPr>
        <p:txBody>
          <a:bodyPr wrap="square">
            <a:spAutoFit/>
          </a:bodyPr>
          <a:lstStyle/>
          <a:p>
            <a:r>
              <a:rPr lang="sv-SE" sz="1800" dirty="0">
                <a:latin typeface="Segoe UI" panose="020B0502040204020203" pitchFamily="34" charset="0"/>
              </a:rPr>
              <a:t>(Tonga and Oliver</a:t>
            </a:r>
            <a:r>
              <a:rPr lang="sv-SE" dirty="0">
                <a:latin typeface="Segoe UI" panose="020B0502040204020203" pitchFamily="34" charset="0"/>
              </a:rPr>
              <a:t>.,2023)</a:t>
            </a:r>
            <a:endParaRPr lang="en-US" dirty="0"/>
          </a:p>
        </p:txBody>
      </p:sp>
      <p:sp>
        <p:nvSpPr>
          <p:cNvPr id="14" name="TextBox 13">
            <a:extLst>
              <a:ext uri="{FF2B5EF4-FFF2-40B4-BE49-F238E27FC236}">
                <a16:creationId xmlns:a16="http://schemas.microsoft.com/office/drawing/2014/main" id="{AF16C46E-553D-8B5E-8222-7CB5B154A909}"/>
              </a:ext>
            </a:extLst>
          </p:cNvPr>
          <p:cNvSpPr txBox="1"/>
          <p:nvPr/>
        </p:nvSpPr>
        <p:spPr>
          <a:xfrm>
            <a:off x="3586842" y="6492875"/>
            <a:ext cx="6629400"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(Ando et al.,2003)</a:t>
            </a:r>
            <a:endParaRPr lang="en-US" dirty="0"/>
          </a:p>
        </p:txBody>
      </p:sp>
      <p:sp>
        <p:nvSpPr>
          <p:cNvPr id="3" name="Oval 2">
            <a:extLst>
              <a:ext uri="{FF2B5EF4-FFF2-40B4-BE49-F238E27FC236}">
                <a16:creationId xmlns:a16="http://schemas.microsoft.com/office/drawing/2014/main" id="{89C270F1-1BB5-43CB-ED1C-6AC68028F7BD}"/>
              </a:ext>
            </a:extLst>
          </p:cNvPr>
          <p:cNvSpPr/>
          <p:nvPr/>
        </p:nvSpPr>
        <p:spPr>
          <a:xfrm>
            <a:off x="3801839" y="2020011"/>
            <a:ext cx="1325336" cy="132058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Lung cancer</a:t>
            </a:r>
          </a:p>
        </p:txBody>
      </p:sp>
      <p:sp>
        <p:nvSpPr>
          <p:cNvPr id="5" name="Oval 4">
            <a:extLst>
              <a:ext uri="{FF2B5EF4-FFF2-40B4-BE49-F238E27FC236}">
                <a16:creationId xmlns:a16="http://schemas.microsoft.com/office/drawing/2014/main" id="{983F6205-7032-0A13-9F30-9B0A8AC7DC31}"/>
              </a:ext>
            </a:extLst>
          </p:cNvPr>
          <p:cNvSpPr/>
          <p:nvPr/>
        </p:nvSpPr>
        <p:spPr>
          <a:xfrm>
            <a:off x="7108369" y="1967945"/>
            <a:ext cx="1325336" cy="132793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 Covid-19</a:t>
            </a:r>
          </a:p>
        </p:txBody>
      </p:sp>
      <p:sp>
        <p:nvSpPr>
          <p:cNvPr id="6" name="Oval 5">
            <a:extLst>
              <a:ext uri="{FF2B5EF4-FFF2-40B4-BE49-F238E27FC236}">
                <a16:creationId xmlns:a16="http://schemas.microsoft.com/office/drawing/2014/main" id="{5289F539-7D4C-459B-FEDE-C5BD48DB5182}"/>
              </a:ext>
            </a:extLst>
          </p:cNvPr>
          <p:cNvSpPr/>
          <p:nvPr/>
        </p:nvSpPr>
        <p:spPr>
          <a:xfrm>
            <a:off x="6980464" y="4956479"/>
            <a:ext cx="1325336" cy="132793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Asthma</a:t>
            </a:r>
          </a:p>
        </p:txBody>
      </p:sp>
      <p:sp>
        <p:nvSpPr>
          <p:cNvPr id="7" name="Oval 6">
            <a:extLst>
              <a:ext uri="{FF2B5EF4-FFF2-40B4-BE49-F238E27FC236}">
                <a16:creationId xmlns:a16="http://schemas.microsoft.com/office/drawing/2014/main" id="{C7C4A15D-2FE1-2FBA-155A-9176E92A09C6}"/>
              </a:ext>
            </a:extLst>
          </p:cNvPr>
          <p:cNvSpPr/>
          <p:nvPr/>
        </p:nvSpPr>
        <p:spPr>
          <a:xfrm>
            <a:off x="3407229" y="4904610"/>
            <a:ext cx="1804308" cy="130366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Lung reduction surgery</a:t>
            </a:r>
          </a:p>
        </p:txBody>
      </p:sp>
      <p:sp>
        <p:nvSpPr>
          <p:cNvPr id="9" name="Rectangle: Single Corner Rounded 8">
            <a:extLst>
              <a:ext uri="{FF2B5EF4-FFF2-40B4-BE49-F238E27FC236}">
                <a16:creationId xmlns:a16="http://schemas.microsoft.com/office/drawing/2014/main" id="{55B5BD0C-7AA9-D0D4-D9EF-295A19D23B58}"/>
              </a:ext>
            </a:extLst>
          </p:cNvPr>
          <p:cNvSpPr/>
          <p:nvPr/>
        </p:nvSpPr>
        <p:spPr>
          <a:xfrm>
            <a:off x="0" y="870333"/>
            <a:ext cx="12192000" cy="45719"/>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939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A1BD-869F-3DC6-25D6-C6561A662AB4}"/>
              </a:ext>
            </a:extLst>
          </p:cNvPr>
          <p:cNvSpPr>
            <a:spLocks noGrp="1"/>
          </p:cNvSpPr>
          <p:nvPr>
            <p:ph type="title"/>
          </p:nvPr>
        </p:nvSpPr>
        <p:spPr>
          <a:xfrm>
            <a:off x="0" y="0"/>
            <a:ext cx="12192000" cy="1325563"/>
          </a:xfrm>
        </p:spPr>
        <p:txBody>
          <a:bodyPr/>
          <a:lstStyle/>
          <a:p>
            <a:r>
              <a:rPr lang="en-US" dirty="0"/>
              <a:t>Initial assessment</a:t>
            </a:r>
          </a:p>
        </p:txBody>
      </p:sp>
      <p:sp>
        <p:nvSpPr>
          <p:cNvPr id="3" name="Content Placeholder 2">
            <a:extLst>
              <a:ext uri="{FF2B5EF4-FFF2-40B4-BE49-F238E27FC236}">
                <a16:creationId xmlns:a16="http://schemas.microsoft.com/office/drawing/2014/main" id="{5FE34A55-E2C8-8AE1-F4EC-AB2B04A18587}"/>
              </a:ext>
            </a:extLst>
          </p:cNvPr>
          <p:cNvSpPr>
            <a:spLocks noGrp="1"/>
          </p:cNvSpPr>
          <p:nvPr>
            <p:ph idx="1"/>
          </p:nvPr>
        </p:nvSpPr>
        <p:spPr>
          <a:xfrm>
            <a:off x="1" y="1825625"/>
            <a:ext cx="7097485" cy="4351338"/>
          </a:xfrm>
        </p:spPr>
        <p:txBody>
          <a:bodyPr/>
          <a:lstStyle/>
          <a:p>
            <a:pPr marL="0" indent="0">
              <a:buNone/>
            </a:pPr>
            <a:r>
              <a:rPr lang="en-US" dirty="0">
                <a:highlight>
                  <a:srgbClr val="FFFF00"/>
                </a:highlight>
              </a:rPr>
              <a:t>General eligibility criteria</a:t>
            </a:r>
          </a:p>
          <a:p>
            <a:pPr marL="514350" indent="-514350">
              <a:buFont typeface="+mj-lt"/>
              <a:buAutoNum type="alphaLcParenR"/>
            </a:pPr>
            <a:r>
              <a:rPr lang="en-US" dirty="0"/>
              <a:t>Optimal medical management</a:t>
            </a:r>
          </a:p>
          <a:p>
            <a:pPr marL="514350" indent="-514350">
              <a:buFont typeface="+mj-lt"/>
              <a:buAutoNum type="alphaLcParenR"/>
            </a:pPr>
            <a:r>
              <a:rPr lang="en-US" dirty="0"/>
              <a:t>Breathlessness resulting in functional impairments</a:t>
            </a:r>
          </a:p>
          <a:p>
            <a:pPr marL="0" indent="0">
              <a:buNone/>
            </a:pPr>
            <a:r>
              <a:rPr lang="en-US" sz="2400" dirty="0"/>
              <a:t>    </a:t>
            </a:r>
            <a:r>
              <a:rPr lang="en-US" sz="2400" dirty="0">
                <a:solidFill>
                  <a:srgbClr val="00B050"/>
                </a:solidFill>
              </a:rPr>
              <a:t>COPD-MRC; 2-5</a:t>
            </a:r>
          </a:p>
          <a:p>
            <a:pPr marL="0" indent="0">
              <a:buNone/>
            </a:pPr>
            <a:r>
              <a:rPr lang="en-US" sz="2400" dirty="0">
                <a:solidFill>
                  <a:srgbClr val="00B050"/>
                </a:solidFill>
              </a:rPr>
              <a:t>  Chronic lung condition,MRC;3-5</a:t>
            </a:r>
          </a:p>
        </p:txBody>
      </p:sp>
      <p:pic>
        <p:nvPicPr>
          <p:cNvPr id="5" name="Picture 4">
            <a:extLst>
              <a:ext uri="{FF2B5EF4-FFF2-40B4-BE49-F238E27FC236}">
                <a16:creationId xmlns:a16="http://schemas.microsoft.com/office/drawing/2014/main" id="{D61F458A-9CE3-7303-6B4F-E8199C767D0B}"/>
              </a:ext>
            </a:extLst>
          </p:cNvPr>
          <p:cNvPicPr>
            <a:picLocks noChangeAspect="1"/>
          </p:cNvPicPr>
          <p:nvPr/>
        </p:nvPicPr>
        <p:blipFill>
          <a:blip r:embed="rId2"/>
          <a:stretch>
            <a:fillRect/>
          </a:stretch>
        </p:blipFill>
        <p:spPr>
          <a:xfrm>
            <a:off x="6466114" y="1027906"/>
            <a:ext cx="5725886" cy="4734586"/>
          </a:xfrm>
          <a:prstGeom prst="rect">
            <a:avLst/>
          </a:prstGeom>
        </p:spPr>
      </p:pic>
      <p:sp>
        <p:nvSpPr>
          <p:cNvPr id="7" name="TextBox 6">
            <a:extLst>
              <a:ext uri="{FF2B5EF4-FFF2-40B4-BE49-F238E27FC236}">
                <a16:creationId xmlns:a16="http://schemas.microsoft.com/office/drawing/2014/main" id="{D92DABDE-4CCC-204A-35FC-899F08566038}"/>
              </a:ext>
            </a:extLst>
          </p:cNvPr>
          <p:cNvSpPr txBox="1"/>
          <p:nvPr/>
        </p:nvSpPr>
        <p:spPr>
          <a:xfrm>
            <a:off x="3265713" y="6240607"/>
            <a:ext cx="6161314" cy="461665"/>
          </a:xfrm>
          <a:prstGeom prst="rect">
            <a:avLst/>
          </a:prstGeom>
          <a:noFill/>
        </p:spPr>
        <p:txBody>
          <a:bodyPr wrap="square">
            <a:spAutoFit/>
          </a:bodyPr>
          <a:lstStyle/>
          <a:p>
            <a:r>
              <a:rPr lang="en-US" sz="2400" dirty="0">
                <a:latin typeface="Segoe UI" panose="020B0502040204020203" pitchFamily="34" charset="0"/>
              </a:rPr>
              <a:t>Man et al.,2023</a:t>
            </a:r>
            <a:endParaRPr lang="en-US" sz="2400" dirty="0"/>
          </a:p>
        </p:txBody>
      </p:sp>
      <p:sp>
        <p:nvSpPr>
          <p:cNvPr id="8" name="Rectangle: Single Corner Rounded 7">
            <a:extLst>
              <a:ext uri="{FF2B5EF4-FFF2-40B4-BE49-F238E27FC236}">
                <a16:creationId xmlns:a16="http://schemas.microsoft.com/office/drawing/2014/main" id="{13ECB7C7-8214-957E-2C02-5BA1EF7DC750}"/>
              </a:ext>
            </a:extLst>
          </p:cNvPr>
          <p:cNvSpPr/>
          <p:nvPr/>
        </p:nvSpPr>
        <p:spPr>
          <a:xfrm>
            <a:off x="0" y="870333"/>
            <a:ext cx="12192000" cy="45719"/>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able 1 from The MRC dyspnoea scale by telephone interview to monitor  health status in elderly COPD patients. | Semantic Scholar">
            <a:extLst>
              <a:ext uri="{FF2B5EF4-FFF2-40B4-BE49-F238E27FC236}">
                <a16:creationId xmlns:a16="http://schemas.microsoft.com/office/drawing/2014/main" id="{86AC92CA-5CFA-AF94-6848-D2FB4A13FC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10" b="4410"/>
          <a:stretch>
            <a:fillRect/>
          </a:stretch>
        </p:blipFill>
        <p:spPr bwMode="auto">
          <a:xfrm>
            <a:off x="6202136" y="1027906"/>
            <a:ext cx="5989863" cy="473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871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3E91-B022-A16C-B676-8C44A1F06AC8}"/>
              </a:ext>
            </a:extLst>
          </p:cNvPr>
          <p:cNvSpPr>
            <a:spLocks noGrp="1"/>
          </p:cNvSpPr>
          <p:nvPr>
            <p:ph type="title"/>
          </p:nvPr>
        </p:nvSpPr>
        <p:spPr>
          <a:xfrm>
            <a:off x="24819" y="49531"/>
            <a:ext cx="10515600" cy="843666"/>
          </a:xfrm>
        </p:spPr>
        <p:txBody>
          <a:bodyPr/>
          <a:lstStyle/>
          <a:p>
            <a:r>
              <a:rPr lang="en-US" dirty="0"/>
              <a:t>Initial assessment</a:t>
            </a:r>
          </a:p>
        </p:txBody>
      </p:sp>
      <p:sp>
        <p:nvSpPr>
          <p:cNvPr id="4" name="Rectangle 3">
            <a:extLst>
              <a:ext uri="{FF2B5EF4-FFF2-40B4-BE49-F238E27FC236}">
                <a16:creationId xmlns:a16="http://schemas.microsoft.com/office/drawing/2014/main" id="{41D5259D-E021-B05D-92F0-858C8034A45D}"/>
              </a:ext>
            </a:extLst>
          </p:cNvPr>
          <p:cNvSpPr/>
          <p:nvPr/>
        </p:nvSpPr>
        <p:spPr>
          <a:xfrm>
            <a:off x="-2" y="2280190"/>
            <a:ext cx="2862943" cy="649845"/>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Bronchiectasis</a:t>
            </a:r>
          </a:p>
        </p:txBody>
      </p:sp>
      <p:sp>
        <p:nvSpPr>
          <p:cNvPr id="5" name="Rectangle 4">
            <a:extLst>
              <a:ext uri="{FF2B5EF4-FFF2-40B4-BE49-F238E27FC236}">
                <a16:creationId xmlns:a16="http://schemas.microsoft.com/office/drawing/2014/main" id="{1C0D1708-5C54-A817-C1FA-AEB073DD6089}"/>
              </a:ext>
            </a:extLst>
          </p:cNvPr>
          <p:cNvSpPr/>
          <p:nvPr/>
        </p:nvSpPr>
        <p:spPr>
          <a:xfrm>
            <a:off x="0" y="3711121"/>
            <a:ext cx="2862943" cy="484632"/>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Hospitalized COPD exacerbation</a:t>
            </a:r>
          </a:p>
        </p:txBody>
      </p:sp>
      <p:sp>
        <p:nvSpPr>
          <p:cNvPr id="6" name="Rectangle 5">
            <a:extLst>
              <a:ext uri="{FF2B5EF4-FFF2-40B4-BE49-F238E27FC236}">
                <a16:creationId xmlns:a16="http://schemas.microsoft.com/office/drawing/2014/main" id="{81A99700-44EF-FCE1-6732-3B571E52230D}"/>
              </a:ext>
            </a:extLst>
          </p:cNvPr>
          <p:cNvSpPr/>
          <p:nvPr/>
        </p:nvSpPr>
        <p:spPr>
          <a:xfrm>
            <a:off x="-1" y="4783676"/>
            <a:ext cx="2862943" cy="9144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Pulmonary Hypertension</a:t>
            </a:r>
          </a:p>
        </p:txBody>
      </p:sp>
      <p:sp>
        <p:nvSpPr>
          <p:cNvPr id="11" name="Arrow: Right 10">
            <a:extLst>
              <a:ext uri="{FF2B5EF4-FFF2-40B4-BE49-F238E27FC236}">
                <a16:creationId xmlns:a16="http://schemas.microsoft.com/office/drawing/2014/main" id="{F3AF6824-1CC5-01FA-3490-136E805D0B13}"/>
              </a:ext>
            </a:extLst>
          </p:cNvPr>
          <p:cNvSpPr/>
          <p:nvPr/>
        </p:nvSpPr>
        <p:spPr>
          <a:xfrm>
            <a:off x="2956124" y="2440396"/>
            <a:ext cx="826008" cy="19684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6136609-7F43-07A2-FC72-46B66CE19FE0}"/>
              </a:ext>
            </a:extLst>
          </p:cNvPr>
          <p:cNvSpPr/>
          <p:nvPr/>
        </p:nvSpPr>
        <p:spPr>
          <a:xfrm>
            <a:off x="2956124" y="3835350"/>
            <a:ext cx="826008" cy="13766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EEB389A3-7357-68E0-3B78-5FBE5B20E1A7}"/>
              </a:ext>
            </a:extLst>
          </p:cNvPr>
          <p:cNvSpPr/>
          <p:nvPr/>
        </p:nvSpPr>
        <p:spPr>
          <a:xfrm>
            <a:off x="2893966" y="5044036"/>
            <a:ext cx="826008" cy="19684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8A40E60-6270-8E93-CD84-E1A59C2C6E8E}"/>
              </a:ext>
            </a:extLst>
          </p:cNvPr>
          <p:cNvSpPr txBox="1"/>
          <p:nvPr/>
        </p:nvSpPr>
        <p:spPr>
          <a:xfrm>
            <a:off x="2659162" y="1322619"/>
            <a:ext cx="6210300" cy="523220"/>
          </a:xfrm>
          <a:prstGeom prst="rect">
            <a:avLst/>
          </a:prstGeom>
          <a:noFill/>
        </p:spPr>
        <p:txBody>
          <a:bodyPr wrap="square">
            <a:spAutoFit/>
          </a:bodyPr>
          <a:lstStyle/>
          <a:p>
            <a:r>
              <a:rPr lang="en-US" sz="2800" dirty="0"/>
              <a:t>Disease specific eligibility criteria</a:t>
            </a:r>
          </a:p>
        </p:txBody>
      </p:sp>
      <p:sp>
        <p:nvSpPr>
          <p:cNvPr id="17" name="Rectangle: Diagonal Corners Rounded 16">
            <a:extLst>
              <a:ext uri="{FF2B5EF4-FFF2-40B4-BE49-F238E27FC236}">
                <a16:creationId xmlns:a16="http://schemas.microsoft.com/office/drawing/2014/main" id="{938887DE-A38F-E432-B45D-1454AF7018D3}"/>
              </a:ext>
            </a:extLst>
          </p:cNvPr>
          <p:cNvSpPr/>
          <p:nvPr/>
        </p:nvSpPr>
        <p:spPr>
          <a:xfrm>
            <a:off x="24819" y="925148"/>
            <a:ext cx="12167181" cy="45719"/>
          </a:xfrm>
          <a:prstGeom prst="round2Diag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86D1983-3073-273E-E181-99A3CC8F4264}"/>
              </a:ext>
            </a:extLst>
          </p:cNvPr>
          <p:cNvSpPr txBox="1"/>
          <p:nvPr/>
        </p:nvSpPr>
        <p:spPr>
          <a:xfrm>
            <a:off x="24819" y="6220033"/>
            <a:ext cx="6161314" cy="461665"/>
          </a:xfrm>
          <a:prstGeom prst="rect">
            <a:avLst/>
          </a:prstGeom>
          <a:noFill/>
        </p:spPr>
        <p:txBody>
          <a:bodyPr wrap="square">
            <a:spAutoFit/>
          </a:bodyPr>
          <a:lstStyle/>
          <a:p>
            <a:r>
              <a:rPr lang="en-US" sz="2400" dirty="0">
                <a:latin typeface="Segoe UI" panose="020B0502040204020203" pitchFamily="34" charset="0"/>
              </a:rPr>
              <a:t>Man et al.,2023</a:t>
            </a:r>
            <a:endParaRPr lang="en-US" sz="2400" dirty="0"/>
          </a:p>
        </p:txBody>
      </p:sp>
      <p:sp>
        <p:nvSpPr>
          <p:cNvPr id="19" name="Rectangle: Single Corner Rounded 18">
            <a:extLst>
              <a:ext uri="{FF2B5EF4-FFF2-40B4-BE49-F238E27FC236}">
                <a16:creationId xmlns:a16="http://schemas.microsoft.com/office/drawing/2014/main" id="{DAA72B35-4FDA-9E94-8083-F51EA1553CC1}"/>
              </a:ext>
            </a:extLst>
          </p:cNvPr>
          <p:cNvSpPr/>
          <p:nvPr/>
        </p:nvSpPr>
        <p:spPr>
          <a:xfrm>
            <a:off x="3782132" y="2046470"/>
            <a:ext cx="7332183" cy="914400"/>
          </a:xfrm>
          <a:prstGeom prst="round1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Optimization of airway clearance before PR</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Diagonal Corners Rounded 19">
            <a:extLst>
              <a:ext uri="{FF2B5EF4-FFF2-40B4-BE49-F238E27FC236}">
                <a16:creationId xmlns:a16="http://schemas.microsoft.com/office/drawing/2014/main" id="{58191CD5-36DD-5DBA-3236-706C17259052}"/>
              </a:ext>
            </a:extLst>
          </p:cNvPr>
          <p:cNvSpPr/>
          <p:nvPr/>
        </p:nvSpPr>
        <p:spPr>
          <a:xfrm>
            <a:off x="3782132" y="3431134"/>
            <a:ext cx="7195458" cy="914400"/>
          </a:xfrm>
          <a:prstGeom prst="round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Referred to PR at hospital discharge</a:t>
            </a:r>
          </a:p>
        </p:txBody>
      </p:sp>
      <p:sp>
        <p:nvSpPr>
          <p:cNvPr id="21" name="Rectangle: Diagonal Corners Rounded 20">
            <a:extLst>
              <a:ext uri="{FF2B5EF4-FFF2-40B4-BE49-F238E27FC236}">
                <a16:creationId xmlns:a16="http://schemas.microsoft.com/office/drawing/2014/main" id="{089712B8-E7F2-8473-D7D7-311E7E72BCE5}"/>
              </a:ext>
            </a:extLst>
          </p:cNvPr>
          <p:cNvSpPr/>
          <p:nvPr/>
        </p:nvSpPr>
        <p:spPr>
          <a:xfrm>
            <a:off x="3782132" y="4573803"/>
            <a:ext cx="8044543" cy="1898022"/>
          </a:xfrm>
          <a:prstGeom prst="round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Pulmonary arterial hypertension or thromboembolic pulmonary hypertension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No change in drug therapy or dose in previous 2 months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No syncope or arrhythmias in last 2 months </a:t>
            </a:r>
          </a:p>
        </p:txBody>
      </p:sp>
    </p:spTree>
    <p:extLst>
      <p:ext uri="{BB962C8B-B14F-4D97-AF65-F5344CB8AC3E}">
        <p14:creationId xmlns:p14="http://schemas.microsoft.com/office/powerpoint/2010/main" val="2922259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9EF73-4201-495A-44D1-DA0F89CC1908}"/>
              </a:ext>
            </a:extLst>
          </p:cNvPr>
          <p:cNvSpPr>
            <a:spLocks noGrp="1"/>
          </p:cNvSpPr>
          <p:nvPr>
            <p:ph type="title"/>
          </p:nvPr>
        </p:nvSpPr>
        <p:spPr>
          <a:xfrm>
            <a:off x="718458" y="1477318"/>
            <a:ext cx="10515600" cy="662782"/>
          </a:xfrm>
        </p:spPr>
        <p:txBody>
          <a:bodyPr>
            <a:normAutofit/>
          </a:bodyPr>
          <a:lstStyle/>
          <a:p>
            <a:r>
              <a:rPr lang="en-US" sz="2800" dirty="0">
                <a:highlight>
                  <a:srgbClr val="FFFF00"/>
                </a:highlight>
              </a:rPr>
              <a:t>Contraindication of PR</a:t>
            </a:r>
          </a:p>
        </p:txBody>
      </p:sp>
      <p:sp>
        <p:nvSpPr>
          <p:cNvPr id="3" name="Content Placeholder 2">
            <a:extLst>
              <a:ext uri="{FF2B5EF4-FFF2-40B4-BE49-F238E27FC236}">
                <a16:creationId xmlns:a16="http://schemas.microsoft.com/office/drawing/2014/main" id="{A057FA68-F0D5-2BA7-AC5A-2A20EB3D0D96}"/>
              </a:ext>
            </a:extLst>
          </p:cNvPr>
          <p:cNvSpPr>
            <a:spLocks noGrp="1"/>
          </p:cNvSpPr>
          <p:nvPr>
            <p:ph idx="1"/>
          </p:nvPr>
        </p:nvSpPr>
        <p:spPr>
          <a:xfrm>
            <a:off x="391886" y="2380797"/>
            <a:ext cx="10515600" cy="4020004"/>
          </a:xfrm>
        </p:spPr>
        <p:txBody>
          <a:bodyPr>
            <a:normAutofit/>
          </a:bodyPr>
          <a:lstStyle/>
          <a:p>
            <a:pPr marL="342900" indent="-342900">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Unstable cardiac disease </a:t>
            </a:r>
            <a:r>
              <a:rPr lang="en-US" sz="2400" dirty="0" err="1">
                <a:latin typeface="Calibri" panose="020F0502020204030204" pitchFamily="34" charset="0"/>
                <a:ea typeface="Calibri" panose="020F0502020204030204" pitchFamily="34" charset="0"/>
                <a:cs typeface="Times New Roman" panose="02020603050405020304" pitchFamily="18" charset="0"/>
              </a:rPr>
              <a:t>e.g</a:t>
            </a:r>
            <a:r>
              <a:rPr lang="en-US" sz="2400" dirty="0">
                <a:latin typeface="Calibri" panose="020F0502020204030204" pitchFamily="34" charset="0"/>
                <a:ea typeface="Calibri" panose="020F0502020204030204" pitchFamily="34" charset="0"/>
                <a:cs typeface="Times New Roman" panose="02020603050405020304" pitchFamily="18" charset="0"/>
              </a:rPr>
              <a:t> unstable angina, unstable arrhythmias, abdominal aortic aneurism &gt;5.5cm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Locomotor or neurological condition that preclude exercise </a:t>
            </a:r>
            <a:r>
              <a:rPr lang="en-US" sz="2400" dirty="0" err="1">
                <a:latin typeface="Calibri" panose="020F0502020204030204" pitchFamily="34" charset="0"/>
                <a:ea typeface="Calibri" panose="020F0502020204030204" pitchFamily="34" charset="0"/>
                <a:cs typeface="Times New Roman" panose="02020603050405020304" pitchFamily="18" charset="0"/>
              </a:rPr>
              <a:t>e.g</a:t>
            </a:r>
            <a:r>
              <a:rPr lang="en-US" sz="2400" dirty="0">
                <a:latin typeface="Calibri" panose="020F0502020204030204" pitchFamily="34" charset="0"/>
                <a:ea typeface="Calibri" panose="020F0502020204030204" pitchFamily="34" charset="0"/>
                <a:cs typeface="Times New Roman" panose="02020603050405020304" pitchFamily="18" charset="0"/>
              </a:rPr>
              <a:t> severe arthritis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en-US" sz="2400" dirty="0">
                <a:effectLst/>
                <a:latin typeface="Calibri" panose="020F0502020204030204" pitchFamily="34" charset="0"/>
                <a:ea typeface="Calibri" panose="020F0502020204030204" pitchFamily="34" charset="0"/>
                <a:cs typeface="Times New Roman" panose="02020603050405020304" pitchFamily="18" charset="0"/>
              </a:rPr>
              <a:t>Terminal phase of illness</a:t>
            </a:r>
          </a:p>
          <a:p>
            <a:pPr marL="342900" indent="-342900">
              <a:buAutoNum type="arabicPeriod"/>
            </a:pPr>
            <a:r>
              <a:rPr lang="en-US" sz="2400" dirty="0">
                <a:latin typeface="Calibri" panose="020F0502020204030204" pitchFamily="34" charset="0"/>
                <a:ea typeface="Calibri" panose="020F0502020204030204" pitchFamily="34" charset="0"/>
                <a:cs typeface="Times New Roman" panose="02020603050405020304" pitchFamily="18" charset="0"/>
              </a:rPr>
              <a:t>Significant cognitive or psychological impairment.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08CF1B6-75B5-C23A-1121-B0A7F891B9DD}"/>
              </a:ext>
            </a:extLst>
          </p:cNvPr>
          <p:cNvSpPr txBox="1"/>
          <p:nvPr/>
        </p:nvSpPr>
        <p:spPr>
          <a:xfrm>
            <a:off x="1926770" y="5367048"/>
            <a:ext cx="6096000" cy="461665"/>
          </a:xfrm>
          <a:prstGeom prst="rect">
            <a:avLst/>
          </a:prstGeom>
          <a:noFill/>
        </p:spPr>
        <p:txBody>
          <a:bodyPr wrap="square">
            <a:spAutoFit/>
          </a:bodyPr>
          <a:lstStyle/>
          <a:p>
            <a:pPr marL="0" indent="0">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Sharma, Singh.,2011</a:t>
            </a:r>
            <a:endParaRPr lang="en-US" sz="2400" dirty="0"/>
          </a:p>
        </p:txBody>
      </p:sp>
      <p:sp>
        <p:nvSpPr>
          <p:cNvPr id="7" name="TextBox 6">
            <a:extLst>
              <a:ext uri="{FF2B5EF4-FFF2-40B4-BE49-F238E27FC236}">
                <a16:creationId xmlns:a16="http://schemas.microsoft.com/office/drawing/2014/main" id="{69B960D3-F205-16FF-5E32-ABF75E0D46C4}"/>
              </a:ext>
            </a:extLst>
          </p:cNvPr>
          <p:cNvSpPr txBox="1"/>
          <p:nvPr/>
        </p:nvSpPr>
        <p:spPr>
          <a:xfrm>
            <a:off x="1839687" y="252734"/>
            <a:ext cx="6096000" cy="769441"/>
          </a:xfrm>
          <a:prstGeom prst="rect">
            <a:avLst/>
          </a:prstGeom>
          <a:noFill/>
        </p:spPr>
        <p:txBody>
          <a:bodyPr wrap="square">
            <a:spAutoFit/>
          </a:bodyPr>
          <a:lstStyle/>
          <a:p>
            <a:pPr marL="0" indent="0">
              <a:buNone/>
            </a:pPr>
            <a:r>
              <a:rPr lang="en-US" sz="4400" dirty="0">
                <a:latin typeface="Calibri" panose="020F0502020204030204" pitchFamily="34" charset="0"/>
                <a:ea typeface="Calibri" panose="020F0502020204030204" pitchFamily="34" charset="0"/>
                <a:cs typeface="Times New Roman" panose="02020603050405020304" pitchFamily="18" charset="0"/>
              </a:rPr>
              <a:t>Initial assessment</a:t>
            </a:r>
            <a:endParaRPr lang="en-US" sz="4400" dirty="0"/>
          </a:p>
        </p:txBody>
      </p:sp>
      <p:sp>
        <p:nvSpPr>
          <p:cNvPr id="8" name="Rectangle 7">
            <a:extLst>
              <a:ext uri="{FF2B5EF4-FFF2-40B4-BE49-F238E27FC236}">
                <a16:creationId xmlns:a16="http://schemas.microsoft.com/office/drawing/2014/main" id="{31DCBAC5-86E3-8159-966C-C52ED9E298BC}"/>
              </a:ext>
            </a:extLst>
          </p:cNvPr>
          <p:cNvSpPr/>
          <p:nvPr/>
        </p:nvSpPr>
        <p:spPr>
          <a:xfrm>
            <a:off x="0" y="1022176"/>
            <a:ext cx="12191999" cy="45719"/>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5852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9DD9C-2E00-57E2-D841-A740806B369A}"/>
              </a:ext>
            </a:extLst>
          </p:cNvPr>
          <p:cNvSpPr>
            <a:spLocks noGrp="1"/>
          </p:cNvSpPr>
          <p:nvPr>
            <p:ph type="title"/>
          </p:nvPr>
        </p:nvSpPr>
        <p:spPr>
          <a:xfrm>
            <a:off x="718457" y="32658"/>
            <a:ext cx="10515600" cy="766990"/>
          </a:xfrm>
        </p:spPr>
        <p:txBody>
          <a:bodyPr/>
          <a:lstStyle/>
          <a:p>
            <a:r>
              <a:rPr lang="en-US" dirty="0"/>
              <a:t>Essential components of PR</a:t>
            </a:r>
          </a:p>
        </p:txBody>
      </p:sp>
      <p:sp>
        <p:nvSpPr>
          <p:cNvPr id="3" name="Content Placeholder 2">
            <a:extLst>
              <a:ext uri="{FF2B5EF4-FFF2-40B4-BE49-F238E27FC236}">
                <a16:creationId xmlns:a16="http://schemas.microsoft.com/office/drawing/2014/main" id="{20E01213-E685-4993-AD69-62C9A63146CD}"/>
              </a:ext>
            </a:extLst>
          </p:cNvPr>
          <p:cNvSpPr>
            <a:spLocks noGrp="1"/>
          </p:cNvSpPr>
          <p:nvPr>
            <p:ph idx="1"/>
          </p:nvPr>
        </p:nvSpPr>
        <p:spPr>
          <a:xfrm>
            <a:off x="4060371" y="1825625"/>
            <a:ext cx="8131629" cy="4351338"/>
          </a:xfrm>
          <a:solidFill>
            <a:schemeClr val="bg1"/>
          </a:solidFill>
        </p:spPr>
        <p:txBody>
          <a:bodyPr/>
          <a:lstStyle/>
          <a:p>
            <a:r>
              <a:rPr lang="en-US" dirty="0"/>
              <a:t>High-quality, in-person, multisystem assessment</a:t>
            </a:r>
          </a:p>
          <a:p>
            <a:r>
              <a:rPr lang="en-US" dirty="0"/>
              <a:t>Hybrid assessment only if in-person assessment is restricted</a:t>
            </a:r>
          </a:p>
          <a:p>
            <a:pPr marL="0" indent="0">
              <a:buNone/>
            </a:pPr>
            <a:r>
              <a:rPr lang="en-US" dirty="0">
                <a:solidFill>
                  <a:srgbClr val="7030A0"/>
                </a:solidFill>
              </a:rPr>
              <a:t>       Questionnaire by telephone</a:t>
            </a:r>
          </a:p>
          <a:p>
            <a:pPr marL="0" indent="0">
              <a:buNone/>
            </a:pPr>
            <a:r>
              <a:rPr lang="en-US" dirty="0">
                <a:solidFill>
                  <a:srgbClr val="7030A0"/>
                </a:solidFill>
              </a:rPr>
              <a:t>        Exercise capacity measured in-person</a:t>
            </a:r>
          </a:p>
          <a:p>
            <a:r>
              <a:rPr lang="en-US" dirty="0"/>
              <a:t>Assessment protocol</a:t>
            </a:r>
          </a:p>
          <a:p>
            <a:r>
              <a:rPr lang="en-US" dirty="0"/>
              <a:t>Standard operating procedures</a:t>
            </a:r>
          </a:p>
          <a:p>
            <a:r>
              <a:rPr lang="en-US" dirty="0"/>
              <a:t>Trained and competent</a:t>
            </a:r>
          </a:p>
        </p:txBody>
      </p:sp>
      <p:pic>
        <p:nvPicPr>
          <p:cNvPr id="5" name="Picture 4">
            <a:extLst>
              <a:ext uri="{FF2B5EF4-FFF2-40B4-BE49-F238E27FC236}">
                <a16:creationId xmlns:a16="http://schemas.microsoft.com/office/drawing/2014/main" id="{12EE446D-402F-4AF7-3164-466CFAD337D7}"/>
              </a:ext>
            </a:extLst>
          </p:cNvPr>
          <p:cNvPicPr>
            <a:picLocks noChangeAspect="1"/>
          </p:cNvPicPr>
          <p:nvPr/>
        </p:nvPicPr>
        <p:blipFill>
          <a:blip r:embed="rId2"/>
          <a:stretch>
            <a:fillRect/>
          </a:stretch>
        </p:blipFill>
        <p:spPr>
          <a:xfrm>
            <a:off x="-1" y="1825624"/>
            <a:ext cx="3831771" cy="3900261"/>
          </a:xfrm>
          <a:prstGeom prst="rect">
            <a:avLst/>
          </a:prstGeom>
        </p:spPr>
      </p:pic>
      <p:sp>
        <p:nvSpPr>
          <p:cNvPr id="8" name="TextBox 7">
            <a:extLst>
              <a:ext uri="{FF2B5EF4-FFF2-40B4-BE49-F238E27FC236}">
                <a16:creationId xmlns:a16="http://schemas.microsoft.com/office/drawing/2014/main" id="{530F3F6E-2722-61AF-2AF0-10D5FECFF92A}"/>
              </a:ext>
            </a:extLst>
          </p:cNvPr>
          <p:cNvSpPr txBox="1"/>
          <p:nvPr/>
        </p:nvSpPr>
        <p:spPr>
          <a:xfrm>
            <a:off x="2841172" y="5969454"/>
            <a:ext cx="6096000" cy="461665"/>
          </a:xfrm>
          <a:prstGeom prst="rect">
            <a:avLst/>
          </a:prstGeom>
          <a:noFill/>
        </p:spPr>
        <p:txBody>
          <a:bodyPr wrap="square">
            <a:spAutoFit/>
          </a:bodyPr>
          <a:lstStyle/>
          <a:p>
            <a:r>
              <a:rPr lang="en-US" sz="2400" dirty="0"/>
              <a:t>Chen et al.,2021</a:t>
            </a:r>
          </a:p>
        </p:txBody>
      </p:sp>
      <p:sp>
        <p:nvSpPr>
          <p:cNvPr id="9" name="Rectangle: Single Corner Rounded 8">
            <a:extLst>
              <a:ext uri="{FF2B5EF4-FFF2-40B4-BE49-F238E27FC236}">
                <a16:creationId xmlns:a16="http://schemas.microsoft.com/office/drawing/2014/main" id="{DDFCB2EF-711E-AF45-0A08-F4822168B388}"/>
              </a:ext>
            </a:extLst>
          </p:cNvPr>
          <p:cNvSpPr/>
          <p:nvPr/>
        </p:nvSpPr>
        <p:spPr>
          <a:xfrm flipV="1">
            <a:off x="0" y="753930"/>
            <a:ext cx="12192000" cy="45719"/>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200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9E4C7-CE33-F353-4B9B-2B6BD909098D}"/>
              </a:ext>
            </a:extLst>
          </p:cNvPr>
          <p:cNvSpPr>
            <a:spLocks noGrp="1"/>
          </p:cNvSpPr>
          <p:nvPr>
            <p:ph type="title"/>
          </p:nvPr>
        </p:nvSpPr>
        <p:spPr>
          <a:xfrm>
            <a:off x="685800" y="0"/>
            <a:ext cx="10515600" cy="1325563"/>
          </a:xfrm>
        </p:spPr>
        <p:txBody>
          <a:bodyPr/>
          <a:lstStyle/>
          <a:p>
            <a:r>
              <a:rPr lang="en-US" dirty="0"/>
              <a:t>Purpose of initial assessment </a:t>
            </a:r>
          </a:p>
        </p:txBody>
      </p:sp>
      <p:sp>
        <p:nvSpPr>
          <p:cNvPr id="3" name="Content Placeholder 2">
            <a:extLst>
              <a:ext uri="{FF2B5EF4-FFF2-40B4-BE49-F238E27FC236}">
                <a16:creationId xmlns:a16="http://schemas.microsoft.com/office/drawing/2014/main" id="{67B8516A-3F57-67EF-40B7-34B36E4F584C}"/>
              </a:ext>
            </a:extLst>
          </p:cNvPr>
          <p:cNvSpPr>
            <a:spLocks noGrp="1"/>
          </p:cNvSpPr>
          <p:nvPr>
            <p:ph idx="1"/>
          </p:nvPr>
        </p:nvSpPr>
        <p:spPr/>
        <p:txBody>
          <a:bodyPr>
            <a:normAutofit/>
          </a:bodyPr>
          <a:lstStyle/>
          <a:p>
            <a:pPr>
              <a:buFont typeface="Wingdings" panose="05000000000000000000" pitchFamily="2" charset="2"/>
              <a:buChar char="q"/>
            </a:pPr>
            <a:r>
              <a:rPr lang="en-US" dirty="0"/>
              <a:t>Explore patient’s understanding of PR and address concerns</a:t>
            </a:r>
          </a:p>
          <a:p>
            <a:pPr>
              <a:buFont typeface="Wingdings" panose="05000000000000000000" pitchFamily="2" charset="2"/>
              <a:buChar char="q"/>
            </a:pPr>
            <a:r>
              <a:rPr lang="en-US" dirty="0"/>
              <a:t>Assess for contraindications to inform safety and suitability for PR</a:t>
            </a:r>
          </a:p>
          <a:p>
            <a:pPr>
              <a:buFont typeface="Wingdings" panose="05000000000000000000" pitchFamily="2" charset="2"/>
              <a:buChar char="q"/>
            </a:pPr>
            <a:r>
              <a:rPr lang="en-US" dirty="0"/>
              <a:t>Assess outcome measures;</a:t>
            </a:r>
            <a:endParaRPr lang="en-US" sz="2400" dirty="0">
              <a:highlight>
                <a:srgbClr val="00FFFF"/>
              </a:highlight>
            </a:endParaRPr>
          </a:p>
          <a:p>
            <a:pPr marL="0" indent="0">
              <a:buNone/>
            </a:pPr>
            <a:r>
              <a:rPr lang="en-US" sz="2400" dirty="0">
                <a:highlight>
                  <a:srgbClr val="00FFFF"/>
                </a:highlight>
              </a:rPr>
              <a:t>    Inform exercise prescription</a:t>
            </a:r>
          </a:p>
          <a:p>
            <a:pPr marL="0" indent="0">
              <a:buNone/>
            </a:pPr>
            <a:r>
              <a:rPr lang="en-US" sz="2400" dirty="0">
                <a:highlight>
                  <a:srgbClr val="00FFFF"/>
                </a:highlight>
              </a:rPr>
              <a:t>    Measure disease impact and burden</a:t>
            </a:r>
          </a:p>
          <a:p>
            <a:pPr marL="0" indent="0">
              <a:buNone/>
            </a:pPr>
            <a:r>
              <a:rPr lang="en-US" sz="2400" dirty="0">
                <a:highlight>
                  <a:srgbClr val="00FFFF"/>
                </a:highlight>
              </a:rPr>
              <a:t>    Act as a comparator for the discharge assessment</a:t>
            </a:r>
          </a:p>
          <a:p>
            <a:pPr>
              <a:buFont typeface="Wingdings" panose="05000000000000000000" pitchFamily="2" charset="2"/>
              <a:buChar char="q"/>
            </a:pPr>
            <a:r>
              <a:rPr lang="en-US" dirty="0"/>
              <a:t>Support patient to set a SMART goal </a:t>
            </a:r>
          </a:p>
        </p:txBody>
      </p:sp>
      <p:pic>
        <p:nvPicPr>
          <p:cNvPr id="5122" name="Picture 2" descr="Prices — Expert Mobile Physiotherapy ...">
            <a:extLst>
              <a:ext uri="{FF2B5EF4-FFF2-40B4-BE49-F238E27FC236}">
                <a16:creationId xmlns:a16="http://schemas.microsoft.com/office/drawing/2014/main" id="{D41BE2F6-7FD0-3881-1031-C3A05FFA7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4900" y="3129756"/>
            <a:ext cx="3380014" cy="28531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1601188-8D3D-D42B-942C-3DE51B55CDBB}"/>
              </a:ext>
            </a:extLst>
          </p:cNvPr>
          <p:cNvSpPr txBox="1"/>
          <p:nvPr/>
        </p:nvSpPr>
        <p:spPr>
          <a:xfrm>
            <a:off x="8648700" y="6176963"/>
            <a:ext cx="3380014" cy="461665"/>
          </a:xfrm>
          <a:prstGeom prst="rect">
            <a:avLst/>
          </a:prstGeom>
          <a:noFill/>
        </p:spPr>
        <p:txBody>
          <a:bodyPr wrap="square">
            <a:spAutoFit/>
          </a:bodyPr>
          <a:lstStyle/>
          <a:p>
            <a:r>
              <a:rPr lang="en-US" sz="2400" dirty="0">
                <a:latin typeface="Segoe UI" panose="020B0502040204020203" pitchFamily="34" charset="0"/>
              </a:rPr>
              <a:t>Man et al.,2023</a:t>
            </a:r>
            <a:endParaRPr lang="en-US" sz="2400" dirty="0"/>
          </a:p>
        </p:txBody>
      </p:sp>
      <p:sp>
        <p:nvSpPr>
          <p:cNvPr id="7" name="Rectangle 6">
            <a:extLst>
              <a:ext uri="{FF2B5EF4-FFF2-40B4-BE49-F238E27FC236}">
                <a16:creationId xmlns:a16="http://schemas.microsoft.com/office/drawing/2014/main" id="{9C2A4223-62CE-712C-9277-B6609437FEC0}"/>
              </a:ext>
            </a:extLst>
          </p:cNvPr>
          <p:cNvSpPr/>
          <p:nvPr/>
        </p:nvSpPr>
        <p:spPr>
          <a:xfrm>
            <a:off x="0" y="1099564"/>
            <a:ext cx="12192000" cy="7609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2068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0A7E-785A-A732-B385-4D3ACB1CF156}"/>
              </a:ext>
            </a:extLst>
          </p:cNvPr>
          <p:cNvSpPr>
            <a:spLocks noGrp="1"/>
          </p:cNvSpPr>
          <p:nvPr>
            <p:ph type="title"/>
          </p:nvPr>
        </p:nvSpPr>
        <p:spPr>
          <a:xfrm>
            <a:off x="859615" y="117340"/>
            <a:ext cx="10515600" cy="652696"/>
          </a:xfrm>
        </p:spPr>
        <p:txBody>
          <a:bodyPr>
            <a:normAutofit fontScale="90000"/>
          </a:bodyPr>
          <a:lstStyle/>
          <a:p>
            <a:r>
              <a:rPr lang="en-US" dirty="0"/>
              <a:t>Purpose of initial assessment </a:t>
            </a:r>
          </a:p>
        </p:txBody>
      </p:sp>
      <p:pic>
        <p:nvPicPr>
          <p:cNvPr id="7170" name="Picture 2" descr="Old man with walking stick hi-res stock ...">
            <a:extLst>
              <a:ext uri="{FF2B5EF4-FFF2-40B4-BE49-F238E27FC236}">
                <a16:creationId xmlns:a16="http://schemas.microsoft.com/office/drawing/2014/main" id="{A949F6EC-C637-7396-7282-4F44002A0F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763" y="2646082"/>
            <a:ext cx="745041" cy="83099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eart Palpitations and See a Doctor ...">
            <a:extLst>
              <a:ext uri="{FF2B5EF4-FFF2-40B4-BE49-F238E27FC236}">
                <a16:creationId xmlns:a16="http://schemas.microsoft.com/office/drawing/2014/main" id="{73A9BFEE-D910-11DC-2312-BFFE807411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554" y="1804894"/>
            <a:ext cx="945413" cy="71367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Lungs Images - Free Download on Freepik">
            <a:extLst>
              <a:ext uri="{FF2B5EF4-FFF2-40B4-BE49-F238E27FC236}">
                <a16:creationId xmlns:a16="http://schemas.microsoft.com/office/drawing/2014/main" id="{CDE71FB8-F315-12CD-2F5B-6AB44A997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809" y="3598818"/>
            <a:ext cx="647119" cy="713679"/>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1,490 Body Mass Index Stock Photos ...">
            <a:extLst>
              <a:ext uri="{FF2B5EF4-FFF2-40B4-BE49-F238E27FC236}">
                <a16:creationId xmlns:a16="http://schemas.microsoft.com/office/drawing/2014/main" id="{F755BBA4-8492-EF56-071A-52D138FFEB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615" y="4445776"/>
            <a:ext cx="806235" cy="883928"/>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Psychology of Software Testers ...">
            <a:extLst>
              <a:ext uri="{FF2B5EF4-FFF2-40B4-BE49-F238E27FC236}">
                <a16:creationId xmlns:a16="http://schemas.microsoft.com/office/drawing/2014/main" id="{9F431C39-1341-31D0-4680-51C7D2738B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511" y="5353125"/>
            <a:ext cx="806235" cy="636422"/>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401,500+ Hot Tea Stock Photos, Pictures ...">
            <a:extLst>
              <a:ext uri="{FF2B5EF4-FFF2-40B4-BE49-F238E27FC236}">
                <a16:creationId xmlns:a16="http://schemas.microsoft.com/office/drawing/2014/main" id="{3BC63F0F-3282-223E-DD48-1A45D659B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6087965"/>
            <a:ext cx="925571" cy="65269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C1996AD-36B4-04B1-584D-72C06094EAAE}"/>
              </a:ext>
            </a:extLst>
          </p:cNvPr>
          <p:cNvSpPr txBox="1"/>
          <p:nvPr/>
        </p:nvSpPr>
        <p:spPr>
          <a:xfrm>
            <a:off x="1824967" y="6299801"/>
            <a:ext cx="9255512" cy="461665"/>
          </a:xfrm>
          <a:prstGeom prst="rect">
            <a:avLst/>
          </a:prstGeom>
          <a:noFill/>
        </p:spPr>
        <p:txBody>
          <a:bodyPr wrap="square">
            <a:spAutoFit/>
          </a:bodyPr>
          <a:lstStyle/>
          <a:p>
            <a:pPr marL="0" indent="0">
              <a:buNone/>
            </a:pPr>
            <a:r>
              <a:rPr lang="en-US" sz="1800" dirty="0"/>
              <a:t>  </a:t>
            </a:r>
            <a:r>
              <a:rPr lang="en-US" sz="2400" dirty="0"/>
              <a:t>Impairment in activities of daily living</a:t>
            </a:r>
          </a:p>
        </p:txBody>
      </p:sp>
      <p:sp>
        <p:nvSpPr>
          <p:cNvPr id="9" name="TextBox 8">
            <a:extLst>
              <a:ext uri="{FF2B5EF4-FFF2-40B4-BE49-F238E27FC236}">
                <a16:creationId xmlns:a16="http://schemas.microsoft.com/office/drawing/2014/main" id="{DF52FAB2-16F2-A0F0-B267-6FAA8639B4B3}"/>
              </a:ext>
            </a:extLst>
          </p:cNvPr>
          <p:cNvSpPr txBox="1"/>
          <p:nvPr/>
        </p:nvSpPr>
        <p:spPr>
          <a:xfrm>
            <a:off x="650753" y="910142"/>
            <a:ext cx="9255512" cy="830997"/>
          </a:xfrm>
          <a:prstGeom prst="rect">
            <a:avLst/>
          </a:prstGeom>
          <a:noFill/>
        </p:spPr>
        <p:txBody>
          <a:bodyPr wrap="square">
            <a:spAutoFit/>
          </a:bodyPr>
          <a:lstStyle/>
          <a:p>
            <a:r>
              <a:rPr lang="en-US" sz="2400" dirty="0"/>
              <a:t>Identify and refer individuals who would benefit from other interventions or treatment of comorbidities</a:t>
            </a:r>
          </a:p>
        </p:txBody>
      </p:sp>
      <p:sp>
        <p:nvSpPr>
          <p:cNvPr id="11" name="TextBox 10">
            <a:extLst>
              <a:ext uri="{FF2B5EF4-FFF2-40B4-BE49-F238E27FC236}">
                <a16:creationId xmlns:a16="http://schemas.microsoft.com/office/drawing/2014/main" id="{6B25264A-37FF-3049-F7D4-4368A8721558}"/>
              </a:ext>
            </a:extLst>
          </p:cNvPr>
          <p:cNvSpPr txBox="1"/>
          <p:nvPr/>
        </p:nvSpPr>
        <p:spPr>
          <a:xfrm>
            <a:off x="2056934" y="1746234"/>
            <a:ext cx="9255512" cy="830997"/>
          </a:xfrm>
          <a:prstGeom prst="rect">
            <a:avLst/>
          </a:prstGeom>
          <a:noFill/>
        </p:spPr>
        <p:txBody>
          <a:bodyPr wrap="square">
            <a:spAutoFit/>
          </a:bodyPr>
          <a:lstStyle/>
          <a:p>
            <a:pPr marL="0" indent="0">
              <a:buNone/>
            </a:pPr>
            <a:r>
              <a:rPr lang="en-US" sz="2400" dirty="0"/>
              <a:t>Cardiovascular disease: Hypertension, arrhythmias, unexplained chest and or intermittent claudication </a:t>
            </a:r>
          </a:p>
        </p:txBody>
      </p:sp>
      <p:sp>
        <p:nvSpPr>
          <p:cNvPr id="13" name="TextBox 12">
            <a:extLst>
              <a:ext uri="{FF2B5EF4-FFF2-40B4-BE49-F238E27FC236}">
                <a16:creationId xmlns:a16="http://schemas.microsoft.com/office/drawing/2014/main" id="{510CA4EE-6200-957A-E012-26A2ED8F6C5A}"/>
              </a:ext>
            </a:extLst>
          </p:cNvPr>
          <p:cNvSpPr txBox="1"/>
          <p:nvPr/>
        </p:nvSpPr>
        <p:spPr>
          <a:xfrm>
            <a:off x="1635382" y="3839339"/>
            <a:ext cx="9255512" cy="461665"/>
          </a:xfrm>
          <a:prstGeom prst="rect">
            <a:avLst/>
          </a:prstGeom>
          <a:noFill/>
        </p:spPr>
        <p:txBody>
          <a:bodyPr wrap="square">
            <a:spAutoFit/>
          </a:bodyPr>
          <a:lstStyle/>
          <a:p>
            <a:r>
              <a:rPr lang="en-US" sz="2400" dirty="0"/>
              <a:t>Long-term Oxygen use</a:t>
            </a:r>
          </a:p>
        </p:txBody>
      </p:sp>
      <p:sp>
        <p:nvSpPr>
          <p:cNvPr id="15" name="TextBox 14">
            <a:extLst>
              <a:ext uri="{FF2B5EF4-FFF2-40B4-BE49-F238E27FC236}">
                <a16:creationId xmlns:a16="http://schemas.microsoft.com/office/drawing/2014/main" id="{61B1C0CF-4895-E2B3-F1D0-765EF9DF4BAC}"/>
              </a:ext>
            </a:extLst>
          </p:cNvPr>
          <p:cNvSpPr txBox="1"/>
          <p:nvPr/>
        </p:nvSpPr>
        <p:spPr>
          <a:xfrm>
            <a:off x="1665850" y="2915251"/>
            <a:ext cx="9255512" cy="461665"/>
          </a:xfrm>
          <a:prstGeom prst="rect">
            <a:avLst/>
          </a:prstGeom>
          <a:noFill/>
        </p:spPr>
        <p:txBody>
          <a:bodyPr wrap="square">
            <a:spAutoFit/>
          </a:bodyPr>
          <a:lstStyle/>
          <a:p>
            <a:r>
              <a:rPr lang="en-US" sz="2400" dirty="0"/>
              <a:t>Frailty</a:t>
            </a:r>
          </a:p>
        </p:txBody>
      </p:sp>
      <p:sp>
        <p:nvSpPr>
          <p:cNvPr id="17" name="TextBox 16">
            <a:extLst>
              <a:ext uri="{FF2B5EF4-FFF2-40B4-BE49-F238E27FC236}">
                <a16:creationId xmlns:a16="http://schemas.microsoft.com/office/drawing/2014/main" id="{6C6AB3A1-D3A0-89AD-36C8-A39FD0758D8A}"/>
              </a:ext>
            </a:extLst>
          </p:cNvPr>
          <p:cNvSpPr txBox="1"/>
          <p:nvPr/>
        </p:nvSpPr>
        <p:spPr>
          <a:xfrm>
            <a:off x="1665850" y="4648917"/>
            <a:ext cx="9255512" cy="461665"/>
          </a:xfrm>
          <a:prstGeom prst="rect">
            <a:avLst/>
          </a:prstGeom>
          <a:noFill/>
        </p:spPr>
        <p:txBody>
          <a:bodyPr wrap="square">
            <a:spAutoFit/>
          </a:bodyPr>
          <a:lstStyle/>
          <a:p>
            <a:pPr marL="0" indent="0">
              <a:buNone/>
            </a:pPr>
            <a:r>
              <a:rPr lang="en-US" sz="2400" dirty="0"/>
              <a:t>High or low body mass index</a:t>
            </a:r>
          </a:p>
        </p:txBody>
      </p:sp>
      <p:sp>
        <p:nvSpPr>
          <p:cNvPr id="19" name="TextBox 18">
            <a:extLst>
              <a:ext uri="{FF2B5EF4-FFF2-40B4-BE49-F238E27FC236}">
                <a16:creationId xmlns:a16="http://schemas.microsoft.com/office/drawing/2014/main" id="{3442696C-2332-25E8-1C34-BED55407D8EC}"/>
              </a:ext>
            </a:extLst>
          </p:cNvPr>
          <p:cNvSpPr txBox="1"/>
          <p:nvPr/>
        </p:nvSpPr>
        <p:spPr>
          <a:xfrm>
            <a:off x="1824967" y="5440504"/>
            <a:ext cx="9255512" cy="461665"/>
          </a:xfrm>
          <a:prstGeom prst="rect">
            <a:avLst/>
          </a:prstGeom>
          <a:noFill/>
        </p:spPr>
        <p:txBody>
          <a:bodyPr wrap="square">
            <a:spAutoFit/>
          </a:bodyPr>
          <a:lstStyle/>
          <a:p>
            <a:pPr marL="0" indent="0">
              <a:buNone/>
            </a:pPr>
            <a:r>
              <a:rPr lang="en-US" sz="2400" dirty="0"/>
              <a:t>Psychological symptoms</a:t>
            </a:r>
          </a:p>
        </p:txBody>
      </p:sp>
      <p:sp>
        <p:nvSpPr>
          <p:cNvPr id="20" name="Rectangle 19">
            <a:extLst>
              <a:ext uri="{FF2B5EF4-FFF2-40B4-BE49-F238E27FC236}">
                <a16:creationId xmlns:a16="http://schemas.microsoft.com/office/drawing/2014/main" id="{D339418A-0830-2A9C-E670-57399A55B286}"/>
              </a:ext>
            </a:extLst>
          </p:cNvPr>
          <p:cNvSpPr/>
          <p:nvPr/>
        </p:nvSpPr>
        <p:spPr>
          <a:xfrm>
            <a:off x="0" y="691020"/>
            <a:ext cx="12192000" cy="841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B9C2EA3-DEDD-CB28-5210-9D6C2CC6F49F}"/>
              </a:ext>
            </a:extLst>
          </p:cNvPr>
          <p:cNvSpPr txBox="1"/>
          <p:nvPr/>
        </p:nvSpPr>
        <p:spPr>
          <a:xfrm>
            <a:off x="8485414" y="6299801"/>
            <a:ext cx="3380014" cy="461665"/>
          </a:xfrm>
          <a:prstGeom prst="rect">
            <a:avLst/>
          </a:prstGeom>
          <a:noFill/>
        </p:spPr>
        <p:txBody>
          <a:bodyPr wrap="square">
            <a:spAutoFit/>
          </a:bodyPr>
          <a:lstStyle/>
          <a:p>
            <a:r>
              <a:rPr lang="en-US" sz="2400" dirty="0">
                <a:latin typeface="Segoe UI" panose="020B0502040204020203" pitchFamily="34" charset="0"/>
              </a:rPr>
              <a:t>Man et al.,2023</a:t>
            </a:r>
            <a:endParaRPr lang="en-US" sz="2400" dirty="0"/>
          </a:p>
        </p:txBody>
      </p:sp>
    </p:spTree>
    <p:extLst>
      <p:ext uri="{BB962C8B-B14F-4D97-AF65-F5344CB8AC3E}">
        <p14:creationId xmlns:p14="http://schemas.microsoft.com/office/powerpoint/2010/main" val="2677512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952C4-7457-6E20-9419-465692D01DE9}"/>
              </a:ext>
            </a:extLst>
          </p:cNvPr>
          <p:cNvSpPr>
            <a:spLocks noGrp="1"/>
          </p:cNvSpPr>
          <p:nvPr>
            <p:ph type="title"/>
          </p:nvPr>
        </p:nvSpPr>
        <p:spPr>
          <a:xfrm>
            <a:off x="1012371" y="33024"/>
            <a:ext cx="10515600" cy="734332"/>
          </a:xfrm>
        </p:spPr>
        <p:txBody>
          <a:bodyPr/>
          <a:lstStyle/>
          <a:p>
            <a:r>
              <a:rPr lang="en-US" dirty="0"/>
              <a:t>Components of initial assessment: Subjective</a:t>
            </a:r>
          </a:p>
        </p:txBody>
      </p:sp>
      <p:sp>
        <p:nvSpPr>
          <p:cNvPr id="3" name="Content Placeholder 2">
            <a:extLst>
              <a:ext uri="{FF2B5EF4-FFF2-40B4-BE49-F238E27FC236}">
                <a16:creationId xmlns:a16="http://schemas.microsoft.com/office/drawing/2014/main" id="{51A7A000-45CE-4CD2-9EF0-10CCB2833DFD}"/>
              </a:ext>
            </a:extLst>
          </p:cNvPr>
          <p:cNvSpPr>
            <a:spLocks noGrp="1"/>
          </p:cNvSpPr>
          <p:nvPr>
            <p:ph idx="1"/>
          </p:nvPr>
        </p:nvSpPr>
        <p:spPr/>
        <p:txBody>
          <a:bodyPr/>
          <a:lstStyle/>
          <a:p>
            <a:pPr marL="0" indent="0">
              <a:buNone/>
            </a:pPr>
            <a:r>
              <a:rPr lang="en-US" dirty="0"/>
              <a:t>Patient’s main problem</a:t>
            </a:r>
          </a:p>
          <a:p>
            <a:pPr marL="0" indent="0">
              <a:buNone/>
            </a:pPr>
            <a:r>
              <a:rPr lang="en-US" dirty="0"/>
              <a:t>Understanding of PR, expectations, concerns, goal(s)</a:t>
            </a:r>
          </a:p>
          <a:p>
            <a:pPr marL="0" indent="0">
              <a:buNone/>
            </a:pPr>
            <a:r>
              <a:rPr lang="en-US" dirty="0"/>
              <a:t>Histories: Past medical, medication, social</a:t>
            </a:r>
          </a:p>
          <a:p>
            <a:pPr marL="0" indent="0">
              <a:buNone/>
            </a:pPr>
            <a:r>
              <a:rPr lang="en-US" dirty="0"/>
              <a:t>Status: Mobility, smoking</a:t>
            </a:r>
          </a:p>
          <a:p>
            <a:pPr marL="0" indent="0">
              <a:buNone/>
            </a:pPr>
            <a:r>
              <a:rPr lang="en-US" dirty="0"/>
              <a:t>Impact of lung condition including hospitalization and exacerbations</a:t>
            </a:r>
          </a:p>
          <a:p>
            <a:pPr marL="0" indent="0">
              <a:buNone/>
            </a:pPr>
            <a:r>
              <a:rPr lang="en-US" dirty="0"/>
              <a:t>Prescription of supplementary oxygen, non-invasive ventilation</a:t>
            </a:r>
          </a:p>
        </p:txBody>
      </p:sp>
      <p:pic>
        <p:nvPicPr>
          <p:cNvPr id="8194" name="Picture 2" descr="The Complete Subjective Health Assessment">
            <a:extLst>
              <a:ext uri="{FF2B5EF4-FFF2-40B4-BE49-F238E27FC236}">
                <a16:creationId xmlns:a16="http://schemas.microsoft.com/office/drawing/2014/main" id="{FEEAB075-AFCF-21AD-440A-29FA1279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6592" y="1409699"/>
            <a:ext cx="2528207" cy="2269671"/>
          </a:xfrm>
          <a:prstGeom prst="rect">
            <a:avLst/>
          </a:prstGeom>
          <a:noFill/>
          <a:extLst>
            <a:ext uri="{909E8E84-426E-40DD-AFC4-6F175D3DCCD1}">
              <a14:hiddenFill xmlns:a14="http://schemas.microsoft.com/office/drawing/2010/main">
                <a:solidFill>
                  <a:srgbClr val="FFFFFF"/>
                </a:solidFill>
              </a14:hiddenFill>
            </a:ext>
          </a:extLst>
        </p:spPr>
      </p:pic>
      <p:sp>
        <p:nvSpPr>
          <p:cNvPr id="6" name="Arrow: Right 5">
            <a:extLst>
              <a:ext uri="{FF2B5EF4-FFF2-40B4-BE49-F238E27FC236}">
                <a16:creationId xmlns:a16="http://schemas.microsoft.com/office/drawing/2014/main" id="{B0655358-75FF-32E3-2D83-DD3C4E33CC77}"/>
              </a:ext>
            </a:extLst>
          </p:cNvPr>
          <p:cNvSpPr/>
          <p:nvPr/>
        </p:nvSpPr>
        <p:spPr>
          <a:xfrm>
            <a:off x="457201" y="2435676"/>
            <a:ext cx="381000" cy="2177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B9F030D3-E45D-A58F-F107-C0B815113110}"/>
              </a:ext>
            </a:extLst>
          </p:cNvPr>
          <p:cNvSpPr/>
          <p:nvPr/>
        </p:nvSpPr>
        <p:spPr>
          <a:xfrm>
            <a:off x="457199" y="2960459"/>
            <a:ext cx="381000" cy="2177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17B9B715-B42E-364E-2C14-7569786762D4}"/>
              </a:ext>
            </a:extLst>
          </p:cNvPr>
          <p:cNvSpPr/>
          <p:nvPr/>
        </p:nvSpPr>
        <p:spPr>
          <a:xfrm>
            <a:off x="457198" y="3461655"/>
            <a:ext cx="381000" cy="2177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D901563D-5E4B-8A44-B03B-C84EA10BE53E}"/>
              </a:ext>
            </a:extLst>
          </p:cNvPr>
          <p:cNvSpPr/>
          <p:nvPr/>
        </p:nvSpPr>
        <p:spPr>
          <a:xfrm>
            <a:off x="457198" y="4502826"/>
            <a:ext cx="381000" cy="2177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4C4FF101-5903-454B-5074-006A076B7615}"/>
              </a:ext>
            </a:extLst>
          </p:cNvPr>
          <p:cNvSpPr/>
          <p:nvPr/>
        </p:nvSpPr>
        <p:spPr>
          <a:xfrm>
            <a:off x="457198" y="4031456"/>
            <a:ext cx="381000" cy="2177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61C77943-F0EC-255B-B119-8FB76DC6120B}"/>
              </a:ext>
            </a:extLst>
          </p:cNvPr>
          <p:cNvSpPr/>
          <p:nvPr/>
        </p:nvSpPr>
        <p:spPr>
          <a:xfrm>
            <a:off x="435425" y="1912935"/>
            <a:ext cx="381000" cy="2177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C4FDB1E-4118-FA43-8B21-514F16BA9432}"/>
              </a:ext>
            </a:extLst>
          </p:cNvPr>
          <p:cNvSpPr txBox="1"/>
          <p:nvPr/>
        </p:nvSpPr>
        <p:spPr>
          <a:xfrm>
            <a:off x="3110592" y="6362056"/>
            <a:ext cx="6096000" cy="461665"/>
          </a:xfrm>
          <a:prstGeom prst="rect">
            <a:avLst/>
          </a:prstGeom>
          <a:noFill/>
        </p:spPr>
        <p:txBody>
          <a:bodyPr wrap="square">
            <a:spAutoFit/>
          </a:bodyPr>
          <a:lstStyle/>
          <a:p>
            <a:r>
              <a:rPr lang="en-US" sz="2400" dirty="0"/>
              <a:t>Rochester,2019</a:t>
            </a:r>
          </a:p>
        </p:txBody>
      </p:sp>
      <p:sp>
        <p:nvSpPr>
          <p:cNvPr id="15" name="Rectangle 14">
            <a:extLst>
              <a:ext uri="{FF2B5EF4-FFF2-40B4-BE49-F238E27FC236}">
                <a16:creationId xmlns:a16="http://schemas.microsoft.com/office/drawing/2014/main" id="{C6938BE5-0EFB-2807-D4B3-6EA67C033B44}"/>
              </a:ext>
            </a:extLst>
          </p:cNvPr>
          <p:cNvSpPr/>
          <p:nvPr/>
        </p:nvSpPr>
        <p:spPr>
          <a:xfrm flipV="1">
            <a:off x="0" y="746580"/>
            <a:ext cx="12192000"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7990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2B46E-75A2-74E5-347F-79776A248AB2}"/>
              </a:ext>
            </a:extLst>
          </p:cNvPr>
          <p:cNvSpPr>
            <a:spLocks noGrp="1"/>
          </p:cNvSpPr>
          <p:nvPr>
            <p:ph type="title"/>
          </p:nvPr>
        </p:nvSpPr>
        <p:spPr>
          <a:xfrm>
            <a:off x="838200" y="365126"/>
            <a:ext cx="10515600" cy="647246"/>
          </a:xfrm>
        </p:spPr>
        <p:txBody>
          <a:bodyPr>
            <a:normAutofit fontScale="90000"/>
          </a:bodyPr>
          <a:lstStyle/>
          <a:p>
            <a:r>
              <a:rPr lang="en-US" dirty="0"/>
              <a:t>Component of initial assessment: Objective</a:t>
            </a:r>
          </a:p>
        </p:txBody>
      </p:sp>
      <p:sp>
        <p:nvSpPr>
          <p:cNvPr id="3" name="Content Placeholder 2">
            <a:extLst>
              <a:ext uri="{FF2B5EF4-FFF2-40B4-BE49-F238E27FC236}">
                <a16:creationId xmlns:a16="http://schemas.microsoft.com/office/drawing/2014/main" id="{EBA7824C-4D2D-3AF5-CAF7-43F0490FCC0A}"/>
              </a:ext>
            </a:extLst>
          </p:cNvPr>
          <p:cNvSpPr>
            <a:spLocks noGrp="1"/>
          </p:cNvSpPr>
          <p:nvPr>
            <p:ph idx="1"/>
          </p:nvPr>
        </p:nvSpPr>
        <p:spPr/>
        <p:txBody>
          <a:bodyPr>
            <a:normAutofit/>
          </a:bodyPr>
          <a:lstStyle/>
          <a:p>
            <a:r>
              <a:rPr lang="en-US" dirty="0"/>
              <a:t>Cardiorespiratory observations </a:t>
            </a:r>
            <a:r>
              <a:rPr lang="en-US" dirty="0" err="1"/>
              <a:t>e.g</a:t>
            </a:r>
            <a:r>
              <a:rPr lang="en-US" dirty="0"/>
              <a:t> </a:t>
            </a:r>
            <a:r>
              <a:rPr lang="en-US" dirty="0">
                <a:latin typeface="Calibri" panose="020F0502020204030204" pitchFamily="34" charset="0"/>
                <a:ea typeface="Calibri" panose="020F0502020204030204" pitchFamily="34" charset="0"/>
                <a:cs typeface="Times New Roman" panose="02020603050405020304" pitchFamily="18" charset="0"/>
              </a:rPr>
              <a:t>SPO</a:t>
            </a:r>
            <a:r>
              <a:rPr lang="en-US" baseline="-25000" dirty="0">
                <a:latin typeface="Calibri" panose="020F0502020204030204" pitchFamily="34" charset="0"/>
                <a:ea typeface="Calibri" panose="020F0502020204030204" pitchFamily="34" charset="0"/>
                <a:cs typeface="Times New Roman" panose="02020603050405020304" pitchFamily="18" charset="0"/>
              </a:rPr>
              <a:t>2 ,</a:t>
            </a:r>
            <a:r>
              <a:rPr lang="en-US" dirty="0"/>
              <a:t>heart rate, BP</a:t>
            </a:r>
          </a:p>
          <a:p>
            <a:r>
              <a:rPr lang="en-US" dirty="0"/>
              <a:t>Body mass index</a:t>
            </a:r>
          </a:p>
          <a:p>
            <a:r>
              <a:rPr lang="en-US" dirty="0">
                <a:solidFill>
                  <a:srgbClr val="0070C0"/>
                </a:solidFill>
              </a:rPr>
              <a:t>Core outcomes</a:t>
            </a:r>
          </a:p>
          <a:p>
            <a:pPr marL="0" indent="0">
              <a:buNone/>
            </a:pPr>
            <a:r>
              <a:rPr lang="en-US" dirty="0">
                <a:solidFill>
                  <a:srgbClr val="FF0000"/>
                </a:solidFill>
              </a:rPr>
              <a:t>    Breathlessness</a:t>
            </a:r>
          </a:p>
          <a:p>
            <a:pPr marL="0" indent="0">
              <a:buNone/>
            </a:pPr>
            <a:r>
              <a:rPr lang="en-US" dirty="0">
                <a:solidFill>
                  <a:srgbClr val="FF0000"/>
                </a:solidFill>
              </a:rPr>
              <a:t>    Health related quality of life</a:t>
            </a:r>
          </a:p>
          <a:p>
            <a:pPr marL="0" indent="0">
              <a:buNone/>
            </a:pPr>
            <a:r>
              <a:rPr lang="en-US" dirty="0">
                <a:solidFill>
                  <a:srgbClr val="FF0000"/>
                </a:solidFill>
              </a:rPr>
              <a:t>    Exercise capacity</a:t>
            </a:r>
          </a:p>
          <a:p>
            <a:pPr marL="0" indent="0">
              <a:buNone/>
            </a:pPr>
            <a:r>
              <a:rPr lang="en-US" dirty="0">
                <a:solidFill>
                  <a:srgbClr val="FF0000"/>
                </a:solidFill>
              </a:rPr>
              <a:t>    Lower limb muscle strength</a:t>
            </a:r>
          </a:p>
          <a:p>
            <a:pPr marL="0" indent="0">
              <a:buNone/>
            </a:pPr>
            <a:r>
              <a:rPr lang="en-US" dirty="0">
                <a:solidFill>
                  <a:srgbClr val="FF0000"/>
                </a:solidFill>
              </a:rPr>
              <a:t>    Educational needs</a:t>
            </a:r>
          </a:p>
          <a:p>
            <a:pPr marL="0" indent="0">
              <a:buNone/>
            </a:pPr>
            <a:endParaRPr lang="en-US" dirty="0"/>
          </a:p>
        </p:txBody>
      </p:sp>
      <p:sp>
        <p:nvSpPr>
          <p:cNvPr id="7" name="TextBox 6">
            <a:extLst>
              <a:ext uri="{FF2B5EF4-FFF2-40B4-BE49-F238E27FC236}">
                <a16:creationId xmlns:a16="http://schemas.microsoft.com/office/drawing/2014/main" id="{45A811BE-847A-135E-90A5-990D9A7004D0}"/>
              </a:ext>
            </a:extLst>
          </p:cNvPr>
          <p:cNvSpPr txBox="1"/>
          <p:nvPr/>
        </p:nvSpPr>
        <p:spPr>
          <a:xfrm>
            <a:off x="4102322" y="6031209"/>
            <a:ext cx="6242956" cy="461665"/>
          </a:xfrm>
          <a:prstGeom prst="rect">
            <a:avLst/>
          </a:prstGeom>
          <a:noFill/>
        </p:spPr>
        <p:txBody>
          <a:bodyPr wrap="square">
            <a:spAutoFit/>
          </a:bodyPr>
          <a:lstStyle/>
          <a:p>
            <a:r>
              <a:rPr lang="en-US" sz="2400" dirty="0"/>
              <a:t>Rochester,2019</a:t>
            </a:r>
          </a:p>
        </p:txBody>
      </p:sp>
      <p:sp>
        <p:nvSpPr>
          <p:cNvPr id="8" name="Rectangle 7">
            <a:extLst>
              <a:ext uri="{FF2B5EF4-FFF2-40B4-BE49-F238E27FC236}">
                <a16:creationId xmlns:a16="http://schemas.microsoft.com/office/drawing/2014/main" id="{18D34AE4-540C-D38F-C4D7-0657E0BC4F6F}"/>
              </a:ext>
            </a:extLst>
          </p:cNvPr>
          <p:cNvSpPr/>
          <p:nvPr/>
        </p:nvSpPr>
        <p:spPr>
          <a:xfrm>
            <a:off x="0" y="1144588"/>
            <a:ext cx="12192001" cy="9638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Objective Assessment - Cancer Exercise ...">
            <a:extLst>
              <a:ext uri="{FF2B5EF4-FFF2-40B4-BE49-F238E27FC236}">
                <a16:creationId xmlns:a16="http://schemas.microsoft.com/office/drawing/2014/main" id="{D05E4BED-8410-121F-845E-1CE44717BD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4056" y="2579914"/>
            <a:ext cx="4237944" cy="4278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468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371F6-9604-D7EB-A955-664489891880}"/>
              </a:ext>
            </a:extLst>
          </p:cNvPr>
          <p:cNvSpPr>
            <a:spLocks noGrp="1"/>
          </p:cNvSpPr>
          <p:nvPr>
            <p:ph type="title"/>
          </p:nvPr>
        </p:nvSpPr>
        <p:spPr>
          <a:xfrm>
            <a:off x="631372" y="36740"/>
            <a:ext cx="10515600" cy="823232"/>
          </a:xfrm>
        </p:spPr>
        <p:txBody>
          <a:bodyPr/>
          <a:lstStyle/>
          <a:p>
            <a:r>
              <a:rPr lang="en-US" dirty="0"/>
              <a:t>PR in real life</a:t>
            </a:r>
          </a:p>
        </p:txBody>
      </p:sp>
      <p:pic>
        <p:nvPicPr>
          <p:cNvPr id="5" name="Picture 4">
            <a:extLst>
              <a:ext uri="{FF2B5EF4-FFF2-40B4-BE49-F238E27FC236}">
                <a16:creationId xmlns:a16="http://schemas.microsoft.com/office/drawing/2014/main" id="{7F2725CD-9504-28C3-C47A-8C17CC61AF4B}"/>
              </a:ext>
            </a:extLst>
          </p:cNvPr>
          <p:cNvPicPr>
            <a:picLocks noChangeAspect="1"/>
          </p:cNvPicPr>
          <p:nvPr/>
        </p:nvPicPr>
        <p:blipFill>
          <a:blip r:embed="rId2"/>
          <a:stretch>
            <a:fillRect/>
          </a:stretch>
        </p:blipFill>
        <p:spPr>
          <a:xfrm>
            <a:off x="5682343" y="2118732"/>
            <a:ext cx="6509657" cy="4322978"/>
          </a:xfrm>
          <a:prstGeom prst="rect">
            <a:avLst/>
          </a:prstGeom>
        </p:spPr>
      </p:pic>
      <p:sp>
        <p:nvSpPr>
          <p:cNvPr id="6" name="Rectangle 5">
            <a:extLst>
              <a:ext uri="{FF2B5EF4-FFF2-40B4-BE49-F238E27FC236}">
                <a16:creationId xmlns:a16="http://schemas.microsoft.com/office/drawing/2014/main" id="{D42BCD27-E2AA-2810-143A-D6FA0B41A47D}"/>
              </a:ext>
            </a:extLst>
          </p:cNvPr>
          <p:cNvSpPr/>
          <p:nvPr/>
        </p:nvSpPr>
        <p:spPr>
          <a:xfrm>
            <a:off x="32659" y="777535"/>
            <a:ext cx="12191998" cy="824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2318C4A-6AF1-5634-F9F9-215DFA8E8FF0}"/>
              </a:ext>
            </a:extLst>
          </p:cNvPr>
          <p:cNvPicPr>
            <a:picLocks noChangeAspect="1"/>
          </p:cNvPicPr>
          <p:nvPr/>
        </p:nvPicPr>
        <p:blipFill>
          <a:blip r:embed="rId3"/>
          <a:stretch>
            <a:fillRect/>
          </a:stretch>
        </p:blipFill>
        <p:spPr>
          <a:xfrm>
            <a:off x="0" y="2118733"/>
            <a:ext cx="5774473" cy="4322978"/>
          </a:xfrm>
          <a:prstGeom prst="rect">
            <a:avLst/>
          </a:prstGeom>
        </p:spPr>
      </p:pic>
      <p:sp>
        <p:nvSpPr>
          <p:cNvPr id="9" name="TextBox 8">
            <a:extLst>
              <a:ext uri="{FF2B5EF4-FFF2-40B4-BE49-F238E27FC236}">
                <a16:creationId xmlns:a16="http://schemas.microsoft.com/office/drawing/2014/main" id="{C130255B-2B0F-ABB3-0596-2E128A62F12A}"/>
              </a:ext>
            </a:extLst>
          </p:cNvPr>
          <p:cNvSpPr txBox="1"/>
          <p:nvPr/>
        </p:nvSpPr>
        <p:spPr>
          <a:xfrm>
            <a:off x="-116821" y="1002879"/>
            <a:ext cx="12308821" cy="954107"/>
          </a:xfrm>
          <a:prstGeom prst="rect">
            <a:avLst/>
          </a:prstGeom>
          <a:noFill/>
        </p:spPr>
        <p:txBody>
          <a:bodyPr wrap="square">
            <a:spAutoFit/>
          </a:bodyPr>
          <a:lstStyle/>
          <a:p>
            <a:r>
              <a:rPr lang="en-US" sz="2800" dirty="0"/>
              <a:t>Clinical audit of Pulmonary Rehabilitation services in England and Wales 2015</a:t>
            </a:r>
          </a:p>
          <a:p>
            <a:r>
              <a:rPr lang="en-US" sz="2800" dirty="0">
                <a:highlight>
                  <a:srgbClr val="00FFFF"/>
                </a:highlight>
              </a:rPr>
              <a:t>210 PR services n=7413</a:t>
            </a:r>
          </a:p>
        </p:txBody>
      </p:sp>
    </p:spTree>
    <p:extLst>
      <p:ext uri="{BB962C8B-B14F-4D97-AF65-F5344CB8AC3E}">
        <p14:creationId xmlns:p14="http://schemas.microsoft.com/office/powerpoint/2010/main" val="1807221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748B1-2AF0-97C3-1BFE-C772F0D5F166}"/>
              </a:ext>
            </a:extLst>
          </p:cNvPr>
          <p:cNvSpPr>
            <a:spLocks noGrp="1"/>
          </p:cNvSpPr>
          <p:nvPr>
            <p:ph type="title"/>
          </p:nvPr>
        </p:nvSpPr>
        <p:spPr>
          <a:xfrm>
            <a:off x="3349128" y="1"/>
            <a:ext cx="8842872" cy="782198"/>
          </a:xfrm>
        </p:spPr>
        <p:txBody>
          <a:bodyPr/>
          <a:lstStyle/>
          <a:p>
            <a:r>
              <a:rPr lang="en-US" dirty="0"/>
              <a:t>PR AND ILD</a:t>
            </a:r>
          </a:p>
        </p:txBody>
      </p:sp>
      <p:pic>
        <p:nvPicPr>
          <p:cNvPr id="5" name="Content Placeholder 4">
            <a:extLst>
              <a:ext uri="{FF2B5EF4-FFF2-40B4-BE49-F238E27FC236}">
                <a16:creationId xmlns:a16="http://schemas.microsoft.com/office/drawing/2014/main" id="{8A70CD52-D931-9BC9-37DE-38104D65A399}"/>
              </a:ext>
            </a:extLst>
          </p:cNvPr>
          <p:cNvPicPr>
            <a:picLocks noGrp="1" noChangeAspect="1"/>
          </p:cNvPicPr>
          <p:nvPr>
            <p:ph idx="1"/>
          </p:nvPr>
        </p:nvPicPr>
        <p:blipFill>
          <a:blip r:embed="rId2"/>
          <a:stretch>
            <a:fillRect/>
          </a:stretch>
        </p:blipFill>
        <p:spPr>
          <a:xfrm>
            <a:off x="1" y="1003578"/>
            <a:ext cx="6432868" cy="2787793"/>
          </a:xfrm>
          <a:prstGeom prst="rect">
            <a:avLst/>
          </a:prstGeom>
        </p:spPr>
      </p:pic>
      <p:pic>
        <p:nvPicPr>
          <p:cNvPr id="7" name="Picture 6">
            <a:extLst>
              <a:ext uri="{FF2B5EF4-FFF2-40B4-BE49-F238E27FC236}">
                <a16:creationId xmlns:a16="http://schemas.microsoft.com/office/drawing/2014/main" id="{0BBC1638-9870-AC21-C050-23F79CC7BB0D}"/>
              </a:ext>
            </a:extLst>
          </p:cNvPr>
          <p:cNvPicPr>
            <a:picLocks noChangeAspect="1"/>
          </p:cNvPicPr>
          <p:nvPr/>
        </p:nvPicPr>
        <p:blipFill>
          <a:blip r:embed="rId3"/>
          <a:stretch>
            <a:fillRect/>
          </a:stretch>
        </p:blipFill>
        <p:spPr>
          <a:xfrm>
            <a:off x="78101" y="4279767"/>
            <a:ext cx="6432868" cy="2578233"/>
          </a:xfrm>
          <a:prstGeom prst="rect">
            <a:avLst/>
          </a:prstGeom>
        </p:spPr>
      </p:pic>
      <p:sp>
        <p:nvSpPr>
          <p:cNvPr id="9" name="TextBox 8">
            <a:extLst>
              <a:ext uri="{FF2B5EF4-FFF2-40B4-BE49-F238E27FC236}">
                <a16:creationId xmlns:a16="http://schemas.microsoft.com/office/drawing/2014/main" id="{8ABF6074-0188-2BE0-4F2D-107578EC4EFD}"/>
              </a:ext>
            </a:extLst>
          </p:cNvPr>
          <p:cNvSpPr txBox="1"/>
          <p:nvPr/>
        </p:nvSpPr>
        <p:spPr>
          <a:xfrm>
            <a:off x="6432869" y="2070401"/>
            <a:ext cx="5759131" cy="1015663"/>
          </a:xfrm>
          <a:prstGeom prst="rect">
            <a:avLst/>
          </a:prstGeom>
          <a:noFill/>
        </p:spPr>
        <p:txBody>
          <a:bodyPr wrap="square">
            <a:spAutoFit/>
          </a:bodyPr>
          <a:lstStyle/>
          <a:p>
            <a:r>
              <a:rPr lang="en-US" sz="2000" b="0" i="0" dirty="0">
                <a:solidFill>
                  <a:srgbClr val="1F1F1F"/>
                </a:solidFill>
                <a:effectLst/>
                <a:latin typeface="ElsevierGulliver"/>
              </a:rPr>
              <a:t>PR Programs &gt; </a:t>
            </a:r>
            <a:r>
              <a:rPr lang="en-US" sz="2000" b="0" i="0" dirty="0">
                <a:solidFill>
                  <a:srgbClr val="1F1F1F"/>
                </a:solidFill>
                <a:effectLst/>
                <a:highlight>
                  <a:srgbClr val="00FFFF"/>
                </a:highlight>
                <a:latin typeface="ElsevierGulliver"/>
              </a:rPr>
              <a:t>eight weeks </a:t>
            </a:r>
            <a:r>
              <a:rPr lang="en-US" sz="2000" b="0" i="0" dirty="0">
                <a:solidFill>
                  <a:srgbClr val="1F1F1F"/>
                </a:solidFill>
                <a:effectLst/>
                <a:latin typeface="ElsevierGulliver"/>
              </a:rPr>
              <a:t>increased 6MWD (45m)</a:t>
            </a:r>
            <a:r>
              <a:rPr lang="en-US" sz="2000" dirty="0">
                <a:solidFill>
                  <a:srgbClr val="1F1F1F"/>
                </a:solidFill>
                <a:latin typeface="ElsevierGulliver"/>
              </a:rPr>
              <a:t>more than the </a:t>
            </a:r>
            <a:r>
              <a:rPr lang="en-US" sz="2000" dirty="0">
                <a:solidFill>
                  <a:srgbClr val="1F1F1F"/>
                </a:solidFill>
                <a:highlight>
                  <a:srgbClr val="00FFFF"/>
                </a:highlight>
                <a:latin typeface="ElsevierGulliver"/>
              </a:rPr>
              <a:t>MCID (24-45m) </a:t>
            </a:r>
            <a:r>
              <a:rPr lang="en-US" sz="2000" b="0" i="0" dirty="0">
                <a:solidFill>
                  <a:srgbClr val="1F1F1F"/>
                </a:solidFill>
                <a:effectLst/>
                <a:latin typeface="ElsevierGulliver"/>
              </a:rPr>
              <a:t>compared to shorter programs. </a:t>
            </a:r>
            <a:endParaRPr lang="en-US" sz="2000" dirty="0"/>
          </a:p>
        </p:txBody>
      </p:sp>
      <p:sp>
        <p:nvSpPr>
          <p:cNvPr id="11" name="TextBox 10">
            <a:extLst>
              <a:ext uri="{FF2B5EF4-FFF2-40B4-BE49-F238E27FC236}">
                <a16:creationId xmlns:a16="http://schemas.microsoft.com/office/drawing/2014/main" id="{341F49EA-F877-4E61-21DA-D7BA80E92FAD}"/>
              </a:ext>
            </a:extLst>
          </p:cNvPr>
          <p:cNvSpPr txBox="1"/>
          <p:nvPr/>
        </p:nvSpPr>
        <p:spPr>
          <a:xfrm>
            <a:off x="6521494" y="810540"/>
            <a:ext cx="5602930" cy="1015663"/>
          </a:xfrm>
          <a:prstGeom prst="rect">
            <a:avLst/>
          </a:prstGeom>
          <a:noFill/>
        </p:spPr>
        <p:txBody>
          <a:bodyPr wrap="square">
            <a:spAutoFit/>
          </a:bodyPr>
          <a:lstStyle/>
          <a:p>
            <a:r>
              <a:rPr lang="en-US" sz="2000" dirty="0">
                <a:solidFill>
                  <a:srgbClr val="1F1F1F"/>
                </a:solidFill>
                <a:highlight>
                  <a:srgbClr val="FFFF00"/>
                </a:highlight>
                <a:latin typeface="ElsevierGulliver"/>
              </a:rPr>
              <a:t>SR with </a:t>
            </a:r>
            <a:r>
              <a:rPr lang="en-US" sz="2000" b="0" i="0" dirty="0">
                <a:solidFill>
                  <a:srgbClr val="1F1F1F"/>
                </a:solidFill>
                <a:effectLst/>
                <a:highlight>
                  <a:srgbClr val="FFFF00"/>
                </a:highlight>
                <a:latin typeface="ElsevierGulliver"/>
              </a:rPr>
              <a:t>11 RCTs from 8 countries with 476 ILD </a:t>
            </a:r>
            <a:r>
              <a:rPr lang="en-US" sz="2000" b="0" i="0" dirty="0">
                <a:solidFill>
                  <a:srgbClr val="1F1F1F"/>
                </a:solidFill>
                <a:effectLst/>
                <a:latin typeface="ElsevierGulliver"/>
              </a:rPr>
              <a:t>patients. 10 studies provided data for exercise capacity (6MWD) and 7 studies for </a:t>
            </a:r>
            <a:r>
              <a:rPr lang="en-US" sz="2000" b="0" i="0" dirty="0" err="1">
                <a:solidFill>
                  <a:srgbClr val="1F1F1F"/>
                </a:solidFill>
                <a:effectLst/>
                <a:latin typeface="ElsevierGulliver"/>
              </a:rPr>
              <a:t>HRQoL</a:t>
            </a:r>
            <a:r>
              <a:rPr lang="en-US" sz="2000" b="0" i="0" dirty="0">
                <a:solidFill>
                  <a:srgbClr val="1F1F1F"/>
                </a:solidFill>
                <a:effectLst/>
                <a:latin typeface="ElsevierGulliver"/>
              </a:rPr>
              <a:t> (SGRQ)</a:t>
            </a:r>
            <a:endParaRPr lang="en-US" sz="2000" dirty="0"/>
          </a:p>
        </p:txBody>
      </p:sp>
      <p:sp>
        <p:nvSpPr>
          <p:cNvPr id="13" name="TextBox 12">
            <a:extLst>
              <a:ext uri="{FF2B5EF4-FFF2-40B4-BE49-F238E27FC236}">
                <a16:creationId xmlns:a16="http://schemas.microsoft.com/office/drawing/2014/main" id="{2954A797-3D98-F5DE-6A87-AD8F6B488E13}"/>
              </a:ext>
            </a:extLst>
          </p:cNvPr>
          <p:cNvSpPr txBox="1"/>
          <p:nvPr/>
        </p:nvSpPr>
        <p:spPr>
          <a:xfrm>
            <a:off x="6532020" y="3401748"/>
            <a:ext cx="5581879" cy="1631216"/>
          </a:xfrm>
          <a:prstGeom prst="rect">
            <a:avLst/>
          </a:prstGeom>
          <a:noFill/>
        </p:spPr>
        <p:txBody>
          <a:bodyPr wrap="square">
            <a:spAutoFit/>
          </a:bodyPr>
          <a:lstStyle/>
          <a:p>
            <a:r>
              <a:rPr lang="en-US" sz="2000" dirty="0"/>
              <a:t>Importantly,   6MWD is highly predictive of mortality; </a:t>
            </a:r>
            <a:r>
              <a:rPr lang="en-US" sz="2000" dirty="0">
                <a:highlight>
                  <a:srgbClr val="FFFF00"/>
                </a:highlight>
              </a:rPr>
              <a:t>a 24-week decline of greater than 50 m is associated with a fourfold increase in risk of death at 1 year</a:t>
            </a:r>
            <a:r>
              <a:rPr lang="en-US" sz="2000" dirty="0"/>
              <a:t> (hazard ratio, 4.27; 95% confidence interval, 2.57– 7.10; </a:t>
            </a:r>
            <a:r>
              <a:rPr lang="en-US" sz="2000" dirty="0">
                <a:highlight>
                  <a:srgbClr val="00FF00"/>
                </a:highlight>
              </a:rPr>
              <a:t>P , 0.001</a:t>
            </a:r>
            <a:r>
              <a:rPr lang="en-US" sz="2000" dirty="0"/>
              <a:t>). Roland et al,.2021</a:t>
            </a:r>
          </a:p>
        </p:txBody>
      </p:sp>
      <p:sp>
        <p:nvSpPr>
          <p:cNvPr id="14" name="Isosceles Triangle 13">
            <a:extLst>
              <a:ext uri="{FF2B5EF4-FFF2-40B4-BE49-F238E27FC236}">
                <a16:creationId xmlns:a16="http://schemas.microsoft.com/office/drawing/2014/main" id="{37BFDE14-8C30-4C17-B9B1-3D69B2FA3522}"/>
              </a:ext>
            </a:extLst>
          </p:cNvPr>
          <p:cNvSpPr/>
          <p:nvPr/>
        </p:nvSpPr>
        <p:spPr>
          <a:xfrm flipH="1">
            <a:off x="7899094" y="3472365"/>
            <a:ext cx="99152" cy="212327"/>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FA308B3-14BD-100F-D2DA-BA6902185E8B}"/>
              </a:ext>
            </a:extLst>
          </p:cNvPr>
          <p:cNvSpPr txBox="1"/>
          <p:nvPr/>
        </p:nvSpPr>
        <p:spPr>
          <a:xfrm>
            <a:off x="6532020" y="5348648"/>
            <a:ext cx="5659980" cy="1015663"/>
          </a:xfrm>
          <a:prstGeom prst="rect">
            <a:avLst/>
          </a:prstGeom>
          <a:noFill/>
        </p:spPr>
        <p:txBody>
          <a:bodyPr wrap="square">
            <a:spAutoFit/>
          </a:bodyPr>
          <a:lstStyle/>
          <a:p>
            <a:r>
              <a:rPr lang="en-US" sz="2000" dirty="0">
                <a:solidFill>
                  <a:srgbClr val="1F1F1F"/>
                </a:solidFill>
                <a:latin typeface="ElsevierGulliver"/>
              </a:rPr>
              <a:t>A</a:t>
            </a:r>
            <a:r>
              <a:rPr lang="en-US" sz="2000" b="0" i="0" dirty="0">
                <a:solidFill>
                  <a:srgbClr val="1F1F1F"/>
                </a:solidFill>
                <a:effectLst/>
                <a:latin typeface="ElsevierGulliver"/>
              </a:rPr>
              <a:t>nalysis showed that PR significantly improved the quality of life (SGRQ Total) (MD = −8.36, 95 % CI: 10.36 to −6.36, </a:t>
            </a:r>
            <a:r>
              <a:rPr lang="en-US" sz="2000" b="0" i="0" dirty="0">
                <a:solidFill>
                  <a:srgbClr val="1F1F1F"/>
                </a:solidFill>
                <a:effectLst/>
                <a:highlight>
                  <a:srgbClr val="FFFF00"/>
                </a:highlight>
                <a:latin typeface="ElsevierGulliver"/>
              </a:rPr>
              <a:t>P &lt; 0.00001</a:t>
            </a:r>
            <a:r>
              <a:rPr lang="en-US" sz="2000" b="0" i="0" dirty="0">
                <a:solidFill>
                  <a:srgbClr val="1F1F1F"/>
                </a:solidFill>
                <a:effectLst/>
                <a:latin typeface="ElsevierGulliver"/>
              </a:rPr>
              <a:t>)</a:t>
            </a:r>
            <a:endParaRPr lang="en-US" sz="2000" dirty="0"/>
          </a:p>
        </p:txBody>
      </p:sp>
      <p:sp>
        <p:nvSpPr>
          <p:cNvPr id="18" name="TextBox 17">
            <a:extLst>
              <a:ext uri="{FF2B5EF4-FFF2-40B4-BE49-F238E27FC236}">
                <a16:creationId xmlns:a16="http://schemas.microsoft.com/office/drawing/2014/main" id="{4E49E749-82A4-9779-323F-53F8FE0F3EBA}"/>
              </a:ext>
            </a:extLst>
          </p:cNvPr>
          <p:cNvSpPr txBox="1"/>
          <p:nvPr/>
        </p:nvSpPr>
        <p:spPr>
          <a:xfrm>
            <a:off x="7530029" y="6487173"/>
            <a:ext cx="4583870" cy="400110"/>
          </a:xfrm>
          <a:prstGeom prst="rect">
            <a:avLst/>
          </a:prstGeom>
          <a:noFill/>
        </p:spPr>
        <p:txBody>
          <a:bodyPr wrap="square">
            <a:spAutoFit/>
          </a:bodyPr>
          <a:lstStyle/>
          <a:p>
            <a:r>
              <a:rPr lang="en-US" sz="2000" dirty="0" err="1">
                <a:effectLst/>
                <a:latin typeface="Calibri" panose="020F0502020204030204" pitchFamily="34" charset="0"/>
                <a:ea typeface="Calibri" panose="020F0502020204030204" pitchFamily="34" charset="0"/>
                <a:cs typeface="Times New Roman" panose="02020603050405020304" pitchFamily="18" charset="0"/>
              </a:rPr>
              <a:t>Salazar</a:t>
            </a:r>
            <a:r>
              <a:rPr lang="en-US" sz="2000" dirty="0" err="1">
                <a:latin typeface="Calibri" panose="020F0502020204030204" pitchFamily="34" charset="0"/>
                <a:ea typeface="Calibri" panose="020F0502020204030204" pitchFamily="34" charset="0"/>
                <a:cs typeface="Times New Roman" panose="02020603050405020304" pitchFamily="18" charset="0"/>
              </a:rPr>
              <a:t>et</a:t>
            </a:r>
            <a:r>
              <a:rPr lang="en-US" sz="2000" dirty="0">
                <a:latin typeface="Calibri" panose="020F0502020204030204" pitchFamily="34" charset="0"/>
                <a:ea typeface="Calibri" panose="020F0502020204030204" pitchFamily="34" charset="0"/>
                <a:cs typeface="Times New Roman" panose="02020603050405020304" pitchFamily="18" charset="0"/>
              </a:rPr>
              <a:t> al,.2025</a:t>
            </a:r>
            <a:endParaRPr lang="en-US" sz="2000" dirty="0"/>
          </a:p>
        </p:txBody>
      </p:sp>
      <p:sp>
        <p:nvSpPr>
          <p:cNvPr id="3" name="Rectangle 2">
            <a:extLst>
              <a:ext uri="{FF2B5EF4-FFF2-40B4-BE49-F238E27FC236}">
                <a16:creationId xmlns:a16="http://schemas.microsoft.com/office/drawing/2014/main" id="{334B2C1F-AD98-78D2-D681-231672430861}"/>
              </a:ext>
            </a:extLst>
          </p:cNvPr>
          <p:cNvSpPr/>
          <p:nvPr/>
        </p:nvSpPr>
        <p:spPr>
          <a:xfrm>
            <a:off x="2" y="646675"/>
            <a:ext cx="12191998" cy="824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502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8987-A155-EB48-7D19-6DCB81373294}"/>
              </a:ext>
            </a:extLst>
          </p:cNvPr>
          <p:cNvSpPr>
            <a:spLocks noGrp="1"/>
          </p:cNvSpPr>
          <p:nvPr>
            <p:ph type="title"/>
          </p:nvPr>
        </p:nvSpPr>
        <p:spPr>
          <a:xfrm>
            <a:off x="21789" y="29358"/>
            <a:ext cx="12148422" cy="1022064"/>
          </a:xfrm>
        </p:spPr>
        <p:txBody>
          <a:bodyPr>
            <a:normAutofit/>
          </a:bodyPr>
          <a:lstStyle/>
          <a:p>
            <a:r>
              <a:rPr lang="en-US" dirty="0"/>
              <a:t>Pulmonary rehabilitation for post-TB lung disease</a:t>
            </a:r>
          </a:p>
        </p:txBody>
      </p:sp>
      <p:pic>
        <p:nvPicPr>
          <p:cNvPr id="13" name="Content Placeholder 9">
            <a:extLst>
              <a:ext uri="{FF2B5EF4-FFF2-40B4-BE49-F238E27FC236}">
                <a16:creationId xmlns:a16="http://schemas.microsoft.com/office/drawing/2014/main" id="{EB7CCEB2-6287-678F-7875-F6C5093CB40E}"/>
              </a:ext>
            </a:extLst>
          </p:cNvPr>
          <p:cNvPicPr>
            <a:picLocks noGrp="1" noChangeAspect="1"/>
          </p:cNvPicPr>
          <p:nvPr>
            <p:ph idx="1"/>
          </p:nvPr>
        </p:nvPicPr>
        <p:blipFill>
          <a:blip r:embed="rId2"/>
          <a:stretch>
            <a:fillRect/>
          </a:stretch>
        </p:blipFill>
        <p:spPr>
          <a:xfrm>
            <a:off x="0" y="1401763"/>
            <a:ext cx="12192000" cy="5134656"/>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4E60580A-CEE3-6060-26CD-9C962C12E602}"/>
                  </a:ext>
                </a:extLst>
              </p14:cNvPr>
              <p14:cNvContentPartPr/>
              <p14:nvPr/>
            </p14:nvContentPartPr>
            <p14:xfrm>
              <a:off x="11647303" y="2089320"/>
              <a:ext cx="450360" cy="65880"/>
            </p14:xfrm>
          </p:contentPart>
        </mc:Choice>
        <mc:Fallback xmlns="">
          <p:pic>
            <p:nvPicPr>
              <p:cNvPr id="14" name="Ink 13">
                <a:extLst>
                  <a:ext uri="{FF2B5EF4-FFF2-40B4-BE49-F238E27FC236}">
                    <a16:creationId xmlns:a16="http://schemas.microsoft.com/office/drawing/2014/main" id="{4E60580A-CEE3-6060-26CD-9C962C12E602}"/>
                  </a:ext>
                </a:extLst>
              </p:cNvPr>
              <p:cNvPicPr/>
              <p:nvPr/>
            </p:nvPicPr>
            <p:blipFill>
              <a:blip r:embed="rId4"/>
              <a:stretch>
                <a:fillRect/>
              </a:stretch>
            </p:blipFill>
            <p:spPr>
              <a:xfrm>
                <a:off x="11593663" y="1981680"/>
                <a:ext cx="5580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B31A666D-F4F9-32AD-94E7-886E8D7285E8}"/>
                  </a:ext>
                </a:extLst>
              </p14:cNvPr>
              <p14:cNvContentPartPr/>
              <p14:nvPr/>
            </p14:nvContentPartPr>
            <p14:xfrm>
              <a:off x="11625703" y="2525280"/>
              <a:ext cx="523080" cy="11520"/>
            </p14:xfrm>
          </p:contentPart>
        </mc:Choice>
        <mc:Fallback xmlns="">
          <p:pic>
            <p:nvPicPr>
              <p:cNvPr id="16" name="Ink 15">
                <a:extLst>
                  <a:ext uri="{FF2B5EF4-FFF2-40B4-BE49-F238E27FC236}">
                    <a16:creationId xmlns:a16="http://schemas.microsoft.com/office/drawing/2014/main" id="{B31A666D-F4F9-32AD-94E7-886E8D7285E8}"/>
                  </a:ext>
                </a:extLst>
              </p:cNvPr>
              <p:cNvPicPr/>
              <p:nvPr/>
            </p:nvPicPr>
            <p:blipFill>
              <a:blip r:embed="rId6"/>
              <a:stretch>
                <a:fillRect/>
              </a:stretch>
            </p:blipFill>
            <p:spPr>
              <a:xfrm>
                <a:off x="11571703" y="2417280"/>
                <a:ext cx="630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E4D5A5A3-659E-53FD-A3BD-8F0D8724A5D6}"/>
                  </a:ext>
                </a:extLst>
              </p14:cNvPr>
              <p14:cNvContentPartPr/>
              <p14:nvPr/>
            </p14:nvContentPartPr>
            <p14:xfrm>
              <a:off x="11571343" y="3657840"/>
              <a:ext cx="489600" cy="360"/>
            </p14:xfrm>
          </p:contentPart>
        </mc:Choice>
        <mc:Fallback xmlns="">
          <p:pic>
            <p:nvPicPr>
              <p:cNvPr id="18" name="Ink 17">
                <a:extLst>
                  <a:ext uri="{FF2B5EF4-FFF2-40B4-BE49-F238E27FC236}">
                    <a16:creationId xmlns:a16="http://schemas.microsoft.com/office/drawing/2014/main" id="{E4D5A5A3-659E-53FD-A3BD-8F0D8724A5D6}"/>
                  </a:ext>
                </a:extLst>
              </p:cNvPr>
              <p:cNvPicPr/>
              <p:nvPr/>
            </p:nvPicPr>
            <p:blipFill>
              <a:blip r:embed="rId8"/>
              <a:stretch>
                <a:fillRect/>
              </a:stretch>
            </p:blipFill>
            <p:spPr>
              <a:xfrm>
                <a:off x="11517703" y="3549840"/>
                <a:ext cx="597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5D054C60-9F7C-6B0A-EC6F-FD361CF00A1B}"/>
                  </a:ext>
                </a:extLst>
              </p14:cNvPr>
              <p14:cNvContentPartPr/>
              <p14:nvPr/>
            </p14:nvContentPartPr>
            <p14:xfrm>
              <a:off x="9089143" y="3581160"/>
              <a:ext cx="882360" cy="54720"/>
            </p14:xfrm>
          </p:contentPart>
        </mc:Choice>
        <mc:Fallback xmlns="">
          <p:pic>
            <p:nvPicPr>
              <p:cNvPr id="20" name="Ink 19">
                <a:extLst>
                  <a:ext uri="{FF2B5EF4-FFF2-40B4-BE49-F238E27FC236}">
                    <a16:creationId xmlns:a16="http://schemas.microsoft.com/office/drawing/2014/main" id="{5D054C60-9F7C-6B0A-EC6F-FD361CF00A1B}"/>
                  </a:ext>
                </a:extLst>
              </p:cNvPr>
              <p:cNvPicPr/>
              <p:nvPr/>
            </p:nvPicPr>
            <p:blipFill>
              <a:blip r:embed="rId10"/>
              <a:stretch>
                <a:fillRect/>
              </a:stretch>
            </p:blipFill>
            <p:spPr>
              <a:xfrm>
                <a:off x="9035143" y="3473160"/>
                <a:ext cx="9900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7037AFF3-23C5-173F-8DC8-E819BC250BC4}"/>
                  </a:ext>
                </a:extLst>
              </p14:cNvPr>
              <p14:cNvContentPartPr/>
              <p14:nvPr/>
            </p14:nvContentPartPr>
            <p14:xfrm>
              <a:off x="8994103" y="3625800"/>
              <a:ext cx="95400" cy="9720"/>
            </p14:xfrm>
          </p:contentPart>
        </mc:Choice>
        <mc:Fallback xmlns="">
          <p:pic>
            <p:nvPicPr>
              <p:cNvPr id="21" name="Ink 20">
                <a:extLst>
                  <a:ext uri="{FF2B5EF4-FFF2-40B4-BE49-F238E27FC236}">
                    <a16:creationId xmlns:a16="http://schemas.microsoft.com/office/drawing/2014/main" id="{7037AFF3-23C5-173F-8DC8-E819BC250BC4}"/>
                  </a:ext>
                </a:extLst>
              </p:cNvPr>
              <p:cNvPicPr/>
              <p:nvPr/>
            </p:nvPicPr>
            <p:blipFill>
              <a:blip r:embed="rId12"/>
              <a:stretch>
                <a:fillRect/>
              </a:stretch>
            </p:blipFill>
            <p:spPr>
              <a:xfrm>
                <a:off x="8940463" y="3518160"/>
                <a:ext cx="20304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8C84F689-0456-940A-2B09-7ED9DFB7AD7B}"/>
                  </a:ext>
                </a:extLst>
              </p14:cNvPr>
              <p14:cNvContentPartPr/>
              <p14:nvPr/>
            </p14:nvContentPartPr>
            <p14:xfrm>
              <a:off x="6042103" y="3526080"/>
              <a:ext cx="1144440" cy="164880"/>
            </p14:xfrm>
          </p:contentPart>
        </mc:Choice>
        <mc:Fallback xmlns="">
          <p:pic>
            <p:nvPicPr>
              <p:cNvPr id="22" name="Ink 21">
                <a:extLst>
                  <a:ext uri="{FF2B5EF4-FFF2-40B4-BE49-F238E27FC236}">
                    <a16:creationId xmlns:a16="http://schemas.microsoft.com/office/drawing/2014/main" id="{8C84F689-0456-940A-2B09-7ED9DFB7AD7B}"/>
                  </a:ext>
                </a:extLst>
              </p:cNvPr>
              <p:cNvPicPr/>
              <p:nvPr/>
            </p:nvPicPr>
            <p:blipFill>
              <a:blip r:embed="rId14"/>
              <a:stretch>
                <a:fillRect/>
              </a:stretch>
            </p:blipFill>
            <p:spPr>
              <a:xfrm>
                <a:off x="5988103" y="3418440"/>
                <a:ext cx="125208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C7AD73B3-0E00-BC4D-6712-363BB5C90983}"/>
                  </a:ext>
                </a:extLst>
              </p14:cNvPr>
              <p14:cNvContentPartPr/>
              <p14:nvPr/>
            </p14:nvContentPartPr>
            <p14:xfrm>
              <a:off x="3261103" y="3512040"/>
              <a:ext cx="1069920" cy="208080"/>
            </p14:xfrm>
          </p:contentPart>
        </mc:Choice>
        <mc:Fallback xmlns="">
          <p:pic>
            <p:nvPicPr>
              <p:cNvPr id="24" name="Ink 23">
                <a:extLst>
                  <a:ext uri="{FF2B5EF4-FFF2-40B4-BE49-F238E27FC236}">
                    <a16:creationId xmlns:a16="http://schemas.microsoft.com/office/drawing/2014/main" id="{C7AD73B3-0E00-BC4D-6712-363BB5C90983}"/>
                  </a:ext>
                </a:extLst>
              </p:cNvPr>
              <p:cNvPicPr/>
              <p:nvPr/>
            </p:nvPicPr>
            <p:blipFill>
              <a:blip r:embed="rId16"/>
              <a:stretch>
                <a:fillRect/>
              </a:stretch>
            </p:blipFill>
            <p:spPr>
              <a:xfrm>
                <a:off x="3207463" y="3404040"/>
                <a:ext cx="1177560"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26B5FC3D-096B-25E9-F391-D9E8E6E2DB50}"/>
                  </a:ext>
                </a:extLst>
              </p14:cNvPr>
              <p14:cNvContentPartPr/>
              <p14:nvPr/>
            </p14:nvContentPartPr>
            <p14:xfrm>
              <a:off x="4768063" y="6291600"/>
              <a:ext cx="2384640" cy="720"/>
            </p14:xfrm>
          </p:contentPart>
        </mc:Choice>
        <mc:Fallback xmlns="">
          <p:pic>
            <p:nvPicPr>
              <p:cNvPr id="26" name="Ink 25">
                <a:extLst>
                  <a:ext uri="{FF2B5EF4-FFF2-40B4-BE49-F238E27FC236}">
                    <a16:creationId xmlns:a16="http://schemas.microsoft.com/office/drawing/2014/main" id="{26B5FC3D-096B-25E9-F391-D9E8E6E2DB50}"/>
                  </a:ext>
                </a:extLst>
              </p:cNvPr>
              <p:cNvPicPr/>
              <p:nvPr/>
            </p:nvPicPr>
            <p:blipFill>
              <a:blip r:embed="rId18"/>
              <a:stretch>
                <a:fillRect/>
              </a:stretch>
            </p:blipFill>
            <p:spPr>
              <a:xfrm>
                <a:off x="4714063" y="6075600"/>
                <a:ext cx="24922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9681BF8F-30AE-C4A4-0718-A165A3E55E2C}"/>
                  </a:ext>
                </a:extLst>
              </p14:cNvPr>
              <p14:cNvContentPartPr/>
              <p14:nvPr/>
            </p14:nvContentPartPr>
            <p14:xfrm>
              <a:off x="7314703" y="6313200"/>
              <a:ext cx="2427840" cy="22320"/>
            </p14:xfrm>
          </p:contentPart>
        </mc:Choice>
        <mc:Fallback xmlns="">
          <p:pic>
            <p:nvPicPr>
              <p:cNvPr id="28" name="Ink 27">
                <a:extLst>
                  <a:ext uri="{FF2B5EF4-FFF2-40B4-BE49-F238E27FC236}">
                    <a16:creationId xmlns:a16="http://schemas.microsoft.com/office/drawing/2014/main" id="{9681BF8F-30AE-C4A4-0718-A165A3E55E2C}"/>
                  </a:ext>
                </a:extLst>
              </p:cNvPr>
              <p:cNvPicPr/>
              <p:nvPr/>
            </p:nvPicPr>
            <p:blipFill>
              <a:blip r:embed="rId20"/>
              <a:stretch>
                <a:fillRect/>
              </a:stretch>
            </p:blipFill>
            <p:spPr>
              <a:xfrm>
                <a:off x="7261063" y="6205560"/>
                <a:ext cx="253548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B25EB37C-79AE-F990-3C9A-54D07DE71EA9}"/>
                  </a:ext>
                </a:extLst>
              </p14:cNvPr>
              <p14:cNvContentPartPr/>
              <p14:nvPr/>
            </p14:nvContentPartPr>
            <p14:xfrm>
              <a:off x="1882663" y="6237240"/>
              <a:ext cx="1132920" cy="54720"/>
            </p14:xfrm>
          </p:contentPart>
        </mc:Choice>
        <mc:Fallback xmlns="">
          <p:pic>
            <p:nvPicPr>
              <p:cNvPr id="30" name="Ink 29">
                <a:extLst>
                  <a:ext uri="{FF2B5EF4-FFF2-40B4-BE49-F238E27FC236}">
                    <a16:creationId xmlns:a16="http://schemas.microsoft.com/office/drawing/2014/main" id="{B25EB37C-79AE-F990-3C9A-54D07DE71EA9}"/>
                  </a:ext>
                </a:extLst>
              </p:cNvPr>
              <p:cNvPicPr/>
              <p:nvPr/>
            </p:nvPicPr>
            <p:blipFill>
              <a:blip r:embed="rId22"/>
              <a:stretch>
                <a:fillRect/>
              </a:stretch>
            </p:blipFill>
            <p:spPr>
              <a:xfrm>
                <a:off x="1828663" y="6129946"/>
                <a:ext cx="1240560" cy="268951"/>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Ink 30">
                <a:extLst>
                  <a:ext uri="{FF2B5EF4-FFF2-40B4-BE49-F238E27FC236}">
                    <a16:creationId xmlns:a16="http://schemas.microsoft.com/office/drawing/2014/main" id="{62BCE773-6DAE-013D-6C51-D8AAF98FE848}"/>
                  </a:ext>
                </a:extLst>
              </p14:cNvPr>
              <p14:cNvContentPartPr/>
              <p14:nvPr/>
            </p14:nvContentPartPr>
            <p14:xfrm>
              <a:off x="3036823" y="6226080"/>
              <a:ext cx="1581120" cy="142920"/>
            </p14:xfrm>
          </p:contentPart>
        </mc:Choice>
        <mc:Fallback xmlns="">
          <p:pic>
            <p:nvPicPr>
              <p:cNvPr id="31" name="Ink 30">
                <a:extLst>
                  <a:ext uri="{FF2B5EF4-FFF2-40B4-BE49-F238E27FC236}">
                    <a16:creationId xmlns:a16="http://schemas.microsoft.com/office/drawing/2014/main" id="{62BCE773-6DAE-013D-6C51-D8AAF98FE848}"/>
                  </a:ext>
                </a:extLst>
              </p:cNvPr>
              <p:cNvPicPr/>
              <p:nvPr/>
            </p:nvPicPr>
            <p:blipFill>
              <a:blip r:embed="rId24"/>
              <a:stretch>
                <a:fillRect/>
              </a:stretch>
            </p:blipFill>
            <p:spPr>
              <a:xfrm>
                <a:off x="2983183" y="6118440"/>
                <a:ext cx="168876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2" name="Ink 31">
                <a:extLst>
                  <a:ext uri="{FF2B5EF4-FFF2-40B4-BE49-F238E27FC236}">
                    <a16:creationId xmlns:a16="http://schemas.microsoft.com/office/drawing/2014/main" id="{1F11407B-4BF4-E9D4-637A-0082C1EC8B44}"/>
                  </a:ext>
                </a:extLst>
              </p14:cNvPr>
              <p14:cNvContentPartPr/>
              <p14:nvPr/>
            </p14:nvContentPartPr>
            <p14:xfrm>
              <a:off x="652903" y="4517520"/>
              <a:ext cx="360" cy="360"/>
            </p14:xfrm>
          </p:contentPart>
        </mc:Choice>
        <mc:Fallback xmlns="">
          <p:pic>
            <p:nvPicPr>
              <p:cNvPr id="32" name="Ink 31">
                <a:extLst>
                  <a:ext uri="{FF2B5EF4-FFF2-40B4-BE49-F238E27FC236}">
                    <a16:creationId xmlns:a16="http://schemas.microsoft.com/office/drawing/2014/main" id="{1F11407B-4BF4-E9D4-637A-0082C1EC8B44}"/>
                  </a:ext>
                </a:extLst>
              </p:cNvPr>
              <p:cNvPicPr/>
              <p:nvPr/>
            </p:nvPicPr>
            <p:blipFill>
              <a:blip r:embed="rId26"/>
              <a:stretch>
                <a:fillRect/>
              </a:stretch>
            </p:blipFill>
            <p:spPr>
              <a:xfrm>
                <a:off x="598903" y="440952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3" name="Ink 32">
                <a:extLst>
                  <a:ext uri="{FF2B5EF4-FFF2-40B4-BE49-F238E27FC236}">
                    <a16:creationId xmlns:a16="http://schemas.microsoft.com/office/drawing/2014/main" id="{861C36D6-28F7-C8F7-DBF2-6E78B1EAFC93}"/>
                  </a:ext>
                </a:extLst>
              </p14:cNvPr>
              <p14:cNvContentPartPr/>
              <p14:nvPr/>
            </p14:nvContentPartPr>
            <p14:xfrm>
              <a:off x="44863" y="4418520"/>
              <a:ext cx="608400" cy="45000"/>
            </p14:xfrm>
          </p:contentPart>
        </mc:Choice>
        <mc:Fallback xmlns="">
          <p:pic>
            <p:nvPicPr>
              <p:cNvPr id="33" name="Ink 32">
                <a:extLst>
                  <a:ext uri="{FF2B5EF4-FFF2-40B4-BE49-F238E27FC236}">
                    <a16:creationId xmlns:a16="http://schemas.microsoft.com/office/drawing/2014/main" id="{861C36D6-28F7-C8F7-DBF2-6E78B1EAFC93}"/>
                  </a:ext>
                </a:extLst>
              </p:cNvPr>
              <p:cNvPicPr/>
              <p:nvPr/>
            </p:nvPicPr>
            <p:blipFill>
              <a:blip r:embed="rId28"/>
              <a:stretch>
                <a:fillRect/>
              </a:stretch>
            </p:blipFill>
            <p:spPr>
              <a:xfrm>
                <a:off x="-9137" y="4310880"/>
                <a:ext cx="7160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4" name="Ink 33">
                <a:extLst>
                  <a:ext uri="{FF2B5EF4-FFF2-40B4-BE49-F238E27FC236}">
                    <a16:creationId xmlns:a16="http://schemas.microsoft.com/office/drawing/2014/main" id="{C35A2FD6-C42D-D365-A4AB-73A257BF87DE}"/>
                  </a:ext>
                </a:extLst>
              </p14:cNvPr>
              <p14:cNvContentPartPr/>
              <p14:nvPr/>
            </p14:nvContentPartPr>
            <p14:xfrm>
              <a:off x="109303" y="4604280"/>
              <a:ext cx="424080" cy="66600"/>
            </p14:xfrm>
          </p:contentPart>
        </mc:Choice>
        <mc:Fallback xmlns="">
          <p:pic>
            <p:nvPicPr>
              <p:cNvPr id="34" name="Ink 33">
                <a:extLst>
                  <a:ext uri="{FF2B5EF4-FFF2-40B4-BE49-F238E27FC236}">
                    <a16:creationId xmlns:a16="http://schemas.microsoft.com/office/drawing/2014/main" id="{C35A2FD6-C42D-D365-A4AB-73A257BF87DE}"/>
                  </a:ext>
                </a:extLst>
              </p:cNvPr>
              <p:cNvPicPr/>
              <p:nvPr/>
            </p:nvPicPr>
            <p:blipFill>
              <a:blip r:embed="rId30"/>
              <a:stretch>
                <a:fillRect/>
              </a:stretch>
            </p:blipFill>
            <p:spPr>
              <a:xfrm>
                <a:off x="55663" y="4496640"/>
                <a:ext cx="53172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5" name="Ink 34">
                <a:extLst>
                  <a:ext uri="{FF2B5EF4-FFF2-40B4-BE49-F238E27FC236}">
                    <a16:creationId xmlns:a16="http://schemas.microsoft.com/office/drawing/2014/main" id="{4D99CDEC-F7C1-83E8-704C-FF29574A90A4}"/>
                  </a:ext>
                </a:extLst>
              </p14:cNvPr>
              <p14:cNvContentPartPr/>
              <p14:nvPr/>
            </p14:nvContentPartPr>
            <p14:xfrm>
              <a:off x="92023" y="4821360"/>
              <a:ext cx="528480" cy="44280"/>
            </p14:xfrm>
          </p:contentPart>
        </mc:Choice>
        <mc:Fallback xmlns="">
          <p:pic>
            <p:nvPicPr>
              <p:cNvPr id="35" name="Ink 34">
                <a:extLst>
                  <a:ext uri="{FF2B5EF4-FFF2-40B4-BE49-F238E27FC236}">
                    <a16:creationId xmlns:a16="http://schemas.microsoft.com/office/drawing/2014/main" id="{4D99CDEC-F7C1-83E8-704C-FF29574A90A4}"/>
                  </a:ext>
                </a:extLst>
              </p:cNvPr>
              <p:cNvPicPr/>
              <p:nvPr/>
            </p:nvPicPr>
            <p:blipFill>
              <a:blip r:embed="rId32"/>
              <a:stretch>
                <a:fillRect/>
              </a:stretch>
            </p:blipFill>
            <p:spPr>
              <a:xfrm>
                <a:off x="38383" y="4713720"/>
                <a:ext cx="63612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7" name="Ink 36">
                <a:extLst>
                  <a:ext uri="{FF2B5EF4-FFF2-40B4-BE49-F238E27FC236}">
                    <a16:creationId xmlns:a16="http://schemas.microsoft.com/office/drawing/2014/main" id="{F54547D4-5A8E-5027-03D4-89EE86BBB714}"/>
                  </a:ext>
                </a:extLst>
              </p14:cNvPr>
              <p14:cNvContentPartPr/>
              <p14:nvPr/>
            </p14:nvContentPartPr>
            <p14:xfrm>
              <a:off x="11495023" y="4473600"/>
              <a:ext cx="653760" cy="360"/>
            </p14:xfrm>
          </p:contentPart>
        </mc:Choice>
        <mc:Fallback xmlns="">
          <p:pic>
            <p:nvPicPr>
              <p:cNvPr id="37" name="Ink 36">
                <a:extLst>
                  <a:ext uri="{FF2B5EF4-FFF2-40B4-BE49-F238E27FC236}">
                    <a16:creationId xmlns:a16="http://schemas.microsoft.com/office/drawing/2014/main" id="{F54547D4-5A8E-5027-03D4-89EE86BBB714}"/>
                  </a:ext>
                </a:extLst>
              </p:cNvPr>
              <p:cNvPicPr/>
              <p:nvPr/>
            </p:nvPicPr>
            <p:blipFill>
              <a:blip r:embed="rId34"/>
              <a:stretch>
                <a:fillRect/>
              </a:stretch>
            </p:blipFill>
            <p:spPr>
              <a:xfrm>
                <a:off x="11441023" y="4365600"/>
                <a:ext cx="761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9" name="Ink 38">
                <a:extLst>
                  <a:ext uri="{FF2B5EF4-FFF2-40B4-BE49-F238E27FC236}">
                    <a16:creationId xmlns:a16="http://schemas.microsoft.com/office/drawing/2014/main" id="{40F1AB76-F6B2-9C1C-88D3-2C97DB1C1634}"/>
                  </a:ext>
                </a:extLst>
              </p14:cNvPr>
              <p14:cNvContentPartPr/>
              <p14:nvPr/>
            </p14:nvContentPartPr>
            <p14:xfrm>
              <a:off x="11549023" y="4648200"/>
              <a:ext cx="511920" cy="21960"/>
            </p14:xfrm>
          </p:contentPart>
        </mc:Choice>
        <mc:Fallback xmlns="">
          <p:pic>
            <p:nvPicPr>
              <p:cNvPr id="39" name="Ink 38">
                <a:extLst>
                  <a:ext uri="{FF2B5EF4-FFF2-40B4-BE49-F238E27FC236}">
                    <a16:creationId xmlns:a16="http://schemas.microsoft.com/office/drawing/2014/main" id="{40F1AB76-F6B2-9C1C-88D3-2C97DB1C1634}"/>
                  </a:ext>
                </a:extLst>
              </p:cNvPr>
              <p:cNvPicPr/>
              <p:nvPr/>
            </p:nvPicPr>
            <p:blipFill>
              <a:blip r:embed="rId36"/>
              <a:stretch>
                <a:fillRect/>
              </a:stretch>
            </p:blipFill>
            <p:spPr>
              <a:xfrm>
                <a:off x="11495383" y="4540200"/>
                <a:ext cx="6195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0" name="Ink 39">
                <a:extLst>
                  <a:ext uri="{FF2B5EF4-FFF2-40B4-BE49-F238E27FC236}">
                    <a16:creationId xmlns:a16="http://schemas.microsoft.com/office/drawing/2014/main" id="{2BD9892D-4746-842F-BC9E-B0B433BDA6FF}"/>
                  </a:ext>
                </a:extLst>
              </p14:cNvPr>
              <p14:cNvContentPartPr/>
              <p14:nvPr/>
            </p14:nvContentPartPr>
            <p14:xfrm>
              <a:off x="11549383" y="4876080"/>
              <a:ext cx="267480" cy="11880"/>
            </p14:xfrm>
          </p:contentPart>
        </mc:Choice>
        <mc:Fallback xmlns="">
          <p:pic>
            <p:nvPicPr>
              <p:cNvPr id="40" name="Ink 39">
                <a:extLst>
                  <a:ext uri="{FF2B5EF4-FFF2-40B4-BE49-F238E27FC236}">
                    <a16:creationId xmlns:a16="http://schemas.microsoft.com/office/drawing/2014/main" id="{2BD9892D-4746-842F-BC9E-B0B433BDA6FF}"/>
                  </a:ext>
                </a:extLst>
              </p:cNvPr>
              <p:cNvPicPr/>
              <p:nvPr/>
            </p:nvPicPr>
            <p:blipFill>
              <a:blip r:embed="rId38"/>
              <a:stretch>
                <a:fillRect/>
              </a:stretch>
            </p:blipFill>
            <p:spPr>
              <a:xfrm>
                <a:off x="11495383" y="4768440"/>
                <a:ext cx="3751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1" name="Ink 40">
                <a:extLst>
                  <a:ext uri="{FF2B5EF4-FFF2-40B4-BE49-F238E27FC236}">
                    <a16:creationId xmlns:a16="http://schemas.microsoft.com/office/drawing/2014/main" id="{A3BCB646-C6A1-093A-11A0-2954817C1511}"/>
                  </a:ext>
                </a:extLst>
              </p14:cNvPr>
              <p14:cNvContentPartPr/>
              <p14:nvPr/>
            </p14:nvContentPartPr>
            <p14:xfrm>
              <a:off x="11832703" y="4839360"/>
              <a:ext cx="285840" cy="38160"/>
            </p14:xfrm>
          </p:contentPart>
        </mc:Choice>
        <mc:Fallback xmlns="">
          <p:pic>
            <p:nvPicPr>
              <p:cNvPr id="41" name="Ink 40">
                <a:extLst>
                  <a:ext uri="{FF2B5EF4-FFF2-40B4-BE49-F238E27FC236}">
                    <a16:creationId xmlns:a16="http://schemas.microsoft.com/office/drawing/2014/main" id="{A3BCB646-C6A1-093A-11A0-2954817C1511}"/>
                  </a:ext>
                </a:extLst>
              </p:cNvPr>
              <p:cNvPicPr/>
              <p:nvPr/>
            </p:nvPicPr>
            <p:blipFill>
              <a:blip r:embed="rId40"/>
              <a:stretch>
                <a:fillRect/>
              </a:stretch>
            </p:blipFill>
            <p:spPr>
              <a:xfrm>
                <a:off x="11778703" y="4731360"/>
                <a:ext cx="3934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3" name="Ink 42">
                <a:extLst>
                  <a:ext uri="{FF2B5EF4-FFF2-40B4-BE49-F238E27FC236}">
                    <a16:creationId xmlns:a16="http://schemas.microsoft.com/office/drawing/2014/main" id="{E1716348-5BCF-5A88-C4CD-BDF6DDB2811C}"/>
                  </a:ext>
                </a:extLst>
              </p14:cNvPr>
              <p14:cNvContentPartPr/>
              <p14:nvPr/>
            </p14:nvContentPartPr>
            <p14:xfrm>
              <a:off x="11582143" y="5061840"/>
              <a:ext cx="479520" cy="720"/>
            </p14:xfrm>
          </p:contentPart>
        </mc:Choice>
        <mc:Fallback xmlns="">
          <p:pic>
            <p:nvPicPr>
              <p:cNvPr id="43" name="Ink 42">
                <a:extLst>
                  <a:ext uri="{FF2B5EF4-FFF2-40B4-BE49-F238E27FC236}">
                    <a16:creationId xmlns:a16="http://schemas.microsoft.com/office/drawing/2014/main" id="{E1716348-5BCF-5A88-C4CD-BDF6DDB2811C}"/>
                  </a:ext>
                </a:extLst>
              </p:cNvPr>
              <p:cNvPicPr/>
              <p:nvPr/>
            </p:nvPicPr>
            <p:blipFill>
              <a:blip r:embed="rId42"/>
              <a:stretch>
                <a:fillRect/>
              </a:stretch>
            </p:blipFill>
            <p:spPr>
              <a:xfrm>
                <a:off x="11528143" y="4845840"/>
                <a:ext cx="587160" cy="432000"/>
              </a:xfrm>
              <a:prstGeom prst="rect">
                <a:avLst/>
              </a:prstGeom>
            </p:spPr>
          </p:pic>
        </mc:Fallback>
      </mc:AlternateContent>
      <p:sp>
        <p:nvSpPr>
          <p:cNvPr id="46" name="TextBox 45">
            <a:extLst>
              <a:ext uri="{FF2B5EF4-FFF2-40B4-BE49-F238E27FC236}">
                <a16:creationId xmlns:a16="http://schemas.microsoft.com/office/drawing/2014/main" id="{54629FF1-E932-88A1-EC92-0479AC3EF07B}"/>
              </a:ext>
            </a:extLst>
          </p:cNvPr>
          <p:cNvSpPr txBox="1"/>
          <p:nvPr/>
        </p:nvSpPr>
        <p:spPr>
          <a:xfrm>
            <a:off x="10192114" y="6454713"/>
            <a:ext cx="1695129" cy="369332"/>
          </a:xfrm>
          <a:prstGeom prst="rect">
            <a:avLst/>
          </a:prstGeom>
          <a:noFill/>
        </p:spPr>
        <p:txBody>
          <a:bodyPr wrap="square">
            <a:spAutoFit/>
          </a:bodyPr>
          <a:lstStyle/>
          <a:p>
            <a:r>
              <a:rPr lang="en-US" sz="1800" dirty="0" err="1">
                <a:effectLst/>
                <a:latin typeface="Calibri" panose="020F0502020204030204" pitchFamily="34" charset="0"/>
                <a:ea typeface="Calibri" panose="020F0502020204030204" pitchFamily="34" charset="0"/>
                <a:cs typeface="Times New Roman" panose="02020603050405020304" pitchFamily="18" charset="0"/>
              </a:rPr>
              <a:t>Mtei</a:t>
            </a:r>
            <a:r>
              <a:rPr lang="en-US" sz="1800" dirty="0">
                <a:effectLst/>
                <a:latin typeface="Calibri" panose="020F0502020204030204" pitchFamily="34" charset="0"/>
                <a:ea typeface="Calibri" panose="020F0502020204030204" pitchFamily="34" charset="0"/>
                <a:cs typeface="Times New Roman" panose="02020603050405020304" pitchFamily="18" charset="0"/>
              </a:rPr>
              <a:t> et al,.2025</a:t>
            </a:r>
            <a:endParaRPr lang="en-US" dirty="0"/>
          </a:p>
        </p:txBody>
      </p:sp>
      <mc:AlternateContent xmlns:mc="http://schemas.openxmlformats.org/markup-compatibility/2006" xmlns:p14="http://schemas.microsoft.com/office/powerpoint/2010/main">
        <mc:Choice Requires="p14">
          <p:contentPart p14:bwMode="auto" r:id="rId43">
            <p14:nvContentPartPr>
              <p14:cNvPr id="53" name="Ink 52">
                <a:extLst>
                  <a:ext uri="{FF2B5EF4-FFF2-40B4-BE49-F238E27FC236}">
                    <a16:creationId xmlns:a16="http://schemas.microsoft.com/office/drawing/2014/main" id="{113673A7-800D-F22A-138D-0C17A9FBB590}"/>
                  </a:ext>
                </a:extLst>
              </p14:cNvPr>
              <p14:cNvContentPartPr/>
              <p14:nvPr/>
            </p14:nvContentPartPr>
            <p14:xfrm>
              <a:off x="3200470" y="4894806"/>
              <a:ext cx="1070640" cy="360"/>
            </p14:xfrm>
          </p:contentPart>
        </mc:Choice>
        <mc:Fallback xmlns="">
          <p:pic>
            <p:nvPicPr>
              <p:cNvPr id="53" name="Ink 52">
                <a:extLst>
                  <a:ext uri="{FF2B5EF4-FFF2-40B4-BE49-F238E27FC236}">
                    <a16:creationId xmlns:a16="http://schemas.microsoft.com/office/drawing/2014/main" id="{113673A7-800D-F22A-138D-0C17A9FBB590}"/>
                  </a:ext>
                </a:extLst>
              </p:cNvPr>
              <p:cNvPicPr/>
              <p:nvPr/>
            </p:nvPicPr>
            <p:blipFill>
              <a:blip r:embed="rId44"/>
              <a:stretch>
                <a:fillRect/>
              </a:stretch>
            </p:blipFill>
            <p:spPr>
              <a:xfrm>
                <a:off x="3146470" y="4787166"/>
                <a:ext cx="11782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4" name="Ink 53">
                <a:extLst>
                  <a:ext uri="{FF2B5EF4-FFF2-40B4-BE49-F238E27FC236}">
                    <a16:creationId xmlns:a16="http://schemas.microsoft.com/office/drawing/2014/main" id="{7865CB57-23B9-DFE3-441C-85B9A826D4B0}"/>
                  </a:ext>
                </a:extLst>
              </p14:cNvPr>
              <p14:cNvContentPartPr/>
              <p14:nvPr/>
            </p14:nvContentPartPr>
            <p14:xfrm>
              <a:off x="6009910" y="4794366"/>
              <a:ext cx="981000" cy="45360"/>
            </p14:xfrm>
          </p:contentPart>
        </mc:Choice>
        <mc:Fallback xmlns="">
          <p:pic>
            <p:nvPicPr>
              <p:cNvPr id="54" name="Ink 53">
                <a:extLst>
                  <a:ext uri="{FF2B5EF4-FFF2-40B4-BE49-F238E27FC236}">
                    <a16:creationId xmlns:a16="http://schemas.microsoft.com/office/drawing/2014/main" id="{7865CB57-23B9-DFE3-441C-85B9A826D4B0}"/>
                  </a:ext>
                </a:extLst>
              </p:cNvPr>
              <p:cNvPicPr/>
              <p:nvPr/>
            </p:nvPicPr>
            <p:blipFill>
              <a:blip r:embed="rId46"/>
              <a:stretch>
                <a:fillRect/>
              </a:stretch>
            </p:blipFill>
            <p:spPr>
              <a:xfrm>
                <a:off x="5956270" y="4686726"/>
                <a:ext cx="10886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5" name="Ink 54">
                <a:extLst>
                  <a:ext uri="{FF2B5EF4-FFF2-40B4-BE49-F238E27FC236}">
                    <a16:creationId xmlns:a16="http://schemas.microsoft.com/office/drawing/2014/main" id="{3ABBE259-FD18-7AEF-F720-EC2D910164A7}"/>
                  </a:ext>
                </a:extLst>
              </p14:cNvPr>
              <p14:cNvContentPartPr/>
              <p14:nvPr/>
            </p14:nvContentPartPr>
            <p14:xfrm>
              <a:off x="8932030" y="4782486"/>
              <a:ext cx="1009800" cy="112680"/>
            </p14:xfrm>
          </p:contentPart>
        </mc:Choice>
        <mc:Fallback xmlns="">
          <p:pic>
            <p:nvPicPr>
              <p:cNvPr id="55" name="Ink 54">
                <a:extLst>
                  <a:ext uri="{FF2B5EF4-FFF2-40B4-BE49-F238E27FC236}">
                    <a16:creationId xmlns:a16="http://schemas.microsoft.com/office/drawing/2014/main" id="{3ABBE259-FD18-7AEF-F720-EC2D910164A7}"/>
                  </a:ext>
                </a:extLst>
              </p:cNvPr>
              <p:cNvPicPr/>
              <p:nvPr/>
            </p:nvPicPr>
            <p:blipFill>
              <a:blip r:embed="rId48"/>
              <a:stretch>
                <a:fillRect/>
              </a:stretch>
            </p:blipFill>
            <p:spPr>
              <a:xfrm>
                <a:off x="8878390" y="4674846"/>
                <a:ext cx="1117440" cy="328320"/>
              </a:xfrm>
              <a:prstGeom prst="rect">
                <a:avLst/>
              </a:prstGeom>
            </p:spPr>
          </p:pic>
        </mc:Fallback>
      </mc:AlternateContent>
      <p:sp>
        <p:nvSpPr>
          <p:cNvPr id="3" name="Rectangle: Single Corner Rounded 2">
            <a:extLst>
              <a:ext uri="{FF2B5EF4-FFF2-40B4-BE49-F238E27FC236}">
                <a16:creationId xmlns:a16="http://schemas.microsoft.com/office/drawing/2014/main" id="{2B4946FF-1479-4295-DE92-18A9C66D4DD1}"/>
              </a:ext>
            </a:extLst>
          </p:cNvPr>
          <p:cNvSpPr/>
          <p:nvPr/>
        </p:nvSpPr>
        <p:spPr>
          <a:xfrm>
            <a:off x="0" y="870333"/>
            <a:ext cx="12192000" cy="45719"/>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5499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50F1-ABB6-DB49-9D73-24E795677677}"/>
              </a:ext>
            </a:extLst>
          </p:cNvPr>
          <p:cNvSpPr>
            <a:spLocks noGrp="1"/>
          </p:cNvSpPr>
          <p:nvPr>
            <p:ph type="title"/>
          </p:nvPr>
        </p:nvSpPr>
        <p:spPr>
          <a:xfrm>
            <a:off x="838200" y="28450"/>
            <a:ext cx="10515600" cy="892724"/>
          </a:xfrm>
        </p:spPr>
        <p:txBody>
          <a:bodyPr/>
          <a:lstStyle/>
          <a:p>
            <a:r>
              <a:rPr lang="en-US" dirty="0"/>
              <a:t>Case study 1</a:t>
            </a:r>
          </a:p>
        </p:txBody>
      </p:sp>
      <p:sp>
        <p:nvSpPr>
          <p:cNvPr id="3" name="Content Placeholder 2">
            <a:extLst>
              <a:ext uri="{FF2B5EF4-FFF2-40B4-BE49-F238E27FC236}">
                <a16:creationId xmlns:a16="http://schemas.microsoft.com/office/drawing/2014/main" id="{BDE4B3BE-AB8A-4815-8E0C-615941F2CEE1}"/>
              </a:ext>
            </a:extLst>
          </p:cNvPr>
          <p:cNvSpPr>
            <a:spLocks noGrp="1"/>
          </p:cNvSpPr>
          <p:nvPr>
            <p:ph idx="1"/>
          </p:nvPr>
        </p:nvSpPr>
        <p:spPr>
          <a:xfrm>
            <a:off x="0" y="1825625"/>
            <a:ext cx="12192000" cy="4351338"/>
          </a:xfrm>
        </p:spPr>
        <p:txBody>
          <a:bodyPr>
            <a:normAutofit/>
          </a:bodyPr>
          <a:lstStyle/>
          <a:p>
            <a:pPr>
              <a:buFont typeface="Wingdings" panose="05000000000000000000" pitchFamily="2" charset="2"/>
              <a:buChar char="Ø"/>
            </a:pPr>
            <a:r>
              <a:rPr lang="en-US" dirty="0"/>
              <a:t>A 73-year-old male patient diagnosed with COPD (</a:t>
            </a:r>
            <a:r>
              <a:rPr lang="en-US" dirty="0" err="1"/>
              <a:t>mMRC</a:t>
            </a:r>
            <a:r>
              <a:rPr lang="en-US" dirty="0"/>
              <a:t>/GOLD stage 4) with a poor prognosis of approximately six months.</a:t>
            </a:r>
          </a:p>
          <a:p>
            <a:pPr>
              <a:buFont typeface="Wingdings" panose="05000000000000000000" pitchFamily="2" charset="2"/>
              <a:buChar char="Ø"/>
            </a:pPr>
            <a:r>
              <a:rPr lang="en-US" dirty="0"/>
              <a:t> The patient was initiated on PR X2 alongside chest physiotherapy for about three months while on portable home mechanical ventilation.</a:t>
            </a:r>
          </a:p>
          <a:p>
            <a:pPr>
              <a:buFont typeface="Wingdings" panose="05000000000000000000" pitchFamily="2" charset="2"/>
              <a:buChar char="Ø"/>
            </a:pPr>
            <a:r>
              <a:rPr lang="en-US" dirty="0"/>
              <a:t> Subsequently, the patient was successfully weaned from mechanical ventilation, and nocturnal NIV was initiated.</a:t>
            </a:r>
          </a:p>
          <a:p>
            <a:pPr>
              <a:buFont typeface="Wingdings" panose="05000000000000000000" pitchFamily="2" charset="2"/>
              <a:buChar char="Ø"/>
            </a:pPr>
            <a:r>
              <a:rPr lang="en-US" dirty="0"/>
              <a:t> PR frequency was then reduced to X3 per week. </a:t>
            </a:r>
          </a:p>
          <a:p>
            <a:pPr>
              <a:buFont typeface="Wingdings" panose="05000000000000000000" pitchFamily="2" charset="2"/>
              <a:buChar char="Ø"/>
            </a:pPr>
            <a:r>
              <a:rPr lang="en-US" dirty="0"/>
              <a:t>With this management, the patient achieved a satisfactory quality of life and survived approximately two years beyond the initially expected prognosis</a:t>
            </a:r>
          </a:p>
        </p:txBody>
      </p:sp>
      <p:sp>
        <p:nvSpPr>
          <p:cNvPr id="4" name="Rectangle 3">
            <a:extLst>
              <a:ext uri="{FF2B5EF4-FFF2-40B4-BE49-F238E27FC236}">
                <a16:creationId xmlns:a16="http://schemas.microsoft.com/office/drawing/2014/main" id="{9360984A-D5C7-91D3-5A51-67B053293E00}"/>
              </a:ext>
            </a:extLst>
          </p:cNvPr>
          <p:cNvSpPr/>
          <p:nvPr/>
        </p:nvSpPr>
        <p:spPr>
          <a:xfrm>
            <a:off x="2" y="1067468"/>
            <a:ext cx="12191998" cy="824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8140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1336-F5DA-87AD-3EF0-2673236C901D}"/>
              </a:ext>
            </a:extLst>
          </p:cNvPr>
          <p:cNvSpPr>
            <a:spLocks noGrp="1"/>
          </p:cNvSpPr>
          <p:nvPr>
            <p:ph type="title"/>
          </p:nvPr>
        </p:nvSpPr>
        <p:spPr>
          <a:xfrm>
            <a:off x="737043" y="1"/>
            <a:ext cx="10515600" cy="921174"/>
          </a:xfrm>
        </p:spPr>
        <p:txBody>
          <a:bodyPr/>
          <a:lstStyle/>
          <a:p>
            <a:r>
              <a:rPr lang="en-US" dirty="0"/>
              <a:t>Case study 2</a:t>
            </a:r>
          </a:p>
        </p:txBody>
      </p:sp>
      <p:sp>
        <p:nvSpPr>
          <p:cNvPr id="3" name="Content Placeholder 2">
            <a:extLst>
              <a:ext uri="{FF2B5EF4-FFF2-40B4-BE49-F238E27FC236}">
                <a16:creationId xmlns:a16="http://schemas.microsoft.com/office/drawing/2014/main" id="{1C2232CC-DC10-0472-F8A0-F8B46B6578B0}"/>
              </a:ext>
            </a:extLst>
          </p:cNvPr>
          <p:cNvSpPr>
            <a:spLocks noGrp="1"/>
          </p:cNvSpPr>
          <p:nvPr>
            <p:ph idx="1"/>
          </p:nvPr>
        </p:nvSpPr>
        <p:spPr>
          <a:xfrm>
            <a:off x="0" y="1573007"/>
            <a:ext cx="12192000" cy="4351338"/>
          </a:xfrm>
        </p:spPr>
        <p:txBody>
          <a:bodyPr/>
          <a:lstStyle/>
          <a:p>
            <a:pPr>
              <a:buFont typeface="Wingdings" panose="05000000000000000000" pitchFamily="2" charset="2"/>
              <a:buChar char="ü"/>
            </a:pPr>
            <a:r>
              <a:rPr lang="en-US" dirty="0"/>
              <a:t>A 30-year-old female patient was referred for (PR) two years after completing treatment for TB. On presentation, she reported symptoms consistent with active TB, including cough, fatigue, and breathlessness; however, all diagnostic tests for TB returned negative. </a:t>
            </a:r>
          </a:p>
          <a:p>
            <a:pPr>
              <a:buFont typeface="Wingdings" panose="05000000000000000000" pitchFamily="2" charset="2"/>
              <a:buChar char="ü"/>
            </a:pPr>
            <a:r>
              <a:rPr lang="en-US" dirty="0"/>
              <a:t>In view of her clinical history and symptoms, she was commenced on prophylactic TB therapy, and pulmonary rehabilitation was initiated to support her respiratory recovery, improve exercise tolerance, and enhance quality of life</a:t>
            </a:r>
          </a:p>
          <a:p>
            <a:pPr marL="0" indent="0">
              <a:buNone/>
            </a:pPr>
            <a:endParaRPr lang="en-US" dirty="0"/>
          </a:p>
        </p:txBody>
      </p:sp>
      <p:sp>
        <p:nvSpPr>
          <p:cNvPr id="10" name="Rectangle 9">
            <a:extLst>
              <a:ext uri="{FF2B5EF4-FFF2-40B4-BE49-F238E27FC236}">
                <a16:creationId xmlns:a16="http://schemas.microsoft.com/office/drawing/2014/main" id="{C6A8ABB4-5C58-DD8F-230B-67B97E3CC932}"/>
              </a:ext>
            </a:extLst>
          </p:cNvPr>
          <p:cNvSpPr/>
          <p:nvPr/>
        </p:nvSpPr>
        <p:spPr>
          <a:xfrm>
            <a:off x="2" y="933655"/>
            <a:ext cx="12191998" cy="824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0056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2747-F8A8-7872-3858-21021D7FBAD9}"/>
              </a:ext>
            </a:extLst>
          </p:cNvPr>
          <p:cNvSpPr>
            <a:spLocks noGrp="1"/>
          </p:cNvSpPr>
          <p:nvPr>
            <p:ph type="title"/>
          </p:nvPr>
        </p:nvSpPr>
        <p:spPr>
          <a:xfrm>
            <a:off x="33214" y="52837"/>
            <a:ext cx="12192000" cy="917319"/>
          </a:xfrm>
        </p:spPr>
        <p:txBody>
          <a:bodyPr/>
          <a:lstStyle/>
          <a:p>
            <a:r>
              <a:rPr lang="en-US" dirty="0"/>
              <a:t>Baseline assessment</a:t>
            </a:r>
          </a:p>
        </p:txBody>
      </p:sp>
      <p:graphicFrame>
        <p:nvGraphicFramePr>
          <p:cNvPr id="4" name="Content Placeholder 3">
            <a:extLst>
              <a:ext uri="{FF2B5EF4-FFF2-40B4-BE49-F238E27FC236}">
                <a16:creationId xmlns:a16="http://schemas.microsoft.com/office/drawing/2014/main" id="{5E96F578-2622-B165-3FB6-6F1C6324752F}"/>
              </a:ext>
            </a:extLst>
          </p:cNvPr>
          <p:cNvGraphicFramePr>
            <a:graphicFrameLocks noGrp="1"/>
          </p:cNvGraphicFramePr>
          <p:nvPr>
            <p:ph idx="1"/>
            <p:extLst>
              <p:ext uri="{D42A27DB-BD31-4B8C-83A1-F6EECF244321}">
                <p14:modId xmlns:p14="http://schemas.microsoft.com/office/powerpoint/2010/main" val="2872966208"/>
              </p:ext>
            </p:extLst>
          </p:nvPr>
        </p:nvGraphicFramePr>
        <p:xfrm>
          <a:off x="200191" y="1151610"/>
          <a:ext cx="9557126" cy="4980854"/>
        </p:xfrm>
        <a:graphic>
          <a:graphicData uri="http://schemas.openxmlformats.org/drawingml/2006/table">
            <a:tbl>
              <a:tblPr firstRow="1" firstCol="1" bandRow="1"/>
              <a:tblGrid>
                <a:gridCol w="2261023">
                  <a:extLst>
                    <a:ext uri="{9D8B030D-6E8A-4147-A177-3AD203B41FA5}">
                      <a16:colId xmlns:a16="http://schemas.microsoft.com/office/drawing/2014/main" val="762089879"/>
                    </a:ext>
                  </a:extLst>
                </a:gridCol>
                <a:gridCol w="2261023">
                  <a:extLst>
                    <a:ext uri="{9D8B030D-6E8A-4147-A177-3AD203B41FA5}">
                      <a16:colId xmlns:a16="http://schemas.microsoft.com/office/drawing/2014/main" val="2586388929"/>
                    </a:ext>
                  </a:extLst>
                </a:gridCol>
                <a:gridCol w="2972104">
                  <a:extLst>
                    <a:ext uri="{9D8B030D-6E8A-4147-A177-3AD203B41FA5}">
                      <a16:colId xmlns:a16="http://schemas.microsoft.com/office/drawing/2014/main" val="1207550392"/>
                    </a:ext>
                  </a:extLst>
                </a:gridCol>
                <a:gridCol w="2062976">
                  <a:extLst>
                    <a:ext uri="{9D8B030D-6E8A-4147-A177-3AD203B41FA5}">
                      <a16:colId xmlns:a16="http://schemas.microsoft.com/office/drawing/2014/main" val="3690571463"/>
                    </a:ext>
                  </a:extLst>
                </a:gridCol>
              </a:tblGrid>
              <a:tr h="401052">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Vitals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Outcome measure tools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Symptoms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Goals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160643"/>
                  </a:ext>
                </a:extLst>
              </a:tr>
              <a:tr h="1458860">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BP-115/78</a:t>
                      </a:r>
                    </a:p>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6MWT-45m </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Borg 5</a:t>
                      </a:r>
                    </a:p>
                    <a:p>
                      <a:pPr>
                        <a:lnSpc>
                          <a:spcPct val="115000"/>
                        </a:lnSpc>
                        <a:spcAft>
                          <a:spcPts val="800"/>
                        </a:spcAft>
                        <a:buNone/>
                      </a:pP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Regular bothering productive cough (copious amount of thick frothy secretions)</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To regain the ability to perform activities of daily living (ADLs) independently.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6708767"/>
                  </a:ext>
                </a:extLst>
              </a:tr>
              <a:tr h="1032855">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SPO2-88% on RA</a:t>
                      </a:r>
                    </a:p>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mMRC-3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Dyspnea with exertion</a:t>
                      </a:r>
                    </a:p>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To be able to return home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7742698"/>
                  </a:ext>
                </a:extLst>
              </a:tr>
              <a:tr h="1032855">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HR 137bpm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SF-36, 25-fair</a:t>
                      </a:r>
                    </a:p>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Not able to carry out ADL</a:t>
                      </a:r>
                    </a:p>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0875220"/>
                  </a:ext>
                </a:extLst>
              </a:tr>
              <a:tr h="401052">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SGRQ-47%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9298750"/>
                  </a:ext>
                </a:extLst>
              </a:tr>
            </a:tbl>
          </a:graphicData>
        </a:graphic>
      </p:graphicFrame>
      <p:sp>
        <p:nvSpPr>
          <p:cNvPr id="5" name="Rectangle 1">
            <a:extLst>
              <a:ext uri="{FF2B5EF4-FFF2-40B4-BE49-F238E27FC236}">
                <a16:creationId xmlns:a16="http://schemas.microsoft.com/office/drawing/2014/main" id="{B1B159ED-4090-39EF-4A84-DD5D2AD73BFC}"/>
              </a:ext>
            </a:extLst>
          </p:cNvPr>
          <p:cNvSpPr>
            <a:spLocks noChangeArrowheads="1"/>
          </p:cNvSpPr>
          <p:nvPr/>
        </p:nvSpPr>
        <p:spPr bwMode="auto">
          <a:xfrm>
            <a:off x="-3893196" y="175554"/>
            <a:ext cx="1857580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5" name="Picture 3" descr="Nescafe' Classic Jar 200g">
            <a:extLst>
              <a:ext uri="{FF2B5EF4-FFF2-40B4-BE49-F238E27FC236}">
                <a16:creationId xmlns:a16="http://schemas.microsoft.com/office/drawing/2014/main" id="{71A454A2-0C35-00C3-BC60-84EC9767EA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7317" y="2062976"/>
            <a:ext cx="2434683" cy="442989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C61DE383-BC4C-F781-CF16-7E9CDD6CEE2E}"/>
                  </a:ext>
                </a:extLst>
              </p14:cNvPr>
              <p14:cNvContentPartPr/>
              <p14:nvPr/>
            </p14:nvContentPartPr>
            <p14:xfrm rot="-10800000">
              <a:off x="10246823" y="3340978"/>
              <a:ext cx="1628986" cy="176044"/>
            </p14:xfrm>
          </p:contentPart>
        </mc:Choice>
        <mc:Fallback xmlns="">
          <p:pic>
            <p:nvPicPr>
              <p:cNvPr id="7" name="Ink 6">
                <a:extLst>
                  <a:ext uri="{FF2B5EF4-FFF2-40B4-BE49-F238E27FC236}">
                    <a16:creationId xmlns:a16="http://schemas.microsoft.com/office/drawing/2014/main" id="{C61DE383-BC4C-F781-CF16-7E9CDD6CEE2E}"/>
                  </a:ext>
                </a:extLst>
              </p:cNvPr>
              <p:cNvPicPr/>
              <p:nvPr/>
            </p:nvPicPr>
            <p:blipFill>
              <a:blip r:embed="rId4"/>
              <a:stretch>
                <a:fillRect/>
              </a:stretch>
            </p:blipFill>
            <p:spPr>
              <a:xfrm rot="-10800000">
                <a:off x="10192812" y="3232754"/>
                <a:ext cx="1736649" cy="392131"/>
              </a:xfrm>
              <a:prstGeom prst="rect">
                <a:avLst/>
              </a:prstGeom>
            </p:spPr>
          </p:pic>
        </mc:Fallback>
      </mc:AlternateContent>
      <p:sp>
        <p:nvSpPr>
          <p:cNvPr id="8" name="Rectangle 7">
            <a:extLst>
              <a:ext uri="{FF2B5EF4-FFF2-40B4-BE49-F238E27FC236}">
                <a16:creationId xmlns:a16="http://schemas.microsoft.com/office/drawing/2014/main" id="{CC9F68E7-96EF-7451-4881-150C1A400A28}"/>
              </a:ext>
            </a:extLst>
          </p:cNvPr>
          <p:cNvSpPr/>
          <p:nvPr/>
        </p:nvSpPr>
        <p:spPr>
          <a:xfrm>
            <a:off x="0" y="840868"/>
            <a:ext cx="12191998" cy="824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4564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A5AB-1540-601A-99FA-5A3925FDAC1C}"/>
              </a:ext>
            </a:extLst>
          </p:cNvPr>
          <p:cNvSpPr>
            <a:spLocks noGrp="1"/>
          </p:cNvSpPr>
          <p:nvPr>
            <p:ph type="title"/>
          </p:nvPr>
        </p:nvSpPr>
        <p:spPr>
          <a:xfrm>
            <a:off x="583796" y="116886"/>
            <a:ext cx="10515600" cy="897875"/>
          </a:xfrm>
        </p:spPr>
        <p:txBody>
          <a:bodyPr/>
          <a:lstStyle/>
          <a:p>
            <a:r>
              <a:rPr lang="en-US" dirty="0"/>
              <a:t>PR Program</a:t>
            </a:r>
          </a:p>
        </p:txBody>
      </p:sp>
      <p:sp>
        <p:nvSpPr>
          <p:cNvPr id="5" name="Rectangle 1">
            <a:extLst>
              <a:ext uri="{FF2B5EF4-FFF2-40B4-BE49-F238E27FC236}">
                <a16:creationId xmlns:a16="http://schemas.microsoft.com/office/drawing/2014/main" id="{0CCC30EE-ABF6-7CB5-13EE-C8094B65453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Content Placeholder 7">
            <a:extLst>
              <a:ext uri="{FF2B5EF4-FFF2-40B4-BE49-F238E27FC236}">
                <a16:creationId xmlns:a16="http://schemas.microsoft.com/office/drawing/2014/main" id="{FD161CC1-171B-832F-F1BA-88CD609C67CE}"/>
              </a:ext>
            </a:extLst>
          </p:cNvPr>
          <p:cNvGraphicFramePr>
            <a:graphicFrameLocks noGrp="1"/>
          </p:cNvGraphicFramePr>
          <p:nvPr>
            <p:ph idx="1"/>
            <p:extLst>
              <p:ext uri="{D42A27DB-BD31-4B8C-83A1-F6EECF244321}">
                <p14:modId xmlns:p14="http://schemas.microsoft.com/office/powerpoint/2010/main" val="2487200972"/>
              </p:ext>
            </p:extLst>
          </p:nvPr>
        </p:nvGraphicFramePr>
        <p:xfrm>
          <a:off x="163985" y="4638130"/>
          <a:ext cx="11355223" cy="1813052"/>
        </p:xfrm>
        <a:graphic>
          <a:graphicData uri="http://schemas.openxmlformats.org/drawingml/2006/table">
            <a:tbl>
              <a:tblPr firstRow="1" firstCol="1" bandRow="1"/>
              <a:tblGrid>
                <a:gridCol w="2911095">
                  <a:extLst>
                    <a:ext uri="{9D8B030D-6E8A-4147-A177-3AD203B41FA5}">
                      <a16:colId xmlns:a16="http://schemas.microsoft.com/office/drawing/2014/main" val="1951241081"/>
                    </a:ext>
                  </a:extLst>
                </a:gridCol>
                <a:gridCol w="1890258">
                  <a:extLst>
                    <a:ext uri="{9D8B030D-6E8A-4147-A177-3AD203B41FA5}">
                      <a16:colId xmlns:a16="http://schemas.microsoft.com/office/drawing/2014/main" val="2764226577"/>
                    </a:ext>
                  </a:extLst>
                </a:gridCol>
                <a:gridCol w="1910772">
                  <a:extLst>
                    <a:ext uri="{9D8B030D-6E8A-4147-A177-3AD203B41FA5}">
                      <a16:colId xmlns:a16="http://schemas.microsoft.com/office/drawing/2014/main" val="2902729227"/>
                    </a:ext>
                  </a:extLst>
                </a:gridCol>
                <a:gridCol w="2033714">
                  <a:extLst>
                    <a:ext uri="{9D8B030D-6E8A-4147-A177-3AD203B41FA5}">
                      <a16:colId xmlns:a16="http://schemas.microsoft.com/office/drawing/2014/main" val="3745346043"/>
                    </a:ext>
                  </a:extLst>
                </a:gridCol>
                <a:gridCol w="2609384">
                  <a:extLst>
                    <a:ext uri="{9D8B030D-6E8A-4147-A177-3AD203B41FA5}">
                      <a16:colId xmlns:a16="http://schemas.microsoft.com/office/drawing/2014/main" val="955573442"/>
                    </a:ext>
                  </a:extLst>
                </a:gridCol>
              </a:tblGrid>
              <a:tr h="0">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Session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Session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Session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Session 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Session 5</a:t>
                      </a:r>
                    </a:p>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615343"/>
                  </a:ext>
                </a:extLst>
              </a:tr>
              <a:tr h="0">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Managed only 6 different exercise domains, Borg-3 and rep 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7 domains, Borg-3, repetition of 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6 domains, Borg 4, repetition 20, weight 2kg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8 domains, Borg 3, repetition 25, weight 2.5kg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Readmitted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915531"/>
                  </a:ext>
                </a:extLst>
              </a:tr>
            </a:tbl>
          </a:graphicData>
        </a:graphic>
      </p:graphicFrame>
      <p:graphicFrame>
        <p:nvGraphicFramePr>
          <p:cNvPr id="10" name="Table 9">
            <a:extLst>
              <a:ext uri="{FF2B5EF4-FFF2-40B4-BE49-F238E27FC236}">
                <a16:creationId xmlns:a16="http://schemas.microsoft.com/office/drawing/2014/main" id="{A264964D-A4C1-24E1-EB9B-5939E0855A3D}"/>
              </a:ext>
            </a:extLst>
          </p:cNvPr>
          <p:cNvGraphicFramePr>
            <a:graphicFrameLocks noGrp="1"/>
          </p:cNvGraphicFramePr>
          <p:nvPr>
            <p:extLst>
              <p:ext uri="{D42A27DB-BD31-4B8C-83A1-F6EECF244321}">
                <p14:modId xmlns:p14="http://schemas.microsoft.com/office/powerpoint/2010/main" val="1518628965"/>
              </p:ext>
            </p:extLst>
          </p:nvPr>
        </p:nvGraphicFramePr>
        <p:xfrm>
          <a:off x="163983" y="1424017"/>
          <a:ext cx="11812427" cy="2717292"/>
        </p:xfrm>
        <a:graphic>
          <a:graphicData uri="http://schemas.openxmlformats.org/drawingml/2006/table">
            <a:tbl>
              <a:tblPr firstRow="1" firstCol="1" bandRow="1"/>
              <a:tblGrid>
                <a:gridCol w="1349040">
                  <a:extLst>
                    <a:ext uri="{9D8B030D-6E8A-4147-A177-3AD203B41FA5}">
                      <a16:colId xmlns:a16="http://schemas.microsoft.com/office/drawing/2014/main" val="3032108632"/>
                    </a:ext>
                  </a:extLst>
                </a:gridCol>
                <a:gridCol w="2134438">
                  <a:extLst>
                    <a:ext uri="{9D8B030D-6E8A-4147-A177-3AD203B41FA5}">
                      <a16:colId xmlns:a16="http://schemas.microsoft.com/office/drawing/2014/main" val="2669688314"/>
                    </a:ext>
                  </a:extLst>
                </a:gridCol>
                <a:gridCol w="2981254">
                  <a:extLst>
                    <a:ext uri="{9D8B030D-6E8A-4147-A177-3AD203B41FA5}">
                      <a16:colId xmlns:a16="http://schemas.microsoft.com/office/drawing/2014/main" val="2403179206"/>
                    </a:ext>
                  </a:extLst>
                </a:gridCol>
                <a:gridCol w="3763424">
                  <a:extLst>
                    <a:ext uri="{9D8B030D-6E8A-4147-A177-3AD203B41FA5}">
                      <a16:colId xmlns:a16="http://schemas.microsoft.com/office/drawing/2014/main" val="3549932696"/>
                    </a:ext>
                  </a:extLst>
                </a:gridCol>
                <a:gridCol w="1584271">
                  <a:extLst>
                    <a:ext uri="{9D8B030D-6E8A-4147-A177-3AD203B41FA5}">
                      <a16:colId xmlns:a16="http://schemas.microsoft.com/office/drawing/2014/main" val="1098412534"/>
                    </a:ext>
                  </a:extLst>
                </a:gridCol>
              </a:tblGrid>
              <a:tr h="617978">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10 Exercise domains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Nutritional support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Respiratory adjuncts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Psychological support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Home program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121168"/>
                  </a:ext>
                </a:extLst>
              </a:tr>
              <a:tr h="1849781">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a:effectLst/>
                          <a:latin typeface="Calibri" panose="020F0502020204030204" pitchFamily="34" charset="0"/>
                          <a:ea typeface="Calibri" panose="020F0502020204030204" pitchFamily="34" charset="0"/>
                          <a:cs typeface="Times New Roman" panose="02020603050405020304" pitchFamily="18" charset="0"/>
                        </a:rPr>
                        <a:t>Put on diet, blending traditional and modern food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Nocturnal oxygen support</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OPEP device</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Regular nebs</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Inhaler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Engaged a counsellor</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Encouraged to call back home regularly</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Direct family engagement </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Walking</a:t>
                      </a:r>
                    </a:p>
                    <a:p>
                      <a:pPr>
                        <a:lnSpc>
                          <a:spcPct val="115000"/>
                        </a:lnSpc>
                        <a:spcAft>
                          <a:spcPts val="800"/>
                        </a:spcAft>
                        <a:buNone/>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Stairs climbing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3495073"/>
                  </a:ext>
                </a:extLst>
              </a:tr>
            </a:tbl>
          </a:graphicData>
        </a:graphic>
      </p:graphicFrame>
      <p:sp>
        <p:nvSpPr>
          <p:cNvPr id="11" name="Rectangle 10">
            <a:extLst>
              <a:ext uri="{FF2B5EF4-FFF2-40B4-BE49-F238E27FC236}">
                <a16:creationId xmlns:a16="http://schemas.microsoft.com/office/drawing/2014/main" id="{87AD4779-7D7E-16BE-006D-6E1BF091C09F}"/>
              </a:ext>
            </a:extLst>
          </p:cNvPr>
          <p:cNvSpPr/>
          <p:nvPr/>
        </p:nvSpPr>
        <p:spPr>
          <a:xfrm>
            <a:off x="2" y="927196"/>
            <a:ext cx="12191998" cy="824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2973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C4B9D1-6EED-2CAE-DFAA-6538A24B9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5839485" cy="5341435"/>
          </a:xfrm>
          <a:prstGeom prst="rect">
            <a:avLst/>
          </a:prstGeom>
        </p:spPr>
      </p:pic>
      <p:pic>
        <p:nvPicPr>
          <p:cNvPr id="5" name="Picture 4">
            <a:extLst>
              <a:ext uri="{FF2B5EF4-FFF2-40B4-BE49-F238E27FC236}">
                <a16:creationId xmlns:a16="http://schemas.microsoft.com/office/drawing/2014/main" id="{AA193AB9-2A36-76A6-1AC2-302167F294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0850" y="0"/>
            <a:ext cx="5391150" cy="5341434"/>
          </a:xfrm>
          <a:prstGeom prst="rect">
            <a:avLst/>
          </a:prstGeom>
        </p:spPr>
      </p:pic>
      <p:sp>
        <p:nvSpPr>
          <p:cNvPr id="9" name="TextBox 8">
            <a:extLst>
              <a:ext uri="{FF2B5EF4-FFF2-40B4-BE49-F238E27FC236}">
                <a16:creationId xmlns:a16="http://schemas.microsoft.com/office/drawing/2014/main" id="{8F106009-2F38-E100-6C84-6441E6FD867A}"/>
              </a:ext>
            </a:extLst>
          </p:cNvPr>
          <p:cNvSpPr txBox="1"/>
          <p:nvPr/>
        </p:nvSpPr>
        <p:spPr>
          <a:xfrm>
            <a:off x="713678" y="5632477"/>
            <a:ext cx="11478322" cy="954107"/>
          </a:xfrm>
          <a:prstGeom prst="rect">
            <a:avLst/>
          </a:prstGeom>
          <a:noFill/>
        </p:spPr>
        <p:txBody>
          <a:bodyPr wrap="square">
            <a:spAutoFit/>
          </a:bodyPr>
          <a:lstStyle/>
          <a:p>
            <a:r>
              <a:rPr lang="en-US" sz="2800" dirty="0"/>
              <a:t>2 weeks in rehab, she was able to go up and down 2 flights of stairs X5 per day. She also started ADL (light duties such as washing utensils)</a:t>
            </a:r>
          </a:p>
        </p:txBody>
      </p:sp>
    </p:spTree>
    <p:extLst>
      <p:ext uri="{BB962C8B-B14F-4D97-AF65-F5344CB8AC3E}">
        <p14:creationId xmlns:p14="http://schemas.microsoft.com/office/powerpoint/2010/main" val="3433015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DC64-9209-7BEB-1500-1DF0C51DEB0A}"/>
              </a:ext>
            </a:extLst>
          </p:cNvPr>
          <p:cNvSpPr>
            <a:spLocks noGrp="1"/>
          </p:cNvSpPr>
          <p:nvPr>
            <p:ph type="title"/>
          </p:nvPr>
        </p:nvSpPr>
        <p:spPr>
          <a:xfrm>
            <a:off x="3066584" y="1"/>
            <a:ext cx="9125415" cy="769210"/>
          </a:xfrm>
        </p:spPr>
        <p:txBody>
          <a:bodyPr/>
          <a:lstStyle/>
          <a:p>
            <a:r>
              <a:rPr lang="en-US" dirty="0"/>
              <a:t>Hyperinflation in COPD</a:t>
            </a:r>
          </a:p>
        </p:txBody>
      </p:sp>
      <p:pic>
        <p:nvPicPr>
          <p:cNvPr id="5" name="Content Placeholder 4">
            <a:extLst>
              <a:ext uri="{FF2B5EF4-FFF2-40B4-BE49-F238E27FC236}">
                <a16:creationId xmlns:a16="http://schemas.microsoft.com/office/drawing/2014/main" id="{3F829983-5130-6BE5-9E89-8FFFA476C825}"/>
              </a:ext>
            </a:extLst>
          </p:cNvPr>
          <p:cNvPicPr>
            <a:picLocks noGrp="1" noChangeAspect="1"/>
          </p:cNvPicPr>
          <p:nvPr>
            <p:ph idx="1"/>
          </p:nvPr>
        </p:nvPicPr>
        <p:blipFill>
          <a:blip r:embed="rId2"/>
          <a:stretch>
            <a:fillRect/>
          </a:stretch>
        </p:blipFill>
        <p:spPr>
          <a:xfrm>
            <a:off x="0" y="1454227"/>
            <a:ext cx="6735115" cy="4843921"/>
          </a:xfrm>
          <a:prstGeom prst="rect">
            <a:avLst/>
          </a:prstGeom>
        </p:spPr>
      </p:pic>
      <p:pic>
        <p:nvPicPr>
          <p:cNvPr id="7" name="Picture 6">
            <a:extLst>
              <a:ext uri="{FF2B5EF4-FFF2-40B4-BE49-F238E27FC236}">
                <a16:creationId xmlns:a16="http://schemas.microsoft.com/office/drawing/2014/main" id="{E4A04F8D-1D89-E409-2ED7-F3CA60AB002A}"/>
              </a:ext>
            </a:extLst>
          </p:cNvPr>
          <p:cNvPicPr>
            <a:picLocks noChangeAspect="1"/>
          </p:cNvPicPr>
          <p:nvPr/>
        </p:nvPicPr>
        <p:blipFill>
          <a:blip r:embed="rId3"/>
          <a:stretch>
            <a:fillRect/>
          </a:stretch>
        </p:blipFill>
        <p:spPr>
          <a:xfrm>
            <a:off x="6096000" y="1024569"/>
            <a:ext cx="6096000" cy="3977221"/>
          </a:xfrm>
          <a:prstGeom prst="rect">
            <a:avLst/>
          </a:prstGeom>
        </p:spPr>
      </p:pic>
      <p:sp>
        <p:nvSpPr>
          <p:cNvPr id="9" name="TextBox 8">
            <a:extLst>
              <a:ext uri="{FF2B5EF4-FFF2-40B4-BE49-F238E27FC236}">
                <a16:creationId xmlns:a16="http://schemas.microsoft.com/office/drawing/2014/main" id="{28C5AB7E-059F-226E-3119-1DC49BE95D15}"/>
              </a:ext>
            </a:extLst>
          </p:cNvPr>
          <p:cNvSpPr txBox="1"/>
          <p:nvPr/>
        </p:nvSpPr>
        <p:spPr>
          <a:xfrm>
            <a:off x="787706" y="6327456"/>
            <a:ext cx="6224530" cy="461665"/>
          </a:xfrm>
          <a:prstGeom prst="rect">
            <a:avLst/>
          </a:prstGeom>
          <a:noFill/>
        </p:spPr>
        <p:txBody>
          <a:bodyPr wrap="square">
            <a:spAutoFit/>
          </a:bodyPr>
          <a:lstStyle/>
          <a:p>
            <a:r>
              <a:rPr lang="en-US" sz="2400" dirty="0">
                <a:effectLst/>
                <a:latin typeface="Calibri" panose="020F0502020204030204" pitchFamily="34" charset="0"/>
                <a:ea typeface="Calibri" panose="020F0502020204030204" pitchFamily="34" charset="0"/>
                <a:cs typeface="Times New Roman" panose="02020603050405020304" pitchFamily="18" charset="0"/>
              </a:rPr>
              <a:t>Sanguinetti et al. 2014. </a:t>
            </a:r>
            <a:endParaRPr lang="en-US" sz="2400" dirty="0"/>
          </a:p>
        </p:txBody>
      </p:sp>
      <p:sp>
        <p:nvSpPr>
          <p:cNvPr id="11" name="TextBox 10">
            <a:extLst>
              <a:ext uri="{FF2B5EF4-FFF2-40B4-BE49-F238E27FC236}">
                <a16:creationId xmlns:a16="http://schemas.microsoft.com/office/drawing/2014/main" id="{6DE11461-6F5B-246A-0EA5-7E97B6F1D270}"/>
              </a:ext>
            </a:extLst>
          </p:cNvPr>
          <p:cNvSpPr txBox="1"/>
          <p:nvPr/>
        </p:nvSpPr>
        <p:spPr>
          <a:xfrm>
            <a:off x="0" y="1223394"/>
            <a:ext cx="1784733" cy="461665"/>
          </a:xfrm>
          <a:prstGeom prst="rect">
            <a:avLst/>
          </a:prstGeom>
          <a:noFill/>
        </p:spPr>
        <p:txBody>
          <a:bodyPr wrap="square">
            <a:spAutoFit/>
          </a:bodyPr>
          <a:lstStyle/>
          <a:p>
            <a:r>
              <a:rPr lang="en-US" sz="2400" dirty="0">
                <a:effectLst/>
                <a:latin typeface="Times New Roman" panose="02020603050405020304" pitchFamily="18" charset="0"/>
                <a:ea typeface="Calibri" panose="020F0502020204030204" pitchFamily="34" charset="0"/>
              </a:rPr>
              <a:t>Normal lung </a:t>
            </a:r>
            <a:endParaRPr lang="en-US" sz="2400" dirty="0"/>
          </a:p>
        </p:txBody>
      </p:sp>
      <p:sp>
        <p:nvSpPr>
          <p:cNvPr id="13" name="TextBox 12">
            <a:extLst>
              <a:ext uri="{FF2B5EF4-FFF2-40B4-BE49-F238E27FC236}">
                <a16:creationId xmlns:a16="http://schemas.microsoft.com/office/drawing/2014/main" id="{BE03D503-92D8-FC3A-3AD4-E0EA2ACE5189}"/>
              </a:ext>
            </a:extLst>
          </p:cNvPr>
          <p:cNvSpPr txBox="1"/>
          <p:nvPr/>
        </p:nvSpPr>
        <p:spPr>
          <a:xfrm>
            <a:off x="3710985" y="1176373"/>
            <a:ext cx="2833034" cy="461665"/>
          </a:xfrm>
          <a:prstGeom prst="rect">
            <a:avLst/>
          </a:prstGeom>
          <a:noFill/>
        </p:spPr>
        <p:txBody>
          <a:bodyPr wrap="square">
            <a:spAutoFit/>
          </a:bodyPr>
          <a:lstStyle/>
          <a:p>
            <a:r>
              <a:rPr lang="en-US" sz="2400" dirty="0">
                <a:effectLst/>
                <a:latin typeface="Times New Roman" panose="02020603050405020304" pitchFamily="18" charset="0"/>
                <a:ea typeface="Calibri" panose="020F0502020204030204" pitchFamily="34" charset="0"/>
              </a:rPr>
              <a:t>COPD lung</a:t>
            </a:r>
            <a:endParaRPr lang="en-US" sz="2400" dirty="0"/>
          </a:p>
        </p:txBody>
      </p:sp>
      <p:sp>
        <p:nvSpPr>
          <p:cNvPr id="15" name="TextBox 14">
            <a:extLst>
              <a:ext uri="{FF2B5EF4-FFF2-40B4-BE49-F238E27FC236}">
                <a16:creationId xmlns:a16="http://schemas.microsoft.com/office/drawing/2014/main" id="{7C7A1E12-93BF-DB46-F920-73FA2489662F}"/>
              </a:ext>
            </a:extLst>
          </p:cNvPr>
          <p:cNvSpPr txBox="1"/>
          <p:nvPr/>
        </p:nvSpPr>
        <p:spPr>
          <a:xfrm>
            <a:off x="5381739" y="4817124"/>
            <a:ext cx="501268"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RV</a:t>
            </a:r>
            <a:endParaRPr lang="en-US" dirty="0"/>
          </a:p>
        </p:txBody>
      </p:sp>
      <p:sp>
        <p:nvSpPr>
          <p:cNvPr id="17" name="TextBox 16">
            <a:extLst>
              <a:ext uri="{FF2B5EF4-FFF2-40B4-BE49-F238E27FC236}">
                <a16:creationId xmlns:a16="http://schemas.microsoft.com/office/drawing/2014/main" id="{1E3FB91A-0F09-B35F-A1E4-0CD1F831746E}"/>
              </a:ext>
            </a:extLst>
          </p:cNvPr>
          <p:cNvSpPr txBox="1"/>
          <p:nvPr/>
        </p:nvSpPr>
        <p:spPr>
          <a:xfrm>
            <a:off x="5381739" y="3059668"/>
            <a:ext cx="622453"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ERV</a:t>
            </a:r>
            <a:endParaRPr lang="en-US" dirty="0"/>
          </a:p>
        </p:txBody>
      </p:sp>
      <p:sp>
        <p:nvSpPr>
          <p:cNvPr id="19" name="TextBox 18">
            <a:extLst>
              <a:ext uri="{FF2B5EF4-FFF2-40B4-BE49-F238E27FC236}">
                <a16:creationId xmlns:a16="http://schemas.microsoft.com/office/drawing/2014/main" id="{7CE30695-8233-913B-C916-533AA606C2A2}"/>
              </a:ext>
            </a:extLst>
          </p:cNvPr>
          <p:cNvSpPr txBox="1"/>
          <p:nvPr/>
        </p:nvSpPr>
        <p:spPr>
          <a:xfrm>
            <a:off x="5409280" y="2413625"/>
            <a:ext cx="811439" cy="390684"/>
          </a:xfrm>
          <a:prstGeom prst="rect">
            <a:avLst/>
          </a:prstGeom>
          <a:noFill/>
        </p:spPr>
        <p:txBody>
          <a:bodyPr wrap="square">
            <a:spAutoFit/>
          </a:bodyPr>
          <a:lstStyle/>
          <a:p>
            <a:pPr>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1800" kern="100" baseline="-25000" dirty="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AD8DD34D-E17A-C42B-3283-88BCA6B2CED2}"/>
              </a:ext>
            </a:extLst>
          </p:cNvPr>
          <p:cNvSpPr txBox="1"/>
          <p:nvPr/>
        </p:nvSpPr>
        <p:spPr>
          <a:xfrm>
            <a:off x="5280750" y="1789842"/>
            <a:ext cx="1667358"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IRV</a:t>
            </a:r>
            <a:endParaRPr lang="en-US" dirty="0"/>
          </a:p>
        </p:txBody>
      </p:sp>
      <p:pic>
        <p:nvPicPr>
          <p:cNvPr id="1026" name="Picture 2" descr="Med Incentive Spirometer 1200cc ...">
            <a:extLst>
              <a:ext uri="{FF2B5EF4-FFF2-40B4-BE49-F238E27FC236}">
                <a16:creationId xmlns:a16="http://schemas.microsoft.com/office/drawing/2014/main" id="{52955925-3264-3E87-B867-B26F635636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6908" y="5070668"/>
            <a:ext cx="2095500" cy="178733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Single Corner Rounded 2">
            <a:extLst>
              <a:ext uri="{FF2B5EF4-FFF2-40B4-BE49-F238E27FC236}">
                <a16:creationId xmlns:a16="http://schemas.microsoft.com/office/drawing/2014/main" id="{CA407240-BE2B-3717-D668-6F0DADCDE9B1}"/>
              </a:ext>
            </a:extLst>
          </p:cNvPr>
          <p:cNvSpPr/>
          <p:nvPr/>
        </p:nvSpPr>
        <p:spPr>
          <a:xfrm>
            <a:off x="0" y="870333"/>
            <a:ext cx="12192000" cy="45719"/>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4558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565A-D179-C46B-F550-C59DFA7DC95A}"/>
              </a:ext>
            </a:extLst>
          </p:cNvPr>
          <p:cNvSpPr>
            <a:spLocks noGrp="1"/>
          </p:cNvSpPr>
          <p:nvPr>
            <p:ph type="title"/>
          </p:nvPr>
        </p:nvSpPr>
        <p:spPr>
          <a:xfrm>
            <a:off x="0" y="0"/>
            <a:ext cx="11353800" cy="1325563"/>
          </a:xfrm>
        </p:spPr>
        <p:txBody>
          <a:bodyPr/>
          <a:lstStyle/>
          <a:p>
            <a:r>
              <a:rPr lang="en-US" dirty="0"/>
              <a:t>Thank you</a:t>
            </a:r>
          </a:p>
        </p:txBody>
      </p:sp>
      <p:pic>
        <p:nvPicPr>
          <p:cNvPr id="4" name="Picture 3">
            <a:extLst>
              <a:ext uri="{FF2B5EF4-FFF2-40B4-BE49-F238E27FC236}">
                <a16:creationId xmlns:a16="http://schemas.microsoft.com/office/drawing/2014/main" id="{55A5B62E-FDF3-E1C7-120C-D082CB242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88572"/>
            <a:ext cx="12192000" cy="5693656"/>
          </a:xfrm>
          <a:prstGeom prst="rect">
            <a:avLst/>
          </a:prstGeom>
        </p:spPr>
      </p:pic>
      <p:sp>
        <p:nvSpPr>
          <p:cNvPr id="5" name="Rectangle: Single Corner Rounded 4">
            <a:extLst>
              <a:ext uri="{FF2B5EF4-FFF2-40B4-BE49-F238E27FC236}">
                <a16:creationId xmlns:a16="http://schemas.microsoft.com/office/drawing/2014/main" id="{BDE4224F-9585-19B0-1A0B-9A3D7D6845B3}"/>
              </a:ext>
            </a:extLst>
          </p:cNvPr>
          <p:cNvSpPr/>
          <p:nvPr/>
        </p:nvSpPr>
        <p:spPr>
          <a:xfrm>
            <a:off x="1" y="88659"/>
            <a:ext cx="12191999" cy="129055"/>
          </a:xfrm>
          <a:prstGeom prst="round1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The answer is the question | My Rivendell">
            <a:extLst>
              <a:ext uri="{FF2B5EF4-FFF2-40B4-BE49-F238E27FC236}">
                <a16:creationId xmlns:a16="http://schemas.microsoft.com/office/drawing/2014/main" id="{6054B2B9-D1F7-0660-46CD-5D8170FD4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2191999" cy="676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617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FBE24-856F-2F0E-0EBF-F3BDC72C4A79}"/>
              </a:ext>
            </a:extLst>
          </p:cNvPr>
          <p:cNvSpPr>
            <a:spLocks noGrp="1"/>
          </p:cNvSpPr>
          <p:nvPr>
            <p:ph type="title"/>
          </p:nvPr>
        </p:nvSpPr>
        <p:spPr>
          <a:xfrm>
            <a:off x="705997" y="1"/>
            <a:ext cx="10515600" cy="528810"/>
          </a:xfrm>
        </p:spPr>
        <p:txBody>
          <a:bodyPr>
            <a:normAutofit fontScale="90000"/>
          </a:bodyPr>
          <a:lstStyle/>
          <a:p>
            <a:r>
              <a:rPr lang="en-US" dirty="0"/>
              <a:t>List of reference</a:t>
            </a:r>
          </a:p>
        </p:txBody>
      </p:sp>
      <p:sp>
        <p:nvSpPr>
          <p:cNvPr id="4" name="TextBox 3">
            <a:extLst>
              <a:ext uri="{FF2B5EF4-FFF2-40B4-BE49-F238E27FC236}">
                <a16:creationId xmlns:a16="http://schemas.microsoft.com/office/drawing/2014/main" id="{A249BC09-16CB-01D0-78D7-A6429F3CCB0C}"/>
              </a:ext>
            </a:extLst>
          </p:cNvPr>
          <p:cNvSpPr txBox="1"/>
          <p:nvPr/>
        </p:nvSpPr>
        <p:spPr>
          <a:xfrm>
            <a:off x="0" y="825913"/>
            <a:ext cx="12192000" cy="2995692"/>
          </a:xfrm>
          <a:prstGeom prst="rect">
            <a:avLst/>
          </a:prstGeom>
          <a:noFill/>
        </p:spPr>
        <p:txBody>
          <a:bodyPr wrap="square">
            <a:spAutoFit/>
          </a:bodyPr>
          <a:lstStyle/>
          <a:p>
            <a:pPr>
              <a:spcAft>
                <a:spcPts val="800"/>
              </a:spcAft>
              <a:buNone/>
            </a:pPr>
            <a:r>
              <a:rPr lang="en-US" sz="1800" kern="100" dirty="0">
                <a:effectLst/>
                <a:latin typeface="Calibri" panose="020F0502020204030204" pitchFamily="34" charset="0"/>
                <a:ea typeface="Calibri" panose="020F0502020204030204" pitchFamily="34" charset="0"/>
              </a:rPr>
              <a:t>1.Nici L, Donner C, Wouters E, </a:t>
            </a:r>
            <a:r>
              <a:rPr lang="en-US" sz="1800" kern="100" dirty="0" err="1">
                <a:effectLst/>
                <a:latin typeface="Calibri" panose="020F0502020204030204" pitchFamily="34" charset="0"/>
                <a:ea typeface="Calibri" panose="020F0502020204030204" pitchFamily="34" charset="0"/>
              </a:rPr>
              <a:t>Zuwallack</a:t>
            </a:r>
            <a:r>
              <a:rPr lang="en-US" sz="1800" kern="100" dirty="0">
                <a:effectLst/>
                <a:latin typeface="Calibri" panose="020F0502020204030204" pitchFamily="34" charset="0"/>
                <a:ea typeface="Calibri" panose="020F0502020204030204" pitchFamily="34" charset="0"/>
              </a:rPr>
              <a:t> R, Ambrosino N, Bourbeau J, et al. American Thoracic Society/European Respiratory Society statement on pulmonary rehabilitation. Am J Respir Crit Care Med. 2006;173(12):1390-413.</a:t>
            </a:r>
          </a:p>
          <a:p>
            <a:pPr>
              <a:spcAft>
                <a:spcPts val="800"/>
              </a:spcAft>
              <a:buNone/>
            </a:pPr>
            <a:r>
              <a:rPr lang="en-US" sz="1800" kern="100" dirty="0">
                <a:effectLst/>
                <a:latin typeface="Calibri" panose="020F0502020204030204" pitchFamily="34" charset="0"/>
                <a:ea typeface="Calibri" panose="020F0502020204030204" pitchFamily="34" charset="0"/>
              </a:rPr>
              <a:t>2.Ferreira G, Feuerman M, Spiegler P. Results of an 8-week, outpatient pulmonary rehabilitation program on patients with and without chronic obstructive pulmonary disease. J </a:t>
            </a:r>
            <a:r>
              <a:rPr lang="en-US" sz="1800" kern="100" dirty="0" err="1">
                <a:effectLst/>
                <a:latin typeface="Calibri" panose="020F0502020204030204" pitchFamily="34" charset="0"/>
                <a:ea typeface="Calibri" panose="020F0502020204030204" pitchFamily="34" charset="0"/>
              </a:rPr>
              <a:t>Cardiopulm</a:t>
            </a:r>
            <a:r>
              <a:rPr lang="en-US" sz="1800" kern="100" dirty="0">
                <a:effectLst/>
                <a:latin typeface="Calibri" panose="020F0502020204030204" pitchFamily="34" charset="0"/>
                <a:ea typeface="Calibri" panose="020F0502020204030204" pitchFamily="34" charset="0"/>
              </a:rPr>
              <a:t> </a:t>
            </a:r>
            <a:r>
              <a:rPr lang="en-US" sz="1800" kern="100" dirty="0" err="1">
                <a:effectLst/>
                <a:latin typeface="Calibri" panose="020F0502020204030204" pitchFamily="34" charset="0"/>
                <a:ea typeface="Calibri" panose="020F0502020204030204" pitchFamily="34" charset="0"/>
              </a:rPr>
              <a:t>Rehabil</a:t>
            </a:r>
            <a:r>
              <a:rPr lang="en-US" sz="1800" kern="100" dirty="0">
                <a:effectLst/>
                <a:latin typeface="Calibri" panose="020F0502020204030204" pitchFamily="34" charset="0"/>
                <a:ea typeface="Calibri" panose="020F0502020204030204" pitchFamily="34" charset="0"/>
              </a:rPr>
              <a:t>. 2006;26(1):54-60.</a:t>
            </a:r>
          </a:p>
          <a:p>
            <a:pPr>
              <a:spcAft>
                <a:spcPts val="800"/>
              </a:spcAft>
              <a:buNone/>
            </a:pPr>
            <a:r>
              <a:rPr lang="en-US" sz="1800" kern="100" dirty="0">
                <a:effectLst/>
                <a:latin typeface="Calibri" panose="020F0502020204030204" pitchFamily="34" charset="0"/>
                <a:ea typeface="Calibri" panose="020F0502020204030204" pitchFamily="34" charset="0"/>
              </a:rPr>
              <a:t>3.Ando M, Mori A, Esaki H, Shiraki T, Uemura H, </a:t>
            </a:r>
            <a:r>
              <a:rPr lang="en-US" sz="1800" kern="100" dirty="0" err="1">
                <a:effectLst/>
                <a:latin typeface="Calibri" panose="020F0502020204030204" pitchFamily="34" charset="0"/>
                <a:ea typeface="Calibri" panose="020F0502020204030204" pitchFamily="34" charset="0"/>
              </a:rPr>
              <a:t>Okazawa</a:t>
            </a:r>
            <a:r>
              <a:rPr lang="en-US" sz="1800" kern="100" dirty="0">
                <a:effectLst/>
                <a:latin typeface="Calibri" panose="020F0502020204030204" pitchFamily="34" charset="0"/>
                <a:ea typeface="Calibri" panose="020F0502020204030204" pitchFamily="34" charset="0"/>
              </a:rPr>
              <a:t> M, Sakakibara H. The Effect of Pulmonary Rehabilitation in Patients With Post-tuberculosis Lung Disorder. CHEST. 2003;123(6):1988-95.</a:t>
            </a:r>
          </a:p>
          <a:p>
            <a:pPr>
              <a:spcAft>
                <a:spcPts val="800"/>
              </a:spcAft>
              <a:buNone/>
            </a:pPr>
            <a:r>
              <a:rPr lang="en-US" sz="1800" kern="100" dirty="0">
                <a:effectLst/>
                <a:latin typeface="Calibri" panose="020F0502020204030204" pitchFamily="34" charset="0"/>
                <a:ea typeface="Calibri" panose="020F0502020204030204" pitchFamily="34" charset="0"/>
              </a:rPr>
              <a:t>4.Adegunsoye A, Strek ME, Garrity E, Guzy R, Bag R. Comprehensive Care of the Lung Transplant Patient. Chest. 2017;152(1):150-64.</a:t>
            </a:r>
          </a:p>
          <a:p>
            <a:pPr>
              <a:spcAft>
                <a:spcPts val="800"/>
              </a:spcAft>
            </a:pPr>
            <a:r>
              <a:rPr lang="en-US" sz="1800" kern="100" dirty="0">
                <a:effectLst/>
                <a:latin typeface="Calibri" panose="020F0502020204030204" pitchFamily="34" charset="0"/>
                <a:ea typeface="Calibri" panose="020F0502020204030204" pitchFamily="34" charset="0"/>
              </a:rPr>
              <a:t>5.Sharma BB, Singh V. Pulmonary rehabilitation: An overview. Lung India. 2011;28(4):276-84.</a:t>
            </a:r>
          </a:p>
        </p:txBody>
      </p:sp>
      <p:sp>
        <p:nvSpPr>
          <p:cNvPr id="6" name="TextBox 5">
            <a:extLst>
              <a:ext uri="{FF2B5EF4-FFF2-40B4-BE49-F238E27FC236}">
                <a16:creationId xmlns:a16="http://schemas.microsoft.com/office/drawing/2014/main" id="{D13DE366-94BF-BD3F-0E49-EFC9BA5EC9BB}"/>
              </a:ext>
            </a:extLst>
          </p:cNvPr>
          <p:cNvSpPr txBox="1"/>
          <p:nvPr/>
        </p:nvSpPr>
        <p:spPr>
          <a:xfrm>
            <a:off x="0" y="3821605"/>
            <a:ext cx="12191999" cy="1302921"/>
          </a:xfrm>
          <a:prstGeom prst="rect">
            <a:avLst/>
          </a:prstGeom>
          <a:noFill/>
        </p:spPr>
        <p:txBody>
          <a:bodyPr wrap="square">
            <a:spAutoFit/>
          </a:bodyPr>
          <a:lstStyle/>
          <a:p>
            <a:pPr>
              <a:spcAft>
                <a:spcPts val="800"/>
              </a:spcAft>
              <a:buNone/>
            </a:pPr>
            <a:r>
              <a:rPr lang="en-US" sz="1800" kern="100" dirty="0">
                <a:effectLst/>
                <a:latin typeface="Calibri" panose="020F0502020204030204" pitchFamily="34" charset="0"/>
                <a:ea typeface="Calibri" panose="020F0502020204030204" pitchFamily="34" charset="0"/>
              </a:rPr>
              <a:t>6.Gordon CS, Waller JW, Cook RM, Cavalera SL, Lim WT, </a:t>
            </a:r>
            <a:r>
              <a:rPr lang="en-US" sz="1800" kern="100" dirty="0" err="1">
                <a:effectLst/>
                <a:latin typeface="Calibri" panose="020F0502020204030204" pitchFamily="34" charset="0"/>
                <a:ea typeface="Calibri" panose="020F0502020204030204" pitchFamily="34" charset="0"/>
              </a:rPr>
              <a:t>Osadnik</a:t>
            </a:r>
            <a:r>
              <a:rPr lang="en-US" sz="1800" kern="100" dirty="0">
                <a:effectLst/>
                <a:latin typeface="Calibri" panose="020F0502020204030204" pitchFamily="34" charset="0"/>
                <a:ea typeface="Calibri" panose="020F0502020204030204" pitchFamily="34" charset="0"/>
              </a:rPr>
              <a:t> CR. Effect of Pulmonary Rehabilitation on Symptoms of Anxiety and Depression in COPD: A Systematic Review and Meta-Analysis. Chest. 2019;156(1):80-91.</a:t>
            </a:r>
          </a:p>
          <a:p>
            <a:pPr>
              <a:spcAft>
                <a:spcPts val="800"/>
              </a:spcAft>
            </a:pPr>
            <a:r>
              <a:rPr lang="en-US" sz="1800" kern="100" dirty="0">
                <a:effectLst/>
                <a:latin typeface="Calibri" panose="020F0502020204030204" pitchFamily="34" charset="0"/>
                <a:ea typeface="Calibri" panose="020F0502020204030204" pitchFamily="34" charset="0"/>
              </a:rPr>
              <a:t>7.Bestall JC, Paul EA, Garrod R, Garnham R, Jones PW, </a:t>
            </a:r>
            <a:r>
              <a:rPr lang="en-US" sz="1800" kern="100" dirty="0" err="1">
                <a:effectLst/>
                <a:latin typeface="Calibri" panose="020F0502020204030204" pitchFamily="34" charset="0"/>
                <a:ea typeface="Calibri" panose="020F0502020204030204" pitchFamily="34" charset="0"/>
              </a:rPr>
              <a:t>Wedzicha</a:t>
            </a:r>
            <a:r>
              <a:rPr lang="en-US" sz="1800" kern="100" dirty="0">
                <a:effectLst/>
                <a:latin typeface="Calibri" panose="020F0502020204030204" pitchFamily="34" charset="0"/>
                <a:ea typeface="Calibri" panose="020F0502020204030204" pitchFamily="34" charset="0"/>
              </a:rPr>
              <a:t> JA. Usefulness of the Medical Research Council (MRC) </a:t>
            </a:r>
            <a:r>
              <a:rPr lang="en-US" sz="1800" kern="100" dirty="0" err="1">
                <a:effectLst/>
                <a:latin typeface="Calibri" panose="020F0502020204030204" pitchFamily="34" charset="0"/>
                <a:ea typeface="Calibri" panose="020F0502020204030204" pitchFamily="34" charset="0"/>
              </a:rPr>
              <a:t>dyspnoea</a:t>
            </a:r>
            <a:r>
              <a:rPr lang="en-US" sz="1800" kern="100" dirty="0">
                <a:effectLst/>
                <a:latin typeface="Calibri" panose="020F0502020204030204" pitchFamily="34" charset="0"/>
                <a:ea typeface="Calibri" panose="020F0502020204030204" pitchFamily="34" charset="0"/>
              </a:rPr>
              <a:t> scale as a measure of disability in patients with chronic obstructive pulmonary disease. Thorax. 1999;54(7):581-6.</a:t>
            </a:r>
          </a:p>
        </p:txBody>
      </p:sp>
      <p:sp>
        <p:nvSpPr>
          <p:cNvPr id="8" name="TextBox 7">
            <a:extLst>
              <a:ext uri="{FF2B5EF4-FFF2-40B4-BE49-F238E27FC236}">
                <a16:creationId xmlns:a16="http://schemas.microsoft.com/office/drawing/2014/main" id="{1FCB15F1-93E1-81E1-E6A4-D1415172C966}"/>
              </a:ext>
            </a:extLst>
          </p:cNvPr>
          <p:cNvSpPr txBox="1"/>
          <p:nvPr/>
        </p:nvSpPr>
        <p:spPr>
          <a:xfrm>
            <a:off x="1" y="4972766"/>
            <a:ext cx="12191999" cy="1959511"/>
          </a:xfrm>
          <a:prstGeom prst="rect">
            <a:avLst/>
          </a:prstGeom>
          <a:noFill/>
        </p:spPr>
        <p:txBody>
          <a:bodyPr wrap="square">
            <a:spAutoFit/>
          </a:bodyPr>
          <a:lstStyle/>
          <a:p>
            <a:pPr>
              <a:spcAft>
                <a:spcPts val="800"/>
              </a:spcAft>
              <a:buNone/>
            </a:pPr>
            <a:r>
              <a:rPr lang="en-US" sz="1800" kern="100" dirty="0">
                <a:effectLst/>
                <a:latin typeface="Calibri" panose="020F0502020204030204" pitchFamily="34" charset="0"/>
                <a:ea typeface="Calibri" panose="020F0502020204030204" pitchFamily="34" charset="0"/>
              </a:rPr>
              <a:t>8.Man W, Chaplin E, Daynes E, Drummond A, Evans RA, Greening NJ, et al. British Thoracic Society Clinical Statement on pulmonary rehabilitation. Thorax. 2023;78(Suppl 4):s2-s15.</a:t>
            </a:r>
          </a:p>
          <a:p>
            <a:pPr>
              <a:spcAft>
                <a:spcPts val="800"/>
              </a:spcAft>
              <a:buNone/>
            </a:pPr>
            <a:r>
              <a:rPr lang="en-US" sz="1800" kern="100" dirty="0">
                <a:effectLst/>
                <a:latin typeface="Calibri" panose="020F0502020204030204" pitchFamily="34" charset="0"/>
                <a:ea typeface="Calibri" panose="020F0502020204030204" pitchFamily="34" charset="0"/>
              </a:rPr>
              <a:t>9.Lindenauer PK, Stefan MS, </a:t>
            </a:r>
            <a:r>
              <a:rPr lang="en-US" sz="1800" kern="100" dirty="0" err="1">
                <a:effectLst/>
                <a:latin typeface="Calibri" panose="020F0502020204030204" pitchFamily="34" charset="0"/>
                <a:ea typeface="Calibri" panose="020F0502020204030204" pitchFamily="34" charset="0"/>
              </a:rPr>
              <a:t>Pekow</a:t>
            </a:r>
            <a:r>
              <a:rPr lang="en-US" sz="1800" kern="100" dirty="0">
                <a:effectLst/>
                <a:latin typeface="Calibri" panose="020F0502020204030204" pitchFamily="34" charset="0"/>
                <a:ea typeface="Calibri" panose="020F0502020204030204" pitchFamily="34" charset="0"/>
              </a:rPr>
              <a:t> PS, Mazor KM, Priya A, Spitzer KA, et al. Association Between Initiation of Pulmonary Rehabilitation After Hospitalization for COPD and 1-Year Survival Among Medicare Beneficiaries. Jama. 2020;323(18):1813-23.</a:t>
            </a:r>
          </a:p>
          <a:p>
            <a:pPr>
              <a:spcAft>
                <a:spcPts val="800"/>
              </a:spcAft>
            </a:pPr>
            <a:r>
              <a:rPr lang="en-US" sz="1800" kern="100" dirty="0">
                <a:effectLst/>
                <a:latin typeface="Calibri" panose="020F0502020204030204" pitchFamily="34" charset="0"/>
                <a:ea typeface="Calibri" panose="020F0502020204030204" pitchFamily="34" charset="0"/>
              </a:rPr>
              <a:t>10.Ando M, Mori A, Esaki H, Shiraki T, Uemura H, </a:t>
            </a:r>
            <a:r>
              <a:rPr lang="en-US" sz="1800" kern="100" dirty="0" err="1">
                <a:effectLst/>
                <a:latin typeface="Calibri" panose="020F0502020204030204" pitchFamily="34" charset="0"/>
                <a:ea typeface="Calibri" panose="020F0502020204030204" pitchFamily="34" charset="0"/>
              </a:rPr>
              <a:t>Okazawa</a:t>
            </a:r>
            <a:r>
              <a:rPr lang="en-US" sz="1800" kern="100" dirty="0">
                <a:effectLst/>
                <a:latin typeface="Calibri" panose="020F0502020204030204" pitchFamily="34" charset="0"/>
                <a:ea typeface="Calibri" panose="020F0502020204030204" pitchFamily="34" charset="0"/>
              </a:rPr>
              <a:t> M, Sakakibara H. The effect of pulmonary rehabilitation in patients with post-tuberculosis lung disorder. Chest. 2003;123(6):1988-95.</a:t>
            </a:r>
          </a:p>
        </p:txBody>
      </p:sp>
    </p:spTree>
    <p:extLst>
      <p:ext uri="{BB962C8B-B14F-4D97-AF65-F5344CB8AC3E}">
        <p14:creationId xmlns:p14="http://schemas.microsoft.com/office/powerpoint/2010/main" val="1889361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1876E-AB51-59C9-B5C2-651D9F1ACE9A}"/>
              </a:ext>
            </a:extLst>
          </p:cNvPr>
          <p:cNvSpPr>
            <a:spLocks noGrp="1"/>
          </p:cNvSpPr>
          <p:nvPr>
            <p:ph type="title"/>
          </p:nvPr>
        </p:nvSpPr>
        <p:spPr>
          <a:xfrm>
            <a:off x="0" y="0"/>
            <a:ext cx="12192000" cy="727113"/>
          </a:xfrm>
        </p:spPr>
        <p:txBody>
          <a:bodyPr/>
          <a:lstStyle/>
          <a:p>
            <a:r>
              <a:rPr lang="en-US" dirty="0"/>
              <a:t>List of reference</a:t>
            </a:r>
          </a:p>
        </p:txBody>
      </p:sp>
      <p:sp>
        <p:nvSpPr>
          <p:cNvPr id="6" name="TextBox 5">
            <a:extLst>
              <a:ext uri="{FF2B5EF4-FFF2-40B4-BE49-F238E27FC236}">
                <a16:creationId xmlns:a16="http://schemas.microsoft.com/office/drawing/2014/main" id="{AF48ED56-4ABC-02FD-00CE-C3AAA992C3F4}"/>
              </a:ext>
            </a:extLst>
          </p:cNvPr>
          <p:cNvSpPr txBox="1"/>
          <p:nvPr/>
        </p:nvSpPr>
        <p:spPr>
          <a:xfrm>
            <a:off x="187287" y="1057294"/>
            <a:ext cx="12004714" cy="5447645"/>
          </a:xfrm>
          <a:prstGeom prst="rect">
            <a:avLst/>
          </a:prstGeom>
          <a:noFill/>
        </p:spPr>
        <p:txBody>
          <a:bodyPr wrap="square">
            <a:spAutoFit/>
          </a:bodyPr>
          <a:lstStyle/>
          <a:p>
            <a:pPr>
              <a:spcAft>
                <a:spcPts val="800"/>
              </a:spcAft>
              <a:buNone/>
            </a:pPr>
            <a:r>
              <a:rPr lang="en-US" sz="1600" kern="100" dirty="0">
                <a:effectLst/>
                <a:latin typeface="Calibri" panose="020F0502020204030204" pitchFamily="34" charset="0"/>
                <a:ea typeface="Calibri" panose="020F0502020204030204" pitchFamily="34" charset="0"/>
              </a:rPr>
              <a:t>11.Bhatt SP, Patel SB, Anderson EM, Baugh D, Givens T, Schumann C, et al. Video Telehealth Pulmonary Rehabilitation Intervention in Chronic Obstructive Pulmonary Disease Reduces 30-Day Readmissions. Am J Respir Crit Care Med. 2019;200(4):511-3.</a:t>
            </a:r>
          </a:p>
          <a:p>
            <a:pPr>
              <a:spcAft>
                <a:spcPts val="800"/>
              </a:spcAft>
              <a:buNone/>
            </a:pPr>
            <a:r>
              <a:rPr lang="en-US" sz="1600" kern="100" dirty="0">
                <a:effectLst/>
                <a:latin typeface="Calibri" panose="020F0502020204030204" pitchFamily="34" charset="0"/>
                <a:ea typeface="Calibri" panose="020F0502020204030204" pitchFamily="34" charset="0"/>
              </a:rPr>
              <a:t>12.Uchi M, Saji T, Harada T. [Feasibility of cardiopulmonary rehabilitation in patients with idiopathic pulmonary arterial hypertension treated with intravenous prostacyclin infusion therapy]. J </a:t>
            </a:r>
            <a:r>
              <a:rPr lang="en-US" sz="1600" kern="100" dirty="0" err="1">
                <a:effectLst/>
                <a:latin typeface="Calibri" panose="020F0502020204030204" pitchFamily="34" charset="0"/>
                <a:ea typeface="Calibri" panose="020F0502020204030204" pitchFamily="34" charset="0"/>
              </a:rPr>
              <a:t>Cardiol</a:t>
            </a:r>
            <a:r>
              <a:rPr lang="en-US" sz="1600" kern="100" dirty="0">
                <a:effectLst/>
                <a:latin typeface="Calibri" panose="020F0502020204030204" pitchFamily="34" charset="0"/>
                <a:ea typeface="Calibri" panose="020F0502020204030204" pitchFamily="34" charset="0"/>
              </a:rPr>
              <a:t>. 2005;46(5):183-93.</a:t>
            </a:r>
          </a:p>
          <a:p>
            <a:pPr>
              <a:spcAft>
                <a:spcPts val="800"/>
              </a:spcAft>
              <a:buNone/>
            </a:pPr>
            <a:r>
              <a:rPr lang="en-US" sz="1600" kern="100" dirty="0">
                <a:effectLst/>
                <a:latin typeface="Calibri" panose="020F0502020204030204" pitchFamily="34" charset="0"/>
                <a:ea typeface="Calibri" panose="020F0502020204030204" pitchFamily="34" charset="0"/>
              </a:rPr>
              <a:t>13.Dowman L, Hill CJ, May A, Holland AE. Pulmonary rehabilitation for interstitial lung disease. Cochrane Database of Systematic Reviews. 2021(2).</a:t>
            </a:r>
          </a:p>
          <a:p>
            <a:pPr>
              <a:spcAft>
                <a:spcPts val="800"/>
              </a:spcAft>
              <a:buNone/>
            </a:pPr>
            <a:r>
              <a:rPr lang="en-US" sz="1600" kern="100" dirty="0">
                <a:effectLst/>
                <a:latin typeface="Calibri" panose="020F0502020204030204" pitchFamily="34" charset="0"/>
                <a:ea typeface="Calibri" panose="020F0502020204030204" pitchFamily="34" charset="0"/>
              </a:rPr>
              <a:t>14.Hoffman M, Chaves G, Ribeiro-Samora GA, Britto RR, Parreira VF. Effects of pulmonary rehabilitation in lung transplant candidates: a systematic review. BMJ Open. 2017;7(2):e013445.</a:t>
            </a:r>
          </a:p>
          <a:p>
            <a:pPr>
              <a:spcAft>
                <a:spcPts val="800"/>
              </a:spcAft>
              <a:buNone/>
            </a:pPr>
            <a:r>
              <a:rPr lang="en-US" sz="1600" kern="100" dirty="0">
                <a:effectLst/>
                <a:latin typeface="Calibri" panose="020F0502020204030204" pitchFamily="34" charset="0"/>
                <a:ea typeface="Calibri" panose="020F0502020204030204" pitchFamily="34" charset="0"/>
              </a:rPr>
              <a:t>15.Tonga KO, Oliver BG. Effectiveness of Pulmonary Rehabilitation for Chronic Obstructive Pulmonary Disease Therapy: Focusing on Traditional Medical Practices. J Clin Med. 2023;12(14).</a:t>
            </a:r>
          </a:p>
          <a:p>
            <a:pPr>
              <a:spcAft>
                <a:spcPts val="800"/>
              </a:spcAft>
              <a:buNone/>
            </a:pPr>
            <a:r>
              <a:rPr lang="en-US" sz="1600" kern="100" dirty="0">
                <a:effectLst/>
                <a:latin typeface="Calibri" panose="020F0502020204030204" pitchFamily="34" charset="0"/>
                <a:ea typeface="Calibri" panose="020F0502020204030204" pitchFamily="34" charset="0"/>
              </a:rPr>
              <a:t>16.Csoma B, </a:t>
            </a:r>
            <a:r>
              <a:rPr lang="en-US" sz="1600" kern="100" dirty="0" err="1">
                <a:effectLst/>
                <a:latin typeface="Calibri" panose="020F0502020204030204" pitchFamily="34" charset="0"/>
                <a:ea typeface="Calibri" panose="020F0502020204030204" pitchFamily="34" charset="0"/>
              </a:rPr>
              <a:t>Vulpi</a:t>
            </a:r>
            <a:r>
              <a:rPr lang="en-US" sz="1600" kern="100" dirty="0">
                <a:effectLst/>
                <a:latin typeface="Calibri" panose="020F0502020204030204" pitchFamily="34" charset="0"/>
                <a:ea typeface="Calibri" panose="020F0502020204030204" pitchFamily="34" charset="0"/>
              </a:rPr>
              <a:t> MR, </a:t>
            </a:r>
            <a:r>
              <a:rPr lang="en-US" sz="1600" kern="100" dirty="0" err="1">
                <a:effectLst/>
                <a:latin typeface="Calibri" panose="020F0502020204030204" pitchFamily="34" charset="0"/>
                <a:ea typeface="Calibri" panose="020F0502020204030204" pitchFamily="34" charset="0"/>
              </a:rPr>
              <a:t>Dragonieri</a:t>
            </a:r>
            <a:r>
              <a:rPr lang="en-US" sz="1600" kern="100" dirty="0">
                <a:effectLst/>
                <a:latin typeface="Calibri" panose="020F0502020204030204" pitchFamily="34" charset="0"/>
                <a:ea typeface="Calibri" panose="020F0502020204030204" pitchFamily="34" charset="0"/>
              </a:rPr>
              <a:t> S, Bentley A, Felton T, Lázár Z, Bikov A. Hypercapnia in COPD: Causes, Consequences, and Therapy. Journal of Clinical Medicine. 2022;11(11):3180.</a:t>
            </a:r>
          </a:p>
          <a:p>
            <a:pPr>
              <a:spcAft>
                <a:spcPts val="800"/>
              </a:spcAft>
              <a:buNone/>
            </a:pPr>
            <a:r>
              <a:rPr lang="en-US" sz="1600" kern="100" dirty="0">
                <a:effectLst/>
                <a:latin typeface="Calibri" panose="020F0502020204030204" pitchFamily="34" charset="0"/>
                <a:ea typeface="Calibri" panose="020F0502020204030204" pitchFamily="34" charset="0"/>
              </a:rPr>
              <a:t>17.Casaburi R. Pulmonary Rehabilitation: Where We've Succeeded and Where We've Failed. </a:t>
            </a:r>
            <a:r>
              <a:rPr lang="en-US" sz="1600" kern="100" dirty="0" err="1">
                <a:effectLst/>
                <a:latin typeface="Calibri" panose="020F0502020204030204" pitchFamily="34" charset="0"/>
                <a:ea typeface="Calibri" panose="020F0502020204030204" pitchFamily="34" charset="0"/>
              </a:rPr>
              <a:t>Copd</a:t>
            </a:r>
            <a:r>
              <a:rPr lang="en-US" sz="1600" kern="100" dirty="0">
                <a:effectLst/>
                <a:latin typeface="Calibri" panose="020F0502020204030204" pitchFamily="34" charset="0"/>
                <a:ea typeface="Calibri" panose="020F0502020204030204" pitchFamily="34" charset="0"/>
              </a:rPr>
              <a:t>. 2018;15(3):219-22.</a:t>
            </a:r>
          </a:p>
          <a:p>
            <a:pPr>
              <a:spcAft>
                <a:spcPts val="800"/>
              </a:spcAft>
              <a:buNone/>
            </a:pPr>
            <a:r>
              <a:rPr lang="en-US" sz="1600" kern="100" dirty="0">
                <a:effectLst/>
                <a:latin typeface="Calibri" panose="020F0502020204030204" pitchFamily="34" charset="0"/>
                <a:ea typeface="Calibri" panose="020F0502020204030204" pitchFamily="34" charset="0"/>
              </a:rPr>
              <a:t>18.McCarthy B, Casey D, Devane D, Murphy K, Murphy E, Lacasse Y. Pulmonary rehabilitation for chronic obstructive pulmonary disease. Cochrane Database of Systematic Reviews. 2015(2).</a:t>
            </a:r>
          </a:p>
          <a:p>
            <a:pPr>
              <a:spcAft>
                <a:spcPts val="800"/>
              </a:spcAft>
              <a:buNone/>
            </a:pPr>
            <a:r>
              <a:rPr lang="en-US" sz="1600" kern="100" dirty="0">
                <a:effectLst/>
                <a:latin typeface="Calibri" panose="020F0502020204030204" pitchFamily="34" charset="0"/>
                <a:ea typeface="Calibri" panose="020F0502020204030204" pitchFamily="34" charset="0"/>
              </a:rPr>
              <a:t>19.Chen SC, Lin CH, Su SW, Chang YT, Lai CH. Feasibility and effect of interactive telerehabilitation on balance in individuals with chronic stroke: a pilot study. J </a:t>
            </a:r>
            <a:r>
              <a:rPr lang="en-US" sz="1600" kern="100" dirty="0" err="1">
                <a:effectLst/>
                <a:latin typeface="Calibri" panose="020F0502020204030204" pitchFamily="34" charset="0"/>
                <a:ea typeface="Calibri" panose="020F0502020204030204" pitchFamily="34" charset="0"/>
              </a:rPr>
              <a:t>Neuroeng</a:t>
            </a:r>
            <a:r>
              <a:rPr lang="en-US" sz="1600" kern="100" dirty="0">
                <a:effectLst/>
                <a:latin typeface="Calibri" panose="020F0502020204030204" pitchFamily="34" charset="0"/>
                <a:ea typeface="Calibri" panose="020F0502020204030204" pitchFamily="34" charset="0"/>
              </a:rPr>
              <a:t> </a:t>
            </a:r>
            <a:r>
              <a:rPr lang="en-US" sz="1600" kern="100" dirty="0" err="1">
                <a:effectLst/>
                <a:latin typeface="Calibri" panose="020F0502020204030204" pitchFamily="34" charset="0"/>
                <a:ea typeface="Calibri" panose="020F0502020204030204" pitchFamily="34" charset="0"/>
              </a:rPr>
              <a:t>Rehabil</a:t>
            </a:r>
            <a:r>
              <a:rPr lang="en-US" sz="1600" kern="100" dirty="0">
                <a:effectLst/>
                <a:latin typeface="Calibri" panose="020F0502020204030204" pitchFamily="34" charset="0"/>
                <a:ea typeface="Calibri" panose="020F0502020204030204" pitchFamily="34" charset="0"/>
              </a:rPr>
              <a:t>. 2021;18(1):71.</a:t>
            </a:r>
          </a:p>
          <a:p>
            <a:pPr>
              <a:spcAft>
                <a:spcPts val="800"/>
              </a:spcAft>
            </a:pPr>
            <a:r>
              <a:rPr lang="en-US" sz="1600" kern="100" dirty="0">
                <a:effectLst/>
                <a:latin typeface="Calibri" panose="020F0502020204030204" pitchFamily="34" charset="0"/>
                <a:ea typeface="Calibri" panose="020F0502020204030204" pitchFamily="34" charset="0"/>
              </a:rPr>
              <a:t>20.Rochester CL. Patient assessment and selection for pulmonary rehabilitation. Respirology. 2019;24(9):844-53.</a:t>
            </a:r>
          </a:p>
        </p:txBody>
      </p:sp>
    </p:spTree>
    <p:extLst>
      <p:ext uri="{BB962C8B-B14F-4D97-AF65-F5344CB8AC3E}">
        <p14:creationId xmlns:p14="http://schemas.microsoft.com/office/powerpoint/2010/main" val="3571322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1D54F-0E0D-261D-4339-CFCCE03DF232}"/>
              </a:ext>
            </a:extLst>
          </p:cNvPr>
          <p:cNvSpPr>
            <a:spLocks noGrp="1"/>
          </p:cNvSpPr>
          <p:nvPr>
            <p:ph type="title"/>
          </p:nvPr>
        </p:nvSpPr>
        <p:spPr>
          <a:xfrm>
            <a:off x="38559" y="0"/>
            <a:ext cx="12114882" cy="1325563"/>
          </a:xfrm>
        </p:spPr>
        <p:txBody>
          <a:bodyPr/>
          <a:lstStyle/>
          <a:p>
            <a:r>
              <a:rPr lang="en-US" dirty="0"/>
              <a:t>List of references</a:t>
            </a:r>
          </a:p>
        </p:txBody>
      </p:sp>
      <p:sp>
        <p:nvSpPr>
          <p:cNvPr id="4" name="TextBox 3">
            <a:extLst>
              <a:ext uri="{FF2B5EF4-FFF2-40B4-BE49-F238E27FC236}">
                <a16:creationId xmlns:a16="http://schemas.microsoft.com/office/drawing/2014/main" id="{7F1A5DFC-477F-5D0A-08DC-0F3A2D4D99D6}"/>
              </a:ext>
            </a:extLst>
          </p:cNvPr>
          <p:cNvSpPr txBox="1"/>
          <p:nvPr/>
        </p:nvSpPr>
        <p:spPr>
          <a:xfrm>
            <a:off x="0" y="1325563"/>
            <a:ext cx="12192000" cy="3272691"/>
          </a:xfrm>
          <a:prstGeom prst="rect">
            <a:avLst/>
          </a:prstGeom>
          <a:noFill/>
        </p:spPr>
        <p:txBody>
          <a:bodyPr wrap="square">
            <a:spAutoFit/>
          </a:bodyPr>
          <a:lstStyle/>
          <a:p>
            <a:pPr>
              <a:spcAft>
                <a:spcPts val="800"/>
              </a:spcAft>
              <a:buNone/>
            </a:pPr>
            <a:r>
              <a:rPr lang="en-US" sz="1800" kern="100" dirty="0">
                <a:effectLst/>
                <a:latin typeface="Calibri" panose="020F0502020204030204" pitchFamily="34" charset="0"/>
                <a:ea typeface="Calibri" panose="020F0502020204030204" pitchFamily="34" charset="0"/>
              </a:rPr>
              <a:t>21.Sanguinetti C. The lungs need to be deflated: Effects of </a:t>
            </a:r>
            <a:r>
              <a:rPr lang="en-US" sz="1800" kern="100" dirty="0" err="1">
                <a:effectLst/>
                <a:latin typeface="Calibri" panose="020F0502020204030204" pitchFamily="34" charset="0"/>
                <a:ea typeface="Calibri" panose="020F0502020204030204" pitchFamily="34" charset="0"/>
              </a:rPr>
              <a:t>glycopyrronium</a:t>
            </a:r>
            <a:r>
              <a:rPr lang="en-US" sz="1800" kern="100" dirty="0">
                <a:effectLst/>
                <a:latin typeface="Calibri" panose="020F0502020204030204" pitchFamily="34" charset="0"/>
                <a:ea typeface="Calibri" panose="020F0502020204030204" pitchFamily="34" charset="0"/>
              </a:rPr>
              <a:t> on lung hyperinflation in COPD patients. Multidisciplinary respiratory medicine. 2014;9:19.</a:t>
            </a:r>
          </a:p>
          <a:p>
            <a:pPr>
              <a:spcAft>
                <a:spcPts val="800"/>
              </a:spcAft>
              <a:buNone/>
            </a:pPr>
            <a:r>
              <a:rPr lang="en-US" sz="1800" kern="100" dirty="0">
                <a:effectLst/>
                <a:latin typeface="Calibri" panose="020F0502020204030204" pitchFamily="34" charset="0"/>
                <a:ea typeface="Calibri" panose="020F0502020204030204" pitchFamily="34" charset="0"/>
              </a:rPr>
              <a:t>22.Salazar JJ, Mirza FT, </a:t>
            </a:r>
            <a:r>
              <a:rPr lang="en-US" sz="1800" kern="100" dirty="0" err="1">
                <a:effectLst/>
                <a:latin typeface="Calibri" panose="020F0502020204030204" pitchFamily="34" charset="0"/>
                <a:ea typeface="Calibri" panose="020F0502020204030204" pitchFamily="34" charset="0"/>
              </a:rPr>
              <a:t>Uzzaman</a:t>
            </a:r>
            <a:r>
              <a:rPr lang="en-US" sz="1800" kern="100" dirty="0">
                <a:effectLst/>
                <a:latin typeface="Calibri" panose="020F0502020204030204" pitchFamily="34" charset="0"/>
                <a:ea typeface="Calibri" panose="020F0502020204030204" pitchFamily="34" charset="0"/>
              </a:rPr>
              <a:t> MN, </a:t>
            </a:r>
            <a:r>
              <a:rPr lang="en-US" sz="1800" kern="100" dirty="0" err="1">
                <a:effectLst/>
                <a:latin typeface="Calibri" panose="020F0502020204030204" pitchFamily="34" charset="0"/>
                <a:ea typeface="Calibri" panose="020F0502020204030204" pitchFamily="34" charset="0"/>
              </a:rPr>
              <a:t>Shunmugam</a:t>
            </a:r>
            <a:r>
              <a:rPr lang="en-US" sz="1800" kern="100" dirty="0">
                <a:effectLst/>
                <a:latin typeface="Calibri" panose="020F0502020204030204" pitchFamily="34" charset="0"/>
                <a:ea typeface="Calibri" panose="020F0502020204030204" pitchFamily="34" charset="0"/>
              </a:rPr>
              <a:t> RH, Shazana NZ, Pinnock H, et al. Characteristics of pulmonary rehabilitation programs and their effects on exercise capacity and health related quality of life (</a:t>
            </a:r>
            <a:r>
              <a:rPr lang="en-US" sz="1800" kern="100" dirty="0" err="1">
                <a:effectLst/>
                <a:latin typeface="Calibri" panose="020F0502020204030204" pitchFamily="34" charset="0"/>
                <a:ea typeface="Calibri" panose="020F0502020204030204" pitchFamily="34" charset="0"/>
              </a:rPr>
              <a:t>HRQoL</a:t>
            </a:r>
            <a:r>
              <a:rPr lang="en-US" sz="1800" kern="100" dirty="0">
                <a:effectLst/>
                <a:latin typeface="Calibri" panose="020F0502020204030204" pitchFamily="34" charset="0"/>
                <a:ea typeface="Calibri" panose="020F0502020204030204" pitchFamily="34" charset="0"/>
              </a:rPr>
              <a:t>) in patients with interstitial lung disease: A systematic review and meta-analysis. Respiratory Medicine. 2025;237:107936.</a:t>
            </a:r>
          </a:p>
          <a:p>
            <a:pPr>
              <a:spcAft>
                <a:spcPts val="800"/>
              </a:spcAft>
              <a:buNone/>
            </a:pPr>
            <a:r>
              <a:rPr lang="en-US" sz="1800" kern="100" dirty="0">
                <a:effectLst/>
                <a:latin typeface="Calibri" panose="020F0502020204030204" pitchFamily="34" charset="0"/>
                <a:ea typeface="Calibri" panose="020F0502020204030204" pitchFamily="34" charset="0"/>
              </a:rPr>
              <a:t>23.Bois, Roland M. du, et al. "Six-minute-walk test in idiopathic pulmonary fibrosis: test validation and minimal clinically important difference." </a:t>
            </a:r>
            <a:r>
              <a:rPr lang="en-US" sz="1800" i="1" kern="100" dirty="0">
                <a:effectLst/>
                <a:latin typeface="Calibri" panose="020F0502020204030204" pitchFamily="34" charset="0"/>
                <a:ea typeface="Calibri" panose="020F0502020204030204" pitchFamily="34" charset="0"/>
              </a:rPr>
              <a:t>American journal of respiratory and critical care medicine</a:t>
            </a:r>
            <a:r>
              <a:rPr lang="en-US" sz="1800" kern="100" dirty="0">
                <a:effectLst/>
                <a:latin typeface="Calibri" panose="020F0502020204030204" pitchFamily="34" charset="0"/>
                <a:ea typeface="Calibri" panose="020F0502020204030204" pitchFamily="34" charset="0"/>
              </a:rPr>
              <a:t> 183.9 (2011): 1231-1237.</a:t>
            </a:r>
          </a:p>
          <a:p>
            <a:pPr>
              <a:spcAft>
                <a:spcPts val="800"/>
              </a:spcAft>
            </a:pPr>
            <a:r>
              <a:rPr lang="en-US" kern="100" dirty="0">
                <a:latin typeface="Calibri" panose="020F0502020204030204" pitchFamily="34" charset="0"/>
                <a:ea typeface="Calibri" panose="020F0502020204030204" pitchFamily="34" charset="0"/>
              </a:rPr>
              <a:t>24.</a:t>
            </a:r>
            <a:r>
              <a:rPr lang="en-US" dirty="0"/>
              <a:t> </a:t>
            </a:r>
            <a:r>
              <a:rPr lang="en-US" dirty="0" err="1"/>
              <a:t>Troosters</a:t>
            </a:r>
            <a:r>
              <a:rPr lang="en-US" dirty="0"/>
              <a:t> T, Gosselink R, Janssens W, Decramer M. Exercise training and pulmonary rehabilitation: new insights and remaining challenges. </a:t>
            </a:r>
            <a:r>
              <a:rPr lang="en-US" dirty="0" err="1"/>
              <a:t>Eur</a:t>
            </a:r>
            <a:r>
              <a:rPr lang="en-US" dirty="0"/>
              <a:t> Respir Rev. 2010;19(115):24-9.</a:t>
            </a:r>
          </a:p>
          <a:p>
            <a:pPr>
              <a:spcAft>
                <a:spcPts val="800"/>
              </a:spcAft>
              <a:buNone/>
            </a:pPr>
            <a:endParaRPr lang="en-US" sz="180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161367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34617</TotalTime>
  <Words>2183</Words>
  <Application>Microsoft Office PowerPoint</Application>
  <PresentationFormat>Widescreen</PresentationFormat>
  <Paragraphs>241</Paragraphs>
  <Slides>29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Black</vt:lpstr>
      <vt:lpstr>Calibri</vt:lpstr>
      <vt:lpstr>Calibri Light</vt:lpstr>
      <vt:lpstr>ElsevierGulliver</vt:lpstr>
      <vt:lpstr>Segoe UI</vt:lpstr>
      <vt:lpstr>Times New Roman</vt:lpstr>
      <vt:lpstr>Wingdings</vt:lpstr>
      <vt:lpstr>Office Theme</vt:lpstr>
      <vt:lpstr>PULMONARY REHABILITATION</vt:lpstr>
      <vt:lpstr>Pulmonary Rehabilitation</vt:lpstr>
      <vt:lpstr>PR is the cornerstone of managing COPD</vt:lpstr>
      <vt:lpstr>Benefits of PR</vt:lpstr>
      <vt:lpstr>Benefits of PR </vt:lpstr>
      <vt:lpstr>Benefits of PR</vt:lpstr>
      <vt:lpstr> Post hospitalization PR and Mortality </vt:lpstr>
      <vt:lpstr>Who can participate in PR</vt:lpstr>
      <vt:lpstr>Initial assessment</vt:lpstr>
      <vt:lpstr>Initial assessment</vt:lpstr>
      <vt:lpstr>Contraindication of PR</vt:lpstr>
      <vt:lpstr>Essential components of PR</vt:lpstr>
      <vt:lpstr>Purpose of initial assessment </vt:lpstr>
      <vt:lpstr>Purpose of initial assessment </vt:lpstr>
      <vt:lpstr>Components of initial assessment: Subjective</vt:lpstr>
      <vt:lpstr>Component of initial assessment: Objective</vt:lpstr>
      <vt:lpstr>PR in real life</vt:lpstr>
      <vt:lpstr>PR AND ILD</vt:lpstr>
      <vt:lpstr>Pulmonary rehabilitation for post-TB lung disease</vt:lpstr>
      <vt:lpstr>Case study 1</vt:lpstr>
      <vt:lpstr>Case study 2</vt:lpstr>
      <vt:lpstr>Baseline assessment</vt:lpstr>
      <vt:lpstr>PR Program</vt:lpstr>
      <vt:lpstr>PowerPoint Presentation</vt:lpstr>
      <vt:lpstr>Hyperinflation in COPD</vt:lpstr>
      <vt:lpstr>Thank you</vt:lpstr>
      <vt:lpstr>List of reference</vt:lpstr>
      <vt:lpstr>List of reference</vt:lpstr>
      <vt:lpstr>List of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30</cp:revision>
  <dcterms:created xsi:type="dcterms:W3CDTF">2025-03-29T13:13:37Z</dcterms:created>
  <dcterms:modified xsi:type="dcterms:W3CDTF">2025-09-28T17:54:36Z</dcterms:modified>
</cp:coreProperties>
</file>