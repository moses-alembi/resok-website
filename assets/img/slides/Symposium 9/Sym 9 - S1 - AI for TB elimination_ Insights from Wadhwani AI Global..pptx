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8229600" cx="14630400"/>
  <p:notesSz cx="8229600" cy="14630400"/>
  <p:embeddedFontLst>
    <p:embeddedFont>
      <p:font typeface="Inter Medium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956">
          <p15:clr>
            <a:srgbClr val="747775"/>
          </p15:clr>
        </p15:guide>
        <p15:guide id="2" pos="321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56"/>
        <p:guide pos="321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Medium-italic.fntdata"/><Relationship Id="rId14" Type="http://schemas.openxmlformats.org/officeDocument/2006/relationships/font" Target="fonts/InterMedium-bold.fntdata"/><Relationship Id="rId17" Type="http://schemas.openxmlformats.org/officeDocument/2006/relationships/font" Target="fonts/OpenSans-regular.fntdata"/><Relationship Id="rId16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36de09061_0_59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36de09061_0_59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36de09061_0_171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36de09061_0_171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36de09061_0_117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36de09061_0_117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37568f33c_0_2:notes"/>
          <p:cNvSpPr txBox="1"/>
          <p:nvPr>
            <p:ph idx="1" type="body"/>
          </p:nvPr>
        </p:nvSpPr>
        <p:spPr>
          <a:xfrm>
            <a:off x="307297" y="7468244"/>
            <a:ext cx="7594200" cy="597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837568f33c_0_2:notes"/>
          <p:cNvSpPr/>
          <p:nvPr>
            <p:ph idx="2" type="sldImg"/>
          </p:nvPr>
        </p:nvSpPr>
        <p:spPr>
          <a:xfrm>
            <a:off x="184842" y="910843"/>
            <a:ext cx="7839300" cy="589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idx="10" type="dt"/>
          </p:nvPr>
        </p:nvSpPr>
        <p:spPr>
          <a:xfrm>
            <a:off x="11612880" y="7686043"/>
            <a:ext cx="177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" name="Google Shape;55;p17"/>
          <p:cNvSpPr txBox="1"/>
          <p:nvPr/>
        </p:nvSpPr>
        <p:spPr>
          <a:xfrm rot="-5400000">
            <a:off x="11380368" y="4709802"/>
            <a:ext cx="61608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Copyright © 2023 by Boston Consulting Group. All rights reserved.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7"/>
          <p:cNvSpPr txBox="1"/>
          <p:nvPr>
            <p:ph type="title"/>
          </p:nvPr>
        </p:nvSpPr>
        <p:spPr>
          <a:xfrm>
            <a:off x="756000" y="747360"/>
            <a:ext cx="131202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Trebuchet MS"/>
              <a:buNone/>
              <a:defRPr sz="2200"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51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ne" showMasterSp="0">
  <p:cSld name="Section header line">
    <p:bg>
      <p:bgPr>
        <a:gradFill>
          <a:gsLst>
            <a:gs pos="0">
              <a:schemeClr val="dk2"/>
            </a:gs>
            <a:gs pos="100000">
              <a:schemeClr val="accent2"/>
            </a:gs>
          </a:gsLst>
          <a:lin ang="8100019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/>
        </p:nvSpPr>
        <p:spPr>
          <a:xfrm>
            <a:off x="13401446" y="7686043"/>
            <a:ext cx="45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3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8"/>
          <p:cNvSpPr txBox="1"/>
          <p:nvPr>
            <p:ph idx="10" type="dt"/>
          </p:nvPr>
        </p:nvSpPr>
        <p:spPr>
          <a:xfrm>
            <a:off x="11612880" y="7686043"/>
            <a:ext cx="177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" name="Google Shape;60;p18"/>
          <p:cNvSpPr txBox="1"/>
          <p:nvPr>
            <p:ph type="title"/>
          </p:nvPr>
        </p:nvSpPr>
        <p:spPr>
          <a:xfrm>
            <a:off x="756000" y="4592160"/>
            <a:ext cx="13124100" cy="24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Trebuchet MS"/>
              <a:buNone/>
              <a:defRPr sz="6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9pPr>
          </a:lstStyle>
          <a:p/>
        </p:txBody>
      </p:sp>
      <p:cxnSp>
        <p:nvCxnSpPr>
          <p:cNvPr id="61" name="Google Shape;61;p18"/>
          <p:cNvCxnSpPr/>
          <p:nvPr/>
        </p:nvCxnSpPr>
        <p:spPr>
          <a:xfrm>
            <a:off x="742678" y="4416019"/>
            <a:ext cx="13891800" cy="0"/>
          </a:xfrm>
          <a:prstGeom prst="straightConnector1">
            <a:avLst/>
          </a:prstGeom>
          <a:noFill/>
          <a:ln cap="flat" cmpd="sng" w="304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/>
          <p:nvPr/>
        </p:nvSpPr>
        <p:spPr>
          <a:xfrm>
            <a:off x="5605875" y="2877075"/>
            <a:ext cx="88608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00"/>
              <a:buFont typeface="Alice"/>
              <a:buNone/>
            </a:pPr>
            <a:r>
              <a:rPr i="0" lang="en-US" sz="3900" u="none" cap="none" strike="noStrike">
                <a:solidFill>
                  <a:srgbClr val="233E32"/>
                </a:solidFill>
                <a:latin typeface="Trebuchet MS"/>
                <a:ea typeface="Trebuchet MS"/>
                <a:cs typeface="Trebuchet MS"/>
                <a:sym typeface="Trebuchet MS"/>
              </a:rPr>
              <a:t>AI for TB elimination: Insights from Wadhwani AI Global.</a:t>
            </a:r>
            <a:endParaRPr i="0" sz="390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" name="Google Shape;68;p19"/>
          <p:cNvSpPr/>
          <p:nvPr/>
        </p:nvSpPr>
        <p:spPr>
          <a:xfrm>
            <a:off x="5605865" y="4419978"/>
            <a:ext cx="7556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i="0" lang="en-US" sz="20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Prasaanth Balraj – </a:t>
            </a:r>
            <a:r>
              <a:rPr lang="en-US" sz="2050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AI Transformation Lead</a:t>
            </a:r>
            <a:r>
              <a:rPr i="0" lang="en-US" sz="20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i="0" sz="2050" u="none" cap="none" strike="noStrike">
              <a:solidFill>
                <a:srgbClr val="2C282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i="0" lang="en-US" sz="23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Wadhwani AI Global</a:t>
            </a:r>
            <a:endParaRPr i="0" sz="235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p19"/>
          <p:cNvSpPr/>
          <p:nvPr/>
        </p:nvSpPr>
        <p:spPr>
          <a:xfrm>
            <a:off x="0" y="0"/>
            <a:ext cx="5104200" cy="8229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0" name="Google Shape;70;p19"/>
          <p:cNvGrpSpPr/>
          <p:nvPr/>
        </p:nvGrpSpPr>
        <p:grpSpPr>
          <a:xfrm>
            <a:off x="979334" y="2509228"/>
            <a:ext cx="2647864" cy="2596027"/>
            <a:chOff x="336363" y="231419"/>
            <a:chExt cx="3111474" cy="2791727"/>
          </a:xfrm>
        </p:grpSpPr>
        <p:sp>
          <p:nvSpPr>
            <p:cNvPr id="71" name="Google Shape;71;p19"/>
            <p:cNvSpPr/>
            <p:nvPr/>
          </p:nvSpPr>
          <p:spPr>
            <a:xfrm>
              <a:off x="918905" y="231419"/>
              <a:ext cx="1909877" cy="1909877"/>
            </a:xfrm>
            <a:custGeom>
              <a:rect b="b" l="l" r="r" t="t"/>
              <a:pathLst>
                <a:path extrusionOk="0" h="1909877" w="1909877">
                  <a:moveTo>
                    <a:pt x="0" y="0"/>
                  </a:moveTo>
                  <a:lnTo>
                    <a:pt x="1909877" y="0"/>
                  </a:lnTo>
                  <a:lnTo>
                    <a:pt x="1909877" y="1909877"/>
                  </a:lnTo>
                  <a:lnTo>
                    <a:pt x="0" y="190987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72" name="Google Shape;72;p19"/>
            <p:cNvGrpSpPr/>
            <p:nvPr/>
          </p:nvGrpSpPr>
          <p:grpSpPr>
            <a:xfrm>
              <a:off x="336363" y="2371255"/>
              <a:ext cx="2476119" cy="651891"/>
              <a:chOff x="63500" y="63500"/>
              <a:chExt cx="2476119" cy="651891"/>
            </a:xfrm>
          </p:grpSpPr>
          <p:sp>
            <p:nvSpPr>
              <p:cNvPr id="73" name="Google Shape;73;p19"/>
              <p:cNvSpPr/>
              <p:nvPr/>
            </p:nvSpPr>
            <p:spPr>
              <a:xfrm>
                <a:off x="63500" y="63500"/>
                <a:ext cx="446913" cy="332994"/>
              </a:xfrm>
              <a:custGeom>
                <a:rect b="b" l="l" r="r" t="t"/>
                <a:pathLst>
                  <a:path extrusionOk="0" h="332994" w="446913">
                    <a:moveTo>
                      <a:pt x="270256" y="332994"/>
                    </a:moveTo>
                    <a:lnTo>
                      <a:pt x="223393" y="93091"/>
                    </a:lnTo>
                    <a:lnTo>
                      <a:pt x="176149" y="332994"/>
                    </a:lnTo>
                    <a:lnTo>
                      <a:pt x="59817" y="332994"/>
                    </a:lnTo>
                    <a:lnTo>
                      <a:pt x="0" y="0"/>
                    </a:lnTo>
                    <a:lnTo>
                      <a:pt x="95504" y="0"/>
                    </a:lnTo>
                    <a:lnTo>
                      <a:pt x="124460" y="221234"/>
                    </a:lnTo>
                    <a:lnTo>
                      <a:pt x="167005" y="0"/>
                    </a:lnTo>
                    <a:lnTo>
                      <a:pt x="279908" y="0"/>
                    </a:lnTo>
                    <a:lnTo>
                      <a:pt x="322326" y="221234"/>
                    </a:lnTo>
                    <a:lnTo>
                      <a:pt x="351409" y="0"/>
                    </a:lnTo>
                    <a:lnTo>
                      <a:pt x="446913" y="0"/>
                    </a:lnTo>
                    <a:lnTo>
                      <a:pt x="387096" y="332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4" name="Google Shape;74;p19"/>
              <p:cNvSpPr/>
              <p:nvPr/>
            </p:nvSpPr>
            <p:spPr>
              <a:xfrm>
                <a:off x="529463" y="116586"/>
                <a:ext cx="256413" cy="279908"/>
              </a:xfrm>
              <a:custGeom>
                <a:rect b="b" l="l" r="r" t="t"/>
                <a:pathLst>
                  <a:path extrusionOk="0" h="279908" w="256413">
                    <a:moveTo>
                      <a:pt x="128270" y="78994"/>
                    </a:moveTo>
                    <a:lnTo>
                      <a:pt x="108839" y="164338"/>
                    </a:lnTo>
                    <a:lnTo>
                      <a:pt x="147828" y="164338"/>
                    </a:lnTo>
                    <a:close/>
                    <a:moveTo>
                      <a:pt x="75565" y="0"/>
                    </a:moveTo>
                    <a:lnTo>
                      <a:pt x="180975" y="0"/>
                    </a:lnTo>
                    <a:lnTo>
                      <a:pt x="256413" y="279908"/>
                    </a:lnTo>
                    <a:lnTo>
                      <a:pt x="174117" y="279908"/>
                    </a:lnTo>
                    <a:lnTo>
                      <a:pt x="161163" y="223266"/>
                    </a:lnTo>
                    <a:lnTo>
                      <a:pt x="95377" y="223266"/>
                    </a:lnTo>
                    <a:lnTo>
                      <a:pt x="82804" y="279908"/>
                    </a:lnTo>
                    <a:lnTo>
                      <a:pt x="0" y="2799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" name="Google Shape;75;p19"/>
              <p:cNvSpPr/>
              <p:nvPr/>
            </p:nvSpPr>
            <p:spPr>
              <a:xfrm>
                <a:off x="842264" y="116586"/>
                <a:ext cx="238252" cy="279908"/>
              </a:xfrm>
              <a:custGeom>
                <a:rect b="b" l="l" r="r" t="t"/>
                <a:pathLst>
                  <a:path extrusionOk="0" h="279908" w="238252">
                    <a:moveTo>
                      <a:pt x="77089" y="221107"/>
                    </a:moveTo>
                    <a:lnTo>
                      <a:pt x="97409" y="221107"/>
                    </a:lnTo>
                    <a:cubicBezTo>
                      <a:pt x="122301" y="221107"/>
                      <a:pt x="138938" y="215392"/>
                      <a:pt x="147320" y="203835"/>
                    </a:cubicBezTo>
                    <a:cubicBezTo>
                      <a:pt x="155702" y="192278"/>
                      <a:pt x="159893" y="173482"/>
                      <a:pt x="159893" y="147066"/>
                    </a:cubicBezTo>
                    <a:lnTo>
                      <a:pt x="159893" y="132842"/>
                    </a:lnTo>
                    <a:cubicBezTo>
                      <a:pt x="159893" y="106553"/>
                      <a:pt x="155702" y="87630"/>
                      <a:pt x="147320" y="76200"/>
                    </a:cubicBezTo>
                    <a:cubicBezTo>
                      <a:pt x="138938" y="64770"/>
                      <a:pt x="122301" y="58928"/>
                      <a:pt x="97409" y="58928"/>
                    </a:cubicBezTo>
                    <a:lnTo>
                      <a:pt x="77089" y="58928"/>
                    </a:lnTo>
                    <a:close/>
                    <a:moveTo>
                      <a:pt x="238125" y="147193"/>
                    </a:moveTo>
                    <a:cubicBezTo>
                      <a:pt x="238125" y="195580"/>
                      <a:pt x="227711" y="229743"/>
                      <a:pt x="207010" y="249809"/>
                    </a:cubicBezTo>
                    <a:cubicBezTo>
                      <a:pt x="186309" y="269875"/>
                      <a:pt x="151130" y="279908"/>
                      <a:pt x="101346" y="279908"/>
                    </a:cubicBezTo>
                    <a:lnTo>
                      <a:pt x="0" y="279908"/>
                    </a:lnTo>
                    <a:lnTo>
                      <a:pt x="0" y="0"/>
                    </a:lnTo>
                    <a:lnTo>
                      <a:pt x="101473" y="0"/>
                    </a:lnTo>
                    <a:cubicBezTo>
                      <a:pt x="151257" y="0"/>
                      <a:pt x="186436" y="10033"/>
                      <a:pt x="207137" y="30099"/>
                    </a:cubicBezTo>
                    <a:cubicBezTo>
                      <a:pt x="227838" y="50165"/>
                      <a:pt x="238252" y="84455"/>
                      <a:pt x="238252" y="1327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70800" lIns="70800" spcFirstLastPara="1" rIns="70800" wrap="square" tIns="70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445"/>
                  <a:buFont typeface="Arial"/>
                  <a:buNone/>
                </a:pPr>
                <a:r>
                  <a:t/>
                </a:r>
                <a:endParaRPr b="0" i="0" sz="344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9"/>
              <p:cNvSpPr/>
              <p:nvPr/>
            </p:nvSpPr>
            <p:spPr>
              <a:xfrm>
                <a:off x="1146556" y="116586"/>
                <a:ext cx="231267" cy="279908"/>
              </a:xfrm>
              <a:custGeom>
                <a:rect b="b" l="l" r="r" t="t"/>
                <a:pathLst>
                  <a:path extrusionOk="0" h="279908" w="231267">
                    <a:moveTo>
                      <a:pt x="154178" y="0"/>
                    </a:moveTo>
                    <a:lnTo>
                      <a:pt x="231267" y="0"/>
                    </a:lnTo>
                    <a:lnTo>
                      <a:pt x="231267" y="279908"/>
                    </a:lnTo>
                    <a:lnTo>
                      <a:pt x="154178" y="279908"/>
                    </a:lnTo>
                    <a:lnTo>
                      <a:pt x="154178" y="166497"/>
                    </a:lnTo>
                    <a:lnTo>
                      <a:pt x="77089" y="166497"/>
                    </a:lnTo>
                    <a:lnTo>
                      <a:pt x="77089" y="279908"/>
                    </a:lnTo>
                    <a:lnTo>
                      <a:pt x="0" y="279908"/>
                    </a:lnTo>
                    <a:lnTo>
                      <a:pt x="0" y="0"/>
                    </a:lnTo>
                    <a:lnTo>
                      <a:pt x="77089" y="0"/>
                    </a:lnTo>
                    <a:lnTo>
                      <a:pt x="77089" y="107696"/>
                    </a:lnTo>
                    <a:lnTo>
                      <a:pt x="154178" y="10769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Google Shape;77;p19"/>
              <p:cNvSpPr/>
              <p:nvPr/>
            </p:nvSpPr>
            <p:spPr>
              <a:xfrm>
                <a:off x="1435354" y="116586"/>
                <a:ext cx="375666" cy="279908"/>
              </a:xfrm>
              <a:custGeom>
                <a:rect b="b" l="l" r="r" t="t"/>
                <a:pathLst>
                  <a:path extrusionOk="0" h="279908" w="375666">
                    <a:moveTo>
                      <a:pt x="227203" y="279908"/>
                    </a:moveTo>
                    <a:lnTo>
                      <a:pt x="187833" y="78232"/>
                    </a:lnTo>
                    <a:lnTo>
                      <a:pt x="148082" y="279908"/>
                    </a:lnTo>
                    <a:lnTo>
                      <a:pt x="50292" y="279908"/>
                    </a:lnTo>
                    <a:lnTo>
                      <a:pt x="0" y="0"/>
                    </a:lnTo>
                    <a:lnTo>
                      <a:pt x="80264" y="0"/>
                    </a:lnTo>
                    <a:lnTo>
                      <a:pt x="104648" y="185928"/>
                    </a:lnTo>
                    <a:lnTo>
                      <a:pt x="140335" y="0"/>
                    </a:lnTo>
                    <a:lnTo>
                      <a:pt x="235331" y="0"/>
                    </a:lnTo>
                    <a:lnTo>
                      <a:pt x="271018" y="185928"/>
                    </a:lnTo>
                    <a:lnTo>
                      <a:pt x="295402" y="0"/>
                    </a:lnTo>
                    <a:lnTo>
                      <a:pt x="375666" y="0"/>
                    </a:lnTo>
                    <a:lnTo>
                      <a:pt x="325374" y="2799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" name="Google Shape;78;p19"/>
              <p:cNvSpPr/>
              <p:nvPr/>
            </p:nvSpPr>
            <p:spPr>
              <a:xfrm>
                <a:off x="1835150" y="116586"/>
                <a:ext cx="256540" cy="279908"/>
              </a:xfrm>
              <a:custGeom>
                <a:rect b="b" l="l" r="r" t="t"/>
                <a:pathLst>
                  <a:path extrusionOk="0" h="279908" w="256540">
                    <a:moveTo>
                      <a:pt x="128397" y="78994"/>
                    </a:moveTo>
                    <a:lnTo>
                      <a:pt x="108966" y="164338"/>
                    </a:lnTo>
                    <a:lnTo>
                      <a:pt x="147955" y="164338"/>
                    </a:lnTo>
                    <a:close/>
                    <a:moveTo>
                      <a:pt x="75692" y="0"/>
                    </a:moveTo>
                    <a:lnTo>
                      <a:pt x="181102" y="0"/>
                    </a:lnTo>
                    <a:lnTo>
                      <a:pt x="256540" y="279908"/>
                    </a:lnTo>
                    <a:lnTo>
                      <a:pt x="174117" y="279908"/>
                    </a:lnTo>
                    <a:lnTo>
                      <a:pt x="161163" y="223266"/>
                    </a:lnTo>
                    <a:lnTo>
                      <a:pt x="95377" y="223266"/>
                    </a:lnTo>
                    <a:lnTo>
                      <a:pt x="82804" y="279908"/>
                    </a:lnTo>
                    <a:lnTo>
                      <a:pt x="0" y="2799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" name="Google Shape;79;p19"/>
              <p:cNvSpPr/>
              <p:nvPr/>
            </p:nvSpPr>
            <p:spPr>
              <a:xfrm>
                <a:off x="2148078" y="116586"/>
                <a:ext cx="239395" cy="279908"/>
              </a:xfrm>
              <a:custGeom>
                <a:rect b="b" l="l" r="r" t="t"/>
                <a:pathLst>
                  <a:path extrusionOk="0" h="279908" w="239395">
                    <a:moveTo>
                      <a:pt x="239395" y="0"/>
                    </a:moveTo>
                    <a:lnTo>
                      <a:pt x="239395" y="279908"/>
                    </a:lnTo>
                    <a:lnTo>
                      <a:pt x="158242" y="279908"/>
                    </a:lnTo>
                    <a:lnTo>
                      <a:pt x="70993" y="125603"/>
                    </a:lnTo>
                    <a:lnTo>
                      <a:pt x="73025" y="179451"/>
                    </a:lnTo>
                    <a:lnTo>
                      <a:pt x="73025" y="279908"/>
                    </a:lnTo>
                    <a:lnTo>
                      <a:pt x="0" y="279908"/>
                    </a:lnTo>
                    <a:lnTo>
                      <a:pt x="0" y="0"/>
                    </a:lnTo>
                    <a:lnTo>
                      <a:pt x="81153" y="0"/>
                    </a:lnTo>
                    <a:lnTo>
                      <a:pt x="168402" y="154305"/>
                    </a:lnTo>
                    <a:lnTo>
                      <a:pt x="166370" y="100457"/>
                    </a:lnTo>
                    <a:lnTo>
                      <a:pt x="1663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" name="Google Shape;80;p19"/>
              <p:cNvSpPr/>
              <p:nvPr/>
            </p:nvSpPr>
            <p:spPr>
              <a:xfrm>
                <a:off x="2462530" y="116586"/>
                <a:ext cx="77089" cy="279908"/>
              </a:xfrm>
              <a:custGeom>
                <a:rect b="b" l="l" r="r" t="t"/>
                <a:pathLst>
                  <a:path extrusionOk="0" h="279908" w="77089">
                    <a:moveTo>
                      <a:pt x="77089" y="279908"/>
                    </a:moveTo>
                    <a:lnTo>
                      <a:pt x="0" y="279908"/>
                    </a:lnTo>
                    <a:lnTo>
                      <a:pt x="0" y="0"/>
                    </a:lnTo>
                    <a:lnTo>
                      <a:pt x="770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1" name="Google Shape;81;p19"/>
              <p:cNvSpPr/>
              <p:nvPr/>
            </p:nvSpPr>
            <p:spPr>
              <a:xfrm>
                <a:off x="1067943" y="506095"/>
                <a:ext cx="180721" cy="209296"/>
              </a:xfrm>
              <a:custGeom>
                <a:rect b="b" l="l" r="r" t="t"/>
                <a:pathLst>
                  <a:path extrusionOk="0" h="209296" w="180721">
                    <a:moveTo>
                      <a:pt x="96012" y="132334"/>
                    </a:moveTo>
                    <a:lnTo>
                      <a:pt x="96012" y="90297"/>
                    </a:lnTo>
                    <a:lnTo>
                      <a:pt x="180721" y="90297"/>
                    </a:lnTo>
                    <a:lnTo>
                      <a:pt x="180721" y="176657"/>
                    </a:lnTo>
                    <a:cubicBezTo>
                      <a:pt x="164465" y="189230"/>
                      <a:pt x="150241" y="197866"/>
                      <a:pt x="137668" y="202438"/>
                    </a:cubicBezTo>
                    <a:cubicBezTo>
                      <a:pt x="125095" y="207010"/>
                      <a:pt x="110490" y="209296"/>
                      <a:pt x="93345" y="209296"/>
                    </a:cubicBezTo>
                    <a:cubicBezTo>
                      <a:pt x="72263" y="209296"/>
                      <a:pt x="55118" y="205232"/>
                      <a:pt x="41783" y="196977"/>
                    </a:cubicBezTo>
                    <a:cubicBezTo>
                      <a:pt x="28448" y="188722"/>
                      <a:pt x="18288" y="176530"/>
                      <a:pt x="10922" y="160401"/>
                    </a:cubicBezTo>
                    <a:cubicBezTo>
                      <a:pt x="3556" y="144272"/>
                      <a:pt x="0" y="125603"/>
                      <a:pt x="0" y="104648"/>
                    </a:cubicBezTo>
                    <a:cubicBezTo>
                      <a:pt x="0" y="82550"/>
                      <a:pt x="4064" y="63373"/>
                      <a:pt x="11938" y="46990"/>
                    </a:cubicBezTo>
                    <a:cubicBezTo>
                      <a:pt x="19812" y="30607"/>
                      <a:pt x="31623" y="18288"/>
                      <a:pt x="46990" y="9779"/>
                    </a:cubicBezTo>
                    <a:cubicBezTo>
                      <a:pt x="59055" y="3302"/>
                      <a:pt x="75184" y="0"/>
                      <a:pt x="95504" y="0"/>
                    </a:cubicBezTo>
                    <a:cubicBezTo>
                      <a:pt x="115062" y="0"/>
                      <a:pt x="129794" y="2032"/>
                      <a:pt x="139446" y="6096"/>
                    </a:cubicBezTo>
                    <a:cubicBezTo>
                      <a:pt x="149098" y="10160"/>
                      <a:pt x="157226" y="16510"/>
                      <a:pt x="163703" y="24892"/>
                    </a:cubicBezTo>
                    <a:cubicBezTo>
                      <a:pt x="170180" y="33274"/>
                      <a:pt x="174879" y="44196"/>
                      <a:pt x="178181" y="57277"/>
                    </a:cubicBezTo>
                    <a:lnTo>
                      <a:pt x="125349" y="68072"/>
                    </a:lnTo>
                    <a:cubicBezTo>
                      <a:pt x="123190" y="60452"/>
                      <a:pt x="119507" y="54610"/>
                      <a:pt x="114300" y="50546"/>
                    </a:cubicBezTo>
                    <a:cubicBezTo>
                      <a:pt x="109093" y="46482"/>
                      <a:pt x="102489" y="44450"/>
                      <a:pt x="94361" y="44450"/>
                    </a:cubicBezTo>
                    <a:cubicBezTo>
                      <a:pt x="82296" y="44450"/>
                      <a:pt x="72771" y="49276"/>
                      <a:pt x="65659" y="58674"/>
                    </a:cubicBezTo>
                    <a:cubicBezTo>
                      <a:pt x="58547" y="68072"/>
                      <a:pt x="54991" y="83312"/>
                      <a:pt x="54991" y="103886"/>
                    </a:cubicBezTo>
                    <a:cubicBezTo>
                      <a:pt x="54991" y="125857"/>
                      <a:pt x="58547" y="141478"/>
                      <a:pt x="65786" y="150876"/>
                    </a:cubicBezTo>
                    <a:cubicBezTo>
                      <a:pt x="73025" y="160274"/>
                      <a:pt x="83058" y="164973"/>
                      <a:pt x="96012" y="164973"/>
                    </a:cubicBezTo>
                    <a:cubicBezTo>
                      <a:pt x="102108" y="164973"/>
                      <a:pt x="107950" y="163957"/>
                      <a:pt x="113538" y="161925"/>
                    </a:cubicBezTo>
                    <a:cubicBezTo>
                      <a:pt x="119126" y="159893"/>
                      <a:pt x="125476" y="156464"/>
                      <a:pt x="132715" y="151511"/>
                    </a:cubicBezTo>
                    <a:lnTo>
                      <a:pt x="132715" y="1324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70800" lIns="70800" spcFirstLastPara="1" rIns="70800" wrap="square" tIns="70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445"/>
                  <a:buFont typeface="Arial"/>
                  <a:buNone/>
                </a:pPr>
                <a:r>
                  <a:t/>
                </a:r>
                <a:endParaRPr b="0" i="0" sz="344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9"/>
              <p:cNvSpPr/>
              <p:nvPr/>
            </p:nvSpPr>
            <p:spPr>
              <a:xfrm>
                <a:off x="1281303" y="509397"/>
                <a:ext cx="140462" cy="202311"/>
              </a:xfrm>
              <a:custGeom>
                <a:rect b="b" l="l" r="r" t="t"/>
                <a:pathLst>
                  <a:path extrusionOk="0" h="202311" w="140462">
                    <a:moveTo>
                      <a:pt x="0" y="0"/>
                    </a:moveTo>
                    <a:lnTo>
                      <a:pt x="54864" y="0"/>
                    </a:lnTo>
                    <a:lnTo>
                      <a:pt x="54864" y="152527"/>
                    </a:lnTo>
                    <a:lnTo>
                      <a:pt x="140462" y="152527"/>
                    </a:lnTo>
                    <a:lnTo>
                      <a:pt x="140462" y="202311"/>
                    </a:lnTo>
                    <a:lnTo>
                      <a:pt x="0" y="2023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3" name="Google Shape;83;p19"/>
              <p:cNvSpPr/>
              <p:nvPr/>
            </p:nvSpPr>
            <p:spPr>
              <a:xfrm>
                <a:off x="1435227" y="505968"/>
                <a:ext cx="183896" cy="209296"/>
              </a:xfrm>
              <a:custGeom>
                <a:rect b="b" l="l" r="r" t="t"/>
                <a:pathLst>
                  <a:path extrusionOk="0" h="209296" w="183896">
                    <a:moveTo>
                      <a:pt x="54991" y="105029"/>
                    </a:moveTo>
                    <a:cubicBezTo>
                      <a:pt x="54991" y="125476"/>
                      <a:pt x="58293" y="140208"/>
                      <a:pt x="65024" y="149098"/>
                    </a:cubicBezTo>
                    <a:cubicBezTo>
                      <a:pt x="71755" y="157988"/>
                      <a:pt x="80772" y="162433"/>
                      <a:pt x="92202" y="162433"/>
                    </a:cubicBezTo>
                    <a:cubicBezTo>
                      <a:pt x="104013" y="162433"/>
                      <a:pt x="113157" y="158115"/>
                      <a:pt x="119507" y="149352"/>
                    </a:cubicBezTo>
                    <a:cubicBezTo>
                      <a:pt x="125857" y="140589"/>
                      <a:pt x="129159" y="124968"/>
                      <a:pt x="129159" y="102235"/>
                    </a:cubicBezTo>
                    <a:cubicBezTo>
                      <a:pt x="129159" y="83185"/>
                      <a:pt x="125730" y="69215"/>
                      <a:pt x="118999" y="60452"/>
                    </a:cubicBezTo>
                    <a:cubicBezTo>
                      <a:pt x="112268" y="51689"/>
                      <a:pt x="103124" y="47244"/>
                      <a:pt x="91567" y="47244"/>
                    </a:cubicBezTo>
                    <a:cubicBezTo>
                      <a:pt x="80518" y="47244"/>
                      <a:pt x="71628" y="51689"/>
                      <a:pt x="64897" y="60706"/>
                    </a:cubicBezTo>
                    <a:cubicBezTo>
                      <a:pt x="58166" y="69723"/>
                      <a:pt x="54864" y="84455"/>
                      <a:pt x="54864" y="105029"/>
                    </a:cubicBezTo>
                    <a:moveTo>
                      <a:pt x="0" y="104775"/>
                    </a:moveTo>
                    <a:cubicBezTo>
                      <a:pt x="0" y="71755"/>
                      <a:pt x="8001" y="45974"/>
                      <a:pt x="24130" y="27559"/>
                    </a:cubicBezTo>
                    <a:cubicBezTo>
                      <a:pt x="40259" y="9144"/>
                      <a:pt x="62738" y="0"/>
                      <a:pt x="91567" y="0"/>
                    </a:cubicBezTo>
                    <a:cubicBezTo>
                      <a:pt x="121158" y="0"/>
                      <a:pt x="143891" y="9017"/>
                      <a:pt x="159893" y="27178"/>
                    </a:cubicBezTo>
                    <a:cubicBezTo>
                      <a:pt x="175895" y="45339"/>
                      <a:pt x="183896" y="70612"/>
                      <a:pt x="183896" y="103251"/>
                    </a:cubicBezTo>
                    <a:cubicBezTo>
                      <a:pt x="183896" y="126873"/>
                      <a:pt x="180467" y="146304"/>
                      <a:pt x="173482" y="161417"/>
                    </a:cubicBezTo>
                    <a:cubicBezTo>
                      <a:pt x="166497" y="176530"/>
                      <a:pt x="156464" y="188341"/>
                      <a:pt x="143256" y="196723"/>
                    </a:cubicBezTo>
                    <a:cubicBezTo>
                      <a:pt x="130048" y="205105"/>
                      <a:pt x="113665" y="209296"/>
                      <a:pt x="93980" y="209296"/>
                    </a:cubicBezTo>
                    <a:cubicBezTo>
                      <a:pt x="73914" y="209296"/>
                      <a:pt x="57404" y="205613"/>
                      <a:pt x="44323" y="198374"/>
                    </a:cubicBezTo>
                    <a:cubicBezTo>
                      <a:pt x="31242" y="191135"/>
                      <a:pt x="20574" y="179578"/>
                      <a:pt x="12446" y="163830"/>
                    </a:cubicBezTo>
                    <a:cubicBezTo>
                      <a:pt x="4318" y="148082"/>
                      <a:pt x="254" y="128397"/>
                      <a:pt x="254" y="10477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70800" lIns="70800" spcFirstLastPara="1" rIns="70800" wrap="square" tIns="70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445"/>
                  <a:buFont typeface="Arial"/>
                  <a:buNone/>
                </a:pPr>
                <a:r>
                  <a:t/>
                </a:r>
                <a:endParaRPr b="0" i="0" sz="344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9"/>
              <p:cNvSpPr/>
              <p:nvPr/>
            </p:nvSpPr>
            <p:spPr>
              <a:xfrm>
                <a:off x="1648968" y="509397"/>
                <a:ext cx="163957" cy="202565"/>
              </a:xfrm>
              <a:custGeom>
                <a:rect b="b" l="l" r="r" t="t"/>
                <a:pathLst>
                  <a:path extrusionOk="0" h="202565" w="163957">
                    <a:moveTo>
                      <a:pt x="55245" y="158877"/>
                    </a:moveTo>
                    <a:lnTo>
                      <a:pt x="83185" y="158877"/>
                    </a:lnTo>
                    <a:cubicBezTo>
                      <a:pt x="92583" y="158877"/>
                      <a:pt x="99314" y="156972"/>
                      <a:pt x="103124" y="153162"/>
                    </a:cubicBezTo>
                    <a:cubicBezTo>
                      <a:pt x="106934" y="149352"/>
                      <a:pt x="108966" y="144272"/>
                      <a:pt x="108966" y="137795"/>
                    </a:cubicBezTo>
                    <a:cubicBezTo>
                      <a:pt x="108966" y="131826"/>
                      <a:pt x="107061" y="127000"/>
                      <a:pt x="103251" y="123317"/>
                    </a:cubicBezTo>
                    <a:cubicBezTo>
                      <a:pt x="99441" y="119634"/>
                      <a:pt x="92710" y="117856"/>
                      <a:pt x="83058" y="117856"/>
                    </a:cubicBezTo>
                    <a:lnTo>
                      <a:pt x="55245" y="117856"/>
                    </a:lnTo>
                    <a:close/>
                    <a:moveTo>
                      <a:pt x="55245" y="79375"/>
                    </a:moveTo>
                    <a:lnTo>
                      <a:pt x="79121" y="79375"/>
                    </a:lnTo>
                    <a:cubicBezTo>
                      <a:pt x="87630" y="79375"/>
                      <a:pt x="93599" y="77724"/>
                      <a:pt x="96901" y="74295"/>
                    </a:cubicBezTo>
                    <a:cubicBezTo>
                      <a:pt x="100203" y="70866"/>
                      <a:pt x="101981" y="66040"/>
                      <a:pt x="101981" y="59690"/>
                    </a:cubicBezTo>
                    <a:cubicBezTo>
                      <a:pt x="101981" y="53848"/>
                      <a:pt x="100330" y="49149"/>
                      <a:pt x="96901" y="45847"/>
                    </a:cubicBezTo>
                    <a:cubicBezTo>
                      <a:pt x="93472" y="42545"/>
                      <a:pt x="87757" y="40894"/>
                      <a:pt x="79375" y="40894"/>
                    </a:cubicBezTo>
                    <a:lnTo>
                      <a:pt x="55245" y="40894"/>
                    </a:lnTo>
                    <a:close/>
                    <a:moveTo>
                      <a:pt x="0" y="0"/>
                    </a:moveTo>
                    <a:lnTo>
                      <a:pt x="102616" y="0"/>
                    </a:lnTo>
                    <a:cubicBezTo>
                      <a:pt x="119761" y="0"/>
                      <a:pt x="132842" y="4826"/>
                      <a:pt x="141986" y="14478"/>
                    </a:cubicBezTo>
                    <a:cubicBezTo>
                      <a:pt x="151130" y="24130"/>
                      <a:pt x="155702" y="36068"/>
                      <a:pt x="155702" y="50419"/>
                    </a:cubicBezTo>
                    <a:cubicBezTo>
                      <a:pt x="155702" y="62357"/>
                      <a:pt x="152400" y="72644"/>
                      <a:pt x="145923" y="81153"/>
                    </a:cubicBezTo>
                    <a:cubicBezTo>
                      <a:pt x="141605" y="86868"/>
                      <a:pt x="135255" y="91440"/>
                      <a:pt x="126746" y="94742"/>
                    </a:cubicBezTo>
                    <a:cubicBezTo>
                      <a:pt x="139446" y="98298"/>
                      <a:pt x="148844" y="104267"/>
                      <a:pt x="154940" y="112776"/>
                    </a:cubicBezTo>
                    <a:cubicBezTo>
                      <a:pt x="161036" y="121285"/>
                      <a:pt x="163957" y="131953"/>
                      <a:pt x="163957" y="144907"/>
                    </a:cubicBezTo>
                    <a:cubicBezTo>
                      <a:pt x="163957" y="155448"/>
                      <a:pt x="161798" y="164846"/>
                      <a:pt x="157480" y="173228"/>
                    </a:cubicBezTo>
                    <a:cubicBezTo>
                      <a:pt x="153162" y="181610"/>
                      <a:pt x="147320" y="188214"/>
                      <a:pt x="139954" y="193167"/>
                    </a:cubicBezTo>
                    <a:cubicBezTo>
                      <a:pt x="135382" y="196215"/>
                      <a:pt x="128397" y="198374"/>
                      <a:pt x="119126" y="199771"/>
                    </a:cubicBezTo>
                    <a:cubicBezTo>
                      <a:pt x="106807" y="201676"/>
                      <a:pt x="98552" y="202565"/>
                      <a:pt x="94615" y="202565"/>
                    </a:cubicBezTo>
                    <a:lnTo>
                      <a:pt x="0" y="20256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70800" lIns="70800" spcFirstLastPara="1" rIns="70800" wrap="square" tIns="70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445"/>
                  <a:buFont typeface="Arial"/>
                  <a:buNone/>
                </a:pPr>
                <a:r>
                  <a:t/>
                </a:r>
                <a:endParaRPr b="0" i="0" sz="344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9"/>
              <p:cNvSpPr/>
              <p:nvPr/>
            </p:nvSpPr>
            <p:spPr>
              <a:xfrm>
                <a:off x="1819529" y="509397"/>
                <a:ext cx="193167" cy="202438"/>
              </a:xfrm>
              <a:custGeom>
                <a:rect b="b" l="l" r="r" t="t"/>
                <a:pathLst>
                  <a:path extrusionOk="0" h="202438" w="193167">
                    <a:moveTo>
                      <a:pt x="115443" y="125222"/>
                    </a:moveTo>
                    <a:lnTo>
                      <a:pt x="95885" y="52451"/>
                    </a:lnTo>
                    <a:lnTo>
                      <a:pt x="76581" y="125222"/>
                    </a:lnTo>
                    <a:close/>
                    <a:moveTo>
                      <a:pt x="126873" y="169037"/>
                    </a:moveTo>
                    <a:lnTo>
                      <a:pt x="64643" y="169037"/>
                    </a:lnTo>
                    <a:lnTo>
                      <a:pt x="56007" y="202438"/>
                    </a:lnTo>
                    <a:lnTo>
                      <a:pt x="0" y="202438"/>
                    </a:lnTo>
                    <a:lnTo>
                      <a:pt x="66675" y="0"/>
                    </a:lnTo>
                    <a:lnTo>
                      <a:pt x="126492" y="0"/>
                    </a:lnTo>
                    <a:lnTo>
                      <a:pt x="193167" y="202438"/>
                    </a:lnTo>
                    <a:lnTo>
                      <a:pt x="135763" y="2024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6" name="Google Shape;86;p19"/>
              <p:cNvSpPr/>
              <p:nvPr/>
            </p:nvSpPr>
            <p:spPr>
              <a:xfrm>
                <a:off x="2030095" y="509397"/>
                <a:ext cx="140462" cy="202311"/>
              </a:xfrm>
              <a:custGeom>
                <a:rect b="b" l="l" r="r" t="t"/>
                <a:pathLst>
                  <a:path extrusionOk="0" h="202311" w="140462">
                    <a:moveTo>
                      <a:pt x="0" y="0"/>
                    </a:moveTo>
                    <a:lnTo>
                      <a:pt x="54864" y="0"/>
                    </a:lnTo>
                    <a:lnTo>
                      <a:pt x="54864" y="152527"/>
                    </a:lnTo>
                    <a:lnTo>
                      <a:pt x="140462" y="152527"/>
                    </a:lnTo>
                    <a:lnTo>
                      <a:pt x="140462" y="202311"/>
                    </a:lnTo>
                    <a:lnTo>
                      <a:pt x="0" y="2023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87" name="Google Shape;87;p19"/>
            <p:cNvGrpSpPr/>
            <p:nvPr/>
          </p:nvGrpSpPr>
          <p:grpSpPr>
            <a:xfrm>
              <a:off x="3000924" y="2371255"/>
              <a:ext cx="446913" cy="332994"/>
              <a:chOff x="63500" y="63500"/>
              <a:chExt cx="446913" cy="332994"/>
            </a:xfrm>
          </p:grpSpPr>
          <p:sp>
            <p:nvSpPr>
              <p:cNvPr id="88" name="Google Shape;88;p19"/>
              <p:cNvSpPr/>
              <p:nvPr/>
            </p:nvSpPr>
            <p:spPr>
              <a:xfrm>
                <a:off x="63500" y="63500"/>
                <a:ext cx="305054" cy="332994"/>
              </a:xfrm>
              <a:custGeom>
                <a:rect b="b" l="l" r="r" t="t"/>
                <a:pathLst>
                  <a:path extrusionOk="0" h="332994" w="305054">
                    <a:moveTo>
                      <a:pt x="152527" y="93980"/>
                    </a:moveTo>
                    <a:lnTo>
                      <a:pt x="129413" y="195580"/>
                    </a:lnTo>
                    <a:lnTo>
                      <a:pt x="175768" y="195580"/>
                    </a:lnTo>
                    <a:close/>
                    <a:moveTo>
                      <a:pt x="89789" y="0"/>
                    </a:moveTo>
                    <a:lnTo>
                      <a:pt x="215265" y="0"/>
                    </a:lnTo>
                    <a:lnTo>
                      <a:pt x="305054" y="332994"/>
                    </a:lnTo>
                    <a:lnTo>
                      <a:pt x="207010" y="332994"/>
                    </a:lnTo>
                    <a:lnTo>
                      <a:pt x="191516" y="265557"/>
                    </a:lnTo>
                    <a:lnTo>
                      <a:pt x="113411" y="265557"/>
                    </a:lnTo>
                    <a:lnTo>
                      <a:pt x="98425" y="332994"/>
                    </a:lnTo>
                    <a:lnTo>
                      <a:pt x="0" y="332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" name="Google Shape;89;p19"/>
              <p:cNvSpPr/>
              <p:nvPr/>
            </p:nvSpPr>
            <p:spPr>
              <a:xfrm>
                <a:off x="418719" y="63500"/>
                <a:ext cx="91694" cy="332994"/>
              </a:xfrm>
              <a:custGeom>
                <a:rect b="b" l="l" r="r" t="t"/>
                <a:pathLst>
                  <a:path extrusionOk="0" h="332994" w="91694">
                    <a:moveTo>
                      <a:pt x="91694" y="332994"/>
                    </a:moveTo>
                    <a:lnTo>
                      <a:pt x="0" y="332994"/>
                    </a:lnTo>
                    <a:lnTo>
                      <a:pt x="0" y="0"/>
                    </a:lnTo>
                    <a:lnTo>
                      <a:pt x="916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/>
          <p:nvPr/>
        </p:nvSpPr>
        <p:spPr>
          <a:xfrm>
            <a:off x="6280200" y="1619438"/>
            <a:ext cx="6210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00"/>
              <a:buFont typeface="Alice"/>
              <a:buNone/>
            </a:pPr>
            <a:r>
              <a:rPr i="0" lang="en-US" sz="3900" u="none" cap="none" strike="noStrike">
                <a:solidFill>
                  <a:srgbClr val="233E32"/>
                </a:solidFill>
                <a:latin typeface="Trebuchet MS"/>
                <a:ea typeface="Trebuchet MS"/>
                <a:cs typeface="Trebuchet MS"/>
                <a:sym typeface="Trebuchet MS"/>
              </a:rPr>
              <a:t>About Wadhwani AI Global</a:t>
            </a:r>
            <a:endParaRPr i="0" sz="390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6280190" y="2537166"/>
            <a:ext cx="3678900" cy="2413500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6478548" y="2735524"/>
            <a:ext cx="2481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i="0" lang="en-US" sz="19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Mission</a:t>
            </a:r>
            <a:endParaRPr i="0" sz="195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6478550" y="3164750"/>
            <a:ext cx="34806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i="0" lang="en-US" sz="15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AI organisation purpose-built for public systems in the Global South, developing solutions that address critical challenges in healthcare, education, and agriculture.</a:t>
            </a:r>
            <a:endParaRPr i="0" sz="155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10157579" y="2537166"/>
            <a:ext cx="3678900" cy="2413500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10355937" y="2735524"/>
            <a:ext cx="2481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i="0" lang="en-US" sz="19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Vision</a:t>
            </a:r>
            <a:endParaRPr i="0" sz="195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10355924" y="3164750"/>
            <a:ext cx="34806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i="0" lang="en-US" sz="15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Creating AI-powered tools that are accessible, affordable, and designed specifically for resource-constrained environments across developing nations.</a:t>
            </a:r>
            <a:endParaRPr i="0" sz="155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6280190" y="5149159"/>
            <a:ext cx="7556400" cy="1461000"/>
          </a:xfrm>
          <a:prstGeom prst="roundRect">
            <a:avLst>
              <a:gd fmla="val 203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6478548" y="5347517"/>
            <a:ext cx="2481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i="0" lang="en-US" sz="19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Core Values</a:t>
            </a:r>
            <a:endParaRPr i="0" sz="195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6478548" y="5776737"/>
            <a:ext cx="71598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i="0" lang="en-US" sz="1550" u="none" cap="none" strike="noStrike">
                <a:solidFill>
                  <a:srgbClr val="2C2821"/>
                </a:solidFill>
                <a:latin typeface="Trebuchet MS"/>
                <a:ea typeface="Trebuchet MS"/>
                <a:cs typeface="Trebuchet MS"/>
                <a:sym typeface="Trebuchet MS"/>
              </a:rPr>
              <a:t>Innovation with purpose, equity-driven technology, and sustainable impact through collaborative partnerships with governments and communities.</a:t>
            </a:r>
            <a:endParaRPr i="0" sz="155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443"/>
            <a:ext cx="4594025" cy="816715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5925" y="7006950"/>
            <a:ext cx="1404475" cy="123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6681650" y="2610088"/>
            <a:ext cx="9147000" cy="24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7800"/>
              <a:buFont typeface="Alice"/>
              <a:buNone/>
            </a:pPr>
            <a:r>
              <a:rPr i="0" lang="en-US" sz="4000" u="none" cap="none" strike="noStrike">
                <a:solidFill>
                  <a:srgbClr val="233E32"/>
                </a:solidFill>
                <a:latin typeface="Trebuchet MS"/>
                <a:ea typeface="Trebuchet MS"/>
                <a:cs typeface="Trebuchet MS"/>
                <a:sym typeface="Trebuchet MS"/>
              </a:rPr>
              <a:t>Practical Applications in TB</a:t>
            </a:r>
            <a:endParaRPr i="0" sz="400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6681654" y="3825763"/>
            <a:ext cx="5372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100"/>
              <a:buFont typeface="Alice"/>
              <a:buNone/>
            </a:pPr>
            <a:r>
              <a:rPr lang="en-US" sz="4000">
                <a:solidFill>
                  <a:srgbClr val="233E32"/>
                </a:solidFill>
                <a:latin typeface="Trebuchet MS"/>
                <a:ea typeface="Trebuchet MS"/>
                <a:cs typeface="Trebuchet MS"/>
                <a:sym typeface="Trebuchet MS"/>
              </a:rPr>
              <a:t>Lessons from India</a:t>
            </a:r>
            <a:endParaRPr i="0" sz="400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75" y="1714625"/>
            <a:ext cx="6409000" cy="42716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5925" y="7006950"/>
            <a:ext cx="1404475" cy="123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22"/>
          <p:cNvCxnSpPr/>
          <p:nvPr/>
        </p:nvCxnSpPr>
        <p:spPr>
          <a:xfrm>
            <a:off x="1011549" y="7193280"/>
            <a:ext cx="131958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1" name="Google Shape;121;p22"/>
          <p:cNvCxnSpPr/>
          <p:nvPr/>
        </p:nvCxnSpPr>
        <p:spPr>
          <a:xfrm>
            <a:off x="792640" y="4067140"/>
            <a:ext cx="98334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2" name="Google Shape;122;p22"/>
          <p:cNvCxnSpPr/>
          <p:nvPr/>
        </p:nvCxnSpPr>
        <p:spPr>
          <a:xfrm>
            <a:off x="1011560" y="5307760"/>
            <a:ext cx="97482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3" name="Google Shape;123;p22"/>
          <p:cNvSpPr/>
          <p:nvPr/>
        </p:nvSpPr>
        <p:spPr>
          <a:xfrm>
            <a:off x="5741040" y="2702560"/>
            <a:ext cx="4772700" cy="4506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24" name="Google Shape;124;p22"/>
          <p:cNvSpPr/>
          <p:nvPr/>
        </p:nvSpPr>
        <p:spPr>
          <a:xfrm>
            <a:off x="0" y="0"/>
            <a:ext cx="14630400" cy="167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1856998" y="588600"/>
            <a:ext cx="7689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5E7E"/>
              </a:buClr>
              <a:buSzPts val="2700"/>
              <a:buFont typeface="Trebuchet MS"/>
              <a:buNone/>
            </a:pPr>
            <a:r>
              <a:rPr lang="en-US" sz="2400">
                <a:solidFill>
                  <a:schemeClr val="dk2"/>
                </a:solidFill>
              </a:rPr>
              <a:t>Cough Against TB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5E7E"/>
              </a:buClr>
              <a:buSzPts val="2700"/>
              <a:buFont typeface="Trebuchet MS"/>
              <a:buNone/>
            </a:pPr>
            <a:r>
              <a:rPr i="1" lang="en-US" sz="1900">
                <a:solidFill>
                  <a:schemeClr val="dk2"/>
                </a:solidFill>
              </a:rPr>
              <a:t>Analyzing cough sounds and factors in symptoms inputted by healthcare workers to identify presumptive pulmonary TB. </a:t>
            </a:r>
            <a:endParaRPr i="1" sz="1900">
              <a:solidFill>
                <a:schemeClr val="dk2"/>
              </a:solidFill>
            </a:endParaRPr>
          </a:p>
        </p:txBody>
      </p:sp>
      <p:grpSp>
        <p:nvGrpSpPr>
          <p:cNvPr id="126" name="Google Shape;126;p22"/>
          <p:cNvGrpSpPr/>
          <p:nvPr/>
        </p:nvGrpSpPr>
        <p:grpSpPr>
          <a:xfrm>
            <a:off x="9793895" y="390779"/>
            <a:ext cx="283338" cy="1040400"/>
            <a:chOff x="3184017" y="1638194"/>
            <a:chExt cx="236115" cy="867000"/>
          </a:xfrm>
        </p:grpSpPr>
        <p:cxnSp>
          <p:nvCxnSpPr>
            <p:cNvPr id="127" name="Google Shape;127;p22"/>
            <p:cNvCxnSpPr/>
            <p:nvPr/>
          </p:nvCxnSpPr>
          <p:spPr>
            <a:xfrm>
              <a:off x="3302000" y="1638194"/>
              <a:ext cx="0" cy="867000"/>
            </a:xfrm>
            <a:prstGeom prst="straightConnector1">
              <a:avLst/>
            </a:prstGeom>
            <a:noFill/>
            <a:ln cap="rnd" cmpd="sng" w="15250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8" name="Google Shape;128;p22"/>
            <p:cNvGrpSpPr/>
            <p:nvPr/>
          </p:nvGrpSpPr>
          <p:grpSpPr>
            <a:xfrm>
              <a:off x="3184017" y="1953718"/>
              <a:ext cx="236115" cy="236115"/>
              <a:chOff x="982662" y="1847850"/>
              <a:chExt cx="270000" cy="270000"/>
            </a:xfrm>
          </p:grpSpPr>
          <p:sp>
            <p:nvSpPr>
              <p:cNvPr id="129" name="Google Shape;129;p22"/>
              <p:cNvSpPr/>
              <p:nvPr/>
            </p:nvSpPr>
            <p:spPr>
              <a:xfrm>
                <a:off x="982662" y="1847850"/>
                <a:ext cx="270000" cy="27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54850" lIns="109725" spcFirstLastPara="1" rIns="109725" wrap="square" tIns="54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30" name="Google Shape;130;p22"/>
              <p:cNvSpPr/>
              <p:nvPr/>
            </p:nvSpPr>
            <p:spPr>
              <a:xfrm>
                <a:off x="1082675" y="1895475"/>
                <a:ext cx="96837" cy="174625"/>
              </a:xfrm>
              <a:custGeom>
                <a:rect b="b" l="l" r="r" t="t"/>
                <a:pathLst>
                  <a:path extrusionOk="0" h="110" w="61">
                    <a:moveTo>
                      <a:pt x="6" y="0"/>
                    </a:moveTo>
                    <a:lnTo>
                      <a:pt x="0" y="7"/>
                    </a:lnTo>
                    <a:lnTo>
                      <a:pt x="48" y="55"/>
                    </a:lnTo>
                    <a:lnTo>
                      <a:pt x="0" y="104"/>
                    </a:lnTo>
                    <a:lnTo>
                      <a:pt x="6" y="110"/>
                    </a:lnTo>
                    <a:lnTo>
                      <a:pt x="54" y="62"/>
                    </a:lnTo>
                    <a:lnTo>
                      <a:pt x="61" y="55"/>
                    </a:lnTo>
                    <a:lnTo>
                      <a:pt x="54" y="4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4850" lIns="109725" spcFirstLastPara="1" rIns="109725" wrap="square" tIns="54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131" name="Google Shape;131;p22"/>
          <p:cNvSpPr/>
          <p:nvPr/>
        </p:nvSpPr>
        <p:spPr>
          <a:xfrm flipH="1">
            <a:off x="10182620" y="120880"/>
            <a:ext cx="4261500" cy="145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rnd" cmpd="sng" w="15250">
            <a:solidFill>
              <a:srgbClr val="1B6E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Basic Android smartphone required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tool works offline and is scalable in rural community settings 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Non-invasive and easy-to-use 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p22"/>
          <p:cNvSpPr/>
          <p:nvPr/>
        </p:nvSpPr>
        <p:spPr>
          <a:xfrm rot="-5400000">
            <a:off x="15049" y="3091126"/>
            <a:ext cx="12969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Context</a:t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22"/>
          <p:cNvSpPr/>
          <p:nvPr/>
        </p:nvSpPr>
        <p:spPr>
          <a:xfrm rot="-5400000">
            <a:off x="24799" y="4443196"/>
            <a:ext cx="12774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Goal</a:t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4" name="Google Shape;134;p22"/>
          <p:cNvSpPr/>
          <p:nvPr/>
        </p:nvSpPr>
        <p:spPr>
          <a:xfrm rot="-5400000">
            <a:off x="-246850" y="6056950"/>
            <a:ext cx="18207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Architecture</a:t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1725920" y="2786880"/>
            <a:ext cx="37809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In India, nearly 65% of TB cases are missed by the public health system. Moreover, over 60% patients don’t seek care in spite of having symptoms, further widening the gap.</a:t>
            </a:r>
            <a:endParaRPr sz="11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1725920" y="4189920"/>
            <a:ext cx="37809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A low-cost, high-sensitivity tool that screens for TB using the sound of a patient’s cough into a smartphone</a:t>
            </a:r>
            <a:endParaRPr sz="11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1725920" y="5421440"/>
            <a:ext cx="3780900" cy="16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-US"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Cough audio samples, symptom &amp; comorbidity data</a:t>
            </a:r>
            <a:endParaRPr sz="11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AI Model: </a:t>
            </a:r>
            <a:r>
              <a:rPr lang="en-US"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ResNet-18 on mel-spectrograms + XGBoost tabular model</a:t>
            </a:r>
            <a:endParaRPr sz="11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r>
              <a:rPr lang="en-US"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TB likelihood score (suggestive/not suggestive)</a:t>
            </a:r>
            <a:endParaRPr sz="11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8" name="Google Shape;138;p22"/>
          <p:cNvCxnSpPr/>
          <p:nvPr/>
        </p:nvCxnSpPr>
        <p:spPr>
          <a:xfrm>
            <a:off x="5595600" y="2673900"/>
            <a:ext cx="9000" cy="45399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descr="File:Page issue icon - high.svg - Wikimedia Commons"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777" y="3040920"/>
            <a:ext cx="587140" cy="58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760" y="4401520"/>
            <a:ext cx="587159" cy="58715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1009120" y="2558000"/>
            <a:ext cx="13260900" cy="82200"/>
          </a:xfrm>
          <a:prstGeom prst="rect">
            <a:avLst/>
          </a:prstGeom>
          <a:solidFill>
            <a:srgbClr val="459965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2" name="Google Shape;142;p22"/>
          <p:cNvGrpSpPr/>
          <p:nvPr/>
        </p:nvGrpSpPr>
        <p:grpSpPr>
          <a:xfrm>
            <a:off x="1050397" y="6024408"/>
            <a:ext cx="691719" cy="691719"/>
            <a:chOff x="1113743" y="1826004"/>
            <a:chExt cx="1644600" cy="1644600"/>
          </a:xfrm>
        </p:grpSpPr>
        <p:sp>
          <p:nvSpPr>
            <p:cNvPr id="143" name="Google Shape;143;p22"/>
            <p:cNvSpPr/>
            <p:nvPr/>
          </p:nvSpPr>
          <p:spPr>
            <a:xfrm>
              <a:off x="1113743" y="1826004"/>
              <a:ext cx="1644600" cy="16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2900"/>
                <a:buFont typeface="Trebuchet MS"/>
                <a:buNone/>
              </a:pPr>
              <a:r>
                <a:t/>
              </a:r>
              <a:endParaRPr b="0" i="0" sz="2900" u="none" cap="none" strike="noStrike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144" name="Google Shape;144;p22"/>
            <p:cNvGrpSpPr/>
            <p:nvPr/>
          </p:nvGrpSpPr>
          <p:grpSpPr>
            <a:xfrm>
              <a:off x="1486806" y="2108579"/>
              <a:ext cx="898526" cy="1192213"/>
              <a:chOff x="1486806" y="2108579"/>
              <a:chExt cx="898526" cy="1192213"/>
            </a:xfrm>
          </p:grpSpPr>
          <p:sp>
            <p:nvSpPr>
              <p:cNvPr id="145" name="Google Shape;145;p22"/>
              <p:cNvSpPr/>
              <p:nvPr/>
            </p:nvSpPr>
            <p:spPr>
              <a:xfrm>
                <a:off x="1486806" y="2108579"/>
                <a:ext cx="898526" cy="1192213"/>
              </a:xfrm>
              <a:custGeom>
                <a:rect b="b" l="l" r="r" t="t"/>
                <a:pathLst>
                  <a:path extrusionOk="0" h="1671" w="1258">
                    <a:moveTo>
                      <a:pt x="1236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9" y="0"/>
                      <a:pt x="0" y="10"/>
                      <a:pt x="0" y="22"/>
                    </a:cubicBezTo>
                    <a:cubicBezTo>
                      <a:pt x="0" y="1649"/>
                      <a:pt x="0" y="1649"/>
                      <a:pt x="0" y="1649"/>
                    </a:cubicBezTo>
                    <a:cubicBezTo>
                      <a:pt x="0" y="1662"/>
                      <a:pt x="9" y="1671"/>
                      <a:pt x="22" y="1671"/>
                    </a:cubicBezTo>
                    <a:cubicBezTo>
                      <a:pt x="1236" y="1671"/>
                      <a:pt x="1236" y="1671"/>
                      <a:pt x="1236" y="1671"/>
                    </a:cubicBezTo>
                    <a:cubicBezTo>
                      <a:pt x="1249" y="1671"/>
                      <a:pt x="1258" y="1662"/>
                      <a:pt x="1258" y="1649"/>
                    </a:cubicBezTo>
                    <a:cubicBezTo>
                      <a:pt x="1258" y="22"/>
                      <a:pt x="1258" y="22"/>
                      <a:pt x="1258" y="22"/>
                    </a:cubicBezTo>
                    <a:cubicBezTo>
                      <a:pt x="1258" y="10"/>
                      <a:pt x="1249" y="0"/>
                      <a:pt x="1236" y="0"/>
                    </a:cubicBezTo>
                    <a:close/>
                    <a:moveTo>
                      <a:pt x="1213" y="1626"/>
                    </a:moveTo>
                    <a:cubicBezTo>
                      <a:pt x="45" y="1626"/>
                      <a:pt x="45" y="1626"/>
                      <a:pt x="45" y="162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1213" y="44"/>
                      <a:pt x="1213" y="44"/>
                      <a:pt x="1213" y="44"/>
                    </a:cubicBezTo>
                    <a:lnTo>
                      <a:pt x="1213" y="1626"/>
                    </a:lnTo>
                    <a:close/>
                    <a:moveTo>
                      <a:pt x="462" y="1175"/>
                    </a:moveTo>
                    <a:cubicBezTo>
                      <a:pt x="465" y="1176"/>
                      <a:pt x="468" y="1177"/>
                      <a:pt x="472" y="1177"/>
                    </a:cubicBezTo>
                    <a:cubicBezTo>
                      <a:pt x="480" y="1177"/>
                      <a:pt x="487" y="1173"/>
                      <a:pt x="491" y="1165"/>
                    </a:cubicBezTo>
                    <a:cubicBezTo>
                      <a:pt x="491" y="1165"/>
                      <a:pt x="491" y="1165"/>
                      <a:pt x="825" y="525"/>
                    </a:cubicBezTo>
                    <a:cubicBezTo>
                      <a:pt x="831" y="514"/>
                      <a:pt x="827" y="501"/>
                      <a:pt x="816" y="495"/>
                    </a:cubicBezTo>
                    <a:cubicBezTo>
                      <a:pt x="805" y="490"/>
                      <a:pt x="792" y="494"/>
                      <a:pt x="786" y="504"/>
                    </a:cubicBezTo>
                    <a:cubicBezTo>
                      <a:pt x="786" y="504"/>
                      <a:pt x="786" y="504"/>
                      <a:pt x="452" y="1145"/>
                    </a:cubicBezTo>
                    <a:cubicBezTo>
                      <a:pt x="447" y="1156"/>
                      <a:pt x="451" y="1169"/>
                      <a:pt x="462" y="1175"/>
                    </a:cubicBezTo>
                    <a:close/>
                    <a:moveTo>
                      <a:pt x="214" y="879"/>
                    </a:moveTo>
                    <a:cubicBezTo>
                      <a:pt x="214" y="879"/>
                      <a:pt x="214" y="879"/>
                      <a:pt x="392" y="1058"/>
                    </a:cubicBezTo>
                    <a:cubicBezTo>
                      <a:pt x="397" y="1062"/>
                      <a:pt x="402" y="1064"/>
                      <a:pt x="408" y="1064"/>
                    </a:cubicBezTo>
                    <a:cubicBezTo>
                      <a:pt x="413" y="1064"/>
                      <a:pt x="419" y="1062"/>
                      <a:pt x="423" y="1058"/>
                    </a:cubicBezTo>
                    <a:cubicBezTo>
                      <a:pt x="432" y="1049"/>
                      <a:pt x="432" y="1035"/>
                      <a:pt x="423" y="1027"/>
                    </a:cubicBezTo>
                    <a:cubicBezTo>
                      <a:pt x="423" y="1027"/>
                      <a:pt x="423" y="1027"/>
                      <a:pt x="259" y="862"/>
                    </a:cubicBezTo>
                    <a:cubicBezTo>
                      <a:pt x="259" y="862"/>
                      <a:pt x="259" y="862"/>
                      <a:pt x="510" y="608"/>
                    </a:cubicBezTo>
                    <a:cubicBezTo>
                      <a:pt x="519" y="600"/>
                      <a:pt x="519" y="586"/>
                      <a:pt x="510" y="577"/>
                    </a:cubicBezTo>
                    <a:cubicBezTo>
                      <a:pt x="502" y="569"/>
                      <a:pt x="488" y="569"/>
                      <a:pt x="479" y="577"/>
                    </a:cubicBezTo>
                    <a:cubicBezTo>
                      <a:pt x="479" y="577"/>
                      <a:pt x="479" y="577"/>
                      <a:pt x="214" y="844"/>
                    </a:cubicBezTo>
                    <a:cubicBezTo>
                      <a:pt x="214" y="845"/>
                      <a:pt x="213" y="845"/>
                      <a:pt x="212" y="846"/>
                    </a:cubicBezTo>
                    <a:cubicBezTo>
                      <a:pt x="208" y="850"/>
                      <a:pt x="206" y="856"/>
                      <a:pt x="206" y="862"/>
                    </a:cubicBezTo>
                    <a:cubicBezTo>
                      <a:pt x="206" y="867"/>
                      <a:pt x="208" y="873"/>
                      <a:pt x="212" y="877"/>
                    </a:cubicBezTo>
                    <a:cubicBezTo>
                      <a:pt x="213" y="878"/>
                      <a:pt x="214" y="878"/>
                      <a:pt x="214" y="879"/>
                    </a:cubicBezTo>
                    <a:close/>
                    <a:moveTo>
                      <a:pt x="998" y="861"/>
                    </a:moveTo>
                    <a:cubicBezTo>
                      <a:pt x="998" y="861"/>
                      <a:pt x="998" y="861"/>
                      <a:pt x="747" y="1113"/>
                    </a:cubicBezTo>
                    <a:cubicBezTo>
                      <a:pt x="739" y="1122"/>
                      <a:pt x="739" y="1136"/>
                      <a:pt x="747" y="1144"/>
                    </a:cubicBezTo>
                    <a:cubicBezTo>
                      <a:pt x="751" y="1148"/>
                      <a:pt x="757" y="1151"/>
                      <a:pt x="763" y="1151"/>
                    </a:cubicBezTo>
                    <a:cubicBezTo>
                      <a:pt x="768" y="1151"/>
                      <a:pt x="774" y="1148"/>
                      <a:pt x="778" y="1144"/>
                    </a:cubicBezTo>
                    <a:cubicBezTo>
                      <a:pt x="778" y="1144"/>
                      <a:pt x="778" y="1144"/>
                      <a:pt x="1043" y="878"/>
                    </a:cubicBezTo>
                    <a:cubicBezTo>
                      <a:pt x="1044" y="878"/>
                      <a:pt x="1045" y="877"/>
                      <a:pt x="1045" y="877"/>
                    </a:cubicBezTo>
                    <a:cubicBezTo>
                      <a:pt x="1050" y="872"/>
                      <a:pt x="1052" y="867"/>
                      <a:pt x="1052" y="861"/>
                    </a:cubicBezTo>
                    <a:cubicBezTo>
                      <a:pt x="1052" y="855"/>
                      <a:pt x="1050" y="849"/>
                      <a:pt x="1045" y="845"/>
                    </a:cubicBezTo>
                    <a:cubicBezTo>
                      <a:pt x="1045" y="844"/>
                      <a:pt x="1044" y="844"/>
                      <a:pt x="1043" y="843"/>
                    </a:cubicBezTo>
                    <a:cubicBezTo>
                      <a:pt x="1043" y="843"/>
                      <a:pt x="1043" y="843"/>
                      <a:pt x="865" y="665"/>
                    </a:cubicBezTo>
                    <a:cubicBezTo>
                      <a:pt x="857" y="656"/>
                      <a:pt x="843" y="656"/>
                      <a:pt x="834" y="665"/>
                    </a:cubicBezTo>
                    <a:cubicBezTo>
                      <a:pt x="826" y="673"/>
                      <a:pt x="826" y="687"/>
                      <a:pt x="834" y="696"/>
                    </a:cubicBezTo>
                    <a:cubicBezTo>
                      <a:pt x="834" y="696"/>
                      <a:pt x="834" y="696"/>
                      <a:pt x="998" y="861"/>
                    </a:cubicBezTo>
                    <a:close/>
                  </a:path>
                </a:pathLst>
              </a:custGeom>
              <a:solidFill>
                <a:srgbClr val="03522D"/>
              </a:solidFill>
              <a:ln>
                <a:noFill/>
              </a:ln>
            </p:spPr>
            <p:txBody>
              <a:bodyPr anchorCtr="0" anchor="t" bIns="73125" lIns="146275" spcFirstLastPara="1" rIns="146275" wrap="square" tIns="73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75757"/>
                  </a:buClr>
                  <a:buSzPts val="2900"/>
                  <a:buFont typeface="Trebuchet MS"/>
                  <a:buNone/>
                </a:pPr>
                <a:r>
                  <a:t/>
                </a:r>
                <a:endParaRPr b="0" i="0" sz="2900" u="none" cap="none" strike="noStrike">
                  <a:solidFill>
                    <a:srgbClr val="575757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46" name="Google Shape;146;p22"/>
              <p:cNvSpPr/>
              <p:nvPr/>
            </p:nvSpPr>
            <p:spPr>
              <a:xfrm>
                <a:off x="1648731" y="2294317"/>
                <a:ext cx="574676" cy="820739"/>
              </a:xfrm>
              <a:custGeom>
                <a:rect b="b" l="l" r="r" t="t"/>
                <a:pathLst>
                  <a:path extrusionOk="0" h="1149" w="806">
                    <a:moveTo>
                      <a:pt x="776" y="729"/>
                    </a:moveTo>
                    <a:cubicBezTo>
                      <a:pt x="776" y="729"/>
                      <a:pt x="776" y="729"/>
                      <a:pt x="767" y="729"/>
                    </a:cubicBezTo>
                    <a:cubicBezTo>
                      <a:pt x="712" y="784"/>
                      <a:pt x="712" y="784"/>
                      <a:pt x="712" y="784"/>
                    </a:cubicBezTo>
                    <a:cubicBezTo>
                      <a:pt x="776" y="784"/>
                      <a:pt x="776" y="784"/>
                      <a:pt x="776" y="784"/>
                    </a:cubicBezTo>
                    <a:cubicBezTo>
                      <a:pt x="793" y="784"/>
                      <a:pt x="804" y="771"/>
                      <a:pt x="804" y="756"/>
                    </a:cubicBezTo>
                    <a:cubicBezTo>
                      <a:pt x="804" y="741"/>
                      <a:pt x="793" y="729"/>
                      <a:pt x="776" y="729"/>
                    </a:cubicBezTo>
                    <a:close/>
                    <a:moveTo>
                      <a:pt x="777" y="1093"/>
                    </a:moveTo>
                    <a:cubicBezTo>
                      <a:pt x="777" y="1093"/>
                      <a:pt x="777" y="1093"/>
                      <a:pt x="28" y="1093"/>
                    </a:cubicBezTo>
                    <a:cubicBezTo>
                      <a:pt x="13" y="1093"/>
                      <a:pt x="0" y="1105"/>
                      <a:pt x="0" y="1120"/>
                    </a:cubicBezTo>
                    <a:cubicBezTo>
                      <a:pt x="0" y="1124"/>
                      <a:pt x="1" y="1127"/>
                      <a:pt x="2" y="1131"/>
                    </a:cubicBezTo>
                    <a:cubicBezTo>
                      <a:pt x="6" y="1141"/>
                      <a:pt x="16" y="1149"/>
                      <a:pt x="28" y="1149"/>
                    </a:cubicBezTo>
                    <a:cubicBezTo>
                      <a:pt x="28" y="1149"/>
                      <a:pt x="28" y="1149"/>
                      <a:pt x="778" y="1149"/>
                    </a:cubicBezTo>
                    <a:cubicBezTo>
                      <a:pt x="794" y="1149"/>
                      <a:pt x="806" y="1137"/>
                      <a:pt x="806" y="1123"/>
                    </a:cubicBezTo>
                    <a:cubicBezTo>
                      <a:pt x="806" y="1120"/>
                      <a:pt x="805" y="1117"/>
                      <a:pt x="804" y="1115"/>
                    </a:cubicBezTo>
                    <a:cubicBezTo>
                      <a:pt x="802" y="1102"/>
                      <a:pt x="791" y="1093"/>
                      <a:pt x="777" y="1093"/>
                    </a:cubicBezTo>
                    <a:close/>
                    <a:moveTo>
                      <a:pt x="28" y="784"/>
                    </a:moveTo>
                    <a:cubicBezTo>
                      <a:pt x="28" y="784"/>
                      <a:pt x="28" y="784"/>
                      <a:pt x="92" y="784"/>
                    </a:cubicBezTo>
                    <a:cubicBezTo>
                      <a:pt x="37" y="729"/>
                      <a:pt x="37" y="729"/>
                      <a:pt x="37" y="729"/>
                    </a:cubicBezTo>
                    <a:cubicBezTo>
                      <a:pt x="28" y="729"/>
                      <a:pt x="28" y="729"/>
                      <a:pt x="28" y="729"/>
                    </a:cubicBezTo>
                    <a:cubicBezTo>
                      <a:pt x="13" y="729"/>
                      <a:pt x="0" y="741"/>
                      <a:pt x="0" y="756"/>
                    </a:cubicBezTo>
                    <a:cubicBezTo>
                      <a:pt x="0" y="771"/>
                      <a:pt x="13" y="784"/>
                      <a:pt x="28" y="784"/>
                    </a:cubicBezTo>
                    <a:close/>
                    <a:moveTo>
                      <a:pt x="28" y="967"/>
                    </a:moveTo>
                    <a:cubicBezTo>
                      <a:pt x="28" y="967"/>
                      <a:pt x="28" y="967"/>
                      <a:pt x="778" y="967"/>
                    </a:cubicBezTo>
                    <a:cubicBezTo>
                      <a:pt x="794" y="967"/>
                      <a:pt x="806" y="954"/>
                      <a:pt x="806" y="939"/>
                    </a:cubicBezTo>
                    <a:cubicBezTo>
                      <a:pt x="806" y="934"/>
                      <a:pt x="804" y="930"/>
                      <a:pt x="802" y="926"/>
                    </a:cubicBezTo>
                    <a:cubicBezTo>
                      <a:pt x="797" y="917"/>
                      <a:pt x="789" y="911"/>
                      <a:pt x="777" y="911"/>
                    </a:cubicBezTo>
                    <a:cubicBezTo>
                      <a:pt x="777" y="911"/>
                      <a:pt x="777" y="911"/>
                      <a:pt x="586" y="911"/>
                    </a:cubicBezTo>
                    <a:cubicBezTo>
                      <a:pt x="583" y="913"/>
                      <a:pt x="583" y="913"/>
                      <a:pt x="583" y="913"/>
                    </a:cubicBezTo>
                    <a:cubicBezTo>
                      <a:pt x="571" y="926"/>
                      <a:pt x="554" y="933"/>
                      <a:pt x="537" y="933"/>
                    </a:cubicBezTo>
                    <a:cubicBezTo>
                      <a:pt x="520" y="933"/>
                      <a:pt x="503" y="926"/>
                      <a:pt x="490" y="913"/>
                    </a:cubicBezTo>
                    <a:cubicBezTo>
                      <a:pt x="489" y="913"/>
                      <a:pt x="488" y="912"/>
                      <a:pt x="488" y="911"/>
                    </a:cubicBezTo>
                    <a:cubicBezTo>
                      <a:pt x="311" y="911"/>
                      <a:pt x="311" y="911"/>
                      <a:pt x="311" y="911"/>
                    </a:cubicBezTo>
                    <a:cubicBezTo>
                      <a:pt x="304" y="924"/>
                      <a:pt x="304" y="924"/>
                      <a:pt x="304" y="924"/>
                    </a:cubicBezTo>
                    <a:cubicBezTo>
                      <a:pt x="293" y="946"/>
                      <a:pt x="271" y="959"/>
                      <a:pt x="246" y="959"/>
                    </a:cubicBezTo>
                    <a:cubicBezTo>
                      <a:pt x="235" y="959"/>
                      <a:pt x="227" y="957"/>
                      <a:pt x="222" y="955"/>
                    </a:cubicBezTo>
                    <a:cubicBezTo>
                      <a:pt x="218" y="954"/>
                      <a:pt x="218" y="954"/>
                      <a:pt x="218" y="954"/>
                    </a:cubicBezTo>
                    <a:cubicBezTo>
                      <a:pt x="215" y="952"/>
                      <a:pt x="215" y="952"/>
                      <a:pt x="215" y="952"/>
                    </a:cubicBezTo>
                    <a:cubicBezTo>
                      <a:pt x="198" y="943"/>
                      <a:pt x="187" y="928"/>
                      <a:pt x="182" y="911"/>
                    </a:cubicBezTo>
                    <a:cubicBezTo>
                      <a:pt x="28" y="911"/>
                      <a:pt x="28" y="911"/>
                      <a:pt x="28" y="911"/>
                    </a:cubicBezTo>
                    <a:cubicBezTo>
                      <a:pt x="13" y="911"/>
                      <a:pt x="0" y="924"/>
                      <a:pt x="0" y="938"/>
                    </a:cubicBezTo>
                    <a:cubicBezTo>
                      <a:pt x="0" y="945"/>
                      <a:pt x="3" y="951"/>
                      <a:pt x="7" y="956"/>
                    </a:cubicBezTo>
                    <a:cubicBezTo>
                      <a:pt x="12" y="963"/>
                      <a:pt x="20" y="967"/>
                      <a:pt x="28" y="967"/>
                    </a:cubicBezTo>
                    <a:close/>
                    <a:moveTo>
                      <a:pt x="28" y="238"/>
                    </a:moveTo>
                    <a:cubicBezTo>
                      <a:pt x="28" y="238"/>
                      <a:pt x="28" y="238"/>
                      <a:pt x="513" y="238"/>
                    </a:cubicBezTo>
                    <a:cubicBezTo>
                      <a:pt x="522" y="221"/>
                      <a:pt x="522" y="221"/>
                      <a:pt x="522" y="221"/>
                    </a:cubicBezTo>
                    <a:cubicBezTo>
                      <a:pt x="522" y="220"/>
                      <a:pt x="522" y="220"/>
                      <a:pt x="522" y="220"/>
                    </a:cubicBezTo>
                    <a:cubicBezTo>
                      <a:pt x="534" y="200"/>
                      <a:pt x="556" y="187"/>
                      <a:pt x="580" y="187"/>
                    </a:cubicBezTo>
                    <a:cubicBezTo>
                      <a:pt x="590" y="187"/>
                      <a:pt x="599" y="189"/>
                      <a:pt x="608" y="193"/>
                    </a:cubicBezTo>
                    <a:cubicBezTo>
                      <a:pt x="610" y="194"/>
                      <a:pt x="610" y="194"/>
                      <a:pt x="610" y="194"/>
                    </a:cubicBezTo>
                    <a:cubicBezTo>
                      <a:pt x="611" y="195"/>
                      <a:pt x="611" y="195"/>
                      <a:pt x="611" y="195"/>
                    </a:cubicBezTo>
                    <a:cubicBezTo>
                      <a:pt x="629" y="204"/>
                      <a:pt x="640" y="220"/>
                      <a:pt x="644" y="238"/>
                    </a:cubicBezTo>
                    <a:cubicBezTo>
                      <a:pt x="776" y="238"/>
                      <a:pt x="776" y="238"/>
                      <a:pt x="776" y="238"/>
                    </a:cubicBezTo>
                    <a:cubicBezTo>
                      <a:pt x="793" y="238"/>
                      <a:pt x="804" y="225"/>
                      <a:pt x="804" y="209"/>
                    </a:cubicBezTo>
                    <a:cubicBezTo>
                      <a:pt x="804" y="194"/>
                      <a:pt x="793" y="182"/>
                      <a:pt x="776" y="182"/>
                    </a:cubicBezTo>
                    <a:cubicBezTo>
                      <a:pt x="776" y="182"/>
                      <a:pt x="776" y="182"/>
                      <a:pt x="28" y="182"/>
                    </a:cubicBezTo>
                    <a:cubicBezTo>
                      <a:pt x="13" y="182"/>
                      <a:pt x="0" y="194"/>
                      <a:pt x="0" y="209"/>
                    </a:cubicBezTo>
                    <a:cubicBezTo>
                      <a:pt x="0" y="225"/>
                      <a:pt x="13" y="238"/>
                      <a:pt x="28" y="238"/>
                    </a:cubicBezTo>
                    <a:close/>
                    <a:moveTo>
                      <a:pt x="28" y="418"/>
                    </a:moveTo>
                    <a:cubicBezTo>
                      <a:pt x="28" y="418"/>
                      <a:pt x="28" y="418"/>
                      <a:pt x="89" y="418"/>
                    </a:cubicBezTo>
                    <a:cubicBezTo>
                      <a:pt x="142" y="364"/>
                      <a:pt x="142" y="364"/>
                      <a:pt x="142" y="364"/>
                    </a:cubicBezTo>
                    <a:cubicBezTo>
                      <a:pt x="28" y="364"/>
                      <a:pt x="28" y="364"/>
                      <a:pt x="28" y="364"/>
                    </a:cubicBezTo>
                    <a:cubicBezTo>
                      <a:pt x="13" y="364"/>
                      <a:pt x="0" y="377"/>
                      <a:pt x="0" y="392"/>
                    </a:cubicBezTo>
                    <a:cubicBezTo>
                      <a:pt x="0" y="406"/>
                      <a:pt x="13" y="418"/>
                      <a:pt x="28" y="418"/>
                    </a:cubicBezTo>
                    <a:close/>
                    <a:moveTo>
                      <a:pt x="28" y="56"/>
                    </a:moveTo>
                    <a:cubicBezTo>
                      <a:pt x="28" y="56"/>
                      <a:pt x="28" y="56"/>
                      <a:pt x="776" y="56"/>
                    </a:cubicBezTo>
                    <a:cubicBezTo>
                      <a:pt x="793" y="56"/>
                      <a:pt x="804" y="43"/>
                      <a:pt x="804" y="28"/>
                    </a:cubicBezTo>
                    <a:cubicBezTo>
                      <a:pt x="804" y="11"/>
                      <a:pt x="793" y="0"/>
                      <a:pt x="776" y="0"/>
                    </a:cubicBezTo>
                    <a:cubicBezTo>
                      <a:pt x="776" y="0"/>
                      <a:pt x="776" y="0"/>
                      <a:pt x="28" y="0"/>
                    </a:cubicBezTo>
                    <a:cubicBezTo>
                      <a:pt x="13" y="0"/>
                      <a:pt x="0" y="11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lose/>
                    <a:moveTo>
                      <a:pt x="776" y="364"/>
                    </a:moveTo>
                    <a:cubicBezTo>
                      <a:pt x="776" y="364"/>
                      <a:pt x="776" y="364"/>
                      <a:pt x="662" y="364"/>
                    </a:cubicBezTo>
                    <a:cubicBezTo>
                      <a:pt x="665" y="367"/>
                      <a:pt x="668" y="369"/>
                      <a:pt x="671" y="372"/>
                    </a:cubicBezTo>
                    <a:cubicBezTo>
                      <a:pt x="716" y="418"/>
                      <a:pt x="716" y="418"/>
                      <a:pt x="716" y="418"/>
                    </a:cubicBezTo>
                    <a:cubicBezTo>
                      <a:pt x="776" y="418"/>
                      <a:pt x="776" y="418"/>
                      <a:pt x="776" y="418"/>
                    </a:cubicBezTo>
                    <a:cubicBezTo>
                      <a:pt x="793" y="418"/>
                      <a:pt x="804" y="406"/>
                      <a:pt x="804" y="392"/>
                    </a:cubicBezTo>
                    <a:cubicBezTo>
                      <a:pt x="804" y="377"/>
                      <a:pt x="793" y="364"/>
                      <a:pt x="776" y="364"/>
                    </a:cubicBezTo>
                    <a:close/>
                  </a:path>
                </a:pathLst>
              </a:custGeom>
              <a:solidFill>
                <a:srgbClr val="1B6EB3"/>
              </a:solidFill>
              <a:ln>
                <a:noFill/>
              </a:ln>
            </p:spPr>
            <p:txBody>
              <a:bodyPr anchorCtr="0" anchor="t" bIns="73125" lIns="146275" spcFirstLastPara="1" rIns="146275" wrap="square" tIns="73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75757"/>
                  </a:buClr>
                  <a:buSzPts val="2900"/>
                  <a:buFont typeface="Trebuchet MS"/>
                  <a:buNone/>
                </a:pPr>
                <a:r>
                  <a:t/>
                </a:r>
                <a:endParaRPr b="0" i="0" sz="2900" u="none" cap="none" strike="noStrike">
                  <a:solidFill>
                    <a:srgbClr val="575757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147" name="Google Shape;147;p22"/>
          <p:cNvSpPr/>
          <p:nvPr/>
        </p:nvSpPr>
        <p:spPr>
          <a:xfrm>
            <a:off x="1042960" y="2236120"/>
            <a:ext cx="45528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​"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Overview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5730880" y="2236120"/>
            <a:ext cx="47727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​"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Workflow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10645040" y="2617400"/>
            <a:ext cx="0" cy="46911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0" name="Google Shape;150;p22"/>
          <p:cNvSpPr/>
          <p:nvPr/>
        </p:nvSpPr>
        <p:spPr>
          <a:xfrm>
            <a:off x="10638640" y="2236120"/>
            <a:ext cx="36318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​"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 &amp; validation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14308800" y="4530620"/>
            <a:ext cx="321600" cy="35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52" name="Google Shape;152;p22"/>
          <p:cNvSpPr/>
          <p:nvPr/>
        </p:nvSpPr>
        <p:spPr>
          <a:xfrm>
            <a:off x="10514880" y="2624760"/>
            <a:ext cx="3692100" cy="45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200" lvl="0" marL="7366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Char char="●"/>
            </a:pPr>
            <a:r>
              <a:rPr lang="en-US" sz="14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10 States in India</a:t>
            </a:r>
            <a:r>
              <a:rPr lang="en-US" sz="1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deployed the tool in one year, resulting in the</a:t>
            </a:r>
            <a:r>
              <a:rPr lang="en-US" sz="14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 largest TB cough database in the world </a:t>
            </a:r>
            <a:endParaRPr sz="1400">
              <a:solidFill>
                <a:srgbClr val="E71C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marR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Char char="●"/>
            </a:pPr>
            <a:r>
              <a:rPr lang="en-US" sz="14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Built on cough sounds from 16,375 individuals</a:t>
            </a:r>
            <a:r>
              <a:rPr lang="en-US" sz="1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from health facilities </a:t>
            </a:r>
            <a:endParaRPr sz="14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marR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rebuchet MS"/>
              <a:buChar char="●"/>
            </a:pPr>
            <a:r>
              <a:rPr lang="en-US" sz="14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92% accuracy in identifying positive results</a:t>
            </a:r>
            <a:r>
              <a:rPr lang="en-US" sz="1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(sensitivity) Solution </a:t>
            </a:r>
            <a:r>
              <a:rPr lang="en-US" sz="14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deployed in high-risk community settings</a:t>
            </a:r>
            <a:r>
              <a:rPr lang="en-US" sz="1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of Mumbai, Delhi and Hyderabad in Active Case Finding mode </a:t>
            </a:r>
            <a:endParaRPr sz="14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marR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Trebuchet MS"/>
              <a:buChar char="●"/>
            </a:pPr>
            <a:r>
              <a:rPr lang="en-US" sz="1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Additionally, </a:t>
            </a:r>
            <a:r>
              <a:rPr lang="en-US" sz="14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at health-care facilities in select districts</a:t>
            </a:r>
            <a:r>
              <a:rPr lang="en-US" sz="1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of Nagaland, Kashmir, Chandigarh and Punjab (through NTEP)</a:t>
            </a:r>
            <a:endParaRPr sz="14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3" name="Google Shape;153;p22"/>
          <p:cNvCxnSpPr/>
          <p:nvPr/>
        </p:nvCxnSpPr>
        <p:spPr>
          <a:xfrm>
            <a:off x="14270080" y="2629600"/>
            <a:ext cx="0" cy="46518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4" name="Google Shape;154;p22"/>
          <p:cNvSpPr/>
          <p:nvPr/>
        </p:nvSpPr>
        <p:spPr>
          <a:xfrm>
            <a:off x="1520" y="0"/>
            <a:ext cx="2928000" cy="308100"/>
          </a:xfrm>
          <a:prstGeom prst="rect">
            <a:avLst/>
          </a:prstGeom>
          <a:solidFill>
            <a:srgbClr val="459965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Tuberculosis-Screening</a:t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8013581" y="4271912"/>
            <a:ext cx="324600" cy="5856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22"/>
          <p:cNvCxnSpPr>
            <a:stCxn id="157" idx="3"/>
            <a:endCxn id="158" idx="1"/>
          </p:cNvCxnSpPr>
          <p:nvPr/>
        </p:nvCxnSpPr>
        <p:spPr>
          <a:xfrm>
            <a:off x="6715636" y="3706540"/>
            <a:ext cx="786600" cy="896400"/>
          </a:xfrm>
          <a:prstGeom prst="bentConnector3">
            <a:avLst>
              <a:gd fmla="val 50001" name="adj1"/>
            </a:avLst>
          </a:prstGeom>
          <a:noFill/>
          <a:ln cap="flat" cmpd="sng" w="15250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58" name="Google Shape;158;p22"/>
          <p:cNvPicPr preferRelativeResize="0"/>
          <p:nvPr/>
        </p:nvPicPr>
        <p:blipFill rotWithShape="1">
          <a:blip r:embed="rId5">
            <a:alphaModFix/>
          </a:blip>
          <a:srcRect b="-150" l="0" r="0" t="150"/>
          <a:stretch/>
        </p:blipFill>
        <p:spPr>
          <a:xfrm>
            <a:off x="7502316" y="4260524"/>
            <a:ext cx="417334" cy="68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 rotWithShape="1">
          <a:blip r:embed="rId6">
            <a:alphaModFix/>
          </a:blip>
          <a:srcRect b="0" l="-5405" r="-1204" t="0"/>
          <a:stretch/>
        </p:blipFill>
        <p:spPr>
          <a:xfrm>
            <a:off x="6076672" y="3373258"/>
            <a:ext cx="638964" cy="666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8503" y="5005159"/>
            <a:ext cx="404380" cy="661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2"/>
          <p:cNvCxnSpPr/>
          <p:nvPr/>
        </p:nvCxnSpPr>
        <p:spPr>
          <a:xfrm flipH="1" rot="10800000">
            <a:off x="8519348" y="4601867"/>
            <a:ext cx="567900" cy="1800"/>
          </a:xfrm>
          <a:prstGeom prst="straightConnector1">
            <a:avLst/>
          </a:prstGeom>
          <a:noFill/>
          <a:ln cap="flat" cmpd="sng" w="15250">
            <a:solidFill>
              <a:srgbClr val="999999"/>
            </a:solidFill>
            <a:prstDash val="solid"/>
            <a:round/>
            <a:headEnd len="sm" w="sm" type="oval"/>
            <a:tailEnd len="med" w="med" type="triangle"/>
          </a:ln>
        </p:spPr>
      </p:cxnSp>
      <p:sp>
        <p:nvSpPr>
          <p:cNvPr id="161" name="Google Shape;161;p22"/>
          <p:cNvSpPr txBox="1"/>
          <p:nvPr/>
        </p:nvSpPr>
        <p:spPr>
          <a:xfrm>
            <a:off x="5885076" y="4065579"/>
            <a:ext cx="10473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000" u="none" cap="none" strike="noStrike">
                <a:solidFill>
                  <a:srgbClr val="1155CC"/>
                </a:solidFill>
                <a:latin typeface="Avenir"/>
                <a:ea typeface="Avenir"/>
                <a:cs typeface="Avenir"/>
                <a:sym typeface="Avenir"/>
              </a:rPr>
              <a:t>INDIVIDUALS VISITING HWC</a:t>
            </a:r>
            <a:endParaRPr b="0" i="0" sz="1000" u="none" cap="none" strike="noStrike">
              <a:solidFill>
                <a:srgbClr val="1155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7159849" y="5024104"/>
            <a:ext cx="18366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000" u="none" cap="none" strike="noStrike">
                <a:solidFill>
                  <a:srgbClr val="1155CC"/>
                </a:solidFill>
                <a:latin typeface="Avenir"/>
                <a:ea typeface="Avenir"/>
                <a:cs typeface="Avenir"/>
                <a:sym typeface="Avenir"/>
              </a:rPr>
              <a:t>SYMPTOMS &amp; COUGH AUDIO SAMPLES COLLECTED USING THE COUGH AGAINST TB APP</a:t>
            </a:r>
            <a:endParaRPr b="0" i="0" sz="1000" u="none" cap="none" strike="noStrike">
              <a:solidFill>
                <a:srgbClr val="1155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5848440" y="5697807"/>
            <a:ext cx="14064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000" u="none" cap="none" strike="noStrike">
                <a:solidFill>
                  <a:srgbClr val="1155CC"/>
                </a:solidFill>
                <a:latin typeface="Avenir"/>
                <a:ea typeface="Avenir"/>
                <a:cs typeface="Avenir"/>
                <a:sym typeface="Avenir"/>
              </a:rPr>
              <a:t>INDIVIDUALS CONTACTED </a:t>
            </a:r>
            <a:br>
              <a:rPr b="0" i="0" lang="en-US" sz="1000" u="none" cap="none" strike="noStrike">
                <a:solidFill>
                  <a:srgbClr val="1155CC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n-US" sz="1000" u="none" cap="none" strike="noStrike">
                <a:solidFill>
                  <a:srgbClr val="1155CC"/>
                </a:solidFill>
                <a:latin typeface="Avenir"/>
                <a:ea typeface="Avenir"/>
                <a:cs typeface="Avenir"/>
                <a:sym typeface="Avenir"/>
              </a:rPr>
              <a:t>DURING HOME VISITS </a:t>
            </a:r>
            <a:br>
              <a:rPr b="0" i="0" lang="en-US" sz="1000" u="none" cap="none" strike="noStrike">
                <a:solidFill>
                  <a:srgbClr val="1155CC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n-US" sz="1000" u="none" cap="none" strike="noStrike">
                <a:solidFill>
                  <a:srgbClr val="1155CC"/>
                </a:solidFill>
                <a:latin typeface="Avenir"/>
                <a:ea typeface="Avenir"/>
                <a:cs typeface="Avenir"/>
                <a:sym typeface="Avenir"/>
              </a:rPr>
              <a:t>BY FLWs</a:t>
            </a:r>
            <a:endParaRPr b="0" i="0" sz="1000" u="none" cap="none" strike="noStrike">
              <a:solidFill>
                <a:srgbClr val="1155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64" name="Google Shape;164;p22"/>
          <p:cNvCxnSpPr>
            <a:stCxn id="159" idx="3"/>
            <a:endCxn id="158" idx="1"/>
          </p:cNvCxnSpPr>
          <p:nvPr/>
        </p:nvCxnSpPr>
        <p:spPr>
          <a:xfrm flipH="1" rot="10800000">
            <a:off x="6702883" y="4602911"/>
            <a:ext cx="799500" cy="732900"/>
          </a:xfrm>
          <a:prstGeom prst="bentConnector3">
            <a:avLst>
              <a:gd fmla="val 50008" name="adj1"/>
            </a:avLst>
          </a:prstGeom>
          <a:noFill/>
          <a:ln cap="flat" cmpd="sng" w="15250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65" name="Google Shape;16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8268" y="4158735"/>
            <a:ext cx="455659" cy="812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 rotWithShape="1">
          <a:blip r:embed="rId8">
            <a:alphaModFix/>
          </a:blip>
          <a:srcRect b="0" l="1117" r="0" t="0"/>
          <a:stretch/>
        </p:blipFill>
        <p:spPr>
          <a:xfrm>
            <a:off x="9484093" y="3120082"/>
            <a:ext cx="663000" cy="773700"/>
          </a:xfrm>
          <a:prstGeom prst="roundRect">
            <a:avLst>
              <a:gd fmla="val 12565" name="adj"/>
            </a:avLst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74091" y="5334346"/>
            <a:ext cx="663000" cy="764700"/>
          </a:xfrm>
          <a:prstGeom prst="roundRect">
            <a:avLst>
              <a:gd fmla="val 12455" name="adj"/>
            </a:avLst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9229639" y="4168583"/>
            <a:ext cx="1171800" cy="891300"/>
          </a:xfrm>
          <a:prstGeom prst="roundRect">
            <a:avLst>
              <a:gd fmla="val 10569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9284360" y="4603160"/>
            <a:ext cx="10209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AI Model</a:t>
            </a:r>
            <a:endParaRPr b="0" i="0" sz="1300" u="none" cap="none" strike="noStrik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43239" y="4264315"/>
            <a:ext cx="324488" cy="4093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2"/>
          <p:cNvCxnSpPr>
            <a:stCxn id="168" idx="0"/>
            <a:endCxn id="166" idx="2"/>
          </p:cNvCxnSpPr>
          <p:nvPr/>
        </p:nvCxnSpPr>
        <p:spPr>
          <a:xfrm rot="10800000">
            <a:off x="9815539" y="3893783"/>
            <a:ext cx="0" cy="274800"/>
          </a:xfrm>
          <a:prstGeom prst="straightConnector1">
            <a:avLst/>
          </a:prstGeom>
          <a:noFill/>
          <a:ln cap="flat" cmpd="sng" w="15250">
            <a:solidFill>
              <a:srgbClr val="99999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22"/>
          <p:cNvCxnSpPr>
            <a:stCxn id="169" idx="2"/>
            <a:endCxn id="167" idx="0"/>
          </p:cNvCxnSpPr>
          <p:nvPr/>
        </p:nvCxnSpPr>
        <p:spPr>
          <a:xfrm>
            <a:off x="9794810" y="5098760"/>
            <a:ext cx="10800" cy="235500"/>
          </a:xfrm>
          <a:prstGeom prst="straightConnector1">
            <a:avLst/>
          </a:prstGeom>
          <a:noFill/>
          <a:ln cap="flat" cmpd="sng" w="15250">
            <a:solidFill>
              <a:srgbClr val="999999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173" name="Google Shape;173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8039" y="434999"/>
            <a:ext cx="1171679" cy="117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458725" y="7211095"/>
            <a:ext cx="1171674" cy="102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23"/>
          <p:cNvCxnSpPr/>
          <p:nvPr/>
        </p:nvCxnSpPr>
        <p:spPr>
          <a:xfrm>
            <a:off x="1011549" y="7193280"/>
            <a:ext cx="131958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>
            <a:off x="792640" y="4067140"/>
            <a:ext cx="98334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1" name="Google Shape;181;p23"/>
          <p:cNvCxnSpPr/>
          <p:nvPr/>
        </p:nvCxnSpPr>
        <p:spPr>
          <a:xfrm>
            <a:off x="1011560" y="5307760"/>
            <a:ext cx="97482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82" name="Google Shape;182;p23"/>
          <p:cNvSpPr/>
          <p:nvPr/>
        </p:nvSpPr>
        <p:spPr>
          <a:xfrm>
            <a:off x="5741040" y="2702560"/>
            <a:ext cx="4772700" cy="4506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83" name="Google Shape;183;p23"/>
          <p:cNvSpPr/>
          <p:nvPr/>
        </p:nvSpPr>
        <p:spPr>
          <a:xfrm>
            <a:off x="0" y="0"/>
            <a:ext cx="14630400" cy="167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1856998" y="588600"/>
            <a:ext cx="7689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5E7E"/>
              </a:buClr>
              <a:buSzPts val="2700"/>
              <a:buFont typeface="Trebuchet MS"/>
              <a:buNone/>
            </a:pPr>
            <a:r>
              <a:rPr lang="en-US" sz="2400">
                <a:solidFill>
                  <a:schemeClr val="dk2"/>
                </a:solidFill>
              </a:rPr>
              <a:t>Line Probe Assay Interpretation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5E7E"/>
              </a:buClr>
              <a:buSzPts val="2700"/>
              <a:buFont typeface="Trebuchet MS"/>
              <a:buNone/>
            </a:pPr>
            <a:r>
              <a:rPr i="1" lang="en-US" sz="1900">
                <a:solidFill>
                  <a:schemeClr val="dk2"/>
                </a:solidFill>
              </a:rPr>
              <a:t>Automating drug-resistance detection to accelerate MDR-TB diagnosis in public health systems</a:t>
            </a:r>
            <a:endParaRPr i="1" sz="1900">
              <a:solidFill>
                <a:schemeClr val="dk2"/>
              </a:solidFill>
            </a:endParaRPr>
          </a:p>
        </p:txBody>
      </p:sp>
      <p:grpSp>
        <p:nvGrpSpPr>
          <p:cNvPr id="185" name="Google Shape;185;p23"/>
          <p:cNvGrpSpPr/>
          <p:nvPr/>
        </p:nvGrpSpPr>
        <p:grpSpPr>
          <a:xfrm>
            <a:off x="9793895" y="390779"/>
            <a:ext cx="283338" cy="1040400"/>
            <a:chOff x="3184017" y="1638194"/>
            <a:chExt cx="236115" cy="867000"/>
          </a:xfrm>
        </p:grpSpPr>
        <p:cxnSp>
          <p:nvCxnSpPr>
            <p:cNvPr id="186" name="Google Shape;186;p23"/>
            <p:cNvCxnSpPr/>
            <p:nvPr/>
          </p:nvCxnSpPr>
          <p:spPr>
            <a:xfrm>
              <a:off x="3302000" y="1638194"/>
              <a:ext cx="0" cy="867000"/>
            </a:xfrm>
            <a:prstGeom prst="straightConnector1">
              <a:avLst/>
            </a:prstGeom>
            <a:noFill/>
            <a:ln cap="rnd" cmpd="sng" w="15250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87" name="Google Shape;187;p23"/>
            <p:cNvGrpSpPr/>
            <p:nvPr/>
          </p:nvGrpSpPr>
          <p:grpSpPr>
            <a:xfrm>
              <a:off x="3184017" y="1953718"/>
              <a:ext cx="236115" cy="236115"/>
              <a:chOff x="982662" y="1847850"/>
              <a:chExt cx="270000" cy="270000"/>
            </a:xfrm>
          </p:grpSpPr>
          <p:sp>
            <p:nvSpPr>
              <p:cNvPr id="188" name="Google Shape;188;p23"/>
              <p:cNvSpPr/>
              <p:nvPr/>
            </p:nvSpPr>
            <p:spPr>
              <a:xfrm>
                <a:off x="982662" y="1847850"/>
                <a:ext cx="270000" cy="27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54850" lIns="109725" spcFirstLastPara="1" rIns="109725" wrap="square" tIns="54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189" name="Google Shape;189;p23"/>
              <p:cNvSpPr/>
              <p:nvPr/>
            </p:nvSpPr>
            <p:spPr>
              <a:xfrm>
                <a:off x="1082675" y="1895475"/>
                <a:ext cx="96837" cy="174625"/>
              </a:xfrm>
              <a:custGeom>
                <a:rect b="b" l="l" r="r" t="t"/>
                <a:pathLst>
                  <a:path extrusionOk="0" h="110" w="61">
                    <a:moveTo>
                      <a:pt x="6" y="0"/>
                    </a:moveTo>
                    <a:lnTo>
                      <a:pt x="0" y="7"/>
                    </a:lnTo>
                    <a:lnTo>
                      <a:pt x="48" y="55"/>
                    </a:lnTo>
                    <a:lnTo>
                      <a:pt x="0" y="104"/>
                    </a:lnTo>
                    <a:lnTo>
                      <a:pt x="6" y="110"/>
                    </a:lnTo>
                    <a:lnTo>
                      <a:pt x="54" y="62"/>
                    </a:lnTo>
                    <a:lnTo>
                      <a:pt x="61" y="55"/>
                    </a:lnTo>
                    <a:lnTo>
                      <a:pt x="54" y="4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4850" lIns="109725" spcFirstLastPara="1" rIns="109725" wrap="square" tIns="54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190" name="Google Shape;190;p23"/>
          <p:cNvSpPr/>
          <p:nvPr/>
        </p:nvSpPr>
        <p:spPr>
          <a:xfrm flipH="1">
            <a:off x="10182620" y="120880"/>
            <a:ext cx="4261500" cy="145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rnd" cmpd="sng" w="15250">
            <a:solidFill>
              <a:srgbClr val="1B6E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automation of LPA strip interpretation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Supports lab technicians with limited training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Reduces manual interpretation errors Designed for modular integration into public health lab workflows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3"/>
          <p:cNvSpPr/>
          <p:nvPr/>
        </p:nvSpPr>
        <p:spPr>
          <a:xfrm rot="-5400000">
            <a:off x="15049" y="3091126"/>
            <a:ext cx="12969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Context</a:t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23"/>
          <p:cNvSpPr/>
          <p:nvPr/>
        </p:nvSpPr>
        <p:spPr>
          <a:xfrm rot="-5400000">
            <a:off x="24799" y="4443196"/>
            <a:ext cx="12774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Goal</a:t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23"/>
          <p:cNvSpPr/>
          <p:nvPr/>
        </p:nvSpPr>
        <p:spPr>
          <a:xfrm rot="-5400000">
            <a:off x="-246850" y="6056950"/>
            <a:ext cx="18207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Architecture</a:t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1725920" y="2786880"/>
            <a:ext cx="37809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interpretation of Line Probe Assay (LPA) strips is time-intensive, error-prone, and requires specialized training. Delays and inaccuracies in LPA reading contribute to late diagnosis and inappropriate treatment initiation for drug-resistant TB cases</a:t>
            </a:r>
            <a:endParaRPr sz="12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1752280" y="4175060"/>
            <a:ext cx="37809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Enable faster, more accurate detection of drug-resistant TB by automating the interpretation of LPA strips using machine learning models, supporting frontline laboratory technicians and reducing dependency on centralized expertise</a:t>
            </a:r>
            <a:endParaRPr sz="12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1725920" y="5421440"/>
            <a:ext cx="3780900" cy="16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-US" sz="1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Digital images of LPA strips uploaded via web interface</a:t>
            </a:r>
            <a:endParaRPr sz="1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AI Model: </a:t>
            </a:r>
            <a:r>
              <a:rPr lang="en-US" sz="1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Image processing model trained to interpret band patterns for drug-resistance determination</a:t>
            </a:r>
            <a:endParaRPr sz="1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r>
              <a:rPr lang="en-US" sz="1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Automated classification into susceptible/ resistant categories for 1st line and 2nd line TB drugs</a:t>
            </a:r>
            <a:endParaRPr sz="1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Mobile-compatible dashboard for result review and data submission</a:t>
            </a:r>
            <a:endParaRPr sz="1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with national TB program systems</a:t>
            </a:r>
            <a:endParaRPr sz="1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97" name="Google Shape;197;p23"/>
          <p:cNvCxnSpPr/>
          <p:nvPr/>
        </p:nvCxnSpPr>
        <p:spPr>
          <a:xfrm>
            <a:off x="5595600" y="2673900"/>
            <a:ext cx="9000" cy="45399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descr="File:Page issue icon - high.svg - Wikimedia Commons" id="198" name="Google Shape;1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777" y="3040920"/>
            <a:ext cx="587140" cy="58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760" y="4401520"/>
            <a:ext cx="587159" cy="58715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>
            <a:off x="1009120" y="2558000"/>
            <a:ext cx="13260900" cy="82200"/>
          </a:xfrm>
          <a:prstGeom prst="rect">
            <a:avLst/>
          </a:prstGeom>
          <a:solidFill>
            <a:srgbClr val="459965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1" name="Google Shape;201;p23"/>
          <p:cNvGrpSpPr/>
          <p:nvPr/>
        </p:nvGrpSpPr>
        <p:grpSpPr>
          <a:xfrm>
            <a:off x="1050397" y="6024408"/>
            <a:ext cx="691719" cy="691719"/>
            <a:chOff x="1113743" y="1826004"/>
            <a:chExt cx="1644600" cy="1644600"/>
          </a:xfrm>
        </p:grpSpPr>
        <p:sp>
          <p:nvSpPr>
            <p:cNvPr id="202" name="Google Shape;202;p23"/>
            <p:cNvSpPr/>
            <p:nvPr/>
          </p:nvSpPr>
          <p:spPr>
            <a:xfrm>
              <a:off x="1113743" y="1826004"/>
              <a:ext cx="1644600" cy="16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2900"/>
                <a:buFont typeface="Trebuchet MS"/>
                <a:buNone/>
              </a:pPr>
              <a:r>
                <a:t/>
              </a:r>
              <a:endParaRPr b="0" i="0" sz="2900" u="none" cap="none" strike="noStrike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203" name="Google Shape;203;p23"/>
            <p:cNvGrpSpPr/>
            <p:nvPr/>
          </p:nvGrpSpPr>
          <p:grpSpPr>
            <a:xfrm>
              <a:off x="1486806" y="2108579"/>
              <a:ext cx="898526" cy="1192213"/>
              <a:chOff x="1486806" y="2108579"/>
              <a:chExt cx="898526" cy="1192213"/>
            </a:xfrm>
          </p:grpSpPr>
          <p:sp>
            <p:nvSpPr>
              <p:cNvPr id="204" name="Google Shape;204;p23"/>
              <p:cNvSpPr/>
              <p:nvPr/>
            </p:nvSpPr>
            <p:spPr>
              <a:xfrm>
                <a:off x="1486806" y="2108579"/>
                <a:ext cx="898526" cy="1192213"/>
              </a:xfrm>
              <a:custGeom>
                <a:rect b="b" l="l" r="r" t="t"/>
                <a:pathLst>
                  <a:path extrusionOk="0" h="1671" w="1258">
                    <a:moveTo>
                      <a:pt x="1236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9" y="0"/>
                      <a:pt x="0" y="10"/>
                      <a:pt x="0" y="22"/>
                    </a:cubicBezTo>
                    <a:cubicBezTo>
                      <a:pt x="0" y="1649"/>
                      <a:pt x="0" y="1649"/>
                      <a:pt x="0" y="1649"/>
                    </a:cubicBezTo>
                    <a:cubicBezTo>
                      <a:pt x="0" y="1662"/>
                      <a:pt x="9" y="1671"/>
                      <a:pt x="22" y="1671"/>
                    </a:cubicBezTo>
                    <a:cubicBezTo>
                      <a:pt x="1236" y="1671"/>
                      <a:pt x="1236" y="1671"/>
                      <a:pt x="1236" y="1671"/>
                    </a:cubicBezTo>
                    <a:cubicBezTo>
                      <a:pt x="1249" y="1671"/>
                      <a:pt x="1258" y="1662"/>
                      <a:pt x="1258" y="1649"/>
                    </a:cubicBezTo>
                    <a:cubicBezTo>
                      <a:pt x="1258" y="22"/>
                      <a:pt x="1258" y="22"/>
                      <a:pt x="1258" y="22"/>
                    </a:cubicBezTo>
                    <a:cubicBezTo>
                      <a:pt x="1258" y="10"/>
                      <a:pt x="1249" y="0"/>
                      <a:pt x="1236" y="0"/>
                    </a:cubicBezTo>
                    <a:close/>
                    <a:moveTo>
                      <a:pt x="1213" y="1626"/>
                    </a:moveTo>
                    <a:cubicBezTo>
                      <a:pt x="45" y="1626"/>
                      <a:pt x="45" y="1626"/>
                      <a:pt x="45" y="162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1213" y="44"/>
                      <a:pt x="1213" y="44"/>
                      <a:pt x="1213" y="44"/>
                    </a:cubicBezTo>
                    <a:lnTo>
                      <a:pt x="1213" y="1626"/>
                    </a:lnTo>
                    <a:close/>
                    <a:moveTo>
                      <a:pt x="462" y="1175"/>
                    </a:moveTo>
                    <a:cubicBezTo>
                      <a:pt x="465" y="1176"/>
                      <a:pt x="468" y="1177"/>
                      <a:pt x="472" y="1177"/>
                    </a:cubicBezTo>
                    <a:cubicBezTo>
                      <a:pt x="480" y="1177"/>
                      <a:pt x="487" y="1173"/>
                      <a:pt x="491" y="1165"/>
                    </a:cubicBezTo>
                    <a:cubicBezTo>
                      <a:pt x="491" y="1165"/>
                      <a:pt x="491" y="1165"/>
                      <a:pt x="825" y="525"/>
                    </a:cubicBezTo>
                    <a:cubicBezTo>
                      <a:pt x="831" y="514"/>
                      <a:pt x="827" y="501"/>
                      <a:pt x="816" y="495"/>
                    </a:cubicBezTo>
                    <a:cubicBezTo>
                      <a:pt x="805" y="490"/>
                      <a:pt x="792" y="494"/>
                      <a:pt x="786" y="504"/>
                    </a:cubicBezTo>
                    <a:cubicBezTo>
                      <a:pt x="786" y="504"/>
                      <a:pt x="786" y="504"/>
                      <a:pt x="452" y="1145"/>
                    </a:cubicBezTo>
                    <a:cubicBezTo>
                      <a:pt x="447" y="1156"/>
                      <a:pt x="451" y="1169"/>
                      <a:pt x="462" y="1175"/>
                    </a:cubicBezTo>
                    <a:close/>
                    <a:moveTo>
                      <a:pt x="214" y="879"/>
                    </a:moveTo>
                    <a:cubicBezTo>
                      <a:pt x="214" y="879"/>
                      <a:pt x="214" y="879"/>
                      <a:pt x="392" y="1058"/>
                    </a:cubicBezTo>
                    <a:cubicBezTo>
                      <a:pt x="397" y="1062"/>
                      <a:pt x="402" y="1064"/>
                      <a:pt x="408" y="1064"/>
                    </a:cubicBezTo>
                    <a:cubicBezTo>
                      <a:pt x="413" y="1064"/>
                      <a:pt x="419" y="1062"/>
                      <a:pt x="423" y="1058"/>
                    </a:cubicBezTo>
                    <a:cubicBezTo>
                      <a:pt x="432" y="1049"/>
                      <a:pt x="432" y="1035"/>
                      <a:pt x="423" y="1027"/>
                    </a:cubicBezTo>
                    <a:cubicBezTo>
                      <a:pt x="423" y="1027"/>
                      <a:pt x="423" y="1027"/>
                      <a:pt x="259" y="862"/>
                    </a:cubicBezTo>
                    <a:cubicBezTo>
                      <a:pt x="259" y="862"/>
                      <a:pt x="259" y="862"/>
                      <a:pt x="510" y="608"/>
                    </a:cubicBezTo>
                    <a:cubicBezTo>
                      <a:pt x="519" y="600"/>
                      <a:pt x="519" y="586"/>
                      <a:pt x="510" y="577"/>
                    </a:cubicBezTo>
                    <a:cubicBezTo>
                      <a:pt x="502" y="569"/>
                      <a:pt x="488" y="569"/>
                      <a:pt x="479" y="577"/>
                    </a:cubicBezTo>
                    <a:cubicBezTo>
                      <a:pt x="479" y="577"/>
                      <a:pt x="479" y="577"/>
                      <a:pt x="214" y="844"/>
                    </a:cubicBezTo>
                    <a:cubicBezTo>
                      <a:pt x="214" y="845"/>
                      <a:pt x="213" y="845"/>
                      <a:pt x="212" y="846"/>
                    </a:cubicBezTo>
                    <a:cubicBezTo>
                      <a:pt x="208" y="850"/>
                      <a:pt x="206" y="856"/>
                      <a:pt x="206" y="862"/>
                    </a:cubicBezTo>
                    <a:cubicBezTo>
                      <a:pt x="206" y="867"/>
                      <a:pt x="208" y="873"/>
                      <a:pt x="212" y="877"/>
                    </a:cubicBezTo>
                    <a:cubicBezTo>
                      <a:pt x="213" y="878"/>
                      <a:pt x="214" y="878"/>
                      <a:pt x="214" y="879"/>
                    </a:cubicBezTo>
                    <a:close/>
                    <a:moveTo>
                      <a:pt x="998" y="861"/>
                    </a:moveTo>
                    <a:cubicBezTo>
                      <a:pt x="998" y="861"/>
                      <a:pt x="998" y="861"/>
                      <a:pt x="747" y="1113"/>
                    </a:cubicBezTo>
                    <a:cubicBezTo>
                      <a:pt x="739" y="1122"/>
                      <a:pt x="739" y="1136"/>
                      <a:pt x="747" y="1144"/>
                    </a:cubicBezTo>
                    <a:cubicBezTo>
                      <a:pt x="751" y="1148"/>
                      <a:pt x="757" y="1151"/>
                      <a:pt x="763" y="1151"/>
                    </a:cubicBezTo>
                    <a:cubicBezTo>
                      <a:pt x="768" y="1151"/>
                      <a:pt x="774" y="1148"/>
                      <a:pt x="778" y="1144"/>
                    </a:cubicBezTo>
                    <a:cubicBezTo>
                      <a:pt x="778" y="1144"/>
                      <a:pt x="778" y="1144"/>
                      <a:pt x="1043" y="878"/>
                    </a:cubicBezTo>
                    <a:cubicBezTo>
                      <a:pt x="1044" y="878"/>
                      <a:pt x="1045" y="877"/>
                      <a:pt x="1045" y="877"/>
                    </a:cubicBezTo>
                    <a:cubicBezTo>
                      <a:pt x="1050" y="872"/>
                      <a:pt x="1052" y="867"/>
                      <a:pt x="1052" y="861"/>
                    </a:cubicBezTo>
                    <a:cubicBezTo>
                      <a:pt x="1052" y="855"/>
                      <a:pt x="1050" y="849"/>
                      <a:pt x="1045" y="845"/>
                    </a:cubicBezTo>
                    <a:cubicBezTo>
                      <a:pt x="1045" y="844"/>
                      <a:pt x="1044" y="844"/>
                      <a:pt x="1043" y="843"/>
                    </a:cubicBezTo>
                    <a:cubicBezTo>
                      <a:pt x="1043" y="843"/>
                      <a:pt x="1043" y="843"/>
                      <a:pt x="865" y="665"/>
                    </a:cubicBezTo>
                    <a:cubicBezTo>
                      <a:pt x="857" y="656"/>
                      <a:pt x="843" y="656"/>
                      <a:pt x="834" y="665"/>
                    </a:cubicBezTo>
                    <a:cubicBezTo>
                      <a:pt x="826" y="673"/>
                      <a:pt x="826" y="687"/>
                      <a:pt x="834" y="696"/>
                    </a:cubicBezTo>
                    <a:cubicBezTo>
                      <a:pt x="834" y="696"/>
                      <a:pt x="834" y="696"/>
                      <a:pt x="998" y="861"/>
                    </a:cubicBezTo>
                    <a:close/>
                  </a:path>
                </a:pathLst>
              </a:custGeom>
              <a:solidFill>
                <a:srgbClr val="03522D"/>
              </a:solidFill>
              <a:ln>
                <a:noFill/>
              </a:ln>
            </p:spPr>
            <p:txBody>
              <a:bodyPr anchorCtr="0" anchor="t" bIns="73125" lIns="146275" spcFirstLastPara="1" rIns="146275" wrap="square" tIns="73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75757"/>
                  </a:buClr>
                  <a:buSzPts val="2900"/>
                  <a:buFont typeface="Trebuchet MS"/>
                  <a:buNone/>
                </a:pPr>
                <a:r>
                  <a:t/>
                </a:r>
                <a:endParaRPr b="0" i="0" sz="2900" u="none" cap="none" strike="noStrike">
                  <a:solidFill>
                    <a:srgbClr val="575757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05" name="Google Shape;205;p23"/>
              <p:cNvSpPr/>
              <p:nvPr/>
            </p:nvSpPr>
            <p:spPr>
              <a:xfrm>
                <a:off x="1648731" y="2294317"/>
                <a:ext cx="574676" cy="820739"/>
              </a:xfrm>
              <a:custGeom>
                <a:rect b="b" l="l" r="r" t="t"/>
                <a:pathLst>
                  <a:path extrusionOk="0" h="1149" w="806">
                    <a:moveTo>
                      <a:pt x="776" y="729"/>
                    </a:moveTo>
                    <a:cubicBezTo>
                      <a:pt x="776" y="729"/>
                      <a:pt x="776" y="729"/>
                      <a:pt x="767" y="729"/>
                    </a:cubicBezTo>
                    <a:cubicBezTo>
                      <a:pt x="712" y="784"/>
                      <a:pt x="712" y="784"/>
                      <a:pt x="712" y="784"/>
                    </a:cubicBezTo>
                    <a:cubicBezTo>
                      <a:pt x="776" y="784"/>
                      <a:pt x="776" y="784"/>
                      <a:pt x="776" y="784"/>
                    </a:cubicBezTo>
                    <a:cubicBezTo>
                      <a:pt x="793" y="784"/>
                      <a:pt x="804" y="771"/>
                      <a:pt x="804" y="756"/>
                    </a:cubicBezTo>
                    <a:cubicBezTo>
                      <a:pt x="804" y="741"/>
                      <a:pt x="793" y="729"/>
                      <a:pt x="776" y="729"/>
                    </a:cubicBezTo>
                    <a:close/>
                    <a:moveTo>
                      <a:pt x="777" y="1093"/>
                    </a:moveTo>
                    <a:cubicBezTo>
                      <a:pt x="777" y="1093"/>
                      <a:pt x="777" y="1093"/>
                      <a:pt x="28" y="1093"/>
                    </a:cubicBezTo>
                    <a:cubicBezTo>
                      <a:pt x="13" y="1093"/>
                      <a:pt x="0" y="1105"/>
                      <a:pt x="0" y="1120"/>
                    </a:cubicBezTo>
                    <a:cubicBezTo>
                      <a:pt x="0" y="1124"/>
                      <a:pt x="1" y="1127"/>
                      <a:pt x="2" y="1131"/>
                    </a:cubicBezTo>
                    <a:cubicBezTo>
                      <a:pt x="6" y="1141"/>
                      <a:pt x="16" y="1149"/>
                      <a:pt x="28" y="1149"/>
                    </a:cubicBezTo>
                    <a:cubicBezTo>
                      <a:pt x="28" y="1149"/>
                      <a:pt x="28" y="1149"/>
                      <a:pt x="778" y="1149"/>
                    </a:cubicBezTo>
                    <a:cubicBezTo>
                      <a:pt x="794" y="1149"/>
                      <a:pt x="806" y="1137"/>
                      <a:pt x="806" y="1123"/>
                    </a:cubicBezTo>
                    <a:cubicBezTo>
                      <a:pt x="806" y="1120"/>
                      <a:pt x="805" y="1117"/>
                      <a:pt x="804" y="1115"/>
                    </a:cubicBezTo>
                    <a:cubicBezTo>
                      <a:pt x="802" y="1102"/>
                      <a:pt x="791" y="1093"/>
                      <a:pt x="777" y="1093"/>
                    </a:cubicBezTo>
                    <a:close/>
                    <a:moveTo>
                      <a:pt x="28" y="784"/>
                    </a:moveTo>
                    <a:cubicBezTo>
                      <a:pt x="28" y="784"/>
                      <a:pt x="28" y="784"/>
                      <a:pt x="92" y="784"/>
                    </a:cubicBezTo>
                    <a:cubicBezTo>
                      <a:pt x="37" y="729"/>
                      <a:pt x="37" y="729"/>
                      <a:pt x="37" y="729"/>
                    </a:cubicBezTo>
                    <a:cubicBezTo>
                      <a:pt x="28" y="729"/>
                      <a:pt x="28" y="729"/>
                      <a:pt x="28" y="729"/>
                    </a:cubicBezTo>
                    <a:cubicBezTo>
                      <a:pt x="13" y="729"/>
                      <a:pt x="0" y="741"/>
                      <a:pt x="0" y="756"/>
                    </a:cubicBezTo>
                    <a:cubicBezTo>
                      <a:pt x="0" y="771"/>
                      <a:pt x="13" y="784"/>
                      <a:pt x="28" y="784"/>
                    </a:cubicBezTo>
                    <a:close/>
                    <a:moveTo>
                      <a:pt x="28" y="967"/>
                    </a:moveTo>
                    <a:cubicBezTo>
                      <a:pt x="28" y="967"/>
                      <a:pt x="28" y="967"/>
                      <a:pt x="778" y="967"/>
                    </a:cubicBezTo>
                    <a:cubicBezTo>
                      <a:pt x="794" y="967"/>
                      <a:pt x="806" y="954"/>
                      <a:pt x="806" y="939"/>
                    </a:cubicBezTo>
                    <a:cubicBezTo>
                      <a:pt x="806" y="934"/>
                      <a:pt x="804" y="930"/>
                      <a:pt x="802" y="926"/>
                    </a:cubicBezTo>
                    <a:cubicBezTo>
                      <a:pt x="797" y="917"/>
                      <a:pt x="789" y="911"/>
                      <a:pt x="777" y="911"/>
                    </a:cubicBezTo>
                    <a:cubicBezTo>
                      <a:pt x="777" y="911"/>
                      <a:pt x="777" y="911"/>
                      <a:pt x="586" y="911"/>
                    </a:cubicBezTo>
                    <a:cubicBezTo>
                      <a:pt x="583" y="913"/>
                      <a:pt x="583" y="913"/>
                      <a:pt x="583" y="913"/>
                    </a:cubicBezTo>
                    <a:cubicBezTo>
                      <a:pt x="571" y="926"/>
                      <a:pt x="554" y="933"/>
                      <a:pt x="537" y="933"/>
                    </a:cubicBezTo>
                    <a:cubicBezTo>
                      <a:pt x="520" y="933"/>
                      <a:pt x="503" y="926"/>
                      <a:pt x="490" y="913"/>
                    </a:cubicBezTo>
                    <a:cubicBezTo>
                      <a:pt x="489" y="913"/>
                      <a:pt x="488" y="912"/>
                      <a:pt x="488" y="911"/>
                    </a:cubicBezTo>
                    <a:cubicBezTo>
                      <a:pt x="311" y="911"/>
                      <a:pt x="311" y="911"/>
                      <a:pt x="311" y="911"/>
                    </a:cubicBezTo>
                    <a:cubicBezTo>
                      <a:pt x="304" y="924"/>
                      <a:pt x="304" y="924"/>
                      <a:pt x="304" y="924"/>
                    </a:cubicBezTo>
                    <a:cubicBezTo>
                      <a:pt x="293" y="946"/>
                      <a:pt x="271" y="959"/>
                      <a:pt x="246" y="959"/>
                    </a:cubicBezTo>
                    <a:cubicBezTo>
                      <a:pt x="235" y="959"/>
                      <a:pt x="227" y="957"/>
                      <a:pt x="222" y="955"/>
                    </a:cubicBezTo>
                    <a:cubicBezTo>
                      <a:pt x="218" y="954"/>
                      <a:pt x="218" y="954"/>
                      <a:pt x="218" y="954"/>
                    </a:cubicBezTo>
                    <a:cubicBezTo>
                      <a:pt x="215" y="952"/>
                      <a:pt x="215" y="952"/>
                      <a:pt x="215" y="952"/>
                    </a:cubicBezTo>
                    <a:cubicBezTo>
                      <a:pt x="198" y="943"/>
                      <a:pt x="187" y="928"/>
                      <a:pt x="182" y="911"/>
                    </a:cubicBezTo>
                    <a:cubicBezTo>
                      <a:pt x="28" y="911"/>
                      <a:pt x="28" y="911"/>
                      <a:pt x="28" y="911"/>
                    </a:cubicBezTo>
                    <a:cubicBezTo>
                      <a:pt x="13" y="911"/>
                      <a:pt x="0" y="924"/>
                      <a:pt x="0" y="938"/>
                    </a:cubicBezTo>
                    <a:cubicBezTo>
                      <a:pt x="0" y="945"/>
                      <a:pt x="3" y="951"/>
                      <a:pt x="7" y="956"/>
                    </a:cubicBezTo>
                    <a:cubicBezTo>
                      <a:pt x="12" y="963"/>
                      <a:pt x="20" y="967"/>
                      <a:pt x="28" y="967"/>
                    </a:cubicBezTo>
                    <a:close/>
                    <a:moveTo>
                      <a:pt x="28" y="238"/>
                    </a:moveTo>
                    <a:cubicBezTo>
                      <a:pt x="28" y="238"/>
                      <a:pt x="28" y="238"/>
                      <a:pt x="513" y="238"/>
                    </a:cubicBezTo>
                    <a:cubicBezTo>
                      <a:pt x="522" y="221"/>
                      <a:pt x="522" y="221"/>
                      <a:pt x="522" y="221"/>
                    </a:cubicBezTo>
                    <a:cubicBezTo>
                      <a:pt x="522" y="220"/>
                      <a:pt x="522" y="220"/>
                      <a:pt x="522" y="220"/>
                    </a:cubicBezTo>
                    <a:cubicBezTo>
                      <a:pt x="534" y="200"/>
                      <a:pt x="556" y="187"/>
                      <a:pt x="580" y="187"/>
                    </a:cubicBezTo>
                    <a:cubicBezTo>
                      <a:pt x="590" y="187"/>
                      <a:pt x="599" y="189"/>
                      <a:pt x="608" y="193"/>
                    </a:cubicBezTo>
                    <a:cubicBezTo>
                      <a:pt x="610" y="194"/>
                      <a:pt x="610" y="194"/>
                      <a:pt x="610" y="194"/>
                    </a:cubicBezTo>
                    <a:cubicBezTo>
                      <a:pt x="611" y="195"/>
                      <a:pt x="611" y="195"/>
                      <a:pt x="611" y="195"/>
                    </a:cubicBezTo>
                    <a:cubicBezTo>
                      <a:pt x="629" y="204"/>
                      <a:pt x="640" y="220"/>
                      <a:pt x="644" y="238"/>
                    </a:cubicBezTo>
                    <a:cubicBezTo>
                      <a:pt x="776" y="238"/>
                      <a:pt x="776" y="238"/>
                      <a:pt x="776" y="238"/>
                    </a:cubicBezTo>
                    <a:cubicBezTo>
                      <a:pt x="793" y="238"/>
                      <a:pt x="804" y="225"/>
                      <a:pt x="804" y="209"/>
                    </a:cubicBezTo>
                    <a:cubicBezTo>
                      <a:pt x="804" y="194"/>
                      <a:pt x="793" y="182"/>
                      <a:pt x="776" y="182"/>
                    </a:cubicBezTo>
                    <a:cubicBezTo>
                      <a:pt x="776" y="182"/>
                      <a:pt x="776" y="182"/>
                      <a:pt x="28" y="182"/>
                    </a:cubicBezTo>
                    <a:cubicBezTo>
                      <a:pt x="13" y="182"/>
                      <a:pt x="0" y="194"/>
                      <a:pt x="0" y="209"/>
                    </a:cubicBezTo>
                    <a:cubicBezTo>
                      <a:pt x="0" y="225"/>
                      <a:pt x="13" y="238"/>
                      <a:pt x="28" y="238"/>
                    </a:cubicBezTo>
                    <a:close/>
                    <a:moveTo>
                      <a:pt x="28" y="418"/>
                    </a:moveTo>
                    <a:cubicBezTo>
                      <a:pt x="28" y="418"/>
                      <a:pt x="28" y="418"/>
                      <a:pt x="89" y="418"/>
                    </a:cubicBezTo>
                    <a:cubicBezTo>
                      <a:pt x="142" y="364"/>
                      <a:pt x="142" y="364"/>
                      <a:pt x="142" y="364"/>
                    </a:cubicBezTo>
                    <a:cubicBezTo>
                      <a:pt x="28" y="364"/>
                      <a:pt x="28" y="364"/>
                      <a:pt x="28" y="364"/>
                    </a:cubicBezTo>
                    <a:cubicBezTo>
                      <a:pt x="13" y="364"/>
                      <a:pt x="0" y="377"/>
                      <a:pt x="0" y="392"/>
                    </a:cubicBezTo>
                    <a:cubicBezTo>
                      <a:pt x="0" y="406"/>
                      <a:pt x="13" y="418"/>
                      <a:pt x="28" y="418"/>
                    </a:cubicBezTo>
                    <a:close/>
                    <a:moveTo>
                      <a:pt x="28" y="56"/>
                    </a:moveTo>
                    <a:cubicBezTo>
                      <a:pt x="28" y="56"/>
                      <a:pt x="28" y="56"/>
                      <a:pt x="776" y="56"/>
                    </a:cubicBezTo>
                    <a:cubicBezTo>
                      <a:pt x="793" y="56"/>
                      <a:pt x="804" y="43"/>
                      <a:pt x="804" y="28"/>
                    </a:cubicBezTo>
                    <a:cubicBezTo>
                      <a:pt x="804" y="11"/>
                      <a:pt x="793" y="0"/>
                      <a:pt x="776" y="0"/>
                    </a:cubicBezTo>
                    <a:cubicBezTo>
                      <a:pt x="776" y="0"/>
                      <a:pt x="776" y="0"/>
                      <a:pt x="28" y="0"/>
                    </a:cubicBezTo>
                    <a:cubicBezTo>
                      <a:pt x="13" y="0"/>
                      <a:pt x="0" y="11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lose/>
                    <a:moveTo>
                      <a:pt x="776" y="364"/>
                    </a:moveTo>
                    <a:cubicBezTo>
                      <a:pt x="776" y="364"/>
                      <a:pt x="776" y="364"/>
                      <a:pt x="662" y="364"/>
                    </a:cubicBezTo>
                    <a:cubicBezTo>
                      <a:pt x="665" y="367"/>
                      <a:pt x="668" y="369"/>
                      <a:pt x="671" y="372"/>
                    </a:cubicBezTo>
                    <a:cubicBezTo>
                      <a:pt x="716" y="418"/>
                      <a:pt x="716" y="418"/>
                      <a:pt x="716" y="418"/>
                    </a:cubicBezTo>
                    <a:cubicBezTo>
                      <a:pt x="776" y="418"/>
                      <a:pt x="776" y="418"/>
                      <a:pt x="776" y="418"/>
                    </a:cubicBezTo>
                    <a:cubicBezTo>
                      <a:pt x="793" y="418"/>
                      <a:pt x="804" y="406"/>
                      <a:pt x="804" y="392"/>
                    </a:cubicBezTo>
                    <a:cubicBezTo>
                      <a:pt x="804" y="377"/>
                      <a:pt x="793" y="364"/>
                      <a:pt x="776" y="364"/>
                    </a:cubicBezTo>
                    <a:close/>
                  </a:path>
                </a:pathLst>
              </a:custGeom>
              <a:solidFill>
                <a:srgbClr val="1B6EB3"/>
              </a:solidFill>
              <a:ln>
                <a:noFill/>
              </a:ln>
            </p:spPr>
            <p:txBody>
              <a:bodyPr anchorCtr="0" anchor="t" bIns="73125" lIns="146275" spcFirstLastPara="1" rIns="146275" wrap="square" tIns="73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75757"/>
                  </a:buClr>
                  <a:buSzPts val="2900"/>
                  <a:buFont typeface="Trebuchet MS"/>
                  <a:buNone/>
                </a:pPr>
                <a:r>
                  <a:t/>
                </a:r>
                <a:endParaRPr b="0" i="0" sz="2900" u="none" cap="none" strike="noStrike">
                  <a:solidFill>
                    <a:srgbClr val="575757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206" name="Google Shape;206;p23"/>
          <p:cNvSpPr/>
          <p:nvPr/>
        </p:nvSpPr>
        <p:spPr>
          <a:xfrm>
            <a:off x="1042960" y="2236120"/>
            <a:ext cx="45528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​"/>
            </a:pPr>
            <a:r>
              <a:rPr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Overview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730880" y="2236120"/>
            <a:ext cx="47727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​"/>
            </a:pPr>
            <a:r>
              <a:rPr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Workflow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08" name="Google Shape;208;p23"/>
          <p:cNvCxnSpPr/>
          <p:nvPr/>
        </p:nvCxnSpPr>
        <p:spPr>
          <a:xfrm>
            <a:off x="10645040" y="2617400"/>
            <a:ext cx="0" cy="46911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09" name="Google Shape;209;p23"/>
          <p:cNvSpPr/>
          <p:nvPr/>
        </p:nvSpPr>
        <p:spPr>
          <a:xfrm>
            <a:off x="10638640" y="2236120"/>
            <a:ext cx="36318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​"/>
            </a:pPr>
            <a:r>
              <a:rPr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 &amp; validation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14308800" y="4530620"/>
            <a:ext cx="321600" cy="35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11" name="Google Shape;211;p23"/>
          <p:cNvSpPr/>
          <p:nvPr/>
        </p:nvSpPr>
        <p:spPr>
          <a:xfrm>
            <a:off x="10503520" y="2702320"/>
            <a:ext cx="3631800" cy="45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63550" lvl="0" marL="73660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Trebuchet MS"/>
              <a:buChar char="●"/>
            </a:pP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Integrated into India’s</a:t>
            </a:r>
            <a:r>
              <a:rPr lang="en-US" sz="15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Ni-kshay platform for</a:t>
            </a: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 national TB program scale-up</a:t>
            </a:r>
            <a:endParaRPr sz="1500">
              <a:solidFill>
                <a:srgbClr val="E71C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63550" lvl="0" marL="736600" marR="0" rtl="0" algn="l">
              <a:spcBef>
                <a:spcPts val="160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Trebuchet MS"/>
              <a:buChar char="●"/>
            </a:pP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97.3% accuracy </a:t>
            </a:r>
            <a:r>
              <a:rPr lang="en-US" sz="15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 </a:t>
            </a:r>
            <a:r>
              <a:rPr lang="en-US" sz="15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detecting resistance for </a:t>
            </a: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first-line drugs</a:t>
            </a:r>
            <a:endParaRPr sz="1500">
              <a:solidFill>
                <a:srgbClr val="E71C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63550" lvl="0" marL="736600" marR="0" rtl="0" algn="l">
              <a:spcBef>
                <a:spcPts val="160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Trebuchet MS"/>
              <a:buChar char="●"/>
            </a:pP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100% accuracy for second-line</a:t>
            </a:r>
            <a:r>
              <a:rPr lang="en-US" sz="15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drug resistance detection</a:t>
            </a:r>
            <a:endParaRPr sz="15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63550" lvl="0" marL="736600" marR="0" rtl="0" algn="l">
              <a:spcBef>
                <a:spcPts val="160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Trebuchet MS"/>
              <a:buChar char="●"/>
            </a:pP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Reduced</a:t>
            </a:r>
            <a:r>
              <a:rPr lang="en-US" sz="15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LPA </a:t>
            </a: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report turnaround</a:t>
            </a:r>
            <a:r>
              <a:rPr lang="en-US" sz="15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time by up to </a:t>
            </a:r>
            <a:r>
              <a:rPr lang="en-US" sz="1500">
                <a:solidFill>
                  <a:srgbClr val="E71C57"/>
                </a:solidFill>
                <a:latin typeface="Trebuchet MS"/>
                <a:ea typeface="Trebuchet MS"/>
                <a:cs typeface="Trebuchet MS"/>
                <a:sym typeface="Trebuchet MS"/>
              </a:rPr>
              <a:t>12 hours</a:t>
            </a:r>
            <a:r>
              <a:rPr lang="en-US" sz="15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per patient</a:t>
            </a:r>
            <a:endParaRPr sz="15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63550" lvl="0" marL="736600" marR="0" rtl="0" algn="l">
              <a:spcBef>
                <a:spcPts val="1600"/>
              </a:spcBef>
              <a:spcAft>
                <a:spcPts val="1600"/>
              </a:spcAft>
              <a:buClr>
                <a:srgbClr val="575757"/>
              </a:buClr>
              <a:buSzPts val="1500"/>
              <a:buFont typeface="Trebuchet MS"/>
              <a:buChar char="●"/>
            </a:pPr>
            <a:r>
              <a:rPr lang="en-US" sz="15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Deployed initially at key NTEP reference laboratories for validation phase</a:t>
            </a:r>
            <a:endParaRPr sz="15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12" name="Google Shape;212;p23"/>
          <p:cNvCxnSpPr/>
          <p:nvPr/>
        </p:nvCxnSpPr>
        <p:spPr>
          <a:xfrm>
            <a:off x="14270080" y="2629600"/>
            <a:ext cx="0" cy="46518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213" name="Google Shape;21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322" y="539142"/>
            <a:ext cx="963400" cy="9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9578" y="3432060"/>
            <a:ext cx="4490603" cy="25405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/>
          <p:nvPr/>
        </p:nvSpPr>
        <p:spPr>
          <a:xfrm>
            <a:off x="1520" y="0"/>
            <a:ext cx="2928000" cy="308100"/>
          </a:xfrm>
          <a:prstGeom prst="rect">
            <a:avLst/>
          </a:prstGeom>
          <a:solidFill>
            <a:srgbClr val="459965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Tuberculosis-Diagnosis</a:t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58725" y="7211095"/>
            <a:ext cx="1171674" cy="102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p24"/>
          <p:cNvCxnSpPr/>
          <p:nvPr/>
        </p:nvCxnSpPr>
        <p:spPr>
          <a:xfrm>
            <a:off x="1011549" y="7193280"/>
            <a:ext cx="131958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22" name="Google Shape;222;p24"/>
          <p:cNvCxnSpPr/>
          <p:nvPr/>
        </p:nvCxnSpPr>
        <p:spPr>
          <a:xfrm>
            <a:off x="792640" y="4067140"/>
            <a:ext cx="98334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23" name="Google Shape;223;p24"/>
          <p:cNvCxnSpPr/>
          <p:nvPr/>
        </p:nvCxnSpPr>
        <p:spPr>
          <a:xfrm>
            <a:off x="1011560" y="5307760"/>
            <a:ext cx="9748200" cy="0"/>
          </a:xfrm>
          <a:prstGeom prst="straightConnector1">
            <a:avLst/>
          </a:prstGeom>
          <a:noFill/>
          <a:ln cap="flat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24" name="Google Shape;224;p24"/>
          <p:cNvSpPr/>
          <p:nvPr/>
        </p:nvSpPr>
        <p:spPr>
          <a:xfrm>
            <a:off x="5741040" y="2702560"/>
            <a:ext cx="4772700" cy="4506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25" name="Google Shape;225;p24"/>
          <p:cNvSpPr/>
          <p:nvPr/>
        </p:nvSpPr>
        <p:spPr>
          <a:xfrm>
            <a:off x="0" y="0"/>
            <a:ext cx="14630400" cy="167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" name="Google Shape;226;p24"/>
          <p:cNvSpPr txBox="1"/>
          <p:nvPr>
            <p:ph type="title"/>
          </p:nvPr>
        </p:nvSpPr>
        <p:spPr>
          <a:xfrm>
            <a:off x="1856998" y="588600"/>
            <a:ext cx="7689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5E7E"/>
              </a:buClr>
              <a:buSzPts val="2700"/>
              <a:buFont typeface="Trebuchet MS"/>
              <a:buNone/>
            </a:pPr>
            <a:r>
              <a:rPr lang="en-US" sz="2400">
                <a:solidFill>
                  <a:schemeClr val="dk2"/>
                </a:solidFill>
              </a:rPr>
              <a:t>Prediction of Adverse TB Outcomes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5E7E"/>
              </a:buClr>
              <a:buSzPts val="2700"/>
              <a:buFont typeface="Trebuchet MS"/>
              <a:buNone/>
            </a:pPr>
            <a:r>
              <a:rPr i="1" lang="en-US" sz="1900">
                <a:solidFill>
                  <a:schemeClr val="dk2"/>
                </a:solidFill>
              </a:rPr>
              <a:t>Scaling AI risk prediction to prevent TB deaths and loss-to-follow-up in low-resource settings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1520" y="0"/>
            <a:ext cx="2928000" cy="308100"/>
          </a:xfrm>
          <a:prstGeom prst="rect">
            <a:avLst/>
          </a:prstGeom>
          <a:solidFill>
            <a:srgbClr val="459965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Tuberculosis-</a:t>
            </a:r>
            <a:r>
              <a:rPr lang="en-US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Treatment</a:t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8" name="Google Shape;228;p24"/>
          <p:cNvGrpSpPr/>
          <p:nvPr/>
        </p:nvGrpSpPr>
        <p:grpSpPr>
          <a:xfrm>
            <a:off x="9793895" y="390779"/>
            <a:ext cx="283338" cy="1040400"/>
            <a:chOff x="3184017" y="1638194"/>
            <a:chExt cx="236115" cy="867000"/>
          </a:xfrm>
        </p:grpSpPr>
        <p:cxnSp>
          <p:nvCxnSpPr>
            <p:cNvPr id="229" name="Google Shape;229;p24"/>
            <p:cNvCxnSpPr/>
            <p:nvPr/>
          </p:nvCxnSpPr>
          <p:spPr>
            <a:xfrm>
              <a:off x="3302000" y="1638194"/>
              <a:ext cx="0" cy="867000"/>
            </a:xfrm>
            <a:prstGeom prst="straightConnector1">
              <a:avLst/>
            </a:prstGeom>
            <a:noFill/>
            <a:ln cap="rnd" cmpd="sng" w="15250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0" name="Google Shape;230;p24"/>
            <p:cNvGrpSpPr/>
            <p:nvPr/>
          </p:nvGrpSpPr>
          <p:grpSpPr>
            <a:xfrm>
              <a:off x="3184017" y="1953718"/>
              <a:ext cx="236115" cy="236115"/>
              <a:chOff x="982662" y="1847850"/>
              <a:chExt cx="270000" cy="270000"/>
            </a:xfrm>
          </p:grpSpPr>
          <p:sp>
            <p:nvSpPr>
              <p:cNvPr id="231" name="Google Shape;231;p24"/>
              <p:cNvSpPr/>
              <p:nvPr/>
            </p:nvSpPr>
            <p:spPr>
              <a:xfrm>
                <a:off x="982662" y="1847850"/>
                <a:ext cx="270000" cy="27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54850" lIns="109725" spcFirstLastPara="1" rIns="109725" wrap="square" tIns="54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1082675" y="1895475"/>
                <a:ext cx="96837" cy="174625"/>
              </a:xfrm>
              <a:custGeom>
                <a:rect b="b" l="l" r="r" t="t"/>
                <a:pathLst>
                  <a:path extrusionOk="0" h="110" w="61">
                    <a:moveTo>
                      <a:pt x="6" y="0"/>
                    </a:moveTo>
                    <a:lnTo>
                      <a:pt x="0" y="7"/>
                    </a:lnTo>
                    <a:lnTo>
                      <a:pt x="48" y="55"/>
                    </a:lnTo>
                    <a:lnTo>
                      <a:pt x="0" y="104"/>
                    </a:lnTo>
                    <a:lnTo>
                      <a:pt x="6" y="110"/>
                    </a:lnTo>
                    <a:lnTo>
                      <a:pt x="54" y="62"/>
                    </a:lnTo>
                    <a:lnTo>
                      <a:pt x="61" y="55"/>
                    </a:lnTo>
                    <a:lnTo>
                      <a:pt x="54" y="4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54850" lIns="109725" spcFirstLastPara="1" rIns="109725" wrap="square" tIns="54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233" name="Google Shape;233;p24"/>
          <p:cNvSpPr/>
          <p:nvPr/>
        </p:nvSpPr>
        <p:spPr>
          <a:xfrm flipH="1">
            <a:off x="10324525" y="200540"/>
            <a:ext cx="4153500" cy="127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rnd" cmpd="sng" w="15250">
            <a:solidFill>
              <a:srgbClr val="1B6E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risk scoring at treatment initiation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Early flagging of high-risk patients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Actionable alerts for frontline staff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Seamless integration with TB platforms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1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Data-driven interventions to save lives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24"/>
          <p:cNvSpPr/>
          <p:nvPr/>
        </p:nvSpPr>
        <p:spPr>
          <a:xfrm rot="-5400000">
            <a:off x="15049" y="3091126"/>
            <a:ext cx="12969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Context</a:t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24"/>
          <p:cNvSpPr/>
          <p:nvPr/>
        </p:nvSpPr>
        <p:spPr>
          <a:xfrm rot="-5400000">
            <a:off x="24799" y="4443196"/>
            <a:ext cx="12774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Goal</a:t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p24"/>
          <p:cNvSpPr/>
          <p:nvPr/>
        </p:nvSpPr>
        <p:spPr>
          <a:xfrm rot="-5400000">
            <a:off x="-246850" y="6056950"/>
            <a:ext cx="1820700" cy="492600"/>
          </a:xfrm>
          <a:prstGeom prst="rect">
            <a:avLst/>
          </a:prstGeom>
          <a:solidFill>
            <a:srgbClr val="008180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Architecture</a:t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1725920" y="2786880"/>
            <a:ext cx="37809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As per the India TB Report 2024, 3% of TB patients are lost to follow-up and 4% die during treatment despite increased program efforts. LFU patients not only face higher risks of mortality and recurrence but also contribute to the spread of drug-resistant TB due to inadequate care at treatment initiation</a:t>
            </a:r>
            <a:endParaRPr sz="11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1725920" y="4189920"/>
            <a:ext cx="37809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Enable early identification of TB patients at high risk of death or loss-to-follow-up through AI-based risk prediction at treatment initiation, empowering health workers to prioritize interventions and provide targeted support for improved outcomes</a:t>
            </a:r>
            <a:endParaRPr sz="11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1689925" y="5421450"/>
            <a:ext cx="3914700" cy="15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r>
              <a:rPr b="1"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Patient demographic and clinical details from Ni-kshay at treatment initiation</a:t>
            </a:r>
            <a:b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AI Model</a:t>
            </a:r>
            <a:r>
              <a:rPr b="1"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Gradient-boosted decision tree predicting risk of loss-to-follow-up or death, classifying patients as high or low risk</a:t>
            </a:r>
            <a:b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Risk scores displayed in Ni-kshay for health worker action</a:t>
            </a:r>
            <a:br>
              <a:rPr lang="en-US" sz="1100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100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40" name="Google Shape;240;p24"/>
          <p:cNvCxnSpPr/>
          <p:nvPr/>
        </p:nvCxnSpPr>
        <p:spPr>
          <a:xfrm>
            <a:off x="5595600" y="2673900"/>
            <a:ext cx="9000" cy="45399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descr="File:Page issue icon - high.svg - Wikimedia Commons" id="241" name="Google Shape;2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777" y="3040920"/>
            <a:ext cx="587140" cy="58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760" y="4401520"/>
            <a:ext cx="587159" cy="58715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/>
          <p:nvPr/>
        </p:nvSpPr>
        <p:spPr>
          <a:xfrm>
            <a:off x="1009120" y="2558000"/>
            <a:ext cx="13260900" cy="82200"/>
          </a:xfrm>
          <a:prstGeom prst="rect">
            <a:avLst/>
          </a:prstGeom>
          <a:solidFill>
            <a:srgbClr val="459965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44" name="Google Shape;244;p24"/>
          <p:cNvGrpSpPr/>
          <p:nvPr/>
        </p:nvGrpSpPr>
        <p:grpSpPr>
          <a:xfrm>
            <a:off x="1050397" y="6024408"/>
            <a:ext cx="691719" cy="691719"/>
            <a:chOff x="1113743" y="1826004"/>
            <a:chExt cx="1644600" cy="1644600"/>
          </a:xfrm>
        </p:grpSpPr>
        <p:sp>
          <p:nvSpPr>
            <p:cNvPr id="245" name="Google Shape;245;p24"/>
            <p:cNvSpPr/>
            <p:nvPr/>
          </p:nvSpPr>
          <p:spPr>
            <a:xfrm>
              <a:off x="1113743" y="1826004"/>
              <a:ext cx="1644600" cy="16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2900"/>
                <a:buFont typeface="Trebuchet MS"/>
                <a:buNone/>
              </a:pPr>
              <a:r>
                <a:t/>
              </a:r>
              <a:endParaRPr b="0" i="0" sz="2900" u="none" cap="none" strike="noStrike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246" name="Google Shape;246;p24"/>
            <p:cNvGrpSpPr/>
            <p:nvPr/>
          </p:nvGrpSpPr>
          <p:grpSpPr>
            <a:xfrm>
              <a:off x="1486806" y="2108579"/>
              <a:ext cx="898526" cy="1192213"/>
              <a:chOff x="1486806" y="2108579"/>
              <a:chExt cx="898526" cy="1192213"/>
            </a:xfrm>
          </p:grpSpPr>
          <p:sp>
            <p:nvSpPr>
              <p:cNvPr id="247" name="Google Shape;247;p24"/>
              <p:cNvSpPr/>
              <p:nvPr/>
            </p:nvSpPr>
            <p:spPr>
              <a:xfrm>
                <a:off x="1486806" y="2108579"/>
                <a:ext cx="898526" cy="1192213"/>
              </a:xfrm>
              <a:custGeom>
                <a:rect b="b" l="l" r="r" t="t"/>
                <a:pathLst>
                  <a:path extrusionOk="0" h="1671" w="1258">
                    <a:moveTo>
                      <a:pt x="1236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9" y="0"/>
                      <a:pt x="0" y="10"/>
                      <a:pt x="0" y="22"/>
                    </a:cubicBezTo>
                    <a:cubicBezTo>
                      <a:pt x="0" y="1649"/>
                      <a:pt x="0" y="1649"/>
                      <a:pt x="0" y="1649"/>
                    </a:cubicBezTo>
                    <a:cubicBezTo>
                      <a:pt x="0" y="1662"/>
                      <a:pt x="9" y="1671"/>
                      <a:pt x="22" y="1671"/>
                    </a:cubicBezTo>
                    <a:cubicBezTo>
                      <a:pt x="1236" y="1671"/>
                      <a:pt x="1236" y="1671"/>
                      <a:pt x="1236" y="1671"/>
                    </a:cubicBezTo>
                    <a:cubicBezTo>
                      <a:pt x="1249" y="1671"/>
                      <a:pt x="1258" y="1662"/>
                      <a:pt x="1258" y="1649"/>
                    </a:cubicBezTo>
                    <a:cubicBezTo>
                      <a:pt x="1258" y="22"/>
                      <a:pt x="1258" y="22"/>
                      <a:pt x="1258" y="22"/>
                    </a:cubicBezTo>
                    <a:cubicBezTo>
                      <a:pt x="1258" y="10"/>
                      <a:pt x="1249" y="0"/>
                      <a:pt x="1236" y="0"/>
                    </a:cubicBezTo>
                    <a:close/>
                    <a:moveTo>
                      <a:pt x="1213" y="1626"/>
                    </a:moveTo>
                    <a:cubicBezTo>
                      <a:pt x="45" y="1626"/>
                      <a:pt x="45" y="1626"/>
                      <a:pt x="45" y="162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1213" y="44"/>
                      <a:pt x="1213" y="44"/>
                      <a:pt x="1213" y="44"/>
                    </a:cubicBezTo>
                    <a:lnTo>
                      <a:pt x="1213" y="1626"/>
                    </a:lnTo>
                    <a:close/>
                    <a:moveTo>
                      <a:pt x="462" y="1175"/>
                    </a:moveTo>
                    <a:cubicBezTo>
                      <a:pt x="465" y="1176"/>
                      <a:pt x="468" y="1177"/>
                      <a:pt x="472" y="1177"/>
                    </a:cubicBezTo>
                    <a:cubicBezTo>
                      <a:pt x="480" y="1177"/>
                      <a:pt x="487" y="1173"/>
                      <a:pt x="491" y="1165"/>
                    </a:cubicBezTo>
                    <a:cubicBezTo>
                      <a:pt x="491" y="1165"/>
                      <a:pt x="491" y="1165"/>
                      <a:pt x="825" y="525"/>
                    </a:cubicBezTo>
                    <a:cubicBezTo>
                      <a:pt x="831" y="514"/>
                      <a:pt x="827" y="501"/>
                      <a:pt x="816" y="495"/>
                    </a:cubicBezTo>
                    <a:cubicBezTo>
                      <a:pt x="805" y="490"/>
                      <a:pt x="792" y="494"/>
                      <a:pt x="786" y="504"/>
                    </a:cubicBezTo>
                    <a:cubicBezTo>
                      <a:pt x="786" y="504"/>
                      <a:pt x="786" y="504"/>
                      <a:pt x="452" y="1145"/>
                    </a:cubicBezTo>
                    <a:cubicBezTo>
                      <a:pt x="447" y="1156"/>
                      <a:pt x="451" y="1169"/>
                      <a:pt x="462" y="1175"/>
                    </a:cubicBezTo>
                    <a:close/>
                    <a:moveTo>
                      <a:pt x="214" y="879"/>
                    </a:moveTo>
                    <a:cubicBezTo>
                      <a:pt x="214" y="879"/>
                      <a:pt x="214" y="879"/>
                      <a:pt x="392" y="1058"/>
                    </a:cubicBezTo>
                    <a:cubicBezTo>
                      <a:pt x="397" y="1062"/>
                      <a:pt x="402" y="1064"/>
                      <a:pt x="408" y="1064"/>
                    </a:cubicBezTo>
                    <a:cubicBezTo>
                      <a:pt x="413" y="1064"/>
                      <a:pt x="419" y="1062"/>
                      <a:pt x="423" y="1058"/>
                    </a:cubicBezTo>
                    <a:cubicBezTo>
                      <a:pt x="432" y="1049"/>
                      <a:pt x="432" y="1035"/>
                      <a:pt x="423" y="1027"/>
                    </a:cubicBezTo>
                    <a:cubicBezTo>
                      <a:pt x="423" y="1027"/>
                      <a:pt x="423" y="1027"/>
                      <a:pt x="259" y="862"/>
                    </a:cubicBezTo>
                    <a:cubicBezTo>
                      <a:pt x="259" y="862"/>
                      <a:pt x="259" y="862"/>
                      <a:pt x="510" y="608"/>
                    </a:cubicBezTo>
                    <a:cubicBezTo>
                      <a:pt x="519" y="600"/>
                      <a:pt x="519" y="586"/>
                      <a:pt x="510" y="577"/>
                    </a:cubicBezTo>
                    <a:cubicBezTo>
                      <a:pt x="502" y="569"/>
                      <a:pt x="488" y="569"/>
                      <a:pt x="479" y="577"/>
                    </a:cubicBezTo>
                    <a:cubicBezTo>
                      <a:pt x="479" y="577"/>
                      <a:pt x="479" y="577"/>
                      <a:pt x="214" y="844"/>
                    </a:cubicBezTo>
                    <a:cubicBezTo>
                      <a:pt x="214" y="845"/>
                      <a:pt x="213" y="845"/>
                      <a:pt x="212" y="846"/>
                    </a:cubicBezTo>
                    <a:cubicBezTo>
                      <a:pt x="208" y="850"/>
                      <a:pt x="206" y="856"/>
                      <a:pt x="206" y="862"/>
                    </a:cubicBezTo>
                    <a:cubicBezTo>
                      <a:pt x="206" y="867"/>
                      <a:pt x="208" y="873"/>
                      <a:pt x="212" y="877"/>
                    </a:cubicBezTo>
                    <a:cubicBezTo>
                      <a:pt x="213" y="878"/>
                      <a:pt x="214" y="878"/>
                      <a:pt x="214" y="879"/>
                    </a:cubicBezTo>
                    <a:close/>
                    <a:moveTo>
                      <a:pt x="998" y="861"/>
                    </a:moveTo>
                    <a:cubicBezTo>
                      <a:pt x="998" y="861"/>
                      <a:pt x="998" y="861"/>
                      <a:pt x="747" y="1113"/>
                    </a:cubicBezTo>
                    <a:cubicBezTo>
                      <a:pt x="739" y="1122"/>
                      <a:pt x="739" y="1136"/>
                      <a:pt x="747" y="1144"/>
                    </a:cubicBezTo>
                    <a:cubicBezTo>
                      <a:pt x="751" y="1148"/>
                      <a:pt x="757" y="1151"/>
                      <a:pt x="763" y="1151"/>
                    </a:cubicBezTo>
                    <a:cubicBezTo>
                      <a:pt x="768" y="1151"/>
                      <a:pt x="774" y="1148"/>
                      <a:pt x="778" y="1144"/>
                    </a:cubicBezTo>
                    <a:cubicBezTo>
                      <a:pt x="778" y="1144"/>
                      <a:pt x="778" y="1144"/>
                      <a:pt x="1043" y="878"/>
                    </a:cubicBezTo>
                    <a:cubicBezTo>
                      <a:pt x="1044" y="878"/>
                      <a:pt x="1045" y="877"/>
                      <a:pt x="1045" y="877"/>
                    </a:cubicBezTo>
                    <a:cubicBezTo>
                      <a:pt x="1050" y="872"/>
                      <a:pt x="1052" y="867"/>
                      <a:pt x="1052" y="861"/>
                    </a:cubicBezTo>
                    <a:cubicBezTo>
                      <a:pt x="1052" y="855"/>
                      <a:pt x="1050" y="849"/>
                      <a:pt x="1045" y="845"/>
                    </a:cubicBezTo>
                    <a:cubicBezTo>
                      <a:pt x="1045" y="844"/>
                      <a:pt x="1044" y="844"/>
                      <a:pt x="1043" y="843"/>
                    </a:cubicBezTo>
                    <a:cubicBezTo>
                      <a:pt x="1043" y="843"/>
                      <a:pt x="1043" y="843"/>
                      <a:pt x="865" y="665"/>
                    </a:cubicBezTo>
                    <a:cubicBezTo>
                      <a:pt x="857" y="656"/>
                      <a:pt x="843" y="656"/>
                      <a:pt x="834" y="665"/>
                    </a:cubicBezTo>
                    <a:cubicBezTo>
                      <a:pt x="826" y="673"/>
                      <a:pt x="826" y="687"/>
                      <a:pt x="834" y="696"/>
                    </a:cubicBezTo>
                    <a:cubicBezTo>
                      <a:pt x="834" y="696"/>
                      <a:pt x="834" y="696"/>
                      <a:pt x="998" y="861"/>
                    </a:cubicBezTo>
                    <a:close/>
                  </a:path>
                </a:pathLst>
              </a:custGeom>
              <a:solidFill>
                <a:srgbClr val="03522D"/>
              </a:solidFill>
              <a:ln>
                <a:noFill/>
              </a:ln>
            </p:spPr>
            <p:txBody>
              <a:bodyPr anchorCtr="0" anchor="t" bIns="73125" lIns="146275" spcFirstLastPara="1" rIns="146275" wrap="square" tIns="73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75757"/>
                  </a:buClr>
                  <a:buSzPts val="2900"/>
                  <a:buFont typeface="Trebuchet MS"/>
                  <a:buNone/>
                </a:pPr>
                <a:r>
                  <a:t/>
                </a:r>
                <a:endParaRPr b="0" i="0" sz="2900" u="none" cap="none" strike="noStrike">
                  <a:solidFill>
                    <a:srgbClr val="575757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48" name="Google Shape;248;p24"/>
              <p:cNvSpPr/>
              <p:nvPr/>
            </p:nvSpPr>
            <p:spPr>
              <a:xfrm>
                <a:off x="1648731" y="2294317"/>
                <a:ext cx="574676" cy="820739"/>
              </a:xfrm>
              <a:custGeom>
                <a:rect b="b" l="l" r="r" t="t"/>
                <a:pathLst>
                  <a:path extrusionOk="0" h="1149" w="806">
                    <a:moveTo>
                      <a:pt x="776" y="729"/>
                    </a:moveTo>
                    <a:cubicBezTo>
                      <a:pt x="776" y="729"/>
                      <a:pt x="776" y="729"/>
                      <a:pt x="767" y="729"/>
                    </a:cubicBezTo>
                    <a:cubicBezTo>
                      <a:pt x="712" y="784"/>
                      <a:pt x="712" y="784"/>
                      <a:pt x="712" y="784"/>
                    </a:cubicBezTo>
                    <a:cubicBezTo>
                      <a:pt x="776" y="784"/>
                      <a:pt x="776" y="784"/>
                      <a:pt x="776" y="784"/>
                    </a:cubicBezTo>
                    <a:cubicBezTo>
                      <a:pt x="793" y="784"/>
                      <a:pt x="804" y="771"/>
                      <a:pt x="804" y="756"/>
                    </a:cubicBezTo>
                    <a:cubicBezTo>
                      <a:pt x="804" y="741"/>
                      <a:pt x="793" y="729"/>
                      <a:pt x="776" y="729"/>
                    </a:cubicBezTo>
                    <a:close/>
                    <a:moveTo>
                      <a:pt x="777" y="1093"/>
                    </a:moveTo>
                    <a:cubicBezTo>
                      <a:pt x="777" y="1093"/>
                      <a:pt x="777" y="1093"/>
                      <a:pt x="28" y="1093"/>
                    </a:cubicBezTo>
                    <a:cubicBezTo>
                      <a:pt x="13" y="1093"/>
                      <a:pt x="0" y="1105"/>
                      <a:pt x="0" y="1120"/>
                    </a:cubicBezTo>
                    <a:cubicBezTo>
                      <a:pt x="0" y="1124"/>
                      <a:pt x="1" y="1127"/>
                      <a:pt x="2" y="1131"/>
                    </a:cubicBezTo>
                    <a:cubicBezTo>
                      <a:pt x="6" y="1141"/>
                      <a:pt x="16" y="1149"/>
                      <a:pt x="28" y="1149"/>
                    </a:cubicBezTo>
                    <a:cubicBezTo>
                      <a:pt x="28" y="1149"/>
                      <a:pt x="28" y="1149"/>
                      <a:pt x="778" y="1149"/>
                    </a:cubicBezTo>
                    <a:cubicBezTo>
                      <a:pt x="794" y="1149"/>
                      <a:pt x="806" y="1137"/>
                      <a:pt x="806" y="1123"/>
                    </a:cubicBezTo>
                    <a:cubicBezTo>
                      <a:pt x="806" y="1120"/>
                      <a:pt x="805" y="1117"/>
                      <a:pt x="804" y="1115"/>
                    </a:cubicBezTo>
                    <a:cubicBezTo>
                      <a:pt x="802" y="1102"/>
                      <a:pt x="791" y="1093"/>
                      <a:pt x="777" y="1093"/>
                    </a:cubicBezTo>
                    <a:close/>
                    <a:moveTo>
                      <a:pt x="28" y="784"/>
                    </a:moveTo>
                    <a:cubicBezTo>
                      <a:pt x="28" y="784"/>
                      <a:pt x="28" y="784"/>
                      <a:pt x="92" y="784"/>
                    </a:cubicBezTo>
                    <a:cubicBezTo>
                      <a:pt x="37" y="729"/>
                      <a:pt x="37" y="729"/>
                      <a:pt x="37" y="729"/>
                    </a:cubicBezTo>
                    <a:cubicBezTo>
                      <a:pt x="28" y="729"/>
                      <a:pt x="28" y="729"/>
                      <a:pt x="28" y="729"/>
                    </a:cubicBezTo>
                    <a:cubicBezTo>
                      <a:pt x="13" y="729"/>
                      <a:pt x="0" y="741"/>
                      <a:pt x="0" y="756"/>
                    </a:cubicBezTo>
                    <a:cubicBezTo>
                      <a:pt x="0" y="771"/>
                      <a:pt x="13" y="784"/>
                      <a:pt x="28" y="784"/>
                    </a:cubicBezTo>
                    <a:close/>
                    <a:moveTo>
                      <a:pt x="28" y="967"/>
                    </a:moveTo>
                    <a:cubicBezTo>
                      <a:pt x="28" y="967"/>
                      <a:pt x="28" y="967"/>
                      <a:pt x="778" y="967"/>
                    </a:cubicBezTo>
                    <a:cubicBezTo>
                      <a:pt x="794" y="967"/>
                      <a:pt x="806" y="954"/>
                      <a:pt x="806" y="939"/>
                    </a:cubicBezTo>
                    <a:cubicBezTo>
                      <a:pt x="806" y="934"/>
                      <a:pt x="804" y="930"/>
                      <a:pt x="802" y="926"/>
                    </a:cubicBezTo>
                    <a:cubicBezTo>
                      <a:pt x="797" y="917"/>
                      <a:pt x="789" y="911"/>
                      <a:pt x="777" y="911"/>
                    </a:cubicBezTo>
                    <a:cubicBezTo>
                      <a:pt x="777" y="911"/>
                      <a:pt x="777" y="911"/>
                      <a:pt x="586" y="911"/>
                    </a:cubicBezTo>
                    <a:cubicBezTo>
                      <a:pt x="583" y="913"/>
                      <a:pt x="583" y="913"/>
                      <a:pt x="583" y="913"/>
                    </a:cubicBezTo>
                    <a:cubicBezTo>
                      <a:pt x="571" y="926"/>
                      <a:pt x="554" y="933"/>
                      <a:pt x="537" y="933"/>
                    </a:cubicBezTo>
                    <a:cubicBezTo>
                      <a:pt x="520" y="933"/>
                      <a:pt x="503" y="926"/>
                      <a:pt x="490" y="913"/>
                    </a:cubicBezTo>
                    <a:cubicBezTo>
                      <a:pt x="489" y="913"/>
                      <a:pt x="488" y="912"/>
                      <a:pt x="488" y="911"/>
                    </a:cubicBezTo>
                    <a:cubicBezTo>
                      <a:pt x="311" y="911"/>
                      <a:pt x="311" y="911"/>
                      <a:pt x="311" y="911"/>
                    </a:cubicBezTo>
                    <a:cubicBezTo>
                      <a:pt x="304" y="924"/>
                      <a:pt x="304" y="924"/>
                      <a:pt x="304" y="924"/>
                    </a:cubicBezTo>
                    <a:cubicBezTo>
                      <a:pt x="293" y="946"/>
                      <a:pt x="271" y="959"/>
                      <a:pt x="246" y="959"/>
                    </a:cubicBezTo>
                    <a:cubicBezTo>
                      <a:pt x="235" y="959"/>
                      <a:pt x="227" y="957"/>
                      <a:pt x="222" y="955"/>
                    </a:cubicBezTo>
                    <a:cubicBezTo>
                      <a:pt x="218" y="954"/>
                      <a:pt x="218" y="954"/>
                      <a:pt x="218" y="954"/>
                    </a:cubicBezTo>
                    <a:cubicBezTo>
                      <a:pt x="215" y="952"/>
                      <a:pt x="215" y="952"/>
                      <a:pt x="215" y="952"/>
                    </a:cubicBezTo>
                    <a:cubicBezTo>
                      <a:pt x="198" y="943"/>
                      <a:pt x="187" y="928"/>
                      <a:pt x="182" y="911"/>
                    </a:cubicBezTo>
                    <a:cubicBezTo>
                      <a:pt x="28" y="911"/>
                      <a:pt x="28" y="911"/>
                      <a:pt x="28" y="911"/>
                    </a:cubicBezTo>
                    <a:cubicBezTo>
                      <a:pt x="13" y="911"/>
                      <a:pt x="0" y="924"/>
                      <a:pt x="0" y="938"/>
                    </a:cubicBezTo>
                    <a:cubicBezTo>
                      <a:pt x="0" y="945"/>
                      <a:pt x="3" y="951"/>
                      <a:pt x="7" y="956"/>
                    </a:cubicBezTo>
                    <a:cubicBezTo>
                      <a:pt x="12" y="963"/>
                      <a:pt x="20" y="967"/>
                      <a:pt x="28" y="967"/>
                    </a:cubicBezTo>
                    <a:close/>
                    <a:moveTo>
                      <a:pt x="28" y="238"/>
                    </a:moveTo>
                    <a:cubicBezTo>
                      <a:pt x="28" y="238"/>
                      <a:pt x="28" y="238"/>
                      <a:pt x="513" y="238"/>
                    </a:cubicBezTo>
                    <a:cubicBezTo>
                      <a:pt x="522" y="221"/>
                      <a:pt x="522" y="221"/>
                      <a:pt x="522" y="221"/>
                    </a:cubicBezTo>
                    <a:cubicBezTo>
                      <a:pt x="522" y="220"/>
                      <a:pt x="522" y="220"/>
                      <a:pt x="522" y="220"/>
                    </a:cubicBezTo>
                    <a:cubicBezTo>
                      <a:pt x="534" y="200"/>
                      <a:pt x="556" y="187"/>
                      <a:pt x="580" y="187"/>
                    </a:cubicBezTo>
                    <a:cubicBezTo>
                      <a:pt x="590" y="187"/>
                      <a:pt x="599" y="189"/>
                      <a:pt x="608" y="193"/>
                    </a:cubicBezTo>
                    <a:cubicBezTo>
                      <a:pt x="610" y="194"/>
                      <a:pt x="610" y="194"/>
                      <a:pt x="610" y="194"/>
                    </a:cubicBezTo>
                    <a:cubicBezTo>
                      <a:pt x="611" y="195"/>
                      <a:pt x="611" y="195"/>
                      <a:pt x="611" y="195"/>
                    </a:cubicBezTo>
                    <a:cubicBezTo>
                      <a:pt x="629" y="204"/>
                      <a:pt x="640" y="220"/>
                      <a:pt x="644" y="238"/>
                    </a:cubicBezTo>
                    <a:cubicBezTo>
                      <a:pt x="776" y="238"/>
                      <a:pt x="776" y="238"/>
                      <a:pt x="776" y="238"/>
                    </a:cubicBezTo>
                    <a:cubicBezTo>
                      <a:pt x="793" y="238"/>
                      <a:pt x="804" y="225"/>
                      <a:pt x="804" y="209"/>
                    </a:cubicBezTo>
                    <a:cubicBezTo>
                      <a:pt x="804" y="194"/>
                      <a:pt x="793" y="182"/>
                      <a:pt x="776" y="182"/>
                    </a:cubicBezTo>
                    <a:cubicBezTo>
                      <a:pt x="776" y="182"/>
                      <a:pt x="776" y="182"/>
                      <a:pt x="28" y="182"/>
                    </a:cubicBezTo>
                    <a:cubicBezTo>
                      <a:pt x="13" y="182"/>
                      <a:pt x="0" y="194"/>
                      <a:pt x="0" y="209"/>
                    </a:cubicBezTo>
                    <a:cubicBezTo>
                      <a:pt x="0" y="225"/>
                      <a:pt x="13" y="238"/>
                      <a:pt x="28" y="238"/>
                    </a:cubicBezTo>
                    <a:close/>
                    <a:moveTo>
                      <a:pt x="28" y="418"/>
                    </a:moveTo>
                    <a:cubicBezTo>
                      <a:pt x="28" y="418"/>
                      <a:pt x="28" y="418"/>
                      <a:pt x="89" y="418"/>
                    </a:cubicBezTo>
                    <a:cubicBezTo>
                      <a:pt x="142" y="364"/>
                      <a:pt x="142" y="364"/>
                      <a:pt x="142" y="364"/>
                    </a:cubicBezTo>
                    <a:cubicBezTo>
                      <a:pt x="28" y="364"/>
                      <a:pt x="28" y="364"/>
                      <a:pt x="28" y="364"/>
                    </a:cubicBezTo>
                    <a:cubicBezTo>
                      <a:pt x="13" y="364"/>
                      <a:pt x="0" y="377"/>
                      <a:pt x="0" y="392"/>
                    </a:cubicBezTo>
                    <a:cubicBezTo>
                      <a:pt x="0" y="406"/>
                      <a:pt x="13" y="418"/>
                      <a:pt x="28" y="418"/>
                    </a:cubicBezTo>
                    <a:close/>
                    <a:moveTo>
                      <a:pt x="28" y="56"/>
                    </a:moveTo>
                    <a:cubicBezTo>
                      <a:pt x="28" y="56"/>
                      <a:pt x="28" y="56"/>
                      <a:pt x="776" y="56"/>
                    </a:cubicBezTo>
                    <a:cubicBezTo>
                      <a:pt x="793" y="56"/>
                      <a:pt x="804" y="43"/>
                      <a:pt x="804" y="28"/>
                    </a:cubicBezTo>
                    <a:cubicBezTo>
                      <a:pt x="804" y="11"/>
                      <a:pt x="793" y="0"/>
                      <a:pt x="776" y="0"/>
                    </a:cubicBezTo>
                    <a:cubicBezTo>
                      <a:pt x="776" y="0"/>
                      <a:pt x="776" y="0"/>
                      <a:pt x="28" y="0"/>
                    </a:cubicBezTo>
                    <a:cubicBezTo>
                      <a:pt x="13" y="0"/>
                      <a:pt x="0" y="11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lose/>
                    <a:moveTo>
                      <a:pt x="776" y="364"/>
                    </a:moveTo>
                    <a:cubicBezTo>
                      <a:pt x="776" y="364"/>
                      <a:pt x="776" y="364"/>
                      <a:pt x="662" y="364"/>
                    </a:cubicBezTo>
                    <a:cubicBezTo>
                      <a:pt x="665" y="367"/>
                      <a:pt x="668" y="369"/>
                      <a:pt x="671" y="372"/>
                    </a:cubicBezTo>
                    <a:cubicBezTo>
                      <a:pt x="716" y="418"/>
                      <a:pt x="716" y="418"/>
                      <a:pt x="716" y="418"/>
                    </a:cubicBezTo>
                    <a:cubicBezTo>
                      <a:pt x="776" y="418"/>
                      <a:pt x="776" y="418"/>
                      <a:pt x="776" y="418"/>
                    </a:cubicBezTo>
                    <a:cubicBezTo>
                      <a:pt x="793" y="418"/>
                      <a:pt x="804" y="406"/>
                      <a:pt x="804" y="392"/>
                    </a:cubicBezTo>
                    <a:cubicBezTo>
                      <a:pt x="804" y="377"/>
                      <a:pt x="793" y="364"/>
                      <a:pt x="776" y="364"/>
                    </a:cubicBezTo>
                    <a:close/>
                  </a:path>
                </a:pathLst>
              </a:custGeom>
              <a:solidFill>
                <a:srgbClr val="1B6EB3"/>
              </a:solidFill>
              <a:ln>
                <a:noFill/>
              </a:ln>
            </p:spPr>
            <p:txBody>
              <a:bodyPr anchorCtr="0" anchor="t" bIns="73125" lIns="146275" spcFirstLastPara="1" rIns="146275" wrap="square" tIns="73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75757"/>
                  </a:buClr>
                  <a:buSzPts val="2900"/>
                  <a:buFont typeface="Trebuchet MS"/>
                  <a:buNone/>
                </a:pPr>
                <a:r>
                  <a:t/>
                </a:r>
                <a:endParaRPr b="0" i="0" sz="2900" u="none" cap="none" strike="noStrike">
                  <a:solidFill>
                    <a:srgbClr val="575757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249" name="Google Shape;249;p24"/>
          <p:cNvSpPr/>
          <p:nvPr/>
        </p:nvSpPr>
        <p:spPr>
          <a:xfrm>
            <a:off x="1042960" y="2236120"/>
            <a:ext cx="45528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​"/>
            </a:pPr>
            <a:r>
              <a:rPr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Overview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730880" y="2236120"/>
            <a:ext cx="47727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​"/>
            </a:pPr>
            <a:r>
              <a:rPr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Workflow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1" name="Google Shape;251;p24"/>
          <p:cNvCxnSpPr/>
          <p:nvPr/>
        </p:nvCxnSpPr>
        <p:spPr>
          <a:xfrm>
            <a:off x="10645040" y="2617400"/>
            <a:ext cx="0" cy="46911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52" name="Google Shape;252;p24"/>
          <p:cNvSpPr/>
          <p:nvPr/>
        </p:nvSpPr>
        <p:spPr>
          <a:xfrm>
            <a:off x="10638640" y="2236120"/>
            <a:ext cx="3631800" cy="32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8180"/>
          </a:solidFill>
          <a:ln>
            <a:noFill/>
          </a:ln>
        </p:spPr>
        <p:txBody>
          <a:bodyPr anchorCtr="0" anchor="ctr" bIns="43875" lIns="43875" spcFirstLastPara="1" rIns="43875" wrap="square" tIns="43875">
            <a:noAutofit/>
          </a:bodyPr>
          <a:lstStyle/>
          <a:p>
            <a:pPr indent="-11430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​"/>
            </a:pPr>
            <a:r>
              <a:rPr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 &amp; validation</a:t>
            </a: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14308800" y="4530620"/>
            <a:ext cx="321600" cy="35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54" name="Google Shape;254;p24"/>
          <p:cNvSpPr/>
          <p:nvPr/>
        </p:nvSpPr>
        <p:spPr>
          <a:xfrm>
            <a:off x="10503520" y="2702320"/>
            <a:ext cx="3780900" cy="45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200" lvl="0" marL="73660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Trebuchet MS"/>
              <a:buChar char="●"/>
            </a:pP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Deployed across </a:t>
            </a:r>
            <a:r>
              <a:rPr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16 geographies (14 States and 2 UTs)</a:t>
            </a: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, covering 128 districts</a:t>
            </a:r>
            <a:endParaRPr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rtl="0" algn="l">
              <a:spcBef>
                <a:spcPts val="160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Trebuchet MS"/>
              <a:buChar char="●"/>
            </a:pPr>
            <a:r>
              <a:rPr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254,665 TB cases</a:t>
            </a: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assessed for risk prediction</a:t>
            </a:r>
            <a:endParaRPr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rtl="0" algn="l">
              <a:spcBef>
                <a:spcPts val="160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Trebuchet MS"/>
              <a:buChar char="●"/>
            </a:pPr>
            <a:r>
              <a:rPr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74,162 patients (29%)</a:t>
            </a: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flagged as high risk for LFU or mortality</a:t>
            </a:r>
            <a:endParaRPr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rtl="0" algn="l">
              <a:spcBef>
                <a:spcPts val="160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Trebuchet MS"/>
              <a:buChar char="●"/>
            </a:pPr>
            <a:r>
              <a:rPr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27% cumulative decline</a:t>
            </a: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 in adverse outcomes in deployment geographies</a:t>
            </a:r>
            <a:endParaRPr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rtl="0" algn="l">
              <a:spcBef>
                <a:spcPts val="160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Trebuchet MS"/>
              <a:buChar char="●"/>
            </a:pP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Integrated into Ni-kshay under CTD with technical oversight and programmatic monitoring</a:t>
            </a:r>
            <a:endParaRPr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736600" rtl="0" algn="l">
              <a:spcBef>
                <a:spcPts val="1600"/>
              </a:spcBef>
              <a:spcAft>
                <a:spcPts val="1600"/>
              </a:spcAft>
              <a:buClr>
                <a:srgbClr val="575757"/>
              </a:buClr>
              <a:buSzPts val="1400"/>
              <a:buFont typeface="Trebuchet MS"/>
              <a:buChar char="●"/>
            </a:pP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Trained </a:t>
            </a:r>
            <a:r>
              <a:rPr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~1,000 NTEP state and district-level staff </a:t>
            </a:r>
            <a:r>
              <a:rPr lang="en-US">
                <a:solidFill>
                  <a:srgbClr val="575757"/>
                </a:solidFill>
                <a:latin typeface="Trebuchet MS"/>
                <a:ea typeface="Trebuchet MS"/>
                <a:cs typeface="Trebuchet MS"/>
                <a:sym typeface="Trebuchet MS"/>
              </a:rPr>
              <a:t>for field implementation</a:t>
            </a:r>
            <a:endParaRPr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5" name="Google Shape;255;p24"/>
          <p:cNvCxnSpPr/>
          <p:nvPr/>
        </p:nvCxnSpPr>
        <p:spPr>
          <a:xfrm>
            <a:off x="14270080" y="2629600"/>
            <a:ext cx="0" cy="4651800"/>
          </a:xfrm>
          <a:prstGeom prst="straightConnector1">
            <a:avLst/>
          </a:prstGeom>
          <a:noFill/>
          <a:ln cap="rnd" cmpd="sng" w="15250">
            <a:solidFill>
              <a:srgbClr val="9A9A9A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256" name="Google Shape;2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120" y="589280"/>
            <a:ext cx="853121" cy="771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8437" y="2765163"/>
            <a:ext cx="4552801" cy="3874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58725" y="7211095"/>
            <a:ext cx="1171674" cy="102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18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title"/>
          </p:nvPr>
        </p:nvSpPr>
        <p:spPr>
          <a:xfrm>
            <a:off x="647520" y="3488240"/>
            <a:ext cx="133353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6600"/>
              <a:buFont typeface="Trebuchet MS"/>
              <a:buNone/>
            </a:pPr>
            <a:r>
              <a:rPr lang="en-US" sz="6100">
                <a:solidFill>
                  <a:srgbClr val="FFF2CC"/>
                </a:solidFill>
              </a:rPr>
              <a:t>Thank you</a:t>
            </a:r>
            <a:endParaRPr i="1" sz="2400">
              <a:solidFill>
                <a:srgbClr val="FFF2CC"/>
              </a:solidFill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