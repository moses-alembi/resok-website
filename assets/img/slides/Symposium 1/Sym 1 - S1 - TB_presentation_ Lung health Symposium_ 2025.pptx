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  <p:sldMasterId id="2147483702" r:id="rId2"/>
    <p:sldMasterId id="2147483674" r:id="rId3"/>
    <p:sldMasterId id="2147483688" r:id="rId4"/>
    <p:sldMasterId id="2147483731" r:id="rId5"/>
  </p:sldMasterIdLst>
  <p:notesMasterIdLst>
    <p:notesMasterId r:id="rId30"/>
  </p:notesMasterIdLst>
  <p:sldIdLst>
    <p:sldId id="256" r:id="rId6"/>
    <p:sldId id="482" r:id="rId7"/>
    <p:sldId id="324" r:id="rId8"/>
    <p:sldId id="332" r:id="rId9"/>
    <p:sldId id="3313" r:id="rId10"/>
    <p:sldId id="481" r:id="rId11"/>
    <p:sldId id="3377" r:id="rId12"/>
    <p:sldId id="441" r:id="rId13"/>
    <p:sldId id="271" r:id="rId14"/>
    <p:sldId id="259" r:id="rId15"/>
    <p:sldId id="257" r:id="rId16"/>
    <p:sldId id="305" r:id="rId17"/>
    <p:sldId id="266" r:id="rId18"/>
    <p:sldId id="268" r:id="rId19"/>
    <p:sldId id="289" r:id="rId20"/>
    <p:sldId id="291" r:id="rId21"/>
    <p:sldId id="300" r:id="rId22"/>
    <p:sldId id="3376" r:id="rId23"/>
    <p:sldId id="3375" r:id="rId24"/>
    <p:sldId id="3378" r:id="rId25"/>
    <p:sldId id="274" r:id="rId26"/>
    <p:sldId id="3314" r:id="rId27"/>
    <p:sldId id="3374" r:id="rId28"/>
    <p:sldId id="30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D39D"/>
    <a:srgbClr val="FFC5F3"/>
    <a:srgbClr val="9FD3B7"/>
    <a:srgbClr val="17A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00"/>
    <p:restoredTop sz="86420"/>
  </p:normalViewPr>
  <p:slideViewPr>
    <p:cSldViewPr snapToGrid="0">
      <p:cViewPr varScale="1">
        <p:scale>
          <a:sx n="57" d="100"/>
          <a:sy n="57" d="100"/>
        </p:scale>
        <p:origin x="12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M%202024\PR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User\Desktop\Desktop%202024\PRM%202025\PRM%20Data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Desktop%202024\PRM%202025\PRM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Trends!$F$2</c:f>
              <c:strCache>
                <c:ptCount val="1"/>
                <c:pt idx="0">
                  <c:v>TB Cases notified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Trends!$E$3:$E$16</c:f>
              <c:strCache>
                <c:ptCount val="1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</c:strCache>
            </c:strRef>
          </c:cat>
          <c:val>
            <c:numRef>
              <c:f>Trends!$F$3:$F$16</c:f>
              <c:numCache>
                <c:formatCode>General</c:formatCode>
                <c:ptCount val="14"/>
                <c:pt idx="0">
                  <c:v>99159</c:v>
                </c:pt>
                <c:pt idx="1">
                  <c:v>89332</c:v>
                </c:pt>
                <c:pt idx="2">
                  <c:v>89333</c:v>
                </c:pt>
                <c:pt idx="3">
                  <c:v>81447</c:v>
                </c:pt>
                <c:pt idx="4">
                  <c:v>81518</c:v>
                </c:pt>
                <c:pt idx="5">
                  <c:v>75898</c:v>
                </c:pt>
                <c:pt idx="6">
                  <c:v>85188</c:v>
                </c:pt>
                <c:pt idx="7">
                  <c:v>96478</c:v>
                </c:pt>
                <c:pt idx="8">
                  <c:v>86504</c:v>
                </c:pt>
                <c:pt idx="9">
                  <c:v>72943</c:v>
                </c:pt>
                <c:pt idx="10">
                  <c:v>77854</c:v>
                </c:pt>
                <c:pt idx="11">
                  <c:v>90560</c:v>
                </c:pt>
                <c:pt idx="12">
                  <c:v>97126</c:v>
                </c:pt>
                <c:pt idx="13">
                  <c:v>96865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DE-41A0-8FD8-3EE0E1EA43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80959999"/>
        <c:axId val="580960415"/>
      </c:barChart>
      <c:catAx>
        <c:axId val="5809599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K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580960415"/>
        <c:crosses val="autoZero"/>
        <c:auto val="1"/>
        <c:lblAlgn val="ctr"/>
        <c:lblOffset val="100"/>
        <c:noMultiLvlLbl val="0"/>
      </c:catAx>
      <c:valAx>
        <c:axId val="5809604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/>
                  <a:t>TB Cases Notified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K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580959999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K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Sheet1!$I$2</c:f>
              <c:strCache>
                <c:ptCount val="1"/>
                <c:pt idx="0">
                  <c:v>Adults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K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8688-4235-B386-CA1DA8D315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Sheet1!$H$3:$H$7</c:f>
              <c:strCache>
                <c:ptCount val="5"/>
                <c:pt idx="0">
                  <c:v>Yr2020</c:v>
                </c:pt>
                <c:pt idx="1">
                  <c:v>Yr2021</c:v>
                </c:pt>
                <c:pt idx="2">
                  <c:v>Yr2022</c:v>
                </c:pt>
                <c:pt idx="3">
                  <c:v>Yr2023</c:v>
                </c:pt>
                <c:pt idx="4">
                  <c:v>Yr2024</c:v>
                </c:pt>
              </c:strCache>
            </c:strRef>
          </c:cat>
          <c:val>
            <c:numRef>
              <c:f>Sheet1!$I$3:$I$7</c:f>
              <c:numCache>
                <c:formatCode>General</c:formatCode>
                <c:ptCount val="5"/>
                <c:pt idx="0">
                  <c:v>933</c:v>
                </c:pt>
                <c:pt idx="1">
                  <c:v>784</c:v>
                </c:pt>
                <c:pt idx="2">
                  <c:v>726</c:v>
                </c:pt>
                <c:pt idx="3">
                  <c:v>680</c:v>
                </c:pt>
                <c:pt idx="4">
                  <c:v>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88-4235-B386-CA1DA8D315E2}"/>
            </c:ext>
          </c:extLst>
        </c:ser>
        <c:ser>
          <c:idx val="1"/>
          <c:order val="1"/>
          <c:tx>
            <c:strRef>
              <c:f>Sheet1!$J$2</c:f>
              <c:strCache>
                <c:ptCount val="1"/>
                <c:pt idx="0">
                  <c:v>Children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K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Sheet1!$H$3:$H$7</c:f>
              <c:strCache>
                <c:ptCount val="5"/>
                <c:pt idx="0">
                  <c:v>Yr2020</c:v>
                </c:pt>
                <c:pt idx="1">
                  <c:v>Yr2021</c:v>
                </c:pt>
                <c:pt idx="2">
                  <c:v>Yr2022</c:v>
                </c:pt>
                <c:pt idx="3">
                  <c:v>Yr2023</c:v>
                </c:pt>
                <c:pt idx="4">
                  <c:v>Yr2024</c:v>
                </c:pt>
              </c:strCache>
            </c:strRef>
          </c:cat>
          <c:val>
            <c:numRef>
              <c:f>Sheet1!$J$3:$J$7</c:f>
              <c:numCache>
                <c:formatCode>General</c:formatCode>
                <c:ptCount val="5"/>
                <c:pt idx="0">
                  <c:v>24</c:v>
                </c:pt>
                <c:pt idx="1">
                  <c:v>20</c:v>
                </c:pt>
                <c:pt idx="2">
                  <c:v>28</c:v>
                </c:pt>
                <c:pt idx="3">
                  <c:v>23</c:v>
                </c:pt>
                <c:pt idx="4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88-4235-B386-CA1DA8D31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03337695"/>
        <c:axId val="1914974799"/>
      </c:barChart>
      <c:catAx>
        <c:axId val="1803337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1914974799"/>
        <c:crosses val="autoZero"/>
        <c:auto val="1"/>
        <c:lblAlgn val="ctr"/>
        <c:lblOffset val="100"/>
        <c:noMultiLvlLbl val="0"/>
      </c:catAx>
      <c:valAx>
        <c:axId val="1914974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1803337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K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KE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297357787989224E-2"/>
          <c:y val="5.7618165828911723E-2"/>
          <c:w val="0.91565579558889831"/>
          <c:h val="0.80112850312354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420-453E-B3F2-ABB3281BD5C5}"/>
              </c:ext>
            </c:extLst>
          </c:dPt>
          <c:dLbls>
            <c:dLbl>
              <c:idx val="2"/>
              <c:tx>
                <c:rich>
                  <a:bodyPr/>
                  <a:lstStyle/>
                  <a:p>
                    <a:fld id="{F6142748-7463-4F58-ABDA-2034B443B3A9}" type="VALUE">
                      <a:rPr lang="en-US"/>
                      <a:pPr/>
                      <a:t>[VALUE]</a:t>
                    </a:fld>
                    <a:r>
                      <a:rPr lang="en-US"/>
                      <a:t>(40%)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15DE-43B2-9798-F590A1E58334}"/>
                </c:ext>
              </c:extLst>
            </c:dLbl>
            <c:dLbl>
              <c:idx val="3"/>
              <c:layout>
                <c:manualLayout>
                  <c:x val="1.5374759769378516E-2"/>
                  <c:y val="0.17032726772986512"/>
                </c:manualLayout>
              </c:layout>
              <c:tx>
                <c:rich>
                  <a:bodyPr/>
                  <a:lstStyle/>
                  <a:p>
                    <a:fld id="{7D326F88-560F-49E2-8F9F-1E9AAA408590}" type="VALUE">
                      <a:rPr lang="en-US"/>
                      <a:pPr/>
                      <a:t>[VALUE]</a:t>
                    </a:fld>
                    <a:r>
                      <a:rPr lang="en-US" dirty="0"/>
                      <a:t>(38%)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179462028703438"/>
                      <c:h val="0.1121390778533635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5DE-43B2-9798-F590A1E5833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F11E65AB-CED9-44E1-9F68-7500433D8D21}" type="VALUE">
                      <a:rPr lang="en-US"/>
                      <a:pPr/>
                      <a:t>[VALUE]</a:t>
                    </a:fld>
                    <a:r>
                      <a:rPr lang="en-US"/>
                      <a:t>(89%)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5DE-43B2-9798-F590A1E58334}"/>
                </c:ext>
              </c:extLst>
            </c:dLbl>
            <c:dLbl>
              <c:idx val="5"/>
              <c:layout>
                <c:manualLayout>
                  <c:x val="9.5693473835039896E-3"/>
                  <c:y val="1.2396694214876033E-2"/>
                </c:manualLayout>
              </c:layout>
              <c:tx>
                <c:rich>
                  <a:bodyPr/>
                  <a:lstStyle/>
                  <a:p>
                    <a:fld id="{63EDA4E1-26BC-44B2-8F07-281AB1A7D931}" type="VALUE">
                      <a:rPr lang="en-US"/>
                      <a:pPr/>
                      <a:t>[VALUE]</a:t>
                    </a:fld>
                    <a:r>
                      <a:rPr lang="en-US"/>
                      <a:t>(96%)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074740096949763"/>
                      <c:h val="8.442148760330578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5DE-43B2-9798-F590A1E583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K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TPT!$A$1:$F$1</c:f>
              <c:strCache>
                <c:ptCount val="6"/>
                <c:pt idx="0">
                  <c:v>BactConfirmed</c:v>
                </c:pt>
                <c:pt idx="1">
                  <c:v>Expected Contacts</c:v>
                </c:pt>
                <c:pt idx="2">
                  <c:v>Contacts Line listed</c:v>
                </c:pt>
                <c:pt idx="3">
                  <c:v>Screened</c:v>
                </c:pt>
                <c:pt idx="4">
                  <c:v>Eligible for TPT</c:v>
                </c:pt>
                <c:pt idx="5">
                  <c:v>Started on TPT</c:v>
                </c:pt>
              </c:strCache>
            </c:strRef>
          </c:cat>
          <c:val>
            <c:numRef>
              <c:f>TPT!$A$2:$F$2</c:f>
              <c:numCache>
                <c:formatCode>General</c:formatCode>
                <c:ptCount val="6"/>
                <c:pt idx="0">
                  <c:v>50453</c:v>
                </c:pt>
                <c:pt idx="1">
                  <c:v>151359</c:v>
                </c:pt>
                <c:pt idx="2" formatCode="#,##0">
                  <c:v>59829</c:v>
                </c:pt>
                <c:pt idx="3">
                  <c:v>58076</c:v>
                </c:pt>
                <c:pt idx="4">
                  <c:v>51741</c:v>
                </c:pt>
                <c:pt idx="5">
                  <c:v>49571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DE-43B2-9798-F590A1E583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4634256"/>
        <c:axId val="696223216"/>
      </c:barChart>
      <c:catAx>
        <c:axId val="734634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696223216"/>
        <c:crosses val="autoZero"/>
        <c:auto val="1"/>
        <c:lblAlgn val="ctr"/>
        <c:lblOffset val="100"/>
        <c:noMultiLvlLbl val="0"/>
      </c:catAx>
      <c:valAx>
        <c:axId val="696223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734634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K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D8DD3-8441-0140-9F51-333911922395}" type="datetimeFigureOut">
              <a:rPr lang="en-TZ" smtClean="0"/>
              <a:t>09/28/2025</a:t>
            </a:fld>
            <a:endParaRPr lang="en-T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770C6-2B92-C046-B885-C589465E907F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49359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End TB Strategy which is the  vehicle  expected  to  lead  to  the</a:t>
            </a:r>
            <a:r>
              <a:rPr lang="en-US" baseline="0" dirty="0"/>
              <a:t> </a:t>
            </a:r>
            <a:r>
              <a:rPr lang="en-US" dirty="0"/>
              <a:t>health-  related target under the Sustainable Development Goals emphasizes building strong linkages with all health care providers.</a:t>
            </a:r>
          </a:p>
          <a:p>
            <a:endParaRPr lang="en-GB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31BEF3-68A4-4A09-865D-C803C73DC2D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31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770C6-2B92-C046-B885-C589465E907F}" type="slidenum">
              <a:rPr lang="en-TZ" smtClean="0"/>
              <a:t>4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285014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725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TB Global report 2024</a:t>
            </a:r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770C6-2B92-C046-B885-C589465E907F}" type="slidenum">
              <a:rPr lang="en-TZ" smtClean="0"/>
              <a:t>7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233731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3222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5036B-F1A0-403E-8583-32FBFFFDC6E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93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0C77B-9CC7-6345-BBF4-5CB60B6EEF1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7282C-54A0-D479-5095-57748E2D57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4301" y="228600"/>
            <a:ext cx="1967562" cy="16499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34CACD-8D52-3792-859D-55E8BD7609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74300" y="83164"/>
            <a:ext cx="1963061" cy="196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4000" b="1" kern="1200" smtClean="0">
                <a:solidFill>
                  <a:schemeClr val="tx2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6BB-BBA5-DB41-B386-CE1EFF0C7D5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740A4-1753-F7AF-9670-977200D824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BFCC2F-D857-E984-0F59-62BAF4B4D0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9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2DE2-E629-F64B-B735-0CEFCA332CD1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3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3DFCA-3A39-4B41-AEB0-C251428B96BA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EE83F1-AD22-31F1-AD8A-FA55CE26F5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9CADD4-4494-FF0C-D9CF-777ACA4C5F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7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D9C2-10B1-954A-A35B-C06B5664B89F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5295B7-A363-F07B-D4A0-184206B8A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08004-158D-9D06-4E23-22D583301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33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22B72-1253-D447-BF04-BC1597EDAE47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0FC5BF-B8F6-39AC-A5E9-6B22F60EC1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DBF3E-6471-CA94-AE7B-FDABF4D7AD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8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DC04-0F9A-224E-9777-DBE055E37366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86B86-B064-97F9-5DE6-FC382A7F6B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CC0E9D-9585-28FB-5CAA-8744299A70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3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5DAA-4EB0-0A48-A0EB-81BCC1539F1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5BE430-EF69-E148-BB18-7D21902605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276BD3-DA7C-351B-D9AF-04CC38DD22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8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3CC-043D-2045-BC1E-E96F80B159EA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118D6D-3A49-8251-500C-4D6112C8B2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99E0E1-D629-D321-EF51-8F4A4BAA21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6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07A4-AE30-7E4C-9383-FBFD7B041735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920346-13CA-B381-B0BE-CC58570241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26F93B-4F00-820F-59CA-097535FB07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1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000C1-057F-BB4C-A572-9042EB3D2FA9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040A36-65DD-354F-96FE-897D747D2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23C5E3-2081-0C32-29AB-B34EDBBC29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00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6118-CACC-D243-98B0-F99AE869A40B}" type="datetime1">
              <a:rPr lang="en-US" smtClean="0"/>
              <a:t>9/28/2025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9443-8FE7-41EC-A111-09C533CF267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219200" y="1544716"/>
            <a:ext cx="97536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219200" y="2743200"/>
            <a:ext cx="475488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242304" y="2743201"/>
            <a:ext cx="475488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82058E-5641-465A-8D87-44A18A5BF9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85AB9F-4238-B881-FE4C-7F166F414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83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E34E68-3F0A-2C30-C071-9B8EF29FE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9887"/>
            <a:ext cx="1024480" cy="8591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D4F330-ED0F-3CB0-52CD-D878B42529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59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userDrawn="1">
  <p:cSld name="1_Picture with Ca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C1E9A8-EE84-4183-8179-5AE7854DF7B5}"/>
              </a:ext>
            </a:extLst>
          </p:cNvPr>
          <p:cNvSpPr/>
          <p:nvPr userDrawn="1"/>
        </p:nvSpPr>
        <p:spPr>
          <a:xfrm>
            <a:off x="0" y="0"/>
            <a:ext cx="6090082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E0498D-EF2E-4EE1-9915-AE06951C1E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98300" y="550994"/>
            <a:ext cx="2077361" cy="17420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2EF153-6665-4D2B-8252-1A58E87F5C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98300" y="4063760"/>
            <a:ext cx="2077361" cy="2077361"/>
          </a:xfrm>
          <a:prstGeom prst="rect">
            <a:avLst/>
          </a:prstGeom>
        </p:spPr>
      </p:pic>
      <p:sp>
        <p:nvSpPr>
          <p:cNvPr id="12" name="Google Shape;10;p40"/>
          <p:cNvSpPr txBox="1">
            <a:spLocks noGrp="1"/>
          </p:cNvSpPr>
          <p:nvPr>
            <p:ph type="title"/>
          </p:nvPr>
        </p:nvSpPr>
        <p:spPr>
          <a:xfrm>
            <a:off x="0" y="1755559"/>
            <a:ext cx="6090082" cy="334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3200" b="1" i="0" u="none" strike="noStrike" cap="none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826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74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F9F883-79C1-FE0D-1FF5-5109BD8DDB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4480" cy="859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EC0921-7CAC-C29A-92BA-AA0D0E0C98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0164" y="6126164"/>
            <a:ext cx="731836" cy="7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26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0C77B-9CC7-6345-BBF4-5CB60B6EEF1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322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4000" b="1" kern="1200" smtClean="0">
                <a:solidFill>
                  <a:schemeClr val="tx2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6BB-BBA5-DB41-B386-CE1EFF0C7D5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841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2DE2-E629-F64B-B735-0CEFCA332CD1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807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3DFCA-3A39-4B41-AEB0-C251428B96BA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040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D9C2-10B1-954A-A35B-C06B5664B89F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5512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22B72-1253-D447-BF04-BC1597EDAE47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1239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DC04-0F9A-224E-9777-DBE055E37366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382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5DAA-4EB0-0A48-A0EB-81BCC1539F1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5666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3CC-043D-2045-BC1E-E96F80B159EA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771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07A4-AE30-7E4C-9383-FBFD7B041735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596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000C1-057F-BB4C-A572-9042EB3D2FA9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6849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6118-CACC-D243-98B0-F99AE869A40B}" type="datetime1">
              <a:rPr lang="en-US" smtClean="0"/>
              <a:t>9/28/2025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9443-8FE7-41EC-A111-09C533CF267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219200" y="1544716"/>
            <a:ext cx="97536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219200" y="2743200"/>
            <a:ext cx="475488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242304" y="2743201"/>
            <a:ext cx="475488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13511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2624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0C77B-9CC7-6345-BBF4-5CB60B6EEF1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2062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4000" b="1" kern="1200" smtClean="0">
                <a:solidFill>
                  <a:schemeClr val="tx2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6BB-BBA5-DB41-B386-CE1EFF0C7D5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3971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2DE2-E629-F64B-B735-0CEFCA332CD1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5635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3DFCA-3A39-4B41-AEB0-C251428B96BA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4115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D9C2-10B1-954A-A35B-C06B5664B89F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6054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22B72-1253-D447-BF04-BC1597EDAE47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320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DC04-0F9A-224E-9777-DBE055E37366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956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5DAA-4EB0-0A48-A0EB-81BCC1539F1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4190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3CC-043D-2045-BC1E-E96F80B159EA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3913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07A4-AE30-7E4C-9383-FBFD7B041735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7196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000C1-057F-BB4C-A572-9042EB3D2FA9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127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6118-CACC-D243-98B0-F99AE869A40B}" type="datetime1">
              <a:rPr lang="en-US" smtClean="0"/>
              <a:t>9/28/2025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9443-8FE7-41EC-A111-09C533CF267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219200" y="1544716"/>
            <a:ext cx="97536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219200" y="2743200"/>
            <a:ext cx="475488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242304" y="2743201"/>
            <a:ext cx="475488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402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5280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0C77B-9CC7-6345-BBF4-5CB60B6EEF1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392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4000" b="1" kern="1200" smtClean="0">
                <a:solidFill>
                  <a:schemeClr val="tx2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6BB-BBA5-DB41-B386-CE1EFF0C7D5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2384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2DE2-E629-F64B-B735-0CEFCA332CD1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478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3DFCA-3A39-4B41-AEB0-C251428B96BA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3044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D9C2-10B1-954A-A35B-C06B5664B89F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3162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22B72-1253-D447-BF04-BC1597EDAE47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7197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DC04-0F9A-224E-9777-DBE055E37366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98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5DAA-4EB0-0A48-A0EB-81BCC1539F18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9403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3CC-043D-2045-BC1E-E96F80B159EA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7279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07A4-AE30-7E4C-9383-FBFD7B041735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7557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000C1-057F-BB4C-A572-9042EB3D2FA9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6552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6118-CACC-D243-98B0-F99AE869A40B}" type="datetime1">
              <a:rPr lang="en-US" smtClean="0"/>
              <a:t>9/28/2025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South Sudan TB Epi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9443-8FE7-41EC-A111-09C533CF267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219200" y="1544716"/>
            <a:ext cx="97536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219200" y="2743200"/>
            <a:ext cx="475488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242304" y="2743201"/>
            <a:ext cx="475488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98270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9348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B76FB-070D-C01C-1487-1729DB39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4FB49-7973-498E-ABF6-06AFDDD5D55A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08DFD-6A1D-2A5C-F779-E39022B22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A41C9-B758-D88C-EEEC-4D6E4973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44B634-9B62-4577-8871-4F7BF3D694F7}" type="slidenum">
              <a:rPr lang="en-GB" altLang="en-KE"/>
              <a:pPr/>
              <a:t>‹#›</a:t>
            </a:fld>
            <a:endParaRPr lang="en-GB" altLang="en-KE"/>
          </a:p>
        </p:txBody>
      </p:sp>
    </p:spTree>
    <p:extLst>
      <p:ext uri="{BB962C8B-B14F-4D97-AF65-F5344CB8AC3E}">
        <p14:creationId xmlns:p14="http://schemas.microsoft.com/office/powerpoint/2010/main" val="17877247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2334A-BFB4-99B9-8F6D-352F4418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927E2-4B94-4C61-BAEA-01F5145BC1B3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12903-7101-D073-1AF8-22A9AF85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6957A-4365-18FE-434F-BCCB0F81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DF5E8E-A325-4129-8A19-A50E43B5555E}" type="slidenum">
              <a:rPr lang="en-GB" altLang="en-KE"/>
              <a:pPr/>
              <a:t>‹#›</a:t>
            </a:fld>
            <a:endParaRPr lang="en-GB" altLang="en-KE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C95BCCD-6B7A-0E3E-E56C-B2407B6E8D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99" y="0"/>
            <a:ext cx="114935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2" descr="Picture 32">
            <a:extLst>
              <a:ext uri="{FF2B5EF4-FFF2-40B4-BE49-F238E27FC236}">
                <a16:creationId xmlns:a16="http://schemas.microsoft.com/office/drawing/2014/main" id="{B754D946-781D-DA02-C44A-9E3F944C62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8" t="21094" r="25548" b="51041"/>
          <a:stretch>
            <a:fillRect/>
          </a:stretch>
        </p:blipFill>
        <p:spPr bwMode="auto">
          <a:xfrm>
            <a:off x="11283950" y="6016625"/>
            <a:ext cx="90805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cxnSp>
        <p:nvCxnSpPr>
          <p:cNvPr id="10" name="Google Shape;138;p3">
            <a:extLst>
              <a:ext uri="{FF2B5EF4-FFF2-40B4-BE49-F238E27FC236}">
                <a16:creationId xmlns:a16="http://schemas.microsoft.com/office/drawing/2014/main" id="{8B4156C0-6B7F-7467-0746-64BE58F9A411}"/>
              </a:ext>
            </a:extLst>
          </p:cNvPr>
          <p:cNvCxnSpPr>
            <a:cxnSpLocks/>
          </p:cNvCxnSpPr>
          <p:nvPr userDrawn="1"/>
        </p:nvCxnSpPr>
        <p:spPr>
          <a:xfrm>
            <a:off x="1108329" y="882777"/>
            <a:ext cx="10245471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690168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303A3-C9B4-5C1F-8920-FFBDD119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734BF-5530-4F7A-9586-740C288913AC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6E7EA-10A5-F328-09F5-0B4F56A9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EDF2B-9F53-45DB-B53B-A4BB9230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98B066-1C40-48E3-B440-8A39FCD05AE7}" type="slidenum">
              <a:rPr lang="en-GB" altLang="en-KE"/>
              <a:pPr/>
              <a:t>‹#›</a:t>
            </a:fld>
            <a:endParaRPr lang="en-GB" altLang="en-KE"/>
          </a:p>
        </p:txBody>
      </p:sp>
      <p:pic>
        <p:nvPicPr>
          <p:cNvPr id="7" name="Picture 32" descr="Picture 32">
            <a:extLst>
              <a:ext uri="{FF2B5EF4-FFF2-40B4-BE49-F238E27FC236}">
                <a16:creationId xmlns:a16="http://schemas.microsoft.com/office/drawing/2014/main" id="{5DCC4B7F-040C-A2E4-17EF-41436DF08B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8" t="21094" r="25548" b="51041"/>
          <a:stretch>
            <a:fillRect/>
          </a:stretch>
        </p:blipFill>
        <p:spPr bwMode="auto">
          <a:xfrm>
            <a:off x="10445232" y="136525"/>
            <a:ext cx="1619070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72D422D1-01DD-49D9-C3E0-B9EA6F4899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98" y="0"/>
            <a:ext cx="2586646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04575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99E9F0-A5DD-E0C0-FDEE-91FEA136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86ABE-66AC-42F3-BD70-03984A3AB57B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1B728A1-1301-0457-B178-61B859EC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E01EF91-2B34-A611-CC27-0FF89C37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FCEEDD-4980-4EBE-AA20-1D94E913179E}" type="slidenum">
              <a:rPr lang="en-GB" altLang="en-KE"/>
              <a:pPr/>
              <a:t>‹#›</a:t>
            </a:fld>
            <a:endParaRPr lang="en-GB" altLang="en-KE"/>
          </a:p>
        </p:txBody>
      </p:sp>
      <p:cxnSp>
        <p:nvCxnSpPr>
          <p:cNvPr id="8" name="Google Shape;138;p3">
            <a:extLst>
              <a:ext uri="{FF2B5EF4-FFF2-40B4-BE49-F238E27FC236}">
                <a16:creationId xmlns:a16="http://schemas.microsoft.com/office/drawing/2014/main" id="{7A42CBBC-8984-A71A-E65D-9D45FC567377}"/>
              </a:ext>
            </a:extLst>
          </p:cNvPr>
          <p:cNvCxnSpPr/>
          <p:nvPr userDrawn="1"/>
        </p:nvCxnSpPr>
        <p:spPr>
          <a:xfrm>
            <a:off x="1108329" y="1099947"/>
            <a:ext cx="965835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7923156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F912086-C17A-04AC-C336-99AB7E96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81857-36D2-4182-BAD5-3BB6B99F0770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F86E1C-F36C-5295-C8F4-1498E883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D75DABC-5280-7F06-938F-204B8ED2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0C21E4-6EE8-4E5E-8F34-7C36B20A99C8}" type="slidenum">
              <a:rPr lang="en-GB" altLang="en-KE"/>
              <a:pPr/>
              <a:t>‹#›</a:t>
            </a:fld>
            <a:endParaRPr lang="en-GB" altLang="en-KE"/>
          </a:p>
        </p:txBody>
      </p:sp>
    </p:spTree>
    <p:extLst>
      <p:ext uri="{BB962C8B-B14F-4D97-AF65-F5344CB8AC3E}">
        <p14:creationId xmlns:p14="http://schemas.microsoft.com/office/powerpoint/2010/main" val="31970188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14A1A96-35EB-A108-96E3-1A64A47E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8B3B0-584A-45C6-804C-5E796BAE2B0F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B658977-6EDA-0C46-391A-E2FD255B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500CC2-8322-CEFC-4078-C44B8B09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46F665-A443-40CA-BEB4-4D7BF067CB7E}" type="slidenum">
              <a:rPr lang="en-GB" altLang="en-KE"/>
              <a:pPr/>
              <a:t>‹#›</a:t>
            </a:fld>
            <a:endParaRPr lang="en-GB" altLang="en-KE"/>
          </a:p>
        </p:txBody>
      </p:sp>
    </p:spTree>
    <p:extLst>
      <p:ext uri="{BB962C8B-B14F-4D97-AF65-F5344CB8AC3E}">
        <p14:creationId xmlns:p14="http://schemas.microsoft.com/office/powerpoint/2010/main" val="410907154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D990650-2AF0-0A96-618A-9BF136F6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3DE0AD-65B9-4890-8EC4-A0F5B0902405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A50F587-C8D2-329A-15FF-0C89B84C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98D19E-88F5-1BE9-021E-AAE4640A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BB6F63-B87A-4DE1-8357-C9A6889FB52F}" type="slidenum">
              <a:rPr lang="en-GB" altLang="en-KE"/>
              <a:pPr/>
              <a:t>‹#›</a:t>
            </a:fld>
            <a:endParaRPr lang="en-GB" altLang="en-KE"/>
          </a:p>
        </p:txBody>
      </p:sp>
      <p:cxnSp>
        <p:nvCxnSpPr>
          <p:cNvPr id="5" name="Google Shape;138;p3">
            <a:extLst>
              <a:ext uri="{FF2B5EF4-FFF2-40B4-BE49-F238E27FC236}">
                <a16:creationId xmlns:a16="http://schemas.microsoft.com/office/drawing/2014/main" id="{29AD5A0C-B25B-64BE-DAB1-CDCD86AB4D33}"/>
              </a:ext>
            </a:extLst>
          </p:cNvPr>
          <p:cNvCxnSpPr>
            <a:cxnSpLocks/>
          </p:cNvCxnSpPr>
          <p:nvPr userDrawn="1"/>
        </p:nvCxnSpPr>
        <p:spPr>
          <a:xfrm>
            <a:off x="1108329" y="1099947"/>
            <a:ext cx="10245471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32" descr="Picture 32">
            <a:extLst>
              <a:ext uri="{FF2B5EF4-FFF2-40B4-BE49-F238E27FC236}">
                <a16:creationId xmlns:a16="http://schemas.microsoft.com/office/drawing/2014/main" id="{C80B24AD-7937-4295-2F5A-5A6C5A1F90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8" t="21094" r="25548" b="51041"/>
          <a:stretch>
            <a:fillRect/>
          </a:stretch>
        </p:blipFill>
        <p:spPr bwMode="auto">
          <a:xfrm>
            <a:off x="11283950" y="6016625"/>
            <a:ext cx="90805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C0EE7D05-0285-A281-CC4C-BCD385DDA9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3" y="9525"/>
            <a:ext cx="114935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29791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BDE858-0BFD-A61F-B66D-6F564320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296B1-FDEC-4D5E-98F4-D81E8194A92C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0EB07E1-B231-DBF7-FB01-77F35B18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553189-5CBC-E053-8786-CAE87FBF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9C11AF-BFF7-42D8-8043-8B0448A39AD5}" type="slidenum">
              <a:rPr lang="en-GB" altLang="en-KE"/>
              <a:pPr/>
              <a:t>‹#›</a:t>
            </a:fld>
            <a:endParaRPr lang="en-GB" altLang="en-KE"/>
          </a:p>
        </p:txBody>
      </p:sp>
    </p:spTree>
    <p:extLst>
      <p:ext uri="{BB962C8B-B14F-4D97-AF65-F5344CB8AC3E}">
        <p14:creationId xmlns:p14="http://schemas.microsoft.com/office/powerpoint/2010/main" val="261851968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1D6C5A-CE5B-9DE2-8E2C-87F4E0CE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E96D2-370E-4DC4-8953-0348A6A61A10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EC85C4-100C-0885-096B-93A07F7E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47F78F0-80CD-7DC1-4B1D-B91F17DA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FEB30F-301D-450A-A8DB-1F03EE905517}" type="slidenum">
              <a:rPr lang="en-GB" altLang="en-KE"/>
              <a:pPr/>
              <a:t>‹#›</a:t>
            </a:fld>
            <a:endParaRPr lang="en-GB" altLang="en-KE"/>
          </a:p>
        </p:txBody>
      </p:sp>
    </p:spTree>
    <p:extLst>
      <p:ext uri="{BB962C8B-B14F-4D97-AF65-F5344CB8AC3E}">
        <p14:creationId xmlns:p14="http://schemas.microsoft.com/office/powerpoint/2010/main" val="38197603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B91D8-F458-3FD6-96F5-BF815B5A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E5483-C709-4AD0-B9C3-41F92C33ECA4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93FF5-C1C3-A59E-C661-6410EE6E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326A7-5C49-CF1F-8803-835ADC48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6C4856-AFC7-4FD2-9418-B3BAD8296735}" type="slidenum">
              <a:rPr lang="en-GB" altLang="en-KE"/>
              <a:pPr/>
              <a:t>‹#›</a:t>
            </a:fld>
            <a:endParaRPr lang="en-GB" altLang="en-KE"/>
          </a:p>
        </p:txBody>
      </p:sp>
    </p:spTree>
    <p:extLst>
      <p:ext uri="{BB962C8B-B14F-4D97-AF65-F5344CB8AC3E}">
        <p14:creationId xmlns:p14="http://schemas.microsoft.com/office/powerpoint/2010/main" val="50564029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07474-CFC7-0E04-92C1-6261A576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68A78-937F-4EE3-BCB4-DB4A1126BC70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1C6E9-DD07-3B32-078E-19F3B35E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A5EA5-F805-6381-2BF8-CB3B4418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917C3-20F6-4F3E-82B7-8D4A5EF77ADE}" type="slidenum">
              <a:rPr lang="en-GB" altLang="en-KE"/>
              <a:pPr/>
              <a:t>‹#›</a:t>
            </a:fld>
            <a:endParaRPr lang="en-GB" altLang="en-KE"/>
          </a:p>
        </p:txBody>
      </p:sp>
    </p:spTree>
    <p:extLst>
      <p:ext uri="{BB962C8B-B14F-4D97-AF65-F5344CB8AC3E}">
        <p14:creationId xmlns:p14="http://schemas.microsoft.com/office/powerpoint/2010/main" val="209188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BF8-FA91-F443-926B-1E24988D0544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53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673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US" sz="4000" b="1" kern="1200" dirty="0" smtClean="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BF8-FA91-F443-926B-1E24988D0544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79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US" sz="4000" b="1" kern="1200" dirty="0" smtClean="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BF8-FA91-F443-926B-1E24988D0544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85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US" sz="4000" b="1" kern="1200" dirty="0" smtClean="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BF8-FA91-F443-926B-1E24988D0544}" type="datetime1">
              <a:rPr lang="en-US" smtClean="0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South Sudan TB Epi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F76A3-EF33-4F14-98B8-C26B40C710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US" sz="4000" b="1" kern="1200" dirty="0" smtClean="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FF31075-712F-FECA-66EC-A5188DB5FB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KE"/>
              <a:t>Click to edit Master title style</a:t>
            </a:r>
            <a:endParaRPr lang="en-GB" altLang="en-KE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74CCF3E-B3DA-6296-D2C4-7A91433657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KE"/>
              <a:t>Edit Master text styles</a:t>
            </a:r>
          </a:p>
          <a:p>
            <a:pPr lvl="1"/>
            <a:r>
              <a:rPr lang="en-US" altLang="en-KE"/>
              <a:t>Second level</a:t>
            </a:r>
          </a:p>
          <a:p>
            <a:pPr lvl="2"/>
            <a:r>
              <a:rPr lang="en-US" altLang="en-KE"/>
              <a:t>Third level</a:t>
            </a:r>
          </a:p>
          <a:p>
            <a:pPr lvl="3"/>
            <a:r>
              <a:rPr lang="en-US" altLang="en-KE"/>
              <a:t>Fourth level</a:t>
            </a:r>
          </a:p>
          <a:p>
            <a:pPr lvl="4"/>
            <a:r>
              <a:rPr lang="en-US" altLang="en-KE"/>
              <a:t>Fifth level</a:t>
            </a:r>
            <a:endParaRPr lang="en-GB" alt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77CD7-CC24-B3DE-7FE2-F6F437E73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E0B76C3-3A27-46BE-AF85-1F527C783E99}" type="datetimeFigureOut">
              <a:rPr lang="en-GB"/>
              <a:pPr>
                <a:defRPr/>
              </a:pPr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4E913-F7EF-F1CD-FAF6-562DE2829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491E8-2748-90E6-C914-21B03AD9C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512C52F2-0ED8-4A47-91B1-41D5C5F24008}" type="slidenum">
              <a:rPr lang="en-GB" altLang="en-KE"/>
              <a:pPr/>
              <a:t>‹#›</a:t>
            </a:fld>
            <a:endParaRPr lang="en-GB" altLang="en-KE"/>
          </a:p>
        </p:txBody>
      </p:sp>
    </p:spTree>
    <p:extLst>
      <p:ext uri="{BB962C8B-B14F-4D97-AF65-F5344CB8AC3E}">
        <p14:creationId xmlns:p14="http://schemas.microsoft.com/office/powerpoint/2010/main" val="112421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6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5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 txBox="1">
            <a:spLocks/>
          </p:cNvSpPr>
          <p:nvPr/>
        </p:nvSpPr>
        <p:spPr bwMode="auto">
          <a:xfrm>
            <a:off x="2661375" y="973138"/>
            <a:ext cx="77724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  <a:latin typeface="Palatino Linotype" panose="02040502050505030304" pitchFamily="18" charset="0"/>
              </a:rPr>
              <a:t>National Tuberculosis and Leprosy Status Report</a:t>
            </a:r>
            <a:endParaRPr lang="en-US" altLang="en-US" sz="4400" b="1">
              <a:latin typeface="Palatino Linotype" panose="02040502050505030304" pitchFamily="18" charset="0"/>
            </a:endParaRPr>
          </a:p>
        </p:txBody>
      </p:sp>
      <p:sp>
        <p:nvSpPr>
          <p:cNvPr id="40963" name="Subtitle 2"/>
          <p:cNvSpPr txBox="1">
            <a:spLocks/>
          </p:cNvSpPr>
          <p:nvPr/>
        </p:nvSpPr>
        <p:spPr bwMode="auto">
          <a:xfrm>
            <a:off x="2813644" y="4437063"/>
            <a:ext cx="685800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Palatino Linotype" panose="02040502050505030304" pitchFamily="18" charset="0"/>
              </a:rPr>
              <a:t>Lung health symposium 2025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1C1AE2-6537-4967-A93E-CCED7978EFA3}"/>
              </a:ext>
            </a:extLst>
          </p:cNvPr>
          <p:cNvSpPr txBox="1">
            <a:spLocks/>
          </p:cNvSpPr>
          <p:nvPr/>
        </p:nvSpPr>
        <p:spPr bwMode="auto">
          <a:xfrm>
            <a:off x="1227908" y="3497263"/>
            <a:ext cx="987552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2573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573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Palatino Linotype" panose="02040502050505030304" pitchFamily="18" charset="0"/>
              </a:rPr>
              <a:t>TB Situation</a:t>
            </a:r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latin typeface="Palatino Linotype" panose="02040502050505030304" pitchFamily="18" charset="0"/>
              </a:rPr>
              <a:t>Aiban </a:t>
            </a:r>
            <a:r>
              <a:rPr lang="en-US" altLang="en-US" sz="2400" b="1" dirty="0" err="1">
                <a:latin typeface="Palatino Linotype" panose="02040502050505030304" pitchFamily="18" charset="0"/>
              </a:rPr>
              <a:t>Ronoh</a:t>
            </a:r>
            <a:endParaRPr lang="en-US" altLang="en-US" sz="2400" b="1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3" descr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3" t="18088" r="54832" b="51041"/>
          <a:stretch>
            <a:fillRect/>
          </a:stretch>
        </p:blipFill>
        <p:spPr bwMode="auto">
          <a:xfrm>
            <a:off x="0" y="0"/>
            <a:ext cx="1087438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6148" name="Picture 32" descr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8" t="21094" r="25548" b="51041"/>
          <a:stretch>
            <a:fillRect/>
          </a:stretch>
        </p:blipFill>
        <p:spPr bwMode="auto">
          <a:xfrm>
            <a:off x="11449050" y="6170613"/>
            <a:ext cx="74295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267731" y="560056"/>
            <a:ext cx="11924269" cy="6720007"/>
            <a:chOff x="1225962" y="-407367"/>
            <a:chExt cx="10474198" cy="7244141"/>
          </a:xfrm>
        </p:grpSpPr>
        <p:sp>
          <p:nvSpPr>
            <p:cNvPr id="9" name="Rectangle 19"/>
            <p:cNvSpPr>
              <a:spLocks noChangeArrowheads="1"/>
            </p:cNvSpPr>
            <p:nvPr/>
          </p:nvSpPr>
          <p:spPr bwMode="auto">
            <a:xfrm flipV="1">
              <a:off x="3229069" y="713234"/>
              <a:ext cx="5301920" cy="49285"/>
            </a:xfrm>
            <a:prstGeom prst="rect">
              <a:avLst/>
            </a:prstGeom>
            <a:solidFill>
              <a:srgbClr val="009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25718" rIns="51435" bIns="25718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1225962" y="-407367"/>
              <a:ext cx="10474198" cy="7244141"/>
              <a:chOff x="1842846" y="-552366"/>
              <a:chExt cx="8449645" cy="6638919"/>
            </a:xfrm>
          </p:grpSpPr>
          <p:sp>
            <p:nvSpPr>
              <p:cNvPr id="12" name="Title 1"/>
              <p:cNvSpPr>
                <a:spLocks/>
              </p:cNvSpPr>
              <p:nvPr/>
            </p:nvSpPr>
            <p:spPr bwMode="auto">
              <a:xfrm>
                <a:off x="3629818" y="-426324"/>
                <a:ext cx="4192615" cy="999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ts val="1975"/>
                  </a:lnSpc>
                  <a:spcBef>
                    <a:spcPct val="0"/>
                  </a:spcBef>
                  <a:buNone/>
                </a:pPr>
                <a:r>
                  <a:rPr lang="en-US" altLang="en-US" sz="3200" b="1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The End </a:t>
                </a:r>
                <a:r>
                  <a:rPr lang="en-US" altLang="en-US" sz="3200" b="1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TB</a:t>
                </a:r>
                <a:r>
                  <a:rPr lang="en-US" altLang="en-US" sz="3200" b="1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 Strategy:</a:t>
                </a:r>
              </a:p>
              <a:p>
                <a:pPr>
                  <a:lnSpc>
                    <a:spcPts val="1975"/>
                  </a:lnSpc>
                  <a:spcBef>
                    <a:spcPct val="0"/>
                  </a:spcBef>
                  <a:buNone/>
                </a:pPr>
                <a:r>
                  <a:rPr lang="en-US" altLang="en-US" sz="3200" b="1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 </a:t>
                </a:r>
                <a:br>
                  <a:rPr lang="en-US" altLang="en-US" sz="3200" b="1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</a:br>
                <a:r>
                  <a:rPr lang="en-US" altLang="en-US" sz="3200" b="1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Vision, Targets and Pillars</a:t>
                </a:r>
                <a:endParaRPr lang="en-US" altLang="en-US" sz="3200" b="1" dirty="0">
                  <a:solidFill>
                    <a:srgbClr val="FF0000"/>
                  </a:solidFill>
                  <a:latin typeface="Century Gothic" panose="020B0502020202020204" pitchFamily="34" charset="0"/>
                </a:endParaRPr>
              </a:p>
            </p:txBody>
          </p:sp>
          <p:pic>
            <p:nvPicPr>
              <p:cNvPr id="13" name="Picture 2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85597" y="2416324"/>
                <a:ext cx="4450024" cy="3184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80029" y="228990"/>
                <a:ext cx="1227107" cy="6310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5" name="Group 13"/>
              <p:cNvGrpSpPr>
                <a:grpSpLocks/>
              </p:cNvGrpSpPr>
              <p:nvPr/>
            </p:nvGrpSpPr>
            <p:grpSpPr bwMode="auto">
              <a:xfrm>
                <a:off x="1985597" y="5600700"/>
                <a:ext cx="7863253" cy="485853"/>
                <a:chOff x="-317902" y="6239537"/>
                <a:chExt cx="9529990" cy="909999"/>
              </a:xfrm>
            </p:grpSpPr>
            <p:pic>
              <p:nvPicPr>
                <p:cNvPr id="24" name="Picture 7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7263" y="6239537"/>
                  <a:ext cx="9104825" cy="9099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5" name="Pentagon 24"/>
                <p:cNvSpPr/>
                <p:nvPr/>
              </p:nvSpPr>
              <p:spPr>
                <a:xfrm>
                  <a:off x="-317902" y="6239537"/>
                  <a:ext cx="6618986" cy="778693"/>
                </a:xfrm>
                <a:prstGeom prst="homePlate">
                  <a:avLst/>
                </a:prstGeom>
                <a:solidFill>
                  <a:srgbClr val="0093D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>
                    <a:solidFill>
                      <a:prstClr val="white"/>
                    </a:solidFill>
                  </a:endParaRPr>
                </a:p>
              </p:txBody>
            </p:sp>
            <p:pic>
              <p:nvPicPr>
                <p:cNvPr id="26" name="Picture 5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-2"/>
                <a:stretch>
                  <a:fillRect/>
                </a:stretch>
              </p:blipFill>
              <p:spPr bwMode="auto">
                <a:xfrm>
                  <a:off x="6756142" y="6357000"/>
                  <a:ext cx="1930880" cy="661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7" name="Picture 20"/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45009" y="6257966"/>
                  <a:ext cx="1774166" cy="5241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" name="Picture 18"/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47424" y="6366209"/>
                  <a:ext cx="1358968" cy="4159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6" name="Group 11"/>
              <p:cNvGrpSpPr>
                <a:grpSpLocks/>
              </p:cNvGrpSpPr>
              <p:nvPr/>
            </p:nvGrpSpPr>
            <p:grpSpPr bwMode="auto">
              <a:xfrm>
                <a:off x="6207126" y="2527300"/>
                <a:ext cx="3343275" cy="2787650"/>
                <a:chOff x="2771800" y="923503"/>
                <a:chExt cx="6239734" cy="4814053"/>
              </a:xfrm>
            </p:grpSpPr>
            <p:pic>
              <p:nvPicPr>
                <p:cNvPr id="20" name="Picture 2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71800" y="923503"/>
                  <a:ext cx="6239734" cy="15187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>
                <a:blip r:embed="rId11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69236" y="2575787"/>
                  <a:ext cx="6114643" cy="10870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2" name="Picture 2"/>
                <p:cNvPicPr>
                  <a:picLocks noChangeAspect="1" noChangeArrowheads="1"/>
                </p:cNvPicPr>
                <p:nvPr/>
              </p:nvPicPr>
              <p:blipFill>
                <a:blip r:embed="rId1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50885" y="3717032"/>
                  <a:ext cx="6114643" cy="9717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3" name="Picture 2"/>
                <p:cNvPicPr>
                  <a:picLocks noChangeAspect="1" noChangeArrowheads="1"/>
                </p:cNvPicPr>
                <p:nvPr/>
              </p:nvPicPr>
              <p:blipFill>
                <a:blip r:embed="rId1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43808" y="4702454"/>
                  <a:ext cx="6050894" cy="10351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17" name="Rectangle 23"/>
              <p:cNvSpPr>
                <a:spLocks noChangeArrowheads="1"/>
              </p:cNvSpPr>
              <p:nvPr/>
            </p:nvSpPr>
            <p:spPr bwMode="auto">
              <a:xfrm>
                <a:off x="3107136" y="618639"/>
                <a:ext cx="7185355" cy="1581126"/>
              </a:xfrm>
              <a:prstGeom prst="rect">
                <a:avLst/>
              </a:prstGeom>
              <a:solidFill>
                <a:srgbClr val="EBF7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1800" b="1" dirty="0">
                    <a:solidFill>
                      <a:srgbClr val="000000"/>
                    </a:solidFill>
                    <a:cs typeface="Calibri" panose="020F0502020204030204" pitchFamily="34" charset="0"/>
                  </a:rPr>
                  <a:t>Vision: 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1800" b="1" dirty="0">
                    <a:solidFill>
                      <a:srgbClr val="FF0000"/>
                    </a:solidFill>
                    <a:cs typeface="Calibri" panose="020F0502020204030204" pitchFamily="34" charset="0"/>
                  </a:rPr>
                  <a:t>A world free of TB 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1800" b="1" i="1" dirty="0">
                    <a:solidFill>
                      <a:srgbClr val="0093D5"/>
                    </a:solidFill>
                    <a:cs typeface="Calibri" panose="020F0502020204030204" pitchFamily="34" charset="0"/>
                  </a:rPr>
                  <a:t>Zero TB deaths, Zero TB disease, and Zero TB suffering</a:t>
                </a:r>
                <a:endParaRPr lang="en-GB" altLang="en-US" sz="1800" b="1" i="1" dirty="0">
                  <a:solidFill>
                    <a:srgbClr val="6699FF"/>
                  </a:solidFill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400" b="1" dirty="0">
                    <a:solidFill>
                      <a:srgbClr val="000000"/>
                    </a:solidFill>
                    <a:cs typeface="Calibri" panose="020F0502020204030204" pitchFamily="34" charset="0"/>
                  </a:rPr>
                  <a:t>Goal:    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000" b="1" dirty="0">
                    <a:solidFill>
                      <a:srgbClr val="FF0000"/>
                    </a:solidFill>
                    <a:cs typeface="Calibri" panose="020F0502020204030204" pitchFamily="34" charset="0"/>
                  </a:rPr>
                  <a:t>End the Global TB Epidemic</a:t>
                </a:r>
              </a:p>
            </p:txBody>
          </p:sp>
          <p:pic>
            <p:nvPicPr>
              <p:cNvPr id="18" name="Picture 2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846" y="961668"/>
                <a:ext cx="1264290" cy="10378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9" name="Picture 2" descr="D:\Dropbox\2015_09_ERS_Congress_Amsterdam\seminar\sdg image.jpg"/>
              <p:cNvPicPr>
                <a:picLocks noChangeAspect="1" noChangeArrowheads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 bwMode="auto">
              <a:xfrm>
                <a:off x="8228045" y="-552366"/>
                <a:ext cx="2002020" cy="914345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D117DE8-CB8E-9A07-0A8E-72F94FA16682}"/>
              </a:ext>
            </a:extLst>
          </p:cNvPr>
          <p:cNvSpPr txBox="1"/>
          <p:nvPr/>
        </p:nvSpPr>
        <p:spPr>
          <a:xfrm>
            <a:off x="8006456" y="4658807"/>
            <a:ext cx="564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accent3"/>
                </a:solidFill>
              </a:rPr>
              <a:t>42%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B8271-E99F-F228-E249-652ABC534AF4}"/>
              </a:ext>
            </a:extLst>
          </p:cNvPr>
          <p:cNvSpPr txBox="1"/>
          <p:nvPr/>
        </p:nvSpPr>
        <p:spPr>
          <a:xfrm>
            <a:off x="8006456" y="5279953"/>
            <a:ext cx="564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accent3"/>
                </a:solidFill>
              </a:rPr>
              <a:t>32%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05945-87A1-3CD6-C57D-815225006EA7}"/>
              </a:ext>
            </a:extLst>
          </p:cNvPr>
          <p:cNvSpPr txBox="1"/>
          <p:nvPr/>
        </p:nvSpPr>
        <p:spPr>
          <a:xfrm>
            <a:off x="11123840" y="4152934"/>
            <a:ext cx="874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2022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4B347-E607-6BC1-03C1-6794BD9311E6}"/>
              </a:ext>
            </a:extLst>
          </p:cNvPr>
          <p:cNvSpPr txBox="1"/>
          <p:nvPr/>
        </p:nvSpPr>
        <p:spPr>
          <a:xfrm>
            <a:off x="10947699" y="3664599"/>
            <a:ext cx="1156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92D050"/>
                </a:solidFill>
              </a:rPr>
              <a:t>Achievement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3D034A9-A8B3-9036-5CCC-76F1FD6CC41F}"/>
              </a:ext>
            </a:extLst>
          </p:cNvPr>
          <p:cNvSpPr/>
          <p:nvPr/>
        </p:nvSpPr>
        <p:spPr>
          <a:xfrm>
            <a:off x="11022007" y="4011314"/>
            <a:ext cx="1098769" cy="2632342"/>
          </a:xfrm>
          <a:prstGeom prst="roundRect">
            <a:avLst/>
          </a:prstGeom>
          <a:solidFill>
            <a:schemeClr val="accent1">
              <a:alpha val="434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3AF9B5-E25F-FAA6-DBD5-72E780092DEA}"/>
              </a:ext>
            </a:extLst>
          </p:cNvPr>
          <p:cNvSpPr txBox="1"/>
          <p:nvPr/>
        </p:nvSpPr>
        <p:spPr>
          <a:xfrm>
            <a:off x="11176501" y="5430122"/>
            <a:ext cx="64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3"/>
                </a:solidFill>
              </a:rPr>
              <a:t>38%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CF0867-B9BB-FC5B-7C72-6145AF3D038D}"/>
              </a:ext>
            </a:extLst>
          </p:cNvPr>
          <p:cNvSpPr txBox="1"/>
          <p:nvPr/>
        </p:nvSpPr>
        <p:spPr>
          <a:xfrm>
            <a:off x="11201901" y="4807309"/>
            <a:ext cx="64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3"/>
                </a:solidFill>
              </a:rPr>
              <a:t>56%</a:t>
            </a:r>
          </a:p>
        </p:txBody>
      </p:sp>
    </p:spTree>
    <p:extLst>
      <p:ext uri="{BB962C8B-B14F-4D97-AF65-F5344CB8AC3E}">
        <p14:creationId xmlns:p14="http://schemas.microsoft.com/office/powerpoint/2010/main" val="98731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748E9-8DBF-C2B2-59E1-1F1FC02E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/>
                <a:latin typeface="Calibri" panose="020F050202020403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Vision, Mission, Goal, and Impact of the NSP 2023/24-2027/28</a:t>
            </a:r>
            <a:endParaRPr lang="en-TZ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A7D6FCC-E370-22C2-102C-9A55F60CD4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5341761"/>
              </p:ext>
            </p:extLst>
          </p:nvPr>
        </p:nvGraphicFramePr>
        <p:xfrm>
          <a:off x="607520" y="1592290"/>
          <a:ext cx="10974880" cy="466791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558621">
                  <a:extLst>
                    <a:ext uri="{9D8B030D-6E8A-4147-A177-3AD203B41FA5}">
                      <a16:colId xmlns:a16="http://schemas.microsoft.com/office/drawing/2014/main" val="3401798502"/>
                    </a:ext>
                  </a:extLst>
                </a:gridCol>
                <a:gridCol w="9416259">
                  <a:extLst>
                    <a:ext uri="{9D8B030D-6E8A-4147-A177-3AD203B41FA5}">
                      <a16:colId xmlns:a16="http://schemas.microsoft.com/office/drawing/2014/main" val="835337811"/>
                    </a:ext>
                  </a:extLst>
                </a:gridCol>
              </a:tblGrid>
              <a:tr h="1723155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Vision</a:t>
                      </a:r>
                      <a:endParaRPr lang="en-TZ" sz="2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rebuchet MS" panose="020B0703020202090204" pitchFamily="34" charset="0"/>
                        <a:cs typeface="Calibri" panose="020F0502020204030204" pitchFamily="34" charset="0"/>
                      </a:endParaRPr>
                    </a:p>
                  </a:txBody>
                  <a:tcPr marL="229076" marR="74035" marT="114538" marB="1145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Contribute to Kenya’s Vision </a:t>
                      </a:r>
                      <a:r>
                        <a:rPr lang="en-US" sz="28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2030</a:t>
                      </a:r>
                      <a:r>
                        <a:rPr lang="en-GB" sz="28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 ”to create a globally competitive and prosperous country with a high quality of life” </a:t>
                      </a:r>
                      <a:r>
                        <a:rPr lang="en-US" sz="28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that </a:t>
                      </a:r>
                      <a:r>
                        <a:rPr lang="en-US" sz="2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has zero deaths, disease, and suffering from tuberculosis</a:t>
                      </a:r>
                      <a:endParaRPr lang="en-TZ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rebuchet MS" panose="020B0703020202090204" pitchFamily="34" charset="0"/>
                        <a:cs typeface="Calibri" panose="020F0502020204030204" pitchFamily="34" charset="0"/>
                      </a:endParaRPr>
                    </a:p>
                  </a:txBody>
                  <a:tcPr marL="229076" marR="74035" marT="114538" marB="1145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614489"/>
                  </a:ext>
                </a:extLst>
              </a:tr>
              <a:tr h="1343340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Mission</a:t>
                      </a:r>
                      <a:endParaRPr lang="en-TZ" sz="2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rebuchet MS" panose="020B0703020202090204" pitchFamily="34" charset="0"/>
                        <a:cs typeface="Calibri" panose="020F0502020204030204" pitchFamily="34" charset="0"/>
                      </a:endParaRPr>
                    </a:p>
                  </a:txBody>
                  <a:tcPr marL="229076" marR="74035" marT="114538" marB="114538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Provide equity of access to cost-effective, quality-assured TB, Leprosy, and Lung health services as close to the family as possible</a:t>
                      </a:r>
                      <a:endParaRPr lang="en-TZ" sz="2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rebuchet MS" panose="020B0703020202090204" pitchFamily="34" charset="0"/>
                        <a:cs typeface="Calibri" panose="020F0502020204030204" pitchFamily="34" charset="0"/>
                      </a:endParaRPr>
                    </a:p>
                  </a:txBody>
                  <a:tcPr marL="229076" marR="74035" marT="114538" marB="114538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995311"/>
                  </a:ext>
                </a:extLst>
              </a:tr>
              <a:tr h="1214073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Goal</a:t>
                      </a:r>
                      <a:endParaRPr lang="en-TZ" sz="2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rebuchet MS" panose="020B0703020202090204" pitchFamily="34" charset="0"/>
                        <a:cs typeface="Calibri" panose="020F0502020204030204" pitchFamily="34" charset="0"/>
                      </a:endParaRPr>
                    </a:p>
                  </a:txBody>
                  <a:tcPr marL="229076" marR="74035" marT="114538" marB="114538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End TB and Leprosy by 2030</a:t>
                      </a:r>
                      <a:endParaRPr lang="en-TZ" sz="2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rebuchet MS" panose="020B070302020209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TZ" sz="2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rebuchet MS" panose="020B0703020202090204" pitchFamily="34" charset="0"/>
                        <a:cs typeface="Calibri" panose="020F0502020204030204" pitchFamily="34" charset="0"/>
                      </a:endParaRPr>
                    </a:p>
                  </a:txBody>
                  <a:tcPr marL="229076" marR="74035" marT="114538" marB="114538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79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334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1FC91-9564-8403-4909-A3B6A0EC0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74" y="136524"/>
            <a:ext cx="10972800" cy="526255"/>
          </a:xfrm>
        </p:spPr>
        <p:txBody>
          <a:bodyPr anchor="ctr">
            <a:normAutofit fontScale="90000"/>
          </a:bodyPr>
          <a:lstStyle/>
          <a:p>
            <a:r>
              <a:rPr lang="en-TZ"/>
              <a:t>STRATEGIC </a:t>
            </a:r>
            <a:r>
              <a:rPr lang="en-US" dirty="0"/>
              <a:t>O</a:t>
            </a:r>
            <a:r>
              <a:rPr lang="en-TZ"/>
              <a:t>BJECTIVES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3E2B1-C97E-6927-A71E-F5D1494F70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52" b="4784"/>
          <a:stretch/>
        </p:blipFill>
        <p:spPr>
          <a:xfrm>
            <a:off x="463827" y="914399"/>
            <a:ext cx="11346060" cy="5287618"/>
          </a:xfrm>
          <a:prstGeom prst="rect">
            <a:avLst/>
          </a:prstGeom>
          <a:noFill/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D6EAEEB-A848-D275-6AA9-46A55D1C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FEF76A3-EF33-4F14-98B8-C26B40C7102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85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 descr="https://mail.google.com/mail/u/1?ui=2&amp;ik=a9ee08b57d&amp;attid=0.0.1&amp;permmsgid=msg-f:1742847815560124894&amp;th=182fd6dab006d9de&amp;view=fimg&amp;fur=ip&amp;sz=s0-l75-ft&amp;attbid=ANGjdJ8oJ0s_gUjZjashFNzbL64xaNf5P39M3aZFalrPNjbAM9-xOIUXihjhrcPgBiGdj1bQQChyMQLh921Oh9FyGdify3jAoTgcAzp6HVOM1m1exiTm_sPUeMRVzWM&amp;disp=emb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225425" y="0"/>
            <a:ext cx="118110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alatino Linotype"/>
                <a:ea typeface="Palatino Linotype"/>
                <a:cs typeface="Palatino Linotype"/>
                <a:sym typeface="Palatino Linotype"/>
              </a:rPr>
              <a:t>Key Programmatic Focus areas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" name="Google Shape;153;p6">
            <a:extLst>
              <a:ext uri="{FF2B5EF4-FFF2-40B4-BE49-F238E27FC236}">
                <a16:creationId xmlns:a16="http://schemas.microsoft.com/office/drawing/2014/main" id="{255A63BD-FB42-9C6A-6FE2-F02A0ABCA8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817" t="19733" b="5303"/>
          <a:stretch/>
        </p:blipFill>
        <p:spPr>
          <a:xfrm>
            <a:off x="268733" y="965376"/>
            <a:ext cx="10737522" cy="52925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138;p3">
            <a:extLst>
              <a:ext uri="{FF2B5EF4-FFF2-40B4-BE49-F238E27FC236}">
                <a16:creationId xmlns:a16="http://schemas.microsoft.com/office/drawing/2014/main" id="{E0F76CD8-5405-29CD-CCF5-B9FEFF39FE91}"/>
              </a:ext>
            </a:extLst>
          </p:cNvPr>
          <p:cNvCxnSpPr/>
          <p:nvPr/>
        </p:nvCxnSpPr>
        <p:spPr>
          <a:xfrm>
            <a:off x="1266825" y="600075"/>
            <a:ext cx="965835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135;p3" descr="Picture 33">
            <a:extLst>
              <a:ext uri="{FF2B5EF4-FFF2-40B4-BE49-F238E27FC236}">
                <a16:creationId xmlns:a16="http://schemas.microsoft.com/office/drawing/2014/main" id="{A9CDF843-78F4-6E49-C737-18A193051A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963" t="18088" r="54832" b="51041"/>
          <a:stretch/>
        </p:blipFill>
        <p:spPr>
          <a:xfrm>
            <a:off x="0" y="81138"/>
            <a:ext cx="866775" cy="7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93EB-19AB-0F3F-F495-F9412A07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157" y="136524"/>
            <a:ext cx="10972800" cy="586753"/>
          </a:xfrm>
        </p:spPr>
        <p:txBody>
          <a:bodyPr anchor="ctr">
            <a:normAutofit fontScale="90000"/>
          </a:bodyPr>
          <a:lstStyle/>
          <a:p>
            <a:r>
              <a:rPr lang="en-GB" dirty="0"/>
              <a:t>IMPACT TARGET 2030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DCBDBF46-1B9C-F119-06DA-A584681D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FEF76A3-EF33-4F14-98B8-C26B40C7102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431634-814A-D23F-4F4F-BD40182A61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00" t="7018" r="4316" b="7836"/>
          <a:stretch/>
        </p:blipFill>
        <p:spPr>
          <a:xfrm>
            <a:off x="225288" y="913511"/>
            <a:ext cx="11105322" cy="56436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928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F5BF0-4A88-4D2E-9B6A-2FEE4C5D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12ACE-AF28-454D-B660-1D2A47DC6BC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10972800" cy="1143000"/>
          </a:xfrm>
        </p:spPr>
        <p:txBody>
          <a:bodyPr/>
          <a:lstStyle/>
          <a:p>
            <a:r>
              <a:rPr lang="en-US" dirty="0"/>
              <a:t>Global TB Burden</a:t>
            </a:r>
            <a:endParaRPr lang="en-K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1F2767-AC6D-4149-B232-8F0400252EB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219201" y="1280106"/>
            <a:ext cx="8743950" cy="3189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E59CEE-06F8-49CA-B067-BB127B076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4332249"/>
            <a:ext cx="87439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97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9D41-2379-4CE7-9773-7522F00DC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8" y="44591"/>
            <a:ext cx="11176253" cy="724035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Proxima Nova" panose="02000506030000020004"/>
              </a:rPr>
              <a:t>PRIORITY OUTCOME TARGETS BY 2028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00017D-6081-D7FC-C8CE-3E98B17EE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39" y="1094324"/>
            <a:ext cx="10569125" cy="576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9B0B-51F2-BC72-0832-C5FB94DD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6525"/>
            <a:ext cx="10549128" cy="601662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3600" b="1" dirty="0">
                <a:solidFill>
                  <a:srgbClr val="FF0000"/>
                </a:solidFill>
                <a:latin typeface="Palatino Linotype"/>
                <a:ea typeface="Calibri"/>
                <a:cs typeface="Calibri"/>
                <a:sym typeface="Calibri"/>
              </a:rPr>
              <a:t>Context –Kenya TB Burden (WHO Global Report 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E8678-6030-DE3D-7413-54B74D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FDCE3-D7CE-4732-A392-66EDD4AC5C11}" type="slidenum">
              <a:rPr kumimoji="0" lang="en-US" altLang="en-KE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KE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4100" name="Content Placeholder 8">
            <a:extLst>
              <a:ext uri="{FF2B5EF4-FFF2-40B4-BE49-F238E27FC236}">
                <a16:creationId xmlns:a16="http://schemas.microsoft.com/office/drawing/2014/main" id="{14798B30-659E-ABF6-EDA7-D9925BA22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1688" y="938213"/>
            <a:ext cx="11288712" cy="5181600"/>
          </a:xfrm>
        </p:spPr>
      </p:pic>
      <p:pic>
        <p:nvPicPr>
          <p:cNvPr id="4101" name="Picture 2">
            <a:extLst>
              <a:ext uri="{FF2B5EF4-FFF2-40B4-BE49-F238E27FC236}">
                <a16:creationId xmlns:a16="http://schemas.microsoft.com/office/drawing/2014/main" id="{7D744A9E-C4CF-B1B4-DF42-47F1C9FE2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4819650"/>
            <a:ext cx="215900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Google Shape;138;p3">
            <a:extLst>
              <a:ext uri="{FF2B5EF4-FFF2-40B4-BE49-F238E27FC236}">
                <a16:creationId xmlns:a16="http://schemas.microsoft.com/office/drawing/2014/main" id="{DC44DC38-F459-D738-353E-A92548113664}"/>
              </a:ext>
            </a:extLst>
          </p:cNvPr>
          <p:cNvCxnSpPr/>
          <p:nvPr/>
        </p:nvCxnSpPr>
        <p:spPr>
          <a:xfrm>
            <a:off x="1108329" y="938213"/>
            <a:ext cx="965835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5;p3" descr="Picture 33">
            <a:extLst>
              <a:ext uri="{FF2B5EF4-FFF2-40B4-BE49-F238E27FC236}">
                <a16:creationId xmlns:a16="http://schemas.microsoft.com/office/drawing/2014/main" id="{1E308448-B9EC-7AD7-6B4B-DBC8486CAE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963" t="18088" r="54832" b="51041"/>
          <a:stretch/>
        </p:blipFill>
        <p:spPr>
          <a:xfrm>
            <a:off x="0" y="34864"/>
            <a:ext cx="866775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6;p3" descr="Picture 32">
            <a:extLst>
              <a:ext uri="{FF2B5EF4-FFF2-40B4-BE49-F238E27FC236}">
                <a16:creationId xmlns:a16="http://schemas.microsoft.com/office/drawing/2014/main" id="{6741E2E2-1184-B729-CD83-ACF8CA9CE0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7468" t="21094" r="25547" b="51041"/>
          <a:stretch/>
        </p:blipFill>
        <p:spPr>
          <a:xfrm>
            <a:off x="11439525" y="6161088"/>
            <a:ext cx="752475" cy="6969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BE1058-6173-7733-E093-01ADFAA64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515" y="34864"/>
            <a:ext cx="10515600" cy="565211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Palatino Linotype"/>
              </a:rPr>
              <a:t>Progress towards achieving impact</a:t>
            </a:r>
          </a:p>
        </p:txBody>
      </p:sp>
      <p:cxnSp>
        <p:nvCxnSpPr>
          <p:cNvPr id="6" name="Google Shape;138;p3">
            <a:extLst>
              <a:ext uri="{FF2B5EF4-FFF2-40B4-BE49-F238E27FC236}">
                <a16:creationId xmlns:a16="http://schemas.microsoft.com/office/drawing/2014/main" id="{93FEB011-D77F-F1E9-724B-F1646C485DAC}"/>
              </a:ext>
            </a:extLst>
          </p:cNvPr>
          <p:cNvCxnSpPr/>
          <p:nvPr/>
        </p:nvCxnSpPr>
        <p:spPr>
          <a:xfrm>
            <a:off x="1266825" y="600075"/>
            <a:ext cx="965835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13D8EE9-5BD1-4F67-9E66-3871547FD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" y="1336675"/>
            <a:ext cx="6162675" cy="4673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9E223A-004D-4D59-87C8-D400CA7B9706}"/>
              </a:ext>
            </a:extLst>
          </p:cNvPr>
          <p:cNvSpPr txBox="1"/>
          <p:nvPr/>
        </p:nvSpPr>
        <p:spPr>
          <a:xfrm>
            <a:off x="6619875" y="1428750"/>
            <a:ext cx="496824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41% reduction of incidence against a target of 50%  by end of 2025 compared to 2015 base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66% reduction of deaths due to TB against a target of 75% by end of 2025 compared to 2015 baseline</a:t>
            </a:r>
          </a:p>
          <a:p>
            <a:endParaRPr lang="en-K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89D3AF74-D764-D975-6530-09C3DE65D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74"/>
            <a:ext cx="10515600" cy="768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altLang="en-KE" sz="3600" b="1" dirty="0">
                <a:solidFill>
                  <a:srgbClr val="FF0000"/>
                </a:solidFill>
                <a:latin typeface="Palatino Linotype"/>
                <a:ea typeface="Calibri"/>
                <a:cs typeface="Calibri"/>
              </a:rPr>
              <a:t>Trends in Case Finding, 2011-2024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8045F6-748A-0C0D-3BF6-E5FB1AFCCA74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752856" y="2203577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85EC19A-68D1-422B-9387-FA228C4BF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340" y="1096685"/>
            <a:ext cx="2945116" cy="1018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5B8FD37-D939-1321-1CAD-C25369DB8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4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altLang="en-KE" sz="3600" b="1" dirty="0">
                <a:solidFill>
                  <a:srgbClr val="FF0000"/>
                </a:solidFill>
                <a:latin typeface="Palatino Linotype"/>
                <a:ea typeface="Calibri"/>
                <a:cs typeface="Calibri"/>
              </a:rPr>
              <a:t>Age-Sex Distribution for TB cases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3E4A54D-5E81-4BE9-9CA7-7EFDF2BB3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8800" y="1825625"/>
            <a:ext cx="6372225" cy="4413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080C3A-FE4C-4EE4-983C-14AFEEBF7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79" y="1690688"/>
            <a:ext cx="5264421" cy="3929062"/>
          </a:xfrm>
          <a:prstGeom prst="rect">
            <a:avLst/>
          </a:prstGeom>
        </p:spPr>
      </p:pic>
      <p:cxnSp>
        <p:nvCxnSpPr>
          <p:cNvPr id="2" name="Google Shape;138;p3">
            <a:extLst>
              <a:ext uri="{FF2B5EF4-FFF2-40B4-BE49-F238E27FC236}">
                <a16:creationId xmlns:a16="http://schemas.microsoft.com/office/drawing/2014/main" id="{9AD68B99-F5C1-11B0-20C1-5D571FE38C5C}"/>
              </a:ext>
            </a:extLst>
          </p:cNvPr>
          <p:cNvCxnSpPr/>
          <p:nvPr/>
        </p:nvCxnSpPr>
        <p:spPr>
          <a:xfrm>
            <a:off x="1108329" y="1099947"/>
            <a:ext cx="965835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76666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E4CF8FB-90B8-5D10-FD66-67C229D1A7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6100" y="165100"/>
            <a:ext cx="10452100" cy="1130300"/>
          </a:xfrm>
        </p:spPr>
        <p:txBody>
          <a:bodyPr/>
          <a:lstStyle/>
          <a:p>
            <a:r>
              <a:rPr lang="en-GB" altLang="en-KE" sz="4000" b="1" dirty="0">
                <a:solidFill>
                  <a:srgbClr val="FF0000"/>
                </a:solidFill>
              </a:rPr>
              <a:t>Trends in TB/HIV care cascade :2020-2024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58F774-CAFA-498A-BEB5-95E836FFB01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028700" y="1460501"/>
            <a:ext cx="9969500" cy="5032374"/>
          </a:xfrm>
          <a:prstGeom prst="rect">
            <a:avLst/>
          </a:prstGeom>
        </p:spPr>
      </p:pic>
      <p:cxnSp>
        <p:nvCxnSpPr>
          <p:cNvPr id="2" name="Google Shape;138;p3">
            <a:extLst>
              <a:ext uri="{FF2B5EF4-FFF2-40B4-BE49-F238E27FC236}">
                <a16:creationId xmlns:a16="http://schemas.microsoft.com/office/drawing/2014/main" id="{10E6390F-B55D-88BB-54FC-787B62CBC4A8}"/>
              </a:ext>
            </a:extLst>
          </p:cNvPr>
          <p:cNvCxnSpPr/>
          <p:nvPr/>
        </p:nvCxnSpPr>
        <p:spPr>
          <a:xfrm>
            <a:off x="1108329" y="1099947"/>
            <a:ext cx="965835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47DAC070-EE67-04E9-5F32-E0F02E297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altLang="en-KE" sz="3600" b="1" dirty="0">
                <a:solidFill>
                  <a:srgbClr val="FF0000"/>
                </a:solidFill>
                <a:latin typeface="Palatino Linotype"/>
                <a:ea typeface="Calibri"/>
                <a:cs typeface="Calibri"/>
              </a:rPr>
              <a:t>TB Treatment Outcomes:2023 cohort</a:t>
            </a:r>
          </a:p>
        </p:txBody>
      </p:sp>
      <p:pic>
        <p:nvPicPr>
          <p:cNvPr id="16387" name="Content Placeholder 3">
            <a:extLst>
              <a:ext uri="{FF2B5EF4-FFF2-40B4-BE49-F238E27FC236}">
                <a16:creationId xmlns:a16="http://schemas.microsoft.com/office/drawing/2014/main" id="{B52018EA-CE94-E69E-3C9E-844607A80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2"/>
          <a:stretch>
            <a:fillRect/>
          </a:stretch>
        </p:blipFill>
        <p:spPr>
          <a:xfrm>
            <a:off x="933450" y="1422400"/>
            <a:ext cx="11348362" cy="48133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4BB5323-DFF4-D1BB-2734-70939037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altLang="en-KE" sz="3600" b="1" dirty="0">
                <a:solidFill>
                  <a:srgbClr val="FF0000"/>
                </a:solidFill>
                <a:latin typeface="Palatino Linotype"/>
                <a:ea typeface="Calibri"/>
                <a:cs typeface="Calibri"/>
              </a:rPr>
              <a:t>DR TB Notifications trends 2020:2024</a:t>
            </a:r>
            <a:endParaRPr lang="LID4096" altLang="en-KE" sz="3600" b="1" dirty="0">
              <a:solidFill>
                <a:srgbClr val="FF0000"/>
              </a:solidFill>
              <a:latin typeface="Palatino Linotype"/>
              <a:ea typeface="Calibri"/>
              <a:cs typeface="Calibri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4346EB2-F3C7-4E83-982A-BD08CCA95A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426BDB8-39F4-D05E-A9C3-C091B1E5D95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6564" y="0"/>
            <a:ext cx="10778871" cy="84429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altLang="en-KE" sz="3600" b="1" dirty="0">
                <a:solidFill>
                  <a:srgbClr val="FF0000"/>
                </a:solidFill>
                <a:latin typeface="Palatino Linotype"/>
                <a:ea typeface="Calibri"/>
                <a:cs typeface="Calibri"/>
              </a:rPr>
              <a:t>Drug resistant TB treatment outcomes 2022</a:t>
            </a:r>
            <a:endParaRPr lang="LID4096" altLang="en-KE" sz="3600" b="1" dirty="0">
              <a:solidFill>
                <a:srgbClr val="FF0000"/>
              </a:solidFill>
              <a:latin typeface="Palatino Linotype"/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FB4CCE-A477-4B91-91E3-D9A56669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863" y="1475613"/>
            <a:ext cx="8801100" cy="4867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DCE7-73C6-4020-8630-A754720284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09676" y="365125"/>
            <a:ext cx="10096500" cy="67119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3600" b="1" dirty="0">
                <a:solidFill>
                  <a:srgbClr val="FF0000"/>
                </a:solidFill>
                <a:latin typeface="Palatino Linotype"/>
                <a:ea typeface="Calibri"/>
                <a:cs typeface="Calibri"/>
              </a:rPr>
              <a:t>TB contacts screening cascade: 2024</a:t>
            </a:r>
            <a:endParaRPr lang="en-KE" sz="3600" b="1" dirty="0">
              <a:solidFill>
                <a:srgbClr val="FF0000"/>
              </a:solidFill>
              <a:latin typeface="Palatino Linotype"/>
              <a:ea typeface="Calibri"/>
              <a:cs typeface="Calibri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A6446DF-8138-4E32-9626-D026A2DAB1B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04672" y="1231392"/>
          <a:ext cx="10501504" cy="5261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3604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0A31-0B5C-46C4-B88F-21316942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 of people provided with TPT</a:t>
            </a:r>
            <a:endParaRPr lang="en-KE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1F9097-4293-4FEA-9A4E-E558D099F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667" y="1170878"/>
            <a:ext cx="9556595" cy="493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97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6043-0FE0-44B0-8A0D-499A87BC0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UHC and Social protection indicators</a:t>
            </a:r>
            <a:endParaRPr lang="en-K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8A16B42-AA5F-494D-A05B-9F3131A15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67" y="1728440"/>
            <a:ext cx="9634654" cy="20852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90C76D-05E0-4C6E-8AD6-B77551A6A4D8}"/>
              </a:ext>
            </a:extLst>
          </p:cNvPr>
          <p:cNvSpPr txBox="1"/>
          <p:nvPr/>
        </p:nvSpPr>
        <p:spPr>
          <a:xfrm>
            <a:off x="9779621" y="1739590"/>
            <a:ext cx="22674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Global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75%(70-81)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12%(10-13)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49%(38-60)</a:t>
            </a:r>
            <a:endParaRPr lang="en-KE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430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948B9-FBCD-4B8F-8360-71D19385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76A3-EF33-4F14-98B8-C26B40C71025}" type="slidenum">
              <a:rPr lang="en-US" smtClean="0"/>
              <a:t>20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12A57-E40C-472B-9D48-6F1BDE28501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10972800" cy="1143000"/>
          </a:xfrm>
        </p:spPr>
        <p:txBody>
          <a:bodyPr/>
          <a:lstStyle/>
          <a:p>
            <a:r>
              <a:rPr lang="en-US" dirty="0"/>
              <a:t>TB Risk factors</a:t>
            </a:r>
            <a:endParaRPr lang="en-K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0E2A33-2D5A-41C9-A825-D84FE5E34F5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58283" y="1417638"/>
            <a:ext cx="8942930" cy="420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12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FF7BCCE3-F796-A9F6-19D1-EC00F5725462}"/>
              </a:ext>
            </a:extLst>
          </p:cNvPr>
          <p:cNvSpPr txBox="1">
            <a:spLocks/>
          </p:cNvSpPr>
          <p:nvPr/>
        </p:nvSpPr>
        <p:spPr bwMode="auto">
          <a:xfrm>
            <a:off x="922338" y="22225"/>
            <a:ext cx="105156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Leprosy Case Finding Trend in Kenya, 2024</a:t>
            </a:r>
          </a:p>
        </p:txBody>
      </p:sp>
      <p:pic>
        <p:nvPicPr>
          <p:cNvPr id="25603" name="Picture 6">
            <a:extLst>
              <a:ext uri="{FF2B5EF4-FFF2-40B4-BE49-F238E27FC236}">
                <a16:creationId xmlns:a16="http://schemas.microsoft.com/office/drawing/2014/main" id="{76569DEC-AEEC-564E-8143-0143AEDEA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166560"/>
            <a:ext cx="1358900" cy="1109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7">
            <a:extLst>
              <a:ext uri="{FF2B5EF4-FFF2-40B4-BE49-F238E27FC236}">
                <a16:creationId xmlns:a16="http://schemas.microsoft.com/office/drawing/2014/main" id="{82DD4889-A3A4-4BF7-CBB4-40AF1671E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2170034"/>
            <a:ext cx="1298752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KE" sz="7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97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KE" sz="1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(From 19 Counties)</a:t>
            </a:r>
            <a:endParaRPr kumimoji="0" lang="en-US" altLang="en-KE" sz="72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25605" name="TextBox 8">
            <a:extLst>
              <a:ext uri="{FF2B5EF4-FFF2-40B4-BE49-F238E27FC236}">
                <a16:creationId xmlns:a16="http://schemas.microsoft.com/office/drawing/2014/main" id="{D4614817-744F-C913-4A71-BDFA3201D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1" y="3589635"/>
            <a:ext cx="2300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anchor="b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Cases in 2024</a:t>
            </a:r>
          </a:p>
        </p:txBody>
      </p:sp>
      <p:sp>
        <p:nvSpPr>
          <p:cNvPr id="25606" name="TextBox 9">
            <a:extLst>
              <a:ext uri="{FF2B5EF4-FFF2-40B4-BE49-F238E27FC236}">
                <a16:creationId xmlns:a16="http://schemas.microsoft.com/office/drawing/2014/main" id="{C78D8E72-FE8F-7CA8-9912-9953ACBF7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82" y="3948145"/>
            <a:ext cx="23002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KE" sz="14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The country had an increase in leprosy cases from the endermic and non endermic counties from 77 in 2023.  </a:t>
            </a:r>
          </a:p>
        </p:txBody>
      </p:sp>
      <p:pic>
        <p:nvPicPr>
          <p:cNvPr id="25608" name="Picture 12">
            <a:extLst>
              <a:ext uri="{FF2B5EF4-FFF2-40B4-BE49-F238E27FC236}">
                <a16:creationId xmlns:a16="http://schemas.microsoft.com/office/drawing/2014/main" id="{EC6684D4-3601-3CB6-5A52-69CC2B8C5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3" y="9525"/>
            <a:ext cx="114935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609" name="Chart 2">
            <a:extLst>
              <a:ext uri="{FF2B5EF4-FFF2-40B4-BE49-F238E27FC236}">
                <a16:creationId xmlns:a16="http://schemas.microsoft.com/office/drawing/2014/main" id="{F4770B95-9A75-3ACC-FF5B-DC7B7845D8F8}"/>
              </a:ext>
            </a:extLst>
          </p:cNvPr>
          <p:cNvGraphicFramePr>
            <a:graphicFrameLocks/>
          </p:cNvGraphicFramePr>
          <p:nvPr/>
        </p:nvGraphicFramePr>
        <p:xfrm>
          <a:off x="2901950" y="960438"/>
          <a:ext cx="9239250" cy="401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Chart" r:id="rId5" imgW="9242337" imgH="4023709" progId="Excel.Chart.8">
                  <p:embed/>
                </p:oleObj>
              </mc:Choice>
              <mc:Fallback>
                <p:oleObj name="Chart" r:id="rId5" imgW="9242337" imgH="4023709" progId="Excel.Chart.8">
                  <p:embed/>
                  <p:pic>
                    <p:nvPicPr>
                      <p:cNvPr id="25609" name="Chart 2">
                        <a:extLst>
                          <a:ext uri="{FF2B5EF4-FFF2-40B4-BE49-F238E27FC236}">
                            <a16:creationId xmlns:a16="http://schemas.microsoft.com/office/drawing/2014/main" id="{F4770B95-9A75-3ACC-FF5B-DC7B7845D8F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0" y="960438"/>
                        <a:ext cx="9239250" cy="4014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78FD31-C081-8A01-D987-F894959A02C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20421" y="4862202"/>
          <a:ext cx="2587625" cy="19735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7178">
                  <a:extLst>
                    <a:ext uri="{9D8B030D-6E8A-4147-A177-3AD203B41FA5}">
                      <a16:colId xmlns:a16="http://schemas.microsoft.com/office/drawing/2014/main" val="800006840"/>
                    </a:ext>
                  </a:extLst>
                </a:gridCol>
                <a:gridCol w="1080447">
                  <a:extLst>
                    <a:ext uri="{9D8B030D-6E8A-4147-A177-3AD203B41FA5}">
                      <a16:colId xmlns:a16="http://schemas.microsoft.com/office/drawing/2014/main" val="2817609482"/>
                    </a:ext>
                  </a:extLst>
                </a:gridCol>
              </a:tblGrid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>
                          <a:effectLst/>
                        </a:rPr>
                        <a:t>County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Patients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3605928483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Kilifi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u="none" strike="noStrike" dirty="0">
                          <a:effectLst/>
                        </a:rPr>
                        <a:t>35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911016815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Homa Bay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u="none" strike="noStrike" dirty="0">
                          <a:effectLst/>
                        </a:rPr>
                        <a:t>10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2971910775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Kwale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u="none" strike="noStrike" dirty="0">
                          <a:effectLst/>
                        </a:rPr>
                        <a:t>10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3230688778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Busia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u="none" strike="noStrike" dirty="0">
                          <a:effectLst/>
                        </a:rPr>
                        <a:t>6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3149373460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Mombasa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u="none" strike="noStrike" dirty="0">
                          <a:effectLst/>
                        </a:rPr>
                        <a:t>6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3365937477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Siaya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u="none" strike="noStrike" dirty="0">
                          <a:effectLst/>
                        </a:rPr>
                        <a:t>6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13297633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E314E4-8613-489C-7CC7-70E4BC679DF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914651" y="4862201"/>
          <a:ext cx="2587625" cy="19735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7178">
                  <a:extLst>
                    <a:ext uri="{9D8B030D-6E8A-4147-A177-3AD203B41FA5}">
                      <a16:colId xmlns:a16="http://schemas.microsoft.com/office/drawing/2014/main" val="800006840"/>
                    </a:ext>
                  </a:extLst>
                </a:gridCol>
                <a:gridCol w="1080447">
                  <a:extLst>
                    <a:ext uri="{9D8B030D-6E8A-4147-A177-3AD203B41FA5}">
                      <a16:colId xmlns:a16="http://schemas.microsoft.com/office/drawing/2014/main" val="2817609482"/>
                    </a:ext>
                  </a:extLst>
                </a:gridCol>
              </a:tblGrid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>
                          <a:effectLst/>
                        </a:rPr>
                        <a:t>County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Patients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3605928483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Kisumu</a:t>
                      </a: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911016815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Turkana</a:t>
                      </a: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2971910775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Kajiado</a:t>
                      </a: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3230688778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Meru</a:t>
                      </a: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3149373460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Migori</a:t>
                      </a: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3365937477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West Pokot</a:t>
                      </a:r>
                    </a:p>
                  </a:txBody>
                  <a:tcPr marL="7620" marR="7620" marT="761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19" marB="0" anchor="b"/>
                </a:tc>
                <a:extLst>
                  <a:ext uri="{0D108BD9-81ED-4DB2-BD59-A6C34878D82A}">
                    <a16:rowId xmlns:a16="http://schemas.microsoft.com/office/drawing/2014/main" val="1329763356"/>
                  </a:ext>
                </a:extLst>
              </a:tr>
            </a:tbl>
          </a:graphicData>
        </a:graphic>
      </p:graphicFrame>
      <p:sp>
        <p:nvSpPr>
          <p:cNvPr id="25662" name="TextBox 8">
            <a:extLst>
              <a:ext uri="{FF2B5EF4-FFF2-40B4-BE49-F238E27FC236}">
                <a16:creationId xmlns:a16="http://schemas.microsoft.com/office/drawing/2014/main" id="{EFCBE936-9A69-A825-AD11-E40402AAC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122" y="5435897"/>
            <a:ext cx="351663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KE" sz="1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One patient from Bomet, Bungoma, Kakamega, Kiambu, Kitui, Machakos and Nyamira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D8DD-9E82-B325-EBF1-471355D0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Research agenda-</a:t>
            </a:r>
            <a:r>
              <a:rPr lang="en-US" dirty="0">
                <a:solidFill>
                  <a:schemeClr val="tx1"/>
                </a:solidFill>
              </a:rPr>
              <a:t>Ongoing/planned studies</a:t>
            </a:r>
            <a:endParaRPr lang="en-KE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DB87-F186-3725-DE24-BB4097728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0164"/>
            <a:ext cx="12192000" cy="5297836"/>
          </a:xfrm>
        </p:spPr>
        <p:txBody>
          <a:bodyPr/>
          <a:lstStyle/>
          <a:p>
            <a:pPr marL="725993" lvl="3" indent="0">
              <a:buNone/>
            </a:pPr>
            <a:r>
              <a:rPr lang="en-US" sz="2400" dirty="0"/>
              <a:t>Program established national research task force for TB with clear mandate and TORs to coordinate research activities and some of the planned activities include;</a:t>
            </a:r>
          </a:p>
          <a:p>
            <a:pPr marL="1411793" lvl="4"/>
            <a:r>
              <a:rPr lang="en-US" sz="2400" dirty="0">
                <a:solidFill>
                  <a:srgbClr val="FF0000"/>
                </a:solidFill>
              </a:rPr>
              <a:t>KVP prioritization, mapping and size estimation</a:t>
            </a:r>
            <a:endParaRPr lang="en-US" sz="2400" dirty="0"/>
          </a:p>
          <a:p>
            <a:pPr marL="1411793" lvl="4"/>
            <a:r>
              <a:rPr lang="en-US" sz="2400" dirty="0">
                <a:solidFill>
                  <a:srgbClr val="FF0000"/>
                </a:solidFill>
              </a:rPr>
              <a:t>SMART4TB study in Kisumu</a:t>
            </a:r>
            <a:endParaRPr lang="en-US" sz="2400" dirty="0"/>
          </a:p>
          <a:p>
            <a:pPr marL="1411793" lvl="4"/>
            <a:r>
              <a:rPr lang="en-US" sz="2400" dirty="0">
                <a:solidFill>
                  <a:srgbClr val="FF0000"/>
                </a:solidFill>
              </a:rPr>
              <a:t>Inventory study</a:t>
            </a:r>
            <a:endParaRPr lang="en-US" sz="2400" dirty="0"/>
          </a:p>
          <a:p>
            <a:pPr marL="1411793" lvl="4"/>
            <a:r>
              <a:rPr lang="en-US" sz="2400" dirty="0">
                <a:solidFill>
                  <a:srgbClr val="FF0000"/>
                </a:solidFill>
              </a:rPr>
              <a:t>Patient cost survey</a:t>
            </a:r>
          </a:p>
          <a:p>
            <a:pPr marL="1411793" lvl="4"/>
            <a:r>
              <a:rPr lang="en-US" sz="2400" dirty="0">
                <a:solidFill>
                  <a:srgbClr val="FF0000"/>
                </a:solidFill>
              </a:rPr>
              <a:t>Burden of lung disease </a:t>
            </a:r>
          </a:p>
          <a:p>
            <a:pPr marL="1411793" lvl="4"/>
            <a:r>
              <a:rPr lang="en-US" sz="2400" dirty="0">
                <a:solidFill>
                  <a:srgbClr val="FF0000"/>
                </a:solidFill>
              </a:rPr>
              <a:t> digital X ray/ AI validation study</a:t>
            </a:r>
          </a:p>
          <a:p>
            <a:pPr marL="725993" lvl="3" indent="0">
              <a:buNone/>
            </a:pPr>
            <a:r>
              <a:rPr lang="en-US" sz="2400" dirty="0"/>
              <a:t>The program will be organizing bi-annual dissemination meetings for research</a:t>
            </a:r>
          </a:p>
          <a:p>
            <a:pPr marL="954593" lvl="3"/>
            <a:endParaRPr lang="en-US" sz="2400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520981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A75A7-30FE-4353-B656-472B107A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735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TB  and Lung health Funding landscape</a:t>
            </a:r>
            <a:endParaRPr lang="en-KE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530E09-9627-47C4-9D5D-514763F21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1149" y="1476375"/>
            <a:ext cx="9447407" cy="44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12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9968" y="3502617"/>
            <a:ext cx="11882033" cy="2820691"/>
          </a:xfrm>
        </p:spPr>
        <p:txBody>
          <a:bodyPr>
            <a:normAutofit/>
          </a:bodyPr>
          <a:lstStyle/>
          <a:p>
            <a:r>
              <a:rPr lang="en-US" sz="2133" dirty="0">
                <a:latin typeface="Proxima Nova"/>
              </a:rPr>
              <a:t>National Tuberculosis, Leprosy and Lung Disease Program </a:t>
            </a:r>
            <a:br>
              <a:rPr lang="en-US" sz="2133" dirty="0">
                <a:latin typeface="Proxima Nova"/>
              </a:rPr>
            </a:br>
            <a:br>
              <a:rPr lang="en-US" sz="1867" dirty="0">
                <a:solidFill>
                  <a:srgbClr val="FF0000"/>
                </a:solidFill>
                <a:latin typeface="Proxima Nova"/>
              </a:rPr>
            </a:br>
            <a:br>
              <a:rPr lang="en-US" sz="1867" dirty="0">
                <a:latin typeface="Proxima Nova"/>
              </a:rPr>
            </a:br>
            <a:r>
              <a:rPr lang="en-US" sz="2133" dirty="0">
                <a:latin typeface="Proxima Nova"/>
              </a:rPr>
              <a:t>nltp.co.ke	       </a:t>
            </a:r>
            <a:r>
              <a:rPr lang="en-US" altLang="en-US" sz="2133" dirty="0">
                <a:latin typeface="Proxima Nova"/>
              </a:rPr>
              <a:t>@</a:t>
            </a:r>
            <a:r>
              <a:rPr lang="en-US" altLang="en-US" sz="2133" dirty="0" err="1">
                <a:latin typeface="Proxima Nova"/>
              </a:rPr>
              <a:t>NTLDKenya</a:t>
            </a:r>
            <a:r>
              <a:rPr lang="en-US" altLang="en-US" sz="2133" dirty="0">
                <a:latin typeface="Proxima Nova"/>
              </a:rPr>
              <a:t>                </a:t>
            </a:r>
            <a:r>
              <a:rPr lang="en-US" altLang="en-US" sz="2133" dirty="0" err="1">
                <a:latin typeface="Proxima Nova"/>
              </a:rPr>
              <a:t>NTLDKenya</a:t>
            </a:r>
            <a:br>
              <a:rPr lang="en-US" altLang="en-US" sz="2133" dirty="0">
                <a:solidFill>
                  <a:srgbClr val="0070C0"/>
                </a:solidFill>
                <a:latin typeface="Proxima Nova"/>
              </a:rPr>
            </a:br>
            <a:br>
              <a:rPr lang="en-US" sz="3200" i="1" dirty="0">
                <a:solidFill>
                  <a:srgbClr val="00B050"/>
                </a:solidFill>
                <a:latin typeface="Proxima Nova"/>
              </a:rPr>
            </a:br>
            <a:r>
              <a:rPr lang="en-US" sz="3200" i="1" dirty="0">
                <a:solidFill>
                  <a:srgbClr val="00B050"/>
                </a:solidFill>
                <a:latin typeface="Proxima Nova"/>
              </a:rPr>
              <a:t>Asante (Thank You)!</a:t>
            </a:r>
            <a:br>
              <a:rPr lang="en-US" sz="3200" i="1" dirty="0">
                <a:solidFill>
                  <a:srgbClr val="00B050"/>
                </a:solidFill>
                <a:latin typeface="Proxima Nova"/>
              </a:rPr>
            </a:br>
            <a:endParaRPr lang="en-US" sz="3200" i="1" dirty="0">
              <a:latin typeface="Proxima Nova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547789" y="3959259"/>
            <a:ext cx="5633159" cy="393021"/>
            <a:chOff x="1806909" y="3353424"/>
            <a:chExt cx="6297410" cy="500970"/>
          </a:xfrm>
        </p:grpSpPr>
        <p:pic>
          <p:nvPicPr>
            <p:cNvPr id="8" name="Picture 5" descr="group"/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2780" y="3362526"/>
              <a:ext cx="341539" cy="43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 descr="group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1267" y="3353424"/>
              <a:ext cx="433851" cy="43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" name="Picture 2" descr="Image result for website icon black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909" y="3394067"/>
              <a:ext cx="460328" cy="460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15677539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1614</TotalTime>
  <Words>531</Words>
  <Application>Microsoft Office PowerPoint</Application>
  <PresentationFormat>Widescreen</PresentationFormat>
  <Paragraphs>113</Paragraphs>
  <Slides>24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2" baseType="lpstr">
      <vt:lpstr>MS PGothic</vt:lpstr>
      <vt:lpstr>Arial</vt:lpstr>
      <vt:lpstr>Arial Narrow</vt:lpstr>
      <vt:lpstr>Calibri</vt:lpstr>
      <vt:lpstr>Calibri Light</vt:lpstr>
      <vt:lpstr>Cambria</vt:lpstr>
      <vt:lpstr>Century Gothic</vt:lpstr>
      <vt:lpstr>Palatino Linotype</vt:lpstr>
      <vt:lpstr>Proxima Nova</vt:lpstr>
      <vt:lpstr>Tahoma</vt:lpstr>
      <vt:lpstr>Times New Roman</vt:lpstr>
      <vt:lpstr>Trebuchet MS</vt:lpstr>
      <vt:lpstr>3_Office Theme</vt:lpstr>
      <vt:lpstr>2_Office Theme</vt:lpstr>
      <vt:lpstr>Office Theme</vt:lpstr>
      <vt:lpstr>1_Office Theme</vt:lpstr>
      <vt:lpstr>4_Office Theme</vt:lpstr>
      <vt:lpstr>Chart</vt:lpstr>
      <vt:lpstr>PowerPoint Presentation</vt:lpstr>
      <vt:lpstr>PowerPoint Presentation</vt:lpstr>
      <vt:lpstr>Vision, Mission, Goal, and Impact of the NSP 2023/24-2027/28</vt:lpstr>
      <vt:lpstr>STRATEGIC OBJECTIVES</vt:lpstr>
      <vt:lpstr>PowerPoint Presentation</vt:lpstr>
      <vt:lpstr>IMPACT TARGET 2030</vt:lpstr>
      <vt:lpstr>Global TB Burden</vt:lpstr>
      <vt:lpstr>PRIORITY OUTCOME TARGETS BY 2028</vt:lpstr>
      <vt:lpstr>Context –Kenya TB Burden (WHO Global Report 2024)</vt:lpstr>
      <vt:lpstr>Progress towards achieving impact</vt:lpstr>
      <vt:lpstr>Trends in Case Finding, 2011-2024</vt:lpstr>
      <vt:lpstr>Age-Sex Distribution for TB cases</vt:lpstr>
      <vt:lpstr>Trends in TB/HIV care cascade :2020-2024</vt:lpstr>
      <vt:lpstr>TB Treatment Outcomes:2023 cohort</vt:lpstr>
      <vt:lpstr>DR TB Notifications trends 2020:2024</vt:lpstr>
      <vt:lpstr>Drug resistant TB treatment outcomes 2022</vt:lpstr>
      <vt:lpstr>TB contacts screening cascade: 2024</vt:lpstr>
      <vt:lpstr>Trends of people provided with TPT</vt:lpstr>
      <vt:lpstr>UHC and Social protection indicators</vt:lpstr>
      <vt:lpstr>TB Risk factors</vt:lpstr>
      <vt:lpstr>PowerPoint Presentation</vt:lpstr>
      <vt:lpstr>Research agenda-Ongoing/planned studies</vt:lpstr>
      <vt:lpstr>TB  and Lung health Funding landscape</vt:lpstr>
      <vt:lpstr>National Tuberculosis, Leprosy and Lung Disease Program    nltp.co.ke        @NTLDKenya                NTLDKenya  Asante (Thank You)!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Sode Matiku</dc:creator>
  <cp:lastModifiedBy>User</cp:lastModifiedBy>
  <cp:revision>121</cp:revision>
  <dcterms:created xsi:type="dcterms:W3CDTF">2023-01-13T12:39:59Z</dcterms:created>
  <dcterms:modified xsi:type="dcterms:W3CDTF">2025-09-28T08:36:26Z</dcterms:modified>
</cp:coreProperties>
</file>