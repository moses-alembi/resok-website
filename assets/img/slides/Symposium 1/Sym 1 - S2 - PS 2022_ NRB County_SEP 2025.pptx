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74" r:id="rId4"/>
    <p:sldId id="263" r:id="rId5"/>
    <p:sldId id="264" r:id="rId6"/>
    <p:sldId id="265" r:id="rId7"/>
    <p:sldId id="266" r:id="rId8"/>
    <p:sldId id="273" r:id="rId9"/>
    <p:sldId id="258" r:id="rId10"/>
    <p:sldId id="267" r:id="rId11"/>
    <p:sldId id="268" r:id="rId12"/>
    <p:sldId id="269" r:id="rId13"/>
    <p:sldId id="270" r:id="rId14"/>
    <p:sldId id="271" r:id="rId15"/>
    <p:sldId id="275" r:id="rId16"/>
    <p:sldId id="272" r:id="rId17"/>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73"/>
    <p:restoredTop sz="94691"/>
  </p:normalViewPr>
  <p:slideViewPr>
    <p:cSldViewPr snapToGrid="0">
      <p:cViewPr varScale="1">
        <p:scale>
          <a:sx n="103" d="100"/>
          <a:sy n="103" d="100"/>
        </p:scale>
        <p:origin x="424" y="16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08B459-0EAC-3E4B-8637-797073C4CAF3}" type="datetimeFigureOut">
              <a:rPr lang="en-KE" smtClean="0"/>
              <a:t>28/09/2025</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2B4BF3-F76A-474B-A27F-08CD9857D508}" type="slidenum">
              <a:rPr lang="en-KE" smtClean="0"/>
              <a:t>‹#›</a:t>
            </a:fld>
            <a:endParaRPr lang="en-KE"/>
          </a:p>
        </p:txBody>
      </p:sp>
    </p:spTree>
    <p:extLst>
      <p:ext uri="{BB962C8B-B14F-4D97-AF65-F5344CB8AC3E}">
        <p14:creationId xmlns:p14="http://schemas.microsoft.com/office/powerpoint/2010/main" val="543671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E42B4BF3-F76A-474B-A27F-08CD9857D508}" type="slidenum">
              <a:rPr lang="en-KE" smtClean="0"/>
              <a:t>4</a:t>
            </a:fld>
            <a:endParaRPr lang="en-KE"/>
          </a:p>
        </p:txBody>
      </p:sp>
    </p:spTree>
    <p:extLst>
      <p:ext uri="{BB962C8B-B14F-4D97-AF65-F5344CB8AC3E}">
        <p14:creationId xmlns:p14="http://schemas.microsoft.com/office/powerpoint/2010/main" val="4251201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DEF96-03C9-F573-A0F6-862A7A9E389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KE"/>
          </a:p>
        </p:txBody>
      </p:sp>
      <p:sp>
        <p:nvSpPr>
          <p:cNvPr id="3" name="Subtitle 2">
            <a:extLst>
              <a:ext uri="{FF2B5EF4-FFF2-40B4-BE49-F238E27FC236}">
                <a16:creationId xmlns:a16="http://schemas.microsoft.com/office/drawing/2014/main" id="{D2CFE4FB-FD1F-291B-D152-D4B46A39A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KE"/>
          </a:p>
        </p:txBody>
      </p:sp>
      <p:sp>
        <p:nvSpPr>
          <p:cNvPr id="4" name="Date Placeholder 3">
            <a:extLst>
              <a:ext uri="{FF2B5EF4-FFF2-40B4-BE49-F238E27FC236}">
                <a16:creationId xmlns:a16="http://schemas.microsoft.com/office/drawing/2014/main" id="{01074281-85AA-FA60-49FF-2E3712FD2694}"/>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904FB095-7351-FFB8-E72F-AFF2838A1C79}"/>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D4BA2C33-D6F0-E97E-598B-1DF6E1F51B35}"/>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393569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B8109-71A9-4DD0-3C8F-EC0225B87B8C}"/>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49A5B0A6-9C85-C08D-F27D-525B423C57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6854A3F7-0D77-1A20-7C6E-2E7680EEFFC7}"/>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2A71E15E-06F1-1F85-7102-7B17F28A1942}"/>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1CE63F84-7FE1-3227-3DA7-57945CE2FCA4}"/>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198646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4BF65-FD70-2389-9808-5153B9FD1F4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KE"/>
          </a:p>
        </p:txBody>
      </p:sp>
      <p:sp>
        <p:nvSpPr>
          <p:cNvPr id="3" name="Text Placeholder 2">
            <a:extLst>
              <a:ext uri="{FF2B5EF4-FFF2-40B4-BE49-F238E27FC236}">
                <a16:creationId xmlns:a16="http://schemas.microsoft.com/office/drawing/2014/main" id="{0BB26706-D6FD-0493-D011-770EF996D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940E246-F86A-0947-33EC-9540577B578B}"/>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1CABF235-1EDE-7213-8BC3-B4BEF5BD4D51}"/>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5BAA590-2654-1CF9-24D6-781E83D7B415}"/>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1835385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63D3-6899-70EB-A581-26E6426FECF6}"/>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563B1017-4C77-5773-D0BB-732C9FF488C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Content Placeholder 3">
            <a:extLst>
              <a:ext uri="{FF2B5EF4-FFF2-40B4-BE49-F238E27FC236}">
                <a16:creationId xmlns:a16="http://schemas.microsoft.com/office/drawing/2014/main" id="{2EDEE8F1-A894-2A21-8A8A-3A3F2BF2CF0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Date Placeholder 4">
            <a:extLst>
              <a:ext uri="{FF2B5EF4-FFF2-40B4-BE49-F238E27FC236}">
                <a16:creationId xmlns:a16="http://schemas.microsoft.com/office/drawing/2014/main" id="{0564B477-443E-B2A4-0A7F-D5B8C575BA61}"/>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6" name="Footer Placeholder 5">
            <a:extLst>
              <a:ext uri="{FF2B5EF4-FFF2-40B4-BE49-F238E27FC236}">
                <a16:creationId xmlns:a16="http://schemas.microsoft.com/office/drawing/2014/main" id="{32847BB9-5A5D-BC5F-DCAD-F4E50611E80A}"/>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16216056-92BA-A008-A11B-3998383C473B}"/>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3219853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6DED2-24DC-D3A6-780A-3CD0EE6AA382}"/>
              </a:ext>
            </a:extLst>
          </p:cNvPr>
          <p:cNvSpPr>
            <a:spLocks noGrp="1"/>
          </p:cNvSpPr>
          <p:nvPr>
            <p:ph type="title"/>
          </p:nvPr>
        </p:nvSpPr>
        <p:spPr>
          <a:xfrm>
            <a:off x="839788" y="365125"/>
            <a:ext cx="10515600" cy="1325563"/>
          </a:xfrm>
        </p:spPr>
        <p:txBody>
          <a:bodyPr/>
          <a:lstStyle/>
          <a:p>
            <a:r>
              <a:rPr lang="en-GB"/>
              <a:t>Click to edit Master title style</a:t>
            </a:r>
            <a:endParaRPr lang="en-KE"/>
          </a:p>
        </p:txBody>
      </p:sp>
      <p:sp>
        <p:nvSpPr>
          <p:cNvPr id="3" name="Text Placeholder 2">
            <a:extLst>
              <a:ext uri="{FF2B5EF4-FFF2-40B4-BE49-F238E27FC236}">
                <a16:creationId xmlns:a16="http://schemas.microsoft.com/office/drawing/2014/main" id="{9CC4FFA2-DB04-73DA-D443-09F713292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A61B21D-5CCD-E722-0CEA-699156A1332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Text Placeholder 4">
            <a:extLst>
              <a:ext uri="{FF2B5EF4-FFF2-40B4-BE49-F238E27FC236}">
                <a16:creationId xmlns:a16="http://schemas.microsoft.com/office/drawing/2014/main" id="{B1AD7BC2-3742-32B2-DED5-7391157C7D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CE4FFDA-FD35-8942-6831-AD86221EEC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7" name="Date Placeholder 6">
            <a:extLst>
              <a:ext uri="{FF2B5EF4-FFF2-40B4-BE49-F238E27FC236}">
                <a16:creationId xmlns:a16="http://schemas.microsoft.com/office/drawing/2014/main" id="{C517F600-FE32-70D0-5D25-BF23C626C370}"/>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8" name="Footer Placeholder 7">
            <a:extLst>
              <a:ext uri="{FF2B5EF4-FFF2-40B4-BE49-F238E27FC236}">
                <a16:creationId xmlns:a16="http://schemas.microsoft.com/office/drawing/2014/main" id="{A397681A-BF71-1F38-04DF-7852966188FE}"/>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E49B2070-9D32-AA38-D8EB-E4B8D5359934}"/>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1006439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24B76-3CF9-793A-17FC-20B8693F4159}"/>
              </a:ext>
            </a:extLst>
          </p:cNvPr>
          <p:cNvSpPr>
            <a:spLocks noGrp="1"/>
          </p:cNvSpPr>
          <p:nvPr>
            <p:ph type="title"/>
          </p:nvPr>
        </p:nvSpPr>
        <p:spPr/>
        <p:txBody>
          <a:bodyPr/>
          <a:lstStyle/>
          <a:p>
            <a:r>
              <a:rPr lang="en-GB"/>
              <a:t>Click to edit Master title style</a:t>
            </a:r>
            <a:endParaRPr lang="en-KE"/>
          </a:p>
        </p:txBody>
      </p:sp>
      <p:sp>
        <p:nvSpPr>
          <p:cNvPr id="3" name="Date Placeholder 2">
            <a:extLst>
              <a:ext uri="{FF2B5EF4-FFF2-40B4-BE49-F238E27FC236}">
                <a16:creationId xmlns:a16="http://schemas.microsoft.com/office/drawing/2014/main" id="{298E5A38-2416-FCA9-2FCB-82DABCCF2C21}"/>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4" name="Footer Placeholder 3">
            <a:extLst>
              <a:ext uri="{FF2B5EF4-FFF2-40B4-BE49-F238E27FC236}">
                <a16:creationId xmlns:a16="http://schemas.microsoft.com/office/drawing/2014/main" id="{F62AA585-2AA9-4AD9-9C4F-93E0B05CEE70}"/>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B0C942C1-4FB3-56F7-8BD4-734FD353AA8A}"/>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258676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DC029F-C857-DE9A-8961-F832E9E9B4C7}"/>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3" name="Footer Placeholder 2">
            <a:extLst>
              <a:ext uri="{FF2B5EF4-FFF2-40B4-BE49-F238E27FC236}">
                <a16:creationId xmlns:a16="http://schemas.microsoft.com/office/drawing/2014/main" id="{C790D9B7-2303-12AB-8A15-1D8D2457BDCE}"/>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CFB03B11-C796-FADE-F67E-184AD8E0DD50}"/>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2658298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856B5-DD69-F51E-D319-619CAD7E33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Content Placeholder 2">
            <a:extLst>
              <a:ext uri="{FF2B5EF4-FFF2-40B4-BE49-F238E27FC236}">
                <a16:creationId xmlns:a16="http://schemas.microsoft.com/office/drawing/2014/main" id="{58FBEE88-2312-D1C4-B27D-6F44F08895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Text Placeholder 3">
            <a:extLst>
              <a:ext uri="{FF2B5EF4-FFF2-40B4-BE49-F238E27FC236}">
                <a16:creationId xmlns:a16="http://schemas.microsoft.com/office/drawing/2014/main" id="{F705318A-869C-5B8B-9563-5260E81AD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B50E859-DD17-A0C4-952E-3756201E9B08}"/>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6" name="Footer Placeholder 5">
            <a:extLst>
              <a:ext uri="{FF2B5EF4-FFF2-40B4-BE49-F238E27FC236}">
                <a16:creationId xmlns:a16="http://schemas.microsoft.com/office/drawing/2014/main" id="{793BB830-F7CE-5DE3-E974-1533916E771D}"/>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FD8B828-D4C9-D485-CC04-0FAEEABB060B}"/>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4095260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146F-8848-DE94-5F64-9BF5FF317CE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Picture Placeholder 2">
            <a:extLst>
              <a:ext uri="{FF2B5EF4-FFF2-40B4-BE49-F238E27FC236}">
                <a16:creationId xmlns:a16="http://schemas.microsoft.com/office/drawing/2014/main" id="{2198A06E-13EB-7BC4-79C9-847F6FB52C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CCC3B87E-EFAA-7EAB-3698-ACC3FA7139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3EB45AA-EF20-DEFE-2070-5B1DCBE86C7C}"/>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6" name="Footer Placeholder 5">
            <a:extLst>
              <a:ext uri="{FF2B5EF4-FFF2-40B4-BE49-F238E27FC236}">
                <a16:creationId xmlns:a16="http://schemas.microsoft.com/office/drawing/2014/main" id="{B9932E57-6ECC-D31E-0B4D-A087162F5C3B}"/>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C5E10E1-2A17-B707-D304-BDB47FED1C30}"/>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1676457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C6AAE-779D-7ABC-0B77-5367F586BCBA}"/>
              </a:ext>
            </a:extLst>
          </p:cNvPr>
          <p:cNvSpPr>
            <a:spLocks noGrp="1"/>
          </p:cNvSpPr>
          <p:nvPr>
            <p:ph type="title"/>
          </p:nvPr>
        </p:nvSpPr>
        <p:spPr/>
        <p:txBody>
          <a:bodyPr/>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0ACA476A-641C-8ED1-FA6C-6722D2718CF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401A5B6D-5EAE-3F08-8473-20EA0AC9A712}"/>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2037217F-06A1-2470-15A9-1DA68990DE76}"/>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4FB15856-6979-063F-9EF1-73F40997C3CA}"/>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3175469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F4EEFF-1845-9CB7-F066-4139E919D5B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102D773A-F3D5-0F62-93E2-DA641E99DCA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9B658454-C298-87A1-06BF-4045C4F2E105}"/>
              </a:ext>
            </a:extLst>
          </p:cNvPr>
          <p:cNvSpPr>
            <a:spLocks noGrp="1"/>
          </p:cNvSpPr>
          <p:nvPr>
            <p:ph type="dt" sz="half" idx="10"/>
          </p:nvPr>
        </p:nvSpPr>
        <p:spPr/>
        <p:txBody>
          <a:body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51EF5810-1539-BFEE-B65B-F4A0AAB1BE85}"/>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EC2278DC-AA00-B570-BDD5-747670DD079D}"/>
              </a:ext>
            </a:extLst>
          </p:cNvPr>
          <p:cNvSpPr>
            <a:spLocks noGrp="1"/>
          </p:cNvSpPr>
          <p:nvPr>
            <p:ph type="sldNum" sz="quarter" idx="12"/>
          </p:nvPr>
        </p:nvSpPr>
        <p:spPr/>
        <p:txBody>
          <a:bodyPr/>
          <a:lstStyle/>
          <a:p>
            <a:fld id="{5FEA4D4A-3112-DE47-97C4-88B7CAF0F6CF}" type="slidenum">
              <a:rPr lang="en-KE" smtClean="0"/>
              <a:t>‹#›</a:t>
            </a:fld>
            <a:endParaRPr lang="en-KE"/>
          </a:p>
        </p:txBody>
      </p:sp>
    </p:spTree>
    <p:extLst>
      <p:ext uri="{BB962C8B-B14F-4D97-AF65-F5344CB8AC3E}">
        <p14:creationId xmlns:p14="http://schemas.microsoft.com/office/powerpoint/2010/main" val="3125320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1FB6C3-EE48-96F0-B011-9358A2ACDD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KE"/>
          </a:p>
        </p:txBody>
      </p:sp>
      <p:sp>
        <p:nvSpPr>
          <p:cNvPr id="3" name="Text Placeholder 2">
            <a:extLst>
              <a:ext uri="{FF2B5EF4-FFF2-40B4-BE49-F238E27FC236}">
                <a16:creationId xmlns:a16="http://schemas.microsoft.com/office/drawing/2014/main" id="{DA34D12A-1CBF-914B-3F77-AACD8D7EE4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9609FAF6-6076-92DE-3891-BB3CB8F598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A80809-8483-074D-8BD4-FEEB1AF29254}" type="datetimeFigureOut">
              <a:rPr lang="en-KE" smtClean="0"/>
              <a:t>28/09/2025</a:t>
            </a:fld>
            <a:endParaRPr lang="en-KE"/>
          </a:p>
        </p:txBody>
      </p:sp>
      <p:sp>
        <p:nvSpPr>
          <p:cNvPr id="5" name="Footer Placeholder 4">
            <a:extLst>
              <a:ext uri="{FF2B5EF4-FFF2-40B4-BE49-F238E27FC236}">
                <a16:creationId xmlns:a16="http://schemas.microsoft.com/office/drawing/2014/main" id="{2010857E-C3D3-5678-5ADD-9B663EF58B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KE"/>
          </a:p>
        </p:txBody>
      </p:sp>
      <p:sp>
        <p:nvSpPr>
          <p:cNvPr id="6" name="Slide Number Placeholder 5">
            <a:extLst>
              <a:ext uri="{FF2B5EF4-FFF2-40B4-BE49-F238E27FC236}">
                <a16:creationId xmlns:a16="http://schemas.microsoft.com/office/drawing/2014/main" id="{40BAE8BC-83D0-E6BC-E273-10A5DA07E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EA4D4A-3112-DE47-97C4-88B7CAF0F6CF}" type="slidenum">
              <a:rPr lang="en-KE" smtClean="0"/>
              <a:t>‹#›</a:t>
            </a:fld>
            <a:endParaRPr lang="en-KE"/>
          </a:p>
        </p:txBody>
      </p:sp>
    </p:spTree>
    <p:extLst>
      <p:ext uri="{BB962C8B-B14F-4D97-AF65-F5344CB8AC3E}">
        <p14:creationId xmlns:p14="http://schemas.microsoft.com/office/powerpoint/2010/main" val="3889796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A608E-10BF-9BD9-F0EE-9688CFDBA055}"/>
              </a:ext>
            </a:extLst>
          </p:cNvPr>
          <p:cNvSpPr>
            <a:spLocks noGrp="1"/>
          </p:cNvSpPr>
          <p:nvPr>
            <p:ph type="ctrTitle"/>
          </p:nvPr>
        </p:nvSpPr>
        <p:spPr>
          <a:xfrm>
            <a:off x="1338649" y="1199969"/>
            <a:ext cx="9144000" cy="1655763"/>
          </a:xfrm>
        </p:spPr>
        <p:txBody>
          <a:bodyPr/>
          <a:lstStyle/>
          <a:p>
            <a:r>
              <a:rPr lang="en-US" sz="2800" b="1" dirty="0">
                <a:solidFill>
                  <a:srgbClr val="000000"/>
                </a:solidFill>
                <a:latin typeface="Calibri" panose="020F0502020204030204" pitchFamily="34" charset="0"/>
                <a:ea typeface="WhitneyHTF-Book"/>
                <a:cs typeface="Arial" panose="020B0604020202020204" pitchFamily="34" charset="0"/>
              </a:rPr>
              <a:t>Nairobi County TB Prevalence survey 2022: Has the prevalence changed since 2016?</a:t>
            </a:r>
            <a:endParaRPr lang="en-KE" dirty="0"/>
          </a:p>
        </p:txBody>
      </p:sp>
      <p:sp>
        <p:nvSpPr>
          <p:cNvPr id="3" name="Subtitle 2">
            <a:extLst>
              <a:ext uri="{FF2B5EF4-FFF2-40B4-BE49-F238E27FC236}">
                <a16:creationId xmlns:a16="http://schemas.microsoft.com/office/drawing/2014/main" id="{C135141D-B09D-2660-D160-43CC30B46519}"/>
              </a:ext>
            </a:extLst>
          </p:cNvPr>
          <p:cNvSpPr>
            <a:spLocks noGrp="1"/>
          </p:cNvSpPr>
          <p:nvPr>
            <p:ph type="subTitle" idx="1"/>
          </p:nvPr>
        </p:nvSpPr>
        <p:spPr/>
        <p:txBody>
          <a:bodyPr/>
          <a:lstStyle/>
          <a:p>
            <a:r>
              <a:rPr lang="en-KE" i="1" dirty="0"/>
              <a:t>Dr Jane Rahedi Ong’ang’o</a:t>
            </a:r>
          </a:p>
          <a:p>
            <a:r>
              <a:rPr lang="en-KE" i="1" dirty="0"/>
              <a:t>Principal Research Scientist,</a:t>
            </a:r>
          </a:p>
          <a:p>
            <a:r>
              <a:rPr lang="en-KE" i="1" dirty="0"/>
              <a:t>CRDR, KEMRI</a:t>
            </a:r>
          </a:p>
        </p:txBody>
      </p:sp>
      <p:pic>
        <p:nvPicPr>
          <p:cNvPr id="4" name="Picture 3">
            <a:extLst>
              <a:ext uri="{FF2B5EF4-FFF2-40B4-BE49-F238E27FC236}">
                <a16:creationId xmlns:a16="http://schemas.microsoft.com/office/drawing/2014/main" id="{D4B4914E-C21B-D9CD-85FA-64360F657BA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14997" y="407626"/>
            <a:ext cx="1765300" cy="1701800"/>
          </a:xfrm>
          <a:prstGeom prst="rect">
            <a:avLst/>
          </a:prstGeom>
          <a:noFill/>
          <a:ln>
            <a:noFill/>
          </a:ln>
        </p:spPr>
      </p:pic>
    </p:spTree>
    <p:extLst>
      <p:ext uri="{BB962C8B-B14F-4D97-AF65-F5344CB8AC3E}">
        <p14:creationId xmlns:p14="http://schemas.microsoft.com/office/powerpoint/2010/main" val="1016593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99E2-ACB2-8F3E-80E6-72CC35FE0250}"/>
              </a:ext>
            </a:extLst>
          </p:cNvPr>
          <p:cNvSpPr>
            <a:spLocks noGrp="1"/>
          </p:cNvSpPr>
          <p:nvPr>
            <p:ph type="title"/>
          </p:nvPr>
        </p:nvSpPr>
        <p:spPr/>
        <p:txBody>
          <a:bodyPr/>
          <a:lstStyle/>
          <a:p>
            <a:r>
              <a:rPr lang="en-KE" dirty="0"/>
              <a:t> Introduction</a:t>
            </a:r>
          </a:p>
        </p:txBody>
      </p:sp>
      <p:sp>
        <p:nvSpPr>
          <p:cNvPr id="3" name="Content Placeholder 2">
            <a:extLst>
              <a:ext uri="{FF2B5EF4-FFF2-40B4-BE49-F238E27FC236}">
                <a16:creationId xmlns:a16="http://schemas.microsoft.com/office/drawing/2014/main" id="{5C0F9DA3-08B9-03B3-63F3-4FC1DF23B869}"/>
              </a:ext>
            </a:extLst>
          </p:cNvPr>
          <p:cNvSpPr>
            <a:spLocks noGrp="1"/>
          </p:cNvSpPr>
          <p:nvPr>
            <p:ph idx="1"/>
          </p:nvPr>
        </p:nvSpPr>
        <p:spPr/>
        <p:txBody>
          <a:bodyPr>
            <a:noAutofit/>
          </a:bodyPr>
          <a:lstStyle/>
          <a:p>
            <a:r>
              <a:rPr lang="en-US" sz="2000" kern="0" dirty="0">
                <a:effectLst/>
                <a:latin typeface="Calibri" panose="020F0502020204030204" pitchFamily="34" charset="0"/>
                <a:ea typeface="Calibri" panose="020F0502020204030204" pitchFamily="34" charset="0"/>
                <a:cs typeface="Arial" panose="020B0604020202020204" pitchFamily="34" charset="0"/>
              </a:rPr>
              <a:t>Population-based TB prevalence surveys offer the most accurate estimates of TB burden</a:t>
            </a:r>
            <a:r>
              <a:rPr lang="en-KE" sz="2000" dirty="0">
                <a:effectLst/>
              </a:rPr>
              <a:t> </a:t>
            </a:r>
            <a:endParaRPr lang="en-GB" sz="2000" kern="0" dirty="0">
              <a:effectLst/>
              <a:latin typeface="Calibri" panose="020F0502020204030204" pitchFamily="34" charset="0"/>
              <a:ea typeface="Calibri" panose="020F0502020204030204" pitchFamily="34" charset="0"/>
              <a:cs typeface="Arial" panose="020B0604020202020204" pitchFamily="34" charset="0"/>
            </a:endParaRPr>
          </a:p>
          <a:p>
            <a:r>
              <a:rPr lang="en-GB" sz="2000" kern="0" dirty="0">
                <a:effectLst/>
                <a:latin typeface="Calibri" panose="020F0502020204030204" pitchFamily="34" charset="0"/>
                <a:ea typeface="Calibri" panose="020F0502020204030204" pitchFamily="34" charset="0"/>
                <a:cs typeface="Arial" panose="020B0604020202020204" pitchFamily="34" charset="0"/>
              </a:rPr>
              <a:t>National and sub-national population-based surveys, when performed at intervals</a:t>
            </a:r>
          </a:p>
          <a:p>
            <a:pPr lvl="1">
              <a:buFont typeface="Wingdings" pitchFamily="2" charset="2"/>
              <a:buChar char="Ø"/>
            </a:pPr>
            <a:r>
              <a:rPr lang="en-GB" sz="2000" kern="0" dirty="0">
                <a:effectLst/>
                <a:latin typeface="Calibri" panose="020F0502020204030204" pitchFamily="34" charset="0"/>
                <a:ea typeface="Calibri" panose="020F0502020204030204" pitchFamily="34" charset="0"/>
                <a:cs typeface="Arial" panose="020B0604020202020204" pitchFamily="34" charset="0"/>
              </a:rPr>
              <a:t>may assess important changes in TB prevalence. </a:t>
            </a:r>
          </a:p>
          <a:p>
            <a:pPr lvl="1">
              <a:buFont typeface="Wingdings" pitchFamily="2" charset="2"/>
              <a:buChar char="Ø"/>
            </a:pPr>
            <a:r>
              <a:rPr lang="en-US" sz="2000" kern="0" dirty="0">
                <a:effectLst/>
                <a:latin typeface="Calibri" panose="020F0502020204030204" pitchFamily="34" charset="0"/>
                <a:ea typeface="Calibri" panose="020F0502020204030204" pitchFamily="34" charset="0"/>
                <a:cs typeface="Arial" panose="020B0604020202020204" pitchFamily="34" charset="0"/>
              </a:rPr>
              <a:t>evaluate the impact of public health interventions, </a:t>
            </a:r>
          </a:p>
          <a:p>
            <a:pPr lvl="1">
              <a:buFont typeface="Wingdings" pitchFamily="2" charset="2"/>
              <a:buChar char="Ø"/>
            </a:pPr>
            <a:r>
              <a:rPr lang="en-US" sz="2000" kern="0" dirty="0">
                <a:effectLst/>
                <a:latin typeface="Calibri" panose="020F0502020204030204" pitchFamily="34" charset="0"/>
                <a:ea typeface="Calibri" panose="020F0502020204030204" pitchFamily="34" charset="0"/>
                <a:cs typeface="Arial" panose="020B0604020202020204" pitchFamily="34" charset="0"/>
              </a:rPr>
              <a:t>identify characteristics associated with differences in TB prevalence </a:t>
            </a:r>
          </a:p>
          <a:p>
            <a:pPr lvl="1">
              <a:buFont typeface="Wingdings" pitchFamily="2" charset="2"/>
              <a:buChar char="Ø"/>
            </a:pPr>
            <a:r>
              <a:rPr lang="en-US" sz="2000" kern="0" dirty="0">
                <a:effectLst/>
                <a:latin typeface="Calibri" panose="020F0502020204030204" pitchFamily="34" charset="0"/>
                <a:ea typeface="Calibri" panose="020F0502020204030204" pitchFamily="34" charset="0"/>
                <a:cs typeface="Arial" panose="020B0604020202020204" pitchFamily="34" charset="0"/>
              </a:rPr>
              <a:t>inform public health responses. </a:t>
            </a:r>
            <a:endParaRPr lang="en-GB" sz="2000" kern="0" dirty="0">
              <a:effectLst/>
              <a:latin typeface="Calibri" panose="020F0502020204030204" pitchFamily="34" charset="0"/>
              <a:ea typeface="Calibri" panose="020F0502020204030204" pitchFamily="34" charset="0"/>
              <a:cs typeface="Arial" panose="020B0604020202020204" pitchFamily="34" charset="0"/>
            </a:endParaRPr>
          </a:p>
          <a:p>
            <a:r>
              <a:rPr lang="en-GB" sz="2000" kern="0" dirty="0">
                <a:effectLst/>
                <a:latin typeface="Calibri" panose="020F0502020204030204" pitchFamily="34" charset="0"/>
                <a:ea typeface="Calibri" panose="020F0502020204030204" pitchFamily="34" charset="0"/>
                <a:cs typeface="Arial" panose="020B0604020202020204" pitchFamily="34" charset="0"/>
              </a:rPr>
              <a:t>In 2022 we re-surveyed nine Nairobi County neighbourhoods that were previously surveyed in 2015. </a:t>
            </a:r>
          </a:p>
          <a:p>
            <a:r>
              <a:rPr lang="en-GB" sz="2000" kern="0" dirty="0">
                <a:effectLst/>
                <a:latin typeface="Calibri" panose="020F0502020204030204" pitchFamily="34" charset="0"/>
                <a:ea typeface="Calibri" panose="020F0502020204030204" pitchFamily="34" charset="0"/>
                <a:cs typeface="Arial" panose="020B0604020202020204" pitchFamily="34" charset="0"/>
              </a:rPr>
              <a:t>Aims;</a:t>
            </a:r>
          </a:p>
          <a:p>
            <a:pPr lvl="1">
              <a:buFont typeface="Wingdings" pitchFamily="2" charset="2"/>
              <a:buChar char="Ø"/>
            </a:pPr>
            <a:r>
              <a:rPr lang="en-GB" sz="2000" kern="0" dirty="0">
                <a:latin typeface="Calibri" panose="020F0502020204030204" pitchFamily="34" charset="0"/>
                <a:ea typeface="Calibri" panose="020F0502020204030204" pitchFamily="34" charset="0"/>
                <a:cs typeface="Arial" panose="020B0604020202020204" pitchFamily="34" charset="0"/>
              </a:rPr>
              <a:t>T</a:t>
            </a:r>
            <a:r>
              <a:rPr lang="en-GB" sz="2000" kern="0" dirty="0">
                <a:effectLst/>
                <a:latin typeface="Calibri" panose="020F0502020204030204" pitchFamily="34" charset="0"/>
                <a:ea typeface="Calibri" panose="020F0502020204030204" pitchFamily="34" charset="0"/>
                <a:cs typeface="Arial" panose="020B0604020202020204" pitchFamily="34" charset="0"/>
              </a:rPr>
              <a:t>o determine pulmonary TB prevalence</a:t>
            </a:r>
          </a:p>
          <a:p>
            <a:pPr lvl="1">
              <a:buFont typeface="Wingdings" pitchFamily="2" charset="2"/>
              <a:buChar char="Ø"/>
            </a:pPr>
            <a:r>
              <a:rPr lang="en-GB" sz="2000" kern="0" dirty="0">
                <a:latin typeface="Calibri" panose="020F0502020204030204" pitchFamily="34" charset="0"/>
                <a:ea typeface="Calibri" panose="020F0502020204030204" pitchFamily="34" charset="0"/>
                <a:cs typeface="Arial" panose="020B0604020202020204" pitchFamily="34" charset="0"/>
              </a:rPr>
              <a:t>C</a:t>
            </a:r>
            <a:r>
              <a:rPr lang="en-GB" sz="2000" kern="0" dirty="0">
                <a:effectLst/>
                <a:latin typeface="Calibri" panose="020F0502020204030204" pitchFamily="34" charset="0"/>
                <a:ea typeface="Calibri" panose="020F0502020204030204" pitchFamily="34" charset="0"/>
                <a:cs typeface="Arial" panose="020B0604020202020204" pitchFamily="34" charset="0"/>
              </a:rPr>
              <a:t>ompare prevalence to 2015 estimates,</a:t>
            </a:r>
          </a:p>
          <a:p>
            <a:pPr lvl="1">
              <a:buFont typeface="Wingdings" pitchFamily="2" charset="2"/>
              <a:buChar char="Ø"/>
            </a:pPr>
            <a:r>
              <a:rPr lang="en-GB" sz="2000" kern="0" dirty="0">
                <a:effectLst/>
                <a:latin typeface="Calibri" panose="020F0502020204030204" pitchFamily="34" charset="0"/>
                <a:ea typeface="Calibri" panose="020F0502020204030204" pitchFamily="34" charset="0"/>
                <a:cs typeface="Arial" panose="020B0604020202020204" pitchFamily="34" charset="0"/>
              </a:rPr>
              <a:t> </a:t>
            </a:r>
            <a:r>
              <a:rPr lang="en-GB" sz="2000" kern="0" dirty="0">
                <a:latin typeface="Calibri" panose="020F0502020204030204" pitchFamily="34" charset="0"/>
                <a:ea typeface="Calibri" panose="020F0502020204030204" pitchFamily="34" charset="0"/>
                <a:cs typeface="Arial" panose="020B0604020202020204" pitchFamily="34" charset="0"/>
              </a:rPr>
              <a:t>E</a:t>
            </a:r>
            <a:r>
              <a:rPr lang="en-GB" sz="2000" kern="0" dirty="0">
                <a:effectLst/>
                <a:latin typeface="Calibri" panose="020F0502020204030204" pitchFamily="34" charset="0"/>
                <a:ea typeface="Calibri" panose="020F0502020204030204" pitchFamily="34" charset="0"/>
                <a:cs typeface="Arial" panose="020B0604020202020204" pitchFamily="34" charset="0"/>
              </a:rPr>
              <a:t>valuate changes in risk groups. </a:t>
            </a:r>
            <a:endParaRPr lang="en-KE" sz="2000" dirty="0"/>
          </a:p>
        </p:txBody>
      </p:sp>
    </p:spTree>
    <p:extLst>
      <p:ext uri="{BB962C8B-B14F-4D97-AF65-F5344CB8AC3E}">
        <p14:creationId xmlns:p14="http://schemas.microsoft.com/office/powerpoint/2010/main" val="3204252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3A744-4CD2-74DA-9277-52DF64C6EBC1}"/>
              </a:ext>
            </a:extLst>
          </p:cNvPr>
          <p:cNvSpPr>
            <a:spLocks noGrp="1"/>
          </p:cNvSpPr>
          <p:nvPr>
            <p:ph type="title"/>
          </p:nvPr>
        </p:nvSpPr>
        <p:spPr>
          <a:xfrm>
            <a:off x="838200" y="365126"/>
            <a:ext cx="10515600" cy="722270"/>
          </a:xfrm>
        </p:spPr>
        <p:txBody>
          <a:bodyPr/>
          <a:lstStyle/>
          <a:p>
            <a:r>
              <a:rPr lang="en-KE" dirty="0"/>
              <a:t>Methods 2015 vs 2022</a:t>
            </a:r>
          </a:p>
        </p:txBody>
      </p:sp>
      <p:graphicFrame>
        <p:nvGraphicFramePr>
          <p:cNvPr id="4" name="Content Placeholder 3">
            <a:extLst>
              <a:ext uri="{FF2B5EF4-FFF2-40B4-BE49-F238E27FC236}">
                <a16:creationId xmlns:a16="http://schemas.microsoft.com/office/drawing/2014/main" id="{C85C1FBB-28DC-3E78-7A4D-76C7DD46B076}"/>
              </a:ext>
            </a:extLst>
          </p:cNvPr>
          <p:cNvGraphicFramePr>
            <a:graphicFrameLocks noGrp="1"/>
          </p:cNvGraphicFramePr>
          <p:nvPr>
            <p:ph idx="1"/>
          </p:nvPr>
        </p:nvGraphicFramePr>
        <p:xfrm>
          <a:off x="838197" y="1275714"/>
          <a:ext cx="10515597" cy="4947920"/>
        </p:xfrm>
        <a:graphic>
          <a:graphicData uri="http://schemas.openxmlformats.org/drawingml/2006/table">
            <a:tbl>
              <a:tblPr firstRow="1" bandRow="1">
                <a:tableStyleId>{5C22544A-7EE6-4342-B048-85BDC9FD1C3A}</a:tableStyleId>
              </a:tblPr>
              <a:tblGrid>
                <a:gridCol w="2176849">
                  <a:extLst>
                    <a:ext uri="{9D8B030D-6E8A-4147-A177-3AD203B41FA5}">
                      <a16:colId xmlns:a16="http://schemas.microsoft.com/office/drawing/2014/main" val="2664113649"/>
                    </a:ext>
                  </a:extLst>
                </a:gridCol>
                <a:gridCol w="3966519">
                  <a:extLst>
                    <a:ext uri="{9D8B030D-6E8A-4147-A177-3AD203B41FA5}">
                      <a16:colId xmlns:a16="http://schemas.microsoft.com/office/drawing/2014/main" val="2936100221"/>
                    </a:ext>
                  </a:extLst>
                </a:gridCol>
                <a:gridCol w="4372229">
                  <a:extLst>
                    <a:ext uri="{9D8B030D-6E8A-4147-A177-3AD203B41FA5}">
                      <a16:colId xmlns:a16="http://schemas.microsoft.com/office/drawing/2014/main" val="102064372"/>
                    </a:ext>
                  </a:extLst>
                </a:gridCol>
              </a:tblGrid>
              <a:tr h="370840">
                <a:tc>
                  <a:txBody>
                    <a:bodyPr/>
                    <a:lstStyle/>
                    <a:p>
                      <a:endParaRPr lang="en-KE" dirty="0"/>
                    </a:p>
                  </a:txBody>
                  <a:tcPr/>
                </a:tc>
                <a:tc>
                  <a:txBody>
                    <a:bodyPr/>
                    <a:lstStyle/>
                    <a:p>
                      <a:r>
                        <a:rPr lang="en-KE" dirty="0"/>
                        <a:t>2015</a:t>
                      </a:r>
                    </a:p>
                  </a:txBody>
                  <a:tcPr/>
                </a:tc>
                <a:tc>
                  <a:txBody>
                    <a:bodyPr/>
                    <a:lstStyle/>
                    <a:p>
                      <a:r>
                        <a:rPr lang="en-KE" dirty="0"/>
                        <a:t>2022</a:t>
                      </a:r>
                    </a:p>
                  </a:txBody>
                  <a:tcPr/>
                </a:tc>
                <a:extLst>
                  <a:ext uri="{0D108BD9-81ED-4DB2-BD59-A6C34878D82A}">
                    <a16:rowId xmlns:a16="http://schemas.microsoft.com/office/drawing/2014/main" val="3762674103"/>
                  </a:ext>
                </a:extLst>
              </a:tr>
              <a:tr h="370840">
                <a:tc>
                  <a:txBody>
                    <a:bodyPr/>
                    <a:lstStyle/>
                    <a:p>
                      <a:r>
                        <a:rPr lang="en-KE" dirty="0"/>
                        <a:t>Census</a:t>
                      </a:r>
                    </a:p>
                  </a:txBody>
                  <a:tcPr/>
                </a:tc>
                <a:tc>
                  <a:txBody>
                    <a:bodyPr/>
                    <a:lstStyle/>
                    <a:p>
                      <a:r>
                        <a:rPr lang="en-US" sz="1800" kern="1200" dirty="0">
                          <a:solidFill>
                            <a:schemeClr val="dk1"/>
                          </a:solidFill>
                          <a:effectLst/>
                          <a:latin typeface="+mn-lt"/>
                          <a:ea typeface="+mn-ea"/>
                          <a:cs typeface="+mn-cs"/>
                        </a:rPr>
                        <a:t>9 Nairobi geographic clusters </a:t>
                      </a:r>
                      <a:endParaRPr lang="en-KE" dirty="0"/>
                    </a:p>
                  </a:txBody>
                  <a:tcPr/>
                </a:tc>
                <a:tc>
                  <a:txBody>
                    <a:bodyPr/>
                    <a:lstStyle/>
                    <a:p>
                      <a:r>
                        <a:rPr lang="en-US" sz="1800" kern="1200" dirty="0">
                          <a:solidFill>
                            <a:schemeClr val="dk1"/>
                          </a:solidFill>
                          <a:effectLst/>
                          <a:latin typeface="+mn-lt"/>
                          <a:ea typeface="+mn-ea"/>
                          <a:cs typeface="+mn-cs"/>
                        </a:rPr>
                        <a:t>9  Nairobi geographic clusters</a:t>
                      </a:r>
                      <a:endParaRPr lang="en-KE" dirty="0"/>
                    </a:p>
                  </a:txBody>
                  <a:tcPr/>
                </a:tc>
                <a:extLst>
                  <a:ext uri="{0D108BD9-81ED-4DB2-BD59-A6C34878D82A}">
                    <a16:rowId xmlns:a16="http://schemas.microsoft.com/office/drawing/2014/main" val="3045723996"/>
                  </a:ext>
                </a:extLst>
              </a:tr>
              <a:tr h="370840">
                <a:tc>
                  <a:txBody>
                    <a:bodyPr/>
                    <a:lstStyle/>
                    <a:p>
                      <a:r>
                        <a:rPr lang="en-KE" dirty="0"/>
                        <a:t>Sample</a:t>
                      </a:r>
                    </a:p>
                  </a:txBody>
                  <a:tcPr/>
                </a:tc>
                <a:tc>
                  <a:txBody>
                    <a:bodyPr/>
                    <a:lstStyle/>
                    <a:p>
                      <a:r>
                        <a:rPr lang="en-KE" dirty="0"/>
                        <a:t>Age:  ≧ 15 years and resident of cluster 30 days or more</a:t>
                      </a:r>
                    </a:p>
                    <a:p>
                      <a:r>
                        <a:rPr lang="en-KE" dirty="0"/>
                        <a:t>Number of participants: </a:t>
                      </a:r>
                      <a:r>
                        <a:rPr lang="en-US" sz="1800" kern="1200" dirty="0">
                          <a:solidFill>
                            <a:schemeClr val="dk1"/>
                          </a:solidFill>
                          <a:effectLst/>
                          <a:latin typeface="+mn-lt"/>
                          <a:ea typeface="+mn-ea"/>
                          <a:cs typeface="+mn-cs"/>
                        </a:rPr>
                        <a:t>6,834</a:t>
                      </a:r>
                      <a:r>
                        <a:rPr lang="en-KE" dirty="0">
                          <a:effectLst/>
                        </a:rPr>
                        <a:t> </a:t>
                      </a:r>
                      <a:endParaRPr lang="en-KE" dirty="0"/>
                    </a:p>
                    <a:p>
                      <a:r>
                        <a:rPr lang="en-KE" dirty="0"/>
                        <a:t>Participation rate:</a:t>
                      </a:r>
                      <a:r>
                        <a:rPr lang="en-US" sz="1800" kern="1200" dirty="0">
                          <a:solidFill>
                            <a:schemeClr val="dk1"/>
                          </a:solidFill>
                          <a:effectLst/>
                          <a:latin typeface="+mn-lt"/>
                          <a:ea typeface="+mn-ea"/>
                          <a:cs typeface="+mn-cs"/>
                        </a:rPr>
                        <a:t>89% </a:t>
                      </a:r>
                      <a:endParaRPr lang="en-KE" dirty="0"/>
                    </a:p>
                  </a:txBody>
                  <a:tcPr/>
                </a:tc>
                <a:tc>
                  <a:txBody>
                    <a:bodyPr/>
                    <a:lstStyle/>
                    <a:p>
                      <a:r>
                        <a:rPr lang="en-KE" dirty="0"/>
                        <a:t>Age:  ≧ 15 years and resident of cluster 30 days or more</a:t>
                      </a:r>
                    </a:p>
                    <a:p>
                      <a:r>
                        <a:rPr lang="en-KE" dirty="0"/>
                        <a:t>Number of participants: </a:t>
                      </a:r>
                      <a:r>
                        <a:rPr lang="en-US" sz="1800" kern="1200" dirty="0">
                          <a:solidFill>
                            <a:schemeClr val="dk1"/>
                          </a:solidFill>
                          <a:effectLst/>
                          <a:latin typeface="+mn-lt"/>
                          <a:ea typeface="+mn-ea"/>
                          <a:cs typeface="+mn-cs"/>
                        </a:rPr>
                        <a:t>6369</a:t>
                      </a:r>
                      <a:endParaRPr lang="en-KE" dirty="0"/>
                    </a:p>
                    <a:p>
                      <a:r>
                        <a:rPr lang="en-KE" dirty="0"/>
                        <a:t>Participation rate: 83%</a:t>
                      </a:r>
                    </a:p>
                  </a:txBody>
                  <a:tcPr/>
                </a:tc>
                <a:extLst>
                  <a:ext uri="{0D108BD9-81ED-4DB2-BD59-A6C34878D82A}">
                    <a16:rowId xmlns:a16="http://schemas.microsoft.com/office/drawing/2014/main" val="1470202116"/>
                  </a:ext>
                </a:extLst>
              </a:tr>
              <a:tr h="370840">
                <a:tc>
                  <a:txBody>
                    <a:bodyPr/>
                    <a:lstStyle/>
                    <a:p>
                      <a:r>
                        <a:rPr lang="en-KE" dirty="0"/>
                        <a:t>Screening</a:t>
                      </a:r>
                    </a:p>
                  </a:txBody>
                  <a:tcPr/>
                </a:tc>
                <a:tc>
                  <a:txBody>
                    <a:bodyPr/>
                    <a:lstStyle/>
                    <a:p>
                      <a:r>
                        <a:rPr lang="en-KE" dirty="0"/>
                        <a:t>Symptom screen : cough ≧ 2 weeks</a:t>
                      </a:r>
                    </a:p>
                    <a:p>
                      <a:r>
                        <a:rPr lang="en-KE" dirty="0"/>
                        <a:t>Digital CXR: Abnormal Suggestive of TB</a:t>
                      </a:r>
                    </a:p>
                  </a:txBody>
                  <a:tcPr/>
                </a:tc>
                <a:tc>
                  <a:txBody>
                    <a:bodyPr/>
                    <a:lstStyle/>
                    <a:p>
                      <a:r>
                        <a:rPr lang="en-KE" dirty="0"/>
                        <a:t>Symptom screen : cough of any duration</a:t>
                      </a:r>
                    </a:p>
                    <a:p>
                      <a:r>
                        <a:rPr lang="en-KE" dirty="0"/>
                        <a:t>Digital CXR: Abnormal Suggestive of TB</a:t>
                      </a:r>
                    </a:p>
                  </a:txBody>
                  <a:tcPr/>
                </a:tc>
                <a:extLst>
                  <a:ext uri="{0D108BD9-81ED-4DB2-BD59-A6C34878D82A}">
                    <a16:rowId xmlns:a16="http://schemas.microsoft.com/office/drawing/2014/main" val="778672159"/>
                  </a:ext>
                </a:extLst>
              </a:tr>
              <a:tr h="370840">
                <a:tc>
                  <a:txBody>
                    <a:bodyPr/>
                    <a:lstStyle/>
                    <a:p>
                      <a:r>
                        <a:rPr lang="en-KE" dirty="0"/>
                        <a:t>Diagnosis</a:t>
                      </a:r>
                    </a:p>
                  </a:txBody>
                  <a:tcPr/>
                </a:tc>
                <a:tc>
                  <a:txBody>
                    <a:bodyPr/>
                    <a:lstStyle/>
                    <a:p>
                      <a:r>
                        <a:rPr lang="en-KE" dirty="0"/>
                        <a:t>Spot and Morning sputum samples</a:t>
                      </a:r>
                    </a:p>
                    <a:p>
                      <a:r>
                        <a:rPr lang="en-KE" dirty="0"/>
                        <a:t>FM smear microscopy both samples</a:t>
                      </a:r>
                    </a:p>
                    <a:p>
                      <a:r>
                        <a:rPr lang="en-KE" dirty="0">
                          <a:highlight>
                            <a:srgbClr val="FFFF00"/>
                          </a:highlight>
                        </a:rPr>
                        <a:t>Xpert MTB/RIF </a:t>
                      </a:r>
                      <a:r>
                        <a:rPr lang="en-KE" dirty="0"/>
                        <a:t>morning sample</a:t>
                      </a:r>
                    </a:p>
                    <a:p>
                      <a:r>
                        <a:rPr lang="en-KE" dirty="0">
                          <a:highlight>
                            <a:srgbClr val="FFFF00"/>
                          </a:highlight>
                        </a:rPr>
                        <a:t>LJ solid Culture</a:t>
                      </a:r>
                    </a:p>
                  </a:txBody>
                  <a:tcPr/>
                </a:tc>
                <a:tc>
                  <a:txBody>
                    <a:bodyPr/>
                    <a:lstStyle/>
                    <a:p>
                      <a:r>
                        <a:rPr lang="en-KE" dirty="0"/>
                        <a:t>Spot and Morning sputum samples</a:t>
                      </a:r>
                    </a:p>
                    <a:p>
                      <a:r>
                        <a:rPr lang="en-KE" dirty="0"/>
                        <a:t>FM smear microscopy both samples</a:t>
                      </a:r>
                    </a:p>
                    <a:p>
                      <a:r>
                        <a:rPr lang="en-KE" dirty="0">
                          <a:highlight>
                            <a:srgbClr val="FFFF00"/>
                          </a:highlight>
                        </a:rPr>
                        <a:t>Xpert Ultra </a:t>
                      </a:r>
                      <a:r>
                        <a:rPr lang="en-KE" dirty="0"/>
                        <a:t>morning sample</a:t>
                      </a:r>
                    </a:p>
                    <a:p>
                      <a:r>
                        <a:rPr lang="en-KE" dirty="0">
                          <a:highlight>
                            <a:srgbClr val="FFFF00"/>
                          </a:highlight>
                        </a:rPr>
                        <a:t>MGIT liquid Culture</a:t>
                      </a:r>
                    </a:p>
                  </a:txBody>
                  <a:tcPr/>
                </a:tc>
                <a:extLst>
                  <a:ext uri="{0D108BD9-81ED-4DB2-BD59-A6C34878D82A}">
                    <a16:rowId xmlns:a16="http://schemas.microsoft.com/office/drawing/2014/main" val="2698408633"/>
                  </a:ext>
                </a:extLst>
              </a:tr>
              <a:tr h="370840">
                <a:tc>
                  <a:txBody>
                    <a:bodyPr/>
                    <a:lstStyle/>
                    <a:p>
                      <a:r>
                        <a:rPr lang="en-KE" dirty="0"/>
                        <a:t>Case Definition</a:t>
                      </a:r>
                    </a:p>
                  </a:txBody>
                  <a:tcPr/>
                </a:tc>
                <a:tc>
                  <a:txBody>
                    <a:bodyPr/>
                    <a:lstStyle/>
                    <a:p>
                      <a:r>
                        <a:rPr lang="en-KE" dirty="0"/>
                        <a:t>Bacteriologically confirmed TB: Xpert MTB/RIF positive and /or culture MTB positive</a:t>
                      </a:r>
                    </a:p>
                  </a:txBody>
                  <a:tcPr/>
                </a:tc>
                <a:tc>
                  <a:txBody>
                    <a:bodyPr/>
                    <a:lstStyle/>
                    <a:p>
                      <a:r>
                        <a:rPr lang="en-KE" dirty="0"/>
                        <a:t>Bacteriologically confirmed TB: Xpert Ultra positive </a:t>
                      </a:r>
                      <a:r>
                        <a:rPr lang="en-KE" dirty="0">
                          <a:highlight>
                            <a:srgbClr val="FFFF00"/>
                          </a:highlight>
                        </a:rPr>
                        <a:t>minus trace </a:t>
                      </a:r>
                      <a:r>
                        <a:rPr lang="en-KE" dirty="0"/>
                        <a:t>and /or culture MTB positive</a:t>
                      </a:r>
                    </a:p>
                  </a:txBody>
                  <a:tcPr/>
                </a:tc>
                <a:extLst>
                  <a:ext uri="{0D108BD9-81ED-4DB2-BD59-A6C34878D82A}">
                    <a16:rowId xmlns:a16="http://schemas.microsoft.com/office/drawing/2014/main" val="3646450960"/>
                  </a:ext>
                </a:extLst>
              </a:tr>
            </a:tbl>
          </a:graphicData>
        </a:graphic>
      </p:graphicFrame>
    </p:spTree>
    <p:extLst>
      <p:ext uri="{BB962C8B-B14F-4D97-AF65-F5344CB8AC3E}">
        <p14:creationId xmlns:p14="http://schemas.microsoft.com/office/powerpoint/2010/main" val="238710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D53A22-2D4D-EE08-F91B-48554A8A9352}"/>
              </a:ext>
            </a:extLst>
          </p:cNvPr>
          <p:cNvPicPr>
            <a:picLocks noChangeAspect="1"/>
          </p:cNvPicPr>
          <p:nvPr/>
        </p:nvPicPr>
        <p:blipFill>
          <a:blip r:embed="rId3"/>
          <a:stretch>
            <a:fillRect/>
          </a:stretch>
        </p:blipFill>
        <p:spPr>
          <a:xfrm>
            <a:off x="2982595" y="856343"/>
            <a:ext cx="7104834" cy="4586514"/>
          </a:xfrm>
          <a:prstGeom prst="rect">
            <a:avLst/>
          </a:prstGeom>
        </p:spPr>
      </p:pic>
      <p:sp>
        <p:nvSpPr>
          <p:cNvPr id="3" name="TextBox 2">
            <a:extLst>
              <a:ext uri="{FF2B5EF4-FFF2-40B4-BE49-F238E27FC236}">
                <a16:creationId xmlns:a16="http://schemas.microsoft.com/office/drawing/2014/main" id="{DD1DEA1E-9D4E-4476-B10D-BBCA5FC0A2F4}"/>
              </a:ext>
            </a:extLst>
          </p:cNvPr>
          <p:cNvSpPr txBox="1"/>
          <p:nvPr/>
        </p:nvSpPr>
        <p:spPr>
          <a:xfrm>
            <a:off x="2900714" y="5442857"/>
            <a:ext cx="8262053" cy="646331"/>
          </a:xfrm>
          <a:prstGeom prst="rect">
            <a:avLst/>
          </a:prstGeom>
          <a:noFill/>
        </p:spPr>
        <p:txBody>
          <a:bodyPr wrap="square" rtlCol="0">
            <a:spAutoFit/>
          </a:bodyPr>
          <a:lstStyle/>
          <a:p>
            <a:r>
              <a:rPr lang="en-KE" sz="18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Map of sub-counties in Nairobi, Kenya, and locations of surveyed geographic clusters (red circles) and excluded cluster (blue circles). </a:t>
            </a:r>
            <a:endParaRPr lang="en-KE" dirty="0"/>
          </a:p>
        </p:txBody>
      </p:sp>
      <p:graphicFrame>
        <p:nvGraphicFramePr>
          <p:cNvPr id="4" name="Table 3">
            <a:extLst>
              <a:ext uri="{FF2B5EF4-FFF2-40B4-BE49-F238E27FC236}">
                <a16:creationId xmlns:a16="http://schemas.microsoft.com/office/drawing/2014/main" id="{B4D7F465-2CC1-14F5-04F5-A5FAA7A07439}"/>
              </a:ext>
            </a:extLst>
          </p:cNvPr>
          <p:cNvGraphicFramePr>
            <a:graphicFrameLocks noGrp="1"/>
          </p:cNvGraphicFramePr>
          <p:nvPr>
            <p:extLst>
              <p:ext uri="{D42A27DB-BD31-4B8C-83A1-F6EECF244321}">
                <p14:modId xmlns:p14="http://schemas.microsoft.com/office/powerpoint/2010/main" val="2257892570"/>
              </p:ext>
            </p:extLst>
          </p:nvPr>
        </p:nvGraphicFramePr>
        <p:xfrm>
          <a:off x="407772" y="1004625"/>
          <a:ext cx="2026510" cy="3323842"/>
        </p:xfrm>
        <a:graphic>
          <a:graphicData uri="http://schemas.openxmlformats.org/drawingml/2006/table">
            <a:tbl>
              <a:tblPr firstRow="1" firstCol="1" bandRow="1">
                <a:tableStyleId>{5C22544A-7EE6-4342-B048-85BDC9FD1C3A}</a:tableStyleId>
              </a:tblPr>
              <a:tblGrid>
                <a:gridCol w="275800">
                  <a:extLst>
                    <a:ext uri="{9D8B030D-6E8A-4147-A177-3AD203B41FA5}">
                      <a16:colId xmlns:a16="http://schemas.microsoft.com/office/drawing/2014/main" val="952274996"/>
                    </a:ext>
                  </a:extLst>
                </a:gridCol>
                <a:gridCol w="1750710">
                  <a:extLst>
                    <a:ext uri="{9D8B030D-6E8A-4147-A177-3AD203B41FA5}">
                      <a16:colId xmlns:a16="http://schemas.microsoft.com/office/drawing/2014/main" val="3410386126"/>
                    </a:ext>
                  </a:extLst>
                </a:gridCol>
              </a:tblGrid>
              <a:tr h="474728">
                <a:tc>
                  <a:txBody>
                    <a:bodyPr/>
                    <a:lstStyle/>
                    <a:p>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KE" sz="1100" kern="0" dirty="0">
                          <a:effectLst/>
                        </a:rPr>
                        <a:t>Cluster Name</a:t>
                      </a:r>
                      <a:endParaRPr lang="en-KE" sz="1200" kern="100" dirty="0">
                        <a:effectLst/>
                      </a:endParaRPr>
                    </a:p>
                    <a:p>
                      <a:r>
                        <a:rPr lang="en-KE" sz="1100" kern="0" dirty="0">
                          <a:effectLst/>
                        </a:rPr>
                        <a:t>(2015)</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23300170"/>
                  </a:ext>
                </a:extLst>
              </a:tr>
              <a:tr h="23250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200" kern="100" dirty="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Kiamaiko/</a:t>
                      </a:r>
                      <a:r>
                        <a:rPr lang="en-US" sz="1200" kern="0" dirty="0" err="1">
                          <a:solidFill>
                            <a:srgbClr val="222222"/>
                          </a:solidFill>
                          <a:effectLst/>
                          <a:latin typeface="Calibri" panose="020F0502020204030204" pitchFamily="34" charset="0"/>
                          <a:ea typeface="Times New Roman" panose="02020603050405020304" pitchFamily="18" charset="0"/>
                        </a:rPr>
                        <a:t>Ndururuno</a:t>
                      </a:r>
                      <a:r>
                        <a:rPr lang="en-US" sz="1200" kern="0" dirty="0">
                          <a:solidFill>
                            <a:srgbClr val="222222"/>
                          </a:solidFill>
                          <a:effectLst/>
                          <a:latin typeface="Calibri" panose="020F0502020204030204" pitchFamily="34" charset="0"/>
                          <a:ea typeface="Times New Roman" panose="02020603050405020304" pitchFamily="18" charset="0"/>
                        </a:rPr>
                        <a:t> 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3437017"/>
                  </a:ext>
                </a:extLst>
              </a:tr>
              <a:tr h="2880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200" kern="1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Kasarani/</a:t>
                      </a:r>
                      <a:r>
                        <a:rPr lang="en-US" sz="1200" kern="0" dirty="0">
                          <a:solidFill>
                            <a:srgbClr val="222222"/>
                          </a:solidFill>
                          <a:effectLst/>
                          <a:latin typeface="Calibri" panose="020F0502020204030204" pitchFamily="34" charset="0"/>
                          <a:ea typeface="Times New Roman" panose="02020603050405020304" pitchFamily="18" charset="0"/>
                        </a:rPr>
                        <a:t>Clay works Village</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8331903"/>
                  </a:ext>
                </a:extLst>
              </a:tr>
              <a:tr h="4080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200" kern="100" dirty="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Ruai/</a:t>
                      </a:r>
                      <a:r>
                        <a:rPr lang="en-US" sz="1200" kern="0" dirty="0">
                          <a:solidFill>
                            <a:srgbClr val="222222"/>
                          </a:solidFill>
                          <a:effectLst/>
                          <a:latin typeface="Calibri" panose="020F0502020204030204" pitchFamily="34" charset="0"/>
                          <a:ea typeface="Times New Roman" panose="02020603050405020304" pitchFamily="18" charset="0"/>
                        </a:rPr>
                        <a:t>White House Manyatta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5759849"/>
                  </a:ext>
                </a:extLst>
              </a:tr>
              <a:tr h="39602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200" kern="1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Mukuru Kwa Njenga/</a:t>
                      </a:r>
                      <a:r>
                        <a:rPr lang="en-KE" sz="1200" kern="0" dirty="0">
                          <a:solidFill>
                            <a:srgbClr val="222222"/>
                          </a:solidFill>
                          <a:effectLst/>
                          <a:latin typeface="Calibri" panose="020F0502020204030204" pitchFamily="34" charset="0"/>
                          <a:ea typeface="Times New Roman" panose="02020603050405020304" pitchFamily="18" charset="0"/>
                        </a:rPr>
                        <a:t> </a:t>
                      </a:r>
                      <a:r>
                        <a:rPr lang="en-US" sz="1200" kern="0" dirty="0" err="1">
                          <a:solidFill>
                            <a:srgbClr val="222222"/>
                          </a:solidFill>
                          <a:effectLst/>
                          <a:latin typeface="Calibri" panose="020F0502020204030204" pitchFamily="34" charset="0"/>
                          <a:ea typeface="Times New Roman" panose="02020603050405020304" pitchFamily="18" charset="0"/>
                        </a:rPr>
                        <a:t>Jua</a:t>
                      </a:r>
                      <a:r>
                        <a:rPr lang="en-US" sz="1200" kern="0" dirty="0">
                          <a:solidFill>
                            <a:srgbClr val="222222"/>
                          </a:solidFill>
                          <a:effectLst/>
                          <a:latin typeface="Calibri" panose="020F0502020204030204" pitchFamily="34" charset="0"/>
                          <a:ea typeface="Times New Roman" panose="02020603050405020304" pitchFamily="18" charset="0"/>
                        </a:rPr>
                        <a:t> Kali</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16261360"/>
                  </a:ext>
                </a:extLst>
              </a:tr>
              <a:tr h="20401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200" kern="100" dirty="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Gatina/</a:t>
                      </a:r>
                      <a:r>
                        <a:rPr lang="en-US" sz="1200" kern="0" dirty="0">
                          <a:solidFill>
                            <a:srgbClr val="222222"/>
                          </a:solidFill>
                          <a:effectLst/>
                          <a:latin typeface="Calibri" panose="020F0502020204030204" pitchFamily="34" charset="0"/>
                          <a:ea typeface="Times New Roman" panose="02020603050405020304" pitchFamily="18" charset="0"/>
                        </a:rPr>
                        <a:t>Karama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1038246"/>
                  </a:ext>
                </a:extLst>
              </a:tr>
              <a:tr h="228016">
                <a:tc>
                  <a:txBody>
                    <a:bodyPr/>
                    <a:lstStyle/>
                    <a:p>
                      <a:r>
                        <a:rPr lang="en-KE" sz="1200" kern="1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Riruta/Satellite B</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42768652"/>
                  </a:ext>
                </a:extLst>
              </a:tr>
              <a:tr h="264019">
                <a:tc>
                  <a:txBody>
                    <a:bodyPr/>
                    <a:lstStyle/>
                    <a:p>
                      <a:r>
                        <a:rPr lang="en-KE" sz="1200" kern="100" dirty="0">
                          <a:effectLst/>
                          <a:latin typeface="Calibri" panose="020F0502020204030204" pitchFamily="34" charset="0"/>
                          <a:ea typeface="Calibri" panose="020F0502020204030204" pitchFamily="34" charset="0"/>
                          <a:cs typeface="Times New Roman" panose="02020603050405020304" pitchFamily="18" charset="0"/>
                        </a:rPr>
                        <a:t>7</a:t>
                      </a:r>
                    </a:p>
                  </a:txBody>
                  <a:tcPr marL="68580" marR="68580" marT="0" marB="0"/>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Laini Saba/Soweto East</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5983917"/>
                  </a:ext>
                </a:extLst>
              </a:tr>
              <a:tr h="276019">
                <a:tc>
                  <a:txBody>
                    <a:bodyPr/>
                    <a:lstStyle/>
                    <a:p>
                      <a:r>
                        <a:rPr lang="en-KE" sz="1200" kern="100" dirty="0">
                          <a:effectLst/>
                          <a:latin typeface="Calibri" panose="020F0502020204030204" pitchFamily="34" charset="0"/>
                          <a:ea typeface="Calibri" panose="020F0502020204030204" pitchFamily="34" charset="0"/>
                          <a:cs typeface="Times New Roman" panose="02020603050405020304" pitchFamily="18" charset="0"/>
                        </a:rPr>
                        <a:t>8</a:t>
                      </a:r>
                    </a:p>
                  </a:txBody>
                  <a:tcPr marL="68580" marR="68580" marT="0" marB="0"/>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Muthurwa/Muthrwa Est B</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6383768"/>
                  </a:ext>
                </a:extLst>
              </a:tr>
              <a:tr h="474728">
                <a:tc>
                  <a:txBody>
                    <a:bodyPr/>
                    <a:lstStyle/>
                    <a:p>
                      <a:r>
                        <a:rPr lang="en-KE" sz="1200" kern="100" dirty="0">
                          <a:effectLst/>
                          <a:latin typeface="Calibri" panose="020F0502020204030204" pitchFamily="34" charset="0"/>
                          <a:ea typeface="Calibri" panose="020F0502020204030204" pitchFamily="34" charset="0"/>
                          <a:cs typeface="Times New Roman" panose="02020603050405020304" pitchFamily="18" charset="0"/>
                        </a:rPr>
                        <a:t>9</a:t>
                      </a:r>
                    </a:p>
                  </a:txBody>
                  <a:tcPr marL="68580" marR="68580" marT="0" marB="0"/>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Konga Soweto/ Soweto 1</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9169767"/>
                  </a:ext>
                </a:extLst>
              </a:tr>
            </a:tbl>
          </a:graphicData>
        </a:graphic>
      </p:graphicFrame>
    </p:spTree>
    <p:extLst>
      <p:ext uri="{BB962C8B-B14F-4D97-AF65-F5344CB8AC3E}">
        <p14:creationId xmlns:p14="http://schemas.microsoft.com/office/powerpoint/2010/main" val="2860111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86F1DE-0768-1070-6D5A-2675FD64AADA}"/>
              </a:ext>
            </a:extLst>
          </p:cNvPr>
          <p:cNvPicPr>
            <a:picLocks noChangeAspect="1"/>
          </p:cNvPicPr>
          <p:nvPr/>
        </p:nvPicPr>
        <p:blipFill>
          <a:blip r:embed="rId2"/>
          <a:stretch>
            <a:fillRect/>
          </a:stretch>
        </p:blipFill>
        <p:spPr>
          <a:xfrm>
            <a:off x="2293257" y="391886"/>
            <a:ext cx="7460343" cy="6403333"/>
          </a:xfrm>
          <a:prstGeom prst="rect">
            <a:avLst/>
          </a:prstGeom>
        </p:spPr>
      </p:pic>
    </p:spTree>
    <p:extLst>
      <p:ext uri="{BB962C8B-B14F-4D97-AF65-F5344CB8AC3E}">
        <p14:creationId xmlns:p14="http://schemas.microsoft.com/office/powerpoint/2010/main" val="1329918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73EB4CE-DCE4-B621-1AFD-F58778102F0E}"/>
              </a:ext>
            </a:extLst>
          </p:cNvPr>
          <p:cNvGraphicFramePr>
            <a:graphicFrameLocks noGrp="1"/>
          </p:cNvGraphicFramePr>
          <p:nvPr>
            <p:extLst>
              <p:ext uri="{D42A27DB-BD31-4B8C-83A1-F6EECF244321}">
                <p14:modId xmlns:p14="http://schemas.microsoft.com/office/powerpoint/2010/main" val="3633432226"/>
              </p:ext>
            </p:extLst>
          </p:nvPr>
        </p:nvGraphicFramePr>
        <p:xfrm>
          <a:off x="1754659" y="1296194"/>
          <a:ext cx="6411818" cy="4018858"/>
        </p:xfrm>
        <a:graphic>
          <a:graphicData uri="http://schemas.openxmlformats.org/drawingml/2006/table">
            <a:tbl>
              <a:tblPr firstRow="1" bandRow="1" bandCol="1">
                <a:tableStyleId>{5C22544A-7EE6-4342-B048-85BDC9FD1C3A}</a:tableStyleId>
              </a:tblPr>
              <a:tblGrid>
                <a:gridCol w="2517198">
                  <a:extLst>
                    <a:ext uri="{9D8B030D-6E8A-4147-A177-3AD203B41FA5}">
                      <a16:colId xmlns:a16="http://schemas.microsoft.com/office/drawing/2014/main" val="1257269485"/>
                    </a:ext>
                  </a:extLst>
                </a:gridCol>
                <a:gridCol w="1328521">
                  <a:extLst>
                    <a:ext uri="{9D8B030D-6E8A-4147-A177-3AD203B41FA5}">
                      <a16:colId xmlns:a16="http://schemas.microsoft.com/office/drawing/2014/main" val="2938981770"/>
                    </a:ext>
                  </a:extLst>
                </a:gridCol>
                <a:gridCol w="1619885">
                  <a:extLst>
                    <a:ext uri="{9D8B030D-6E8A-4147-A177-3AD203B41FA5}">
                      <a16:colId xmlns:a16="http://schemas.microsoft.com/office/drawing/2014/main" val="162313612"/>
                    </a:ext>
                  </a:extLst>
                </a:gridCol>
                <a:gridCol w="946214">
                  <a:extLst>
                    <a:ext uri="{9D8B030D-6E8A-4147-A177-3AD203B41FA5}">
                      <a16:colId xmlns:a16="http://schemas.microsoft.com/office/drawing/2014/main" val="835577628"/>
                    </a:ext>
                  </a:extLst>
                </a:gridCol>
              </a:tblGrid>
              <a:tr h="190500">
                <a:tc>
                  <a:txBody>
                    <a:bodyPr/>
                    <a:lstStyle/>
                    <a:p>
                      <a:pPr>
                        <a:lnSpc>
                          <a:spcPct val="115000"/>
                        </a:lnSpc>
                        <a:spcBef>
                          <a:spcPts val="180"/>
                        </a:spcBef>
                        <a:spcAft>
                          <a:spcPts val="180"/>
                        </a:spcAft>
                      </a:pPr>
                      <a:r>
                        <a:rPr lang="en-US" sz="1600" kern="100">
                          <a:effectLst/>
                        </a:rPr>
                        <a:t>Characteristic</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algn="ctr">
                        <a:lnSpc>
                          <a:spcPct val="115000"/>
                        </a:lnSpc>
                        <a:spcBef>
                          <a:spcPts val="180"/>
                        </a:spcBef>
                        <a:spcAft>
                          <a:spcPts val="180"/>
                        </a:spcAft>
                      </a:pPr>
                      <a:r>
                        <a:rPr lang="en-US" sz="1600" kern="100" dirty="0">
                          <a:effectLst/>
                        </a:rPr>
                        <a:t>2015, N = 6132</a:t>
                      </a:r>
                      <a:endParaRPr lang="en-KE" sz="16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algn="ctr">
                        <a:lnSpc>
                          <a:spcPct val="115000"/>
                        </a:lnSpc>
                        <a:spcBef>
                          <a:spcPts val="180"/>
                        </a:spcBef>
                        <a:spcAft>
                          <a:spcPts val="180"/>
                        </a:spcAft>
                      </a:pPr>
                      <a:r>
                        <a:rPr lang="en-US" sz="1600" kern="100" dirty="0">
                          <a:effectLst/>
                        </a:rPr>
                        <a:t>2022, N = 6,369</a:t>
                      </a:r>
                      <a:endParaRPr lang="en-KE" sz="16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algn="ctr">
                        <a:lnSpc>
                          <a:spcPct val="115000"/>
                        </a:lnSpc>
                        <a:spcBef>
                          <a:spcPts val="180"/>
                        </a:spcBef>
                        <a:spcAft>
                          <a:spcPts val="180"/>
                        </a:spcAft>
                      </a:pPr>
                      <a:r>
                        <a:rPr lang="en-US" sz="1600" kern="100" dirty="0">
                          <a:effectLst/>
                        </a:rPr>
                        <a:t>p-value</a:t>
                      </a:r>
                      <a:endParaRPr lang="en-KE" sz="16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4033866804"/>
                  </a:ext>
                </a:extLst>
              </a:tr>
              <a:tr h="190500">
                <a:tc>
                  <a:txBody>
                    <a:bodyPr/>
                    <a:lstStyle/>
                    <a:p>
                      <a:pPr>
                        <a:lnSpc>
                          <a:spcPct val="115000"/>
                        </a:lnSpc>
                        <a:spcBef>
                          <a:spcPts val="180"/>
                        </a:spcBef>
                        <a:spcAft>
                          <a:spcPts val="180"/>
                        </a:spcAft>
                      </a:pPr>
                      <a:r>
                        <a:rPr lang="en-US" sz="1600" kern="100">
                          <a:effectLst/>
                        </a:rPr>
                        <a:t>Cough of any duration</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1,018 (17%)</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1,021 (16%)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0·005</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31742089"/>
                  </a:ext>
                </a:extLst>
              </a:tr>
              <a:tr h="190500">
                <a:tc>
                  <a:txBody>
                    <a:bodyPr/>
                    <a:lstStyle/>
                    <a:p>
                      <a:pPr>
                        <a:lnSpc>
                          <a:spcPct val="115000"/>
                        </a:lnSpc>
                        <a:spcBef>
                          <a:spcPts val="180"/>
                        </a:spcBef>
                        <a:spcAft>
                          <a:spcPts val="180"/>
                        </a:spcAft>
                      </a:pPr>
                      <a:r>
                        <a:rPr lang="en-US" sz="1600" kern="100">
                          <a:effectLst/>
                        </a:rPr>
                        <a:t>Cough (&gt;2weeks)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292 (4.8%)</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366 (6%)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0·20</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48974012"/>
                  </a:ext>
                </a:extLst>
              </a:tr>
              <a:tr h="190500">
                <a:tc>
                  <a:txBody>
                    <a:bodyPr/>
                    <a:lstStyle/>
                    <a:p>
                      <a:pPr>
                        <a:lnSpc>
                          <a:spcPct val="115000"/>
                        </a:lnSpc>
                        <a:spcBef>
                          <a:spcPts val="180"/>
                        </a:spcBef>
                        <a:spcAft>
                          <a:spcPts val="180"/>
                        </a:spcAft>
                      </a:pPr>
                      <a:r>
                        <a:rPr lang="en-US" sz="1600" kern="100">
                          <a:effectLst/>
                        </a:rPr>
                        <a:t>Chest pain</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782 (13%)</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625 (10%)</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dirty="0">
                          <a:effectLst/>
                        </a:rPr>
                        <a:t>&lt;0·001</a:t>
                      </a:r>
                      <a:endParaRPr lang="en-KE" sz="16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855155560"/>
                  </a:ext>
                </a:extLst>
              </a:tr>
              <a:tr h="190500">
                <a:tc>
                  <a:txBody>
                    <a:bodyPr/>
                    <a:lstStyle/>
                    <a:p>
                      <a:pPr>
                        <a:lnSpc>
                          <a:spcPct val="115000"/>
                        </a:lnSpc>
                        <a:spcBef>
                          <a:spcPts val="180"/>
                        </a:spcBef>
                        <a:spcAft>
                          <a:spcPts val="180"/>
                        </a:spcAft>
                      </a:pPr>
                      <a:r>
                        <a:rPr lang="en-US" sz="1600" kern="100">
                          <a:effectLst/>
                        </a:rPr>
                        <a:t>Fever</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112 (1.8%)</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99 (2%)</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0.03</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92006753"/>
                  </a:ext>
                </a:extLst>
              </a:tr>
              <a:tr h="190500">
                <a:tc>
                  <a:txBody>
                    <a:bodyPr/>
                    <a:lstStyle/>
                    <a:p>
                      <a:pPr>
                        <a:lnSpc>
                          <a:spcPct val="115000"/>
                        </a:lnSpc>
                        <a:spcBef>
                          <a:spcPts val="180"/>
                        </a:spcBef>
                        <a:spcAft>
                          <a:spcPts val="180"/>
                        </a:spcAft>
                      </a:pPr>
                      <a:r>
                        <a:rPr lang="en-US" sz="1600" kern="100">
                          <a:effectLst/>
                        </a:rPr>
                        <a:t>Night sweats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160 (2.6%)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140 (2%)</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0·09</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52665002"/>
                  </a:ext>
                </a:extLst>
              </a:tr>
              <a:tr h="190500">
                <a:tc>
                  <a:txBody>
                    <a:bodyPr/>
                    <a:lstStyle/>
                    <a:p>
                      <a:pPr>
                        <a:lnSpc>
                          <a:spcPct val="115000"/>
                        </a:lnSpc>
                        <a:spcBef>
                          <a:spcPts val="180"/>
                        </a:spcBef>
                        <a:spcAft>
                          <a:spcPts val="180"/>
                        </a:spcAft>
                      </a:pPr>
                      <a:r>
                        <a:rPr lang="en-US" sz="1600" kern="100">
                          <a:effectLst/>
                        </a:rPr>
                        <a:t>Weight loss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31 (0.5%)</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93 (2%)</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&lt;0·001</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34178679"/>
                  </a:ext>
                </a:extLst>
              </a:tr>
              <a:tr h="190500">
                <a:tc>
                  <a:txBody>
                    <a:bodyPr/>
                    <a:lstStyle/>
                    <a:p>
                      <a:pPr>
                        <a:lnSpc>
                          <a:spcPct val="115000"/>
                        </a:lnSpc>
                        <a:spcBef>
                          <a:spcPts val="180"/>
                        </a:spcBef>
                        <a:spcAft>
                          <a:spcPts val="180"/>
                        </a:spcAft>
                      </a:pPr>
                      <a:r>
                        <a:rPr lang="en-US" sz="1600" kern="100">
                          <a:effectLst/>
                        </a:rPr>
                        <a:t>Shortness of breath</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406 (6.6%)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239 (4%)</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&lt;0·001</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32892332"/>
                  </a:ext>
                </a:extLst>
              </a:tr>
              <a:tr h="190500">
                <a:tc>
                  <a:txBody>
                    <a:bodyPr/>
                    <a:lstStyle/>
                    <a:p>
                      <a:pPr>
                        <a:lnSpc>
                          <a:spcPct val="115000"/>
                        </a:lnSpc>
                        <a:spcBef>
                          <a:spcPts val="180"/>
                        </a:spcBef>
                        <a:spcAft>
                          <a:spcPts val="180"/>
                        </a:spcAft>
                      </a:pPr>
                      <a:r>
                        <a:rPr lang="en-US" sz="1600" kern="100">
                          <a:effectLst/>
                        </a:rPr>
                        <a:t>Number of symptoms present</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 </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 </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&lt;0·001</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74648105"/>
                  </a:ext>
                </a:extLst>
              </a:tr>
              <a:tr h="190500">
                <a:tc>
                  <a:txBody>
                    <a:bodyPr/>
                    <a:lstStyle/>
                    <a:p>
                      <a:pPr>
                        <a:lnSpc>
                          <a:spcPct val="115000"/>
                        </a:lnSpc>
                        <a:spcBef>
                          <a:spcPts val="180"/>
                        </a:spcBef>
                        <a:spcAft>
                          <a:spcPts val="180"/>
                        </a:spcAft>
                      </a:pPr>
                      <a:r>
                        <a:rPr lang="en-US" sz="1600" kern="100">
                          <a:effectLst/>
                        </a:rPr>
                        <a:t>       No symptoms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4,501 (73%)</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4,958 (78%)</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 </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24215092"/>
                  </a:ext>
                </a:extLst>
              </a:tr>
              <a:tr h="190500">
                <a:tc>
                  <a:txBody>
                    <a:bodyPr/>
                    <a:lstStyle/>
                    <a:p>
                      <a:pPr>
                        <a:lnSpc>
                          <a:spcPct val="115000"/>
                        </a:lnSpc>
                        <a:spcBef>
                          <a:spcPts val="180"/>
                        </a:spcBef>
                        <a:spcAft>
                          <a:spcPts val="180"/>
                        </a:spcAft>
                      </a:pPr>
                      <a:r>
                        <a:rPr lang="en-US" sz="1600" kern="100">
                          <a:effectLst/>
                        </a:rPr>
                        <a:t>       Only 1 symptom</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979 (16%)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839 (13%)</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 </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37078034"/>
                  </a:ext>
                </a:extLst>
              </a:tr>
              <a:tr h="190500">
                <a:tc>
                  <a:txBody>
                    <a:bodyPr/>
                    <a:lstStyle/>
                    <a:p>
                      <a:pPr>
                        <a:lnSpc>
                          <a:spcPct val="115000"/>
                        </a:lnSpc>
                        <a:spcBef>
                          <a:spcPts val="180"/>
                        </a:spcBef>
                        <a:spcAft>
                          <a:spcPts val="180"/>
                        </a:spcAft>
                      </a:pPr>
                      <a:r>
                        <a:rPr lang="en-US" sz="1600" kern="100">
                          <a:effectLst/>
                        </a:rPr>
                        <a:t>       Only 2 symptoms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403 (6.6%)</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330 (5%)</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 </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116146027"/>
                  </a:ext>
                </a:extLst>
              </a:tr>
              <a:tr h="190500">
                <a:tc>
                  <a:txBody>
                    <a:bodyPr/>
                    <a:lstStyle/>
                    <a:p>
                      <a:pPr>
                        <a:lnSpc>
                          <a:spcPct val="115000"/>
                        </a:lnSpc>
                        <a:spcBef>
                          <a:spcPts val="180"/>
                        </a:spcBef>
                        <a:spcAft>
                          <a:spcPts val="180"/>
                        </a:spcAft>
                      </a:pPr>
                      <a:r>
                        <a:rPr lang="en-US" sz="1600" kern="100">
                          <a:effectLst/>
                        </a:rPr>
                        <a:t>       3 or more symptoms</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a:effectLst/>
                        </a:rPr>
                        <a:t>249 (4.1%)</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Bef>
                          <a:spcPts val="180"/>
                        </a:spcBef>
                        <a:spcAft>
                          <a:spcPts val="180"/>
                        </a:spcAft>
                      </a:pPr>
                      <a:r>
                        <a:rPr lang="en-US" sz="1600" kern="100">
                          <a:effectLst/>
                        </a:rPr>
                        <a:t>242 (4%)</a:t>
                      </a:r>
                      <a:endParaRPr lang="en-KE" sz="16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15000"/>
                        </a:lnSpc>
                        <a:spcBef>
                          <a:spcPts val="180"/>
                        </a:spcBef>
                        <a:spcAft>
                          <a:spcPts val="180"/>
                        </a:spcAft>
                      </a:pPr>
                      <a:r>
                        <a:rPr lang="en-US" sz="1600" kern="100" dirty="0">
                          <a:effectLst/>
                        </a:rPr>
                        <a:t> </a:t>
                      </a:r>
                      <a:endParaRPr lang="en-KE" sz="16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81981723"/>
                  </a:ext>
                </a:extLst>
              </a:tr>
            </a:tbl>
          </a:graphicData>
        </a:graphic>
      </p:graphicFrame>
      <p:sp>
        <p:nvSpPr>
          <p:cNvPr id="6" name="TextBox 5">
            <a:extLst>
              <a:ext uri="{FF2B5EF4-FFF2-40B4-BE49-F238E27FC236}">
                <a16:creationId xmlns:a16="http://schemas.microsoft.com/office/drawing/2014/main" id="{8D26ACCA-F9D4-B42B-D8EB-C0789205AE39}"/>
              </a:ext>
            </a:extLst>
          </p:cNvPr>
          <p:cNvSpPr txBox="1"/>
          <p:nvPr/>
        </p:nvSpPr>
        <p:spPr>
          <a:xfrm>
            <a:off x="1754659" y="408193"/>
            <a:ext cx="6623222" cy="646331"/>
          </a:xfrm>
          <a:prstGeom prst="rect">
            <a:avLst/>
          </a:prstGeom>
          <a:noFill/>
        </p:spPr>
        <p:txBody>
          <a:bodyPr wrap="square">
            <a:spAutoFit/>
          </a:bodyPr>
          <a:lstStyle/>
          <a:p>
            <a:r>
              <a:rPr lang="en-US" sz="1800" b="1" kern="0" dirty="0">
                <a:effectLst/>
                <a:latin typeface="Calibri" panose="020F0502020204030204" pitchFamily="34" charset="0"/>
                <a:ea typeface="Calibri" panose="020F0502020204030204" pitchFamily="34" charset="0"/>
                <a:cs typeface="Arial" panose="020B0604020202020204" pitchFamily="34" charset="0"/>
              </a:rPr>
              <a:t>Comparison of symptoms characteristics of the study participants between 2015 and 2022 surveys</a:t>
            </a:r>
            <a:r>
              <a:rPr lang="en-KE" dirty="0">
                <a:effectLst/>
              </a:rPr>
              <a:t> </a:t>
            </a:r>
            <a:endParaRPr lang="en-KE" dirty="0"/>
          </a:p>
        </p:txBody>
      </p:sp>
    </p:spTree>
    <p:extLst>
      <p:ext uri="{BB962C8B-B14F-4D97-AF65-F5344CB8AC3E}">
        <p14:creationId xmlns:p14="http://schemas.microsoft.com/office/powerpoint/2010/main" val="342903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6C170CC-CCD1-0EA6-8893-2803E1F675D8}"/>
              </a:ext>
            </a:extLst>
          </p:cNvPr>
          <p:cNvGraphicFramePr>
            <a:graphicFrameLocks noGrp="1"/>
          </p:cNvGraphicFramePr>
          <p:nvPr>
            <p:extLst>
              <p:ext uri="{D42A27DB-BD31-4B8C-83A1-F6EECF244321}">
                <p14:modId xmlns:p14="http://schemas.microsoft.com/office/powerpoint/2010/main" val="1784167269"/>
              </p:ext>
            </p:extLst>
          </p:nvPr>
        </p:nvGraphicFramePr>
        <p:xfrm>
          <a:off x="1554893" y="1033680"/>
          <a:ext cx="8439663" cy="4988299"/>
        </p:xfrm>
        <a:graphic>
          <a:graphicData uri="http://schemas.openxmlformats.org/drawingml/2006/table">
            <a:tbl>
              <a:tblPr firstRow="1" firstCol="1" bandRow="1">
                <a:tableStyleId>{5C22544A-7EE6-4342-B048-85BDC9FD1C3A}</a:tableStyleId>
              </a:tblPr>
              <a:tblGrid>
                <a:gridCol w="2090943">
                  <a:extLst>
                    <a:ext uri="{9D8B030D-6E8A-4147-A177-3AD203B41FA5}">
                      <a16:colId xmlns:a16="http://schemas.microsoft.com/office/drawing/2014/main" val="2240131604"/>
                    </a:ext>
                  </a:extLst>
                </a:gridCol>
                <a:gridCol w="1577492">
                  <a:extLst>
                    <a:ext uri="{9D8B030D-6E8A-4147-A177-3AD203B41FA5}">
                      <a16:colId xmlns:a16="http://schemas.microsoft.com/office/drawing/2014/main" val="3203250743"/>
                    </a:ext>
                  </a:extLst>
                </a:gridCol>
                <a:gridCol w="1804347">
                  <a:extLst>
                    <a:ext uri="{9D8B030D-6E8A-4147-A177-3AD203B41FA5}">
                      <a16:colId xmlns:a16="http://schemas.microsoft.com/office/drawing/2014/main" val="2888375028"/>
                    </a:ext>
                  </a:extLst>
                </a:gridCol>
                <a:gridCol w="1738149">
                  <a:extLst>
                    <a:ext uri="{9D8B030D-6E8A-4147-A177-3AD203B41FA5}">
                      <a16:colId xmlns:a16="http://schemas.microsoft.com/office/drawing/2014/main" val="4170006898"/>
                    </a:ext>
                  </a:extLst>
                </a:gridCol>
                <a:gridCol w="1228732">
                  <a:extLst>
                    <a:ext uri="{9D8B030D-6E8A-4147-A177-3AD203B41FA5}">
                      <a16:colId xmlns:a16="http://schemas.microsoft.com/office/drawing/2014/main" val="348388568"/>
                    </a:ext>
                  </a:extLst>
                </a:gridCol>
              </a:tblGrid>
              <a:tr h="421322">
                <a:tc>
                  <a:txBody>
                    <a:bodyPr/>
                    <a:lstStyle/>
                    <a:p>
                      <a:pPr>
                        <a:lnSpc>
                          <a:spcPct val="115000"/>
                        </a:lnSpc>
                        <a:spcAft>
                          <a:spcPts val="1000"/>
                        </a:spcAft>
                      </a:pPr>
                      <a:r>
                        <a:rPr lang="en-US" sz="1400" kern="100" dirty="0">
                          <a:effectLst/>
                        </a:rPr>
                        <a:t>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gn="ctr">
                        <a:lnSpc>
                          <a:spcPct val="115000"/>
                        </a:lnSpc>
                        <a:spcAft>
                          <a:spcPts val="1000"/>
                        </a:spcAft>
                      </a:pPr>
                      <a:r>
                        <a:rPr lang="en-US" sz="1400" kern="100" dirty="0">
                          <a:effectLst/>
                        </a:rPr>
                        <a:t>2022: cough any duration</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gn="ctr">
                        <a:lnSpc>
                          <a:spcPct val="115000"/>
                        </a:lnSpc>
                        <a:spcAft>
                          <a:spcPts val="1000"/>
                        </a:spcAft>
                      </a:pPr>
                      <a:r>
                        <a:rPr lang="en-US" sz="1400" kern="100" dirty="0">
                          <a:effectLst/>
                        </a:rPr>
                        <a:t>2015: cough &gt;2 weeks</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gn="ctr">
                        <a:lnSpc>
                          <a:spcPct val="115000"/>
                        </a:lnSpc>
                        <a:spcAft>
                          <a:spcPts val="1000"/>
                        </a:spcAft>
                      </a:pPr>
                      <a:r>
                        <a:rPr lang="en-US" sz="1400" kern="100" dirty="0">
                          <a:effectLst/>
                        </a:rPr>
                        <a:t>2022: cough &gt;2 weeks</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gn="ctr">
                        <a:lnSpc>
                          <a:spcPct val="115000"/>
                        </a:lnSpc>
                        <a:spcAft>
                          <a:spcPts val="1000"/>
                        </a:spcAft>
                      </a:pPr>
                      <a:r>
                        <a:rPr lang="en-US" sz="1400" kern="100" dirty="0">
                          <a:effectLst/>
                        </a:rPr>
                        <a:t>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4118009007"/>
                  </a:ext>
                </a:extLst>
              </a:tr>
              <a:tr h="1575346">
                <a:tc>
                  <a:txBody>
                    <a:bodyPr/>
                    <a:lstStyle/>
                    <a:p>
                      <a:pPr>
                        <a:lnSpc>
                          <a:spcPct val="115000"/>
                        </a:lnSpc>
                        <a:spcAft>
                          <a:spcPts val="1000"/>
                        </a:spcAft>
                      </a:pPr>
                      <a:r>
                        <a:rPr lang="en-US" sz="1400" kern="100" dirty="0">
                          <a:effectLst/>
                        </a:rPr>
                        <a:t>Robust standard errors with multiple imputation and inverse probability weighting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Bacteriologically Confirmed</a:t>
                      </a:r>
                      <a:br>
                        <a:rPr lang="en-US" sz="1400" kern="100">
                          <a:effectLst/>
                        </a:rPr>
                      </a:br>
                      <a:r>
                        <a:rPr lang="en-US" sz="1400" kern="100">
                          <a:effectLst/>
                        </a:rPr>
                        <a:t>(N=42) </a:t>
                      </a:r>
                      <a:endParaRPr lang="en-KE" sz="1400" kern="100">
                        <a:effectLst/>
                      </a:endParaRPr>
                    </a:p>
                    <a:p>
                      <a:pPr>
                        <a:lnSpc>
                          <a:spcPct val="115000"/>
                        </a:lnSpc>
                        <a:spcAft>
                          <a:spcPts val="1000"/>
                        </a:spcAft>
                      </a:pPr>
                      <a:r>
                        <a:rPr lang="en-US" sz="1400" kern="100">
                          <a:effectLst/>
                        </a:rPr>
                        <a:t>Point estimate</a:t>
                      </a:r>
                      <a:br>
                        <a:rPr lang="en-US" sz="1400" kern="100">
                          <a:effectLst/>
                        </a:rPr>
                      </a:br>
                      <a:r>
                        <a:rPr lang="en-US" sz="1400" kern="100">
                          <a:effectLst/>
                        </a:rPr>
                        <a:t>(95%CI)</a:t>
                      </a:r>
                      <a:endParaRPr lang="en-KE" sz="1400" kern="100">
                        <a:effectLst/>
                      </a:endParaRPr>
                    </a:p>
                    <a:p>
                      <a:pPr>
                        <a:lnSpc>
                          <a:spcPct val="115000"/>
                        </a:lnSpc>
                        <a:spcAft>
                          <a:spcPts val="1000"/>
                        </a:spcAft>
                      </a:pPr>
                      <a:r>
                        <a:rPr lang="en-US" sz="1400" kern="100">
                          <a:effectLst/>
                        </a:rPr>
                        <a:t>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Bacteriologically confirmed</a:t>
                      </a:r>
                      <a:br>
                        <a:rPr lang="en-US" sz="1400" kern="100">
                          <a:effectLst/>
                        </a:rPr>
                      </a:br>
                      <a:r>
                        <a:rPr lang="en-US" sz="1400" kern="100">
                          <a:effectLst/>
                        </a:rPr>
                        <a:t>(N=33) Point estimate</a:t>
                      </a:r>
                      <a:br>
                        <a:rPr lang="en-US" sz="1400" kern="100">
                          <a:effectLst/>
                        </a:rPr>
                      </a:br>
                      <a:r>
                        <a:rPr lang="en-US" sz="1400" kern="100">
                          <a:effectLst/>
                        </a:rPr>
                        <a:t>(95%CI)</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Bacteriological Confirmed</a:t>
                      </a:r>
                      <a:br>
                        <a:rPr lang="en-US" sz="1400" kern="100" dirty="0">
                          <a:effectLst/>
                        </a:rPr>
                      </a:br>
                      <a:r>
                        <a:rPr lang="en-US" sz="1400" kern="100" dirty="0">
                          <a:effectLst/>
                        </a:rPr>
                        <a:t>(N=39) Point estimate</a:t>
                      </a:r>
                      <a:br>
                        <a:rPr lang="en-US" sz="1400" kern="100" dirty="0">
                          <a:effectLst/>
                        </a:rPr>
                      </a:br>
                      <a:r>
                        <a:rPr lang="en-US" sz="1400" kern="100" dirty="0">
                          <a:effectLst/>
                        </a:rPr>
                        <a:t>(95%CI)</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P-value comparing 2022 restricted analysis to 2015</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2641552255"/>
                  </a:ext>
                </a:extLst>
              </a:tr>
              <a:tr h="214449">
                <a:tc>
                  <a:txBody>
                    <a:bodyPr/>
                    <a:lstStyle/>
                    <a:p>
                      <a:pPr>
                        <a:lnSpc>
                          <a:spcPct val="115000"/>
                        </a:lnSpc>
                        <a:spcAft>
                          <a:spcPts val="1000"/>
                        </a:spcAft>
                      </a:pPr>
                      <a:r>
                        <a:rPr lang="en-US" sz="1400" kern="100" dirty="0">
                          <a:effectLst/>
                        </a:rPr>
                        <a:t>Overall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806 (518, 1,096)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567 (267, 866)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761 (450, 1,073)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0·41</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2452528678"/>
                  </a:ext>
                </a:extLst>
              </a:tr>
              <a:tr h="214449">
                <a:tc>
                  <a:txBody>
                    <a:bodyPr/>
                    <a:lstStyle/>
                    <a:p>
                      <a:pPr>
                        <a:lnSpc>
                          <a:spcPct val="115000"/>
                        </a:lnSpc>
                        <a:spcAft>
                          <a:spcPts val="1000"/>
                        </a:spcAft>
                      </a:pPr>
                      <a:r>
                        <a:rPr lang="en-US" sz="1400" kern="100" dirty="0">
                          <a:effectLst/>
                        </a:rPr>
                        <a:t>GeneXpert positive TB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602 (350, 854)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tc>
                  <a:txBody>
                    <a:bodyPr/>
                    <a:lstStyle/>
                    <a:p>
                      <a:pPr>
                        <a:lnSpc>
                          <a:spcPct val="115000"/>
                        </a:lnSpc>
                        <a:spcAft>
                          <a:spcPts val="1000"/>
                        </a:spcAft>
                      </a:pPr>
                      <a:r>
                        <a:rPr lang="en-US" sz="1400" kern="100">
                          <a:effectLst/>
                        </a:rPr>
                        <a:t>491 (234, 747)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tc>
                  <a:txBody>
                    <a:bodyPr/>
                    <a:lstStyle/>
                    <a:p>
                      <a:pPr>
                        <a:lnSpc>
                          <a:spcPct val="115000"/>
                        </a:lnSpc>
                        <a:spcAft>
                          <a:spcPts val="1000"/>
                        </a:spcAft>
                      </a:pPr>
                      <a:r>
                        <a:rPr lang="en-US" sz="1400" kern="100">
                          <a:effectLst/>
                        </a:rPr>
                        <a:t>556 (309, 804)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tc>
                  <a:txBody>
                    <a:bodyPr/>
                    <a:lstStyle/>
                    <a:p>
                      <a:pPr>
                        <a:lnSpc>
                          <a:spcPct val="115000"/>
                        </a:lnSpc>
                        <a:spcAft>
                          <a:spcPts val="1000"/>
                        </a:spcAft>
                      </a:pPr>
                      <a:r>
                        <a:rPr lang="en-US" sz="1400" kern="100" dirty="0">
                          <a:effectLst/>
                        </a:rPr>
                        <a:t>   0·70</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extLst>
                  <a:ext uri="{0D108BD9-81ED-4DB2-BD59-A6C34878D82A}">
                    <a16:rowId xmlns:a16="http://schemas.microsoft.com/office/drawing/2014/main" val="2482885414"/>
                  </a:ext>
                </a:extLst>
              </a:tr>
              <a:tr h="214449">
                <a:tc>
                  <a:txBody>
                    <a:bodyPr/>
                    <a:lstStyle/>
                    <a:p>
                      <a:pPr>
                        <a:lnSpc>
                          <a:spcPct val="115000"/>
                        </a:lnSpc>
                        <a:spcAft>
                          <a:spcPts val="1000"/>
                        </a:spcAft>
                      </a:pPr>
                      <a:r>
                        <a:rPr lang="en-US" sz="1400" kern="100" dirty="0">
                          <a:effectLst/>
                        </a:rPr>
                        <a:t>Sex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tc>
                  <a:txBody>
                    <a:bodyPr/>
                    <a:lstStyle/>
                    <a:p>
                      <a:endParaRPr lang="en-KE" sz="1400" kern="100">
                        <a:effectLst/>
                        <a:latin typeface="Calibri" panose="020F0502020204030204" pitchFamily="34" charset="0"/>
                        <a:cs typeface="Arial" panose="020B0604020202020204" pitchFamily="34" charset="0"/>
                      </a:endParaRPr>
                    </a:p>
                  </a:txBody>
                  <a:tcPr marL="64354" marR="64354" marT="0" marB="0" anchor="b"/>
                </a:tc>
                <a:tc>
                  <a:txBody>
                    <a:bodyPr/>
                    <a:lstStyle/>
                    <a:p>
                      <a:endParaRPr lang="en-KE" sz="1400" kern="100">
                        <a:effectLst/>
                        <a:latin typeface="Calibri" panose="020F0502020204030204" pitchFamily="34" charset="0"/>
                        <a:cs typeface="Arial" panose="020B0604020202020204" pitchFamily="34" charset="0"/>
                      </a:endParaRPr>
                    </a:p>
                  </a:txBody>
                  <a:tcPr marL="64354" marR="64354" marT="0" marB="0" anchor="b"/>
                </a:tc>
                <a:tc>
                  <a:txBody>
                    <a:bodyPr/>
                    <a:lstStyle/>
                    <a:p>
                      <a:pPr indent="112395">
                        <a:lnSpc>
                          <a:spcPct val="115000"/>
                        </a:lnSpc>
                        <a:spcAft>
                          <a:spcPts val="1000"/>
                        </a:spcAft>
                      </a:pPr>
                      <a:r>
                        <a:rPr lang="en-US" sz="1400" kern="100" dirty="0">
                          <a:effectLst/>
                        </a:rPr>
                        <a:t>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extLst>
                  <a:ext uri="{0D108BD9-81ED-4DB2-BD59-A6C34878D82A}">
                    <a16:rowId xmlns:a16="http://schemas.microsoft.com/office/drawing/2014/main" val="3113013474"/>
                  </a:ext>
                </a:extLst>
              </a:tr>
              <a:tr h="214449">
                <a:tc>
                  <a:txBody>
                    <a:bodyPr/>
                    <a:lstStyle/>
                    <a:p>
                      <a:pPr>
                        <a:lnSpc>
                          <a:spcPct val="115000"/>
                        </a:lnSpc>
                        <a:spcAft>
                          <a:spcPts val="1000"/>
                        </a:spcAft>
                      </a:pPr>
                      <a:r>
                        <a:rPr lang="en-US" sz="1400" kern="100">
                          <a:effectLst/>
                        </a:rPr>
                        <a:t>Women</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455 (179, 730)</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306 (107, 505)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439 (215, 664)</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0·34</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364264327"/>
                  </a:ext>
                </a:extLst>
              </a:tr>
              <a:tr h="214449">
                <a:tc>
                  <a:txBody>
                    <a:bodyPr/>
                    <a:lstStyle/>
                    <a:p>
                      <a:pPr>
                        <a:lnSpc>
                          <a:spcPct val="115000"/>
                        </a:lnSpc>
                        <a:spcAft>
                          <a:spcPts val="1000"/>
                        </a:spcAft>
                      </a:pPr>
                      <a:r>
                        <a:rPr lang="en-US" sz="1400" kern="100">
                          <a:effectLst/>
                        </a:rPr>
                        <a:t>Men</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1394 (802, 1,985)</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908 (388, 1,429)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1301 (734, 1,868)</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&lt;0.001</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1818607929"/>
                  </a:ext>
                </a:extLst>
              </a:tr>
              <a:tr h="214449">
                <a:tc>
                  <a:txBody>
                    <a:bodyPr/>
                    <a:lstStyle/>
                    <a:p>
                      <a:pPr>
                        <a:lnSpc>
                          <a:spcPct val="115000"/>
                        </a:lnSpc>
                        <a:spcAft>
                          <a:spcPts val="1000"/>
                        </a:spcAft>
                      </a:pPr>
                      <a:r>
                        <a:rPr lang="en-US" sz="1400" kern="100" dirty="0">
                          <a:effectLst/>
                        </a:rPr>
                        <a:t>Age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tc>
                  <a:txBody>
                    <a:bodyPr/>
                    <a:lstStyle/>
                    <a:p>
                      <a:endParaRPr lang="en-KE" sz="1400" kern="100" dirty="0">
                        <a:effectLst/>
                        <a:latin typeface="Calibri" panose="020F0502020204030204" pitchFamily="34" charset="0"/>
                        <a:cs typeface="Arial" panose="020B0604020202020204" pitchFamily="34" charset="0"/>
                      </a:endParaRPr>
                    </a:p>
                  </a:txBody>
                  <a:tcPr marL="64354" marR="64354" marT="0" marB="0" anchor="b"/>
                </a:tc>
                <a:tc>
                  <a:txBody>
                    <a:bodyPr/>
                    <a:lstStyle/>
                    <a:p>
                      <a:endParaRPr lang="en-KE" sz="1400" kern="100">
                        <a:effectLst/>
                        <a:latin typeface="Calibri" panose="020F0502020204030204" pitchFamily="34" charset="0"/>
                        <a:cs typeface="Arial" panose="020B0604020202020204" pitchFamily="34" charset="0"/>
                      </a:endParaRPr>
                    </a:p>
                  </a:txBody>
                  <a:tcPr marL="64354" marR="64354" marT="0" marB="0" anchor="b"/>
                </a:tc>
                <a:tc>
                  <a:txBody>
                    <a:bodyPr/>
                    <a:lstStyle/>
                    <a:p>
                      <a:pPr indent="112395">
                        <a:lnSpc>
                          <a:spcPct val="115000"/>
                        </a:lnSpc>
                        <a:spcAft>
                          <a:spcPts val="1000"/>
                        </a:spcAft>
                      </a:pPr>
                      <a:r>
                        <a:rPr lang="en-US" sz="1400" kern="100" dirty="0">
                          <a:effectLst/>
                        </a:rPr>
                        <a:t>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b"/>
                </a:tc>
                <a:extLst>
                  <a:ext uri="{0D108BD9-81ED-4DB2-BD59-A6C34878D82A}">
                    <a16:rowId xmlns:a16="http://schemas.microsoft.com/office/drawing/2014/main" val="2442375425"/>
                  </a:ext>
                </a:extLst>
              </a:tr>
              <a:tr h="214449">
                <a:tc>
                  <a:txBody>
                    <a:bodyPr/>
                    <a:lstStyle/>
                    <a:p>
                      <a:pPr>
                        <a:lnSpc>
                          <a:spcPct val="115000"/>
                        </a:lnSpc>
                        <a:spcAft>
                          <a:spcPts val="1000"/>
                        </a:spcAft>
                      </a:pPr>
                      <a:r>
                        <a:rPr lang="en-US" sz="1400" kern="100">
                          <a:effectLst/>
                        </a:rPr>
                        <a:t>15-24 years</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407 (117, 697)</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339 (142, 436)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449 (126, 773)</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0·43</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1394953042"/>
                  </a:ext>
                </a:extLst>
              </a:tr>
              <a:tr h="214449">
                <a:tc>
                  <a:txBody>
                    <a:bodyPr/>
                    <a:lstStyle/>
                    <a:p>
                      <a:pPr>
                        <a:lnSpc>
                          <a:spcPct val="115000"/>
                        </a:lnSpc>
                        <a:spcAft>
                          <a:spcPts val="1000"/>
                        </a:spcAft>
                      </a:pPr>
                      <a:r>
                        <a:rPr lang="en-US" sz="1400" kern="100">
                          <a:effectLst/>
                        </a:rPr>
                        <a:t>25-34 years</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853 (251, 1,456)</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597 (174, 1,021)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791 (311, 1,272)</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0.18</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4141477204"/>
                  </a:ext>
                </a:extLst>
              </a:tr>
              <a:tr h="235895">
                <a:tc>
                  <a:txBody>
                    <a:bodyPr/>
                    <a:lstStyle/>
                    <a:p>
                      <a:pPr>
                        <a:lnSpc>
                          <a:spcPct val="115000"/>
                        </a:lnSpc>
                        <a:spcAft>
                          <a:spcPts val="1000"/>
                        </a:spcAft>
                      </a:pPr>
                      <a:r>
                        <a:rPr lang="en-US" sz="1400" kern="100">
                          <a:effectLst/>
                        </a:rPr>
                        <a:t>35-44 years</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875 (335, 1,414)</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615 (229, 1,003)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814 (204, 1,425)</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&lt;0.001</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1982316314"/>
                  </a:ext>
                </a:extLst>
              </a:tr>
              <a:tr h="214449">
                <a:tc>
                  <a:txBody>
                    <a:bodyPr/>
                    <a:lstStyle/>
                    <a:p>
                      <a:pPr>
                        <a:lnSpc>
                          <a:spcPct val="115000"/>
                        </a:lnSpc>
                        <a:spcAft>
                          <a:spcPts val="1000"/>
                        </a:spcAft>
                      </a:pPr>
                      <a:r>
                        <a:rPr lang="en-US" sz="1400" kern="100">
                          <a:effectLst/>
                        </a:rPr>
                        <a:t>45-54 years</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1,375 (361, 2,390)</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880 (75, 1,685) </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dirty="0">
                          <a:effectLst/>
                        </a:rPr>
                        <a:t>1,164 (452, 1,875)</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&lt;0.001</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2046430369"/>
                  </a:ext>
                </a:extLst>
              </a:tr>
              <a:tr h="207301">
                <a:tc>
                  <a:txBody>
                    <a:bodyPr/>
                    <a:lstStyle/>
                    <a:p>
                      <a:pPr>
                        <a:lnSpc>
                          <a:spcPct val="115000"/>
                        </a:lnSpc>
                        <a:spcAft>
                          <a:spcPts val="1000"/>
                        </a:spcAft>
                      </a:pPr>
                      <a:r>
                        <a:rPr lang="en-US" sz="1400" kern="100">
                          <a:effectLst/>
                        </a:rPr>
                        <a:t>55-64 years</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1,115 (209, 2,021)</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832 (127, 1,537)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1,102 (129, 2,074)</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0.44</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1152305592"/>
                  </a:ext>
                </a:extLst>
              </a:tr>
              <a:tr h="214449">
                <a:tc>
                  <a:txBody>
                    <a:bodyPr/>
                    <a:lstStyle/>
                    <a:p>
                      <a:pPr>
                        <a:lnSpc>
                          <a:spcPct val="115000"/>
                        </a:lnSpc>
                        <a:spcAft>
                          <a:spcPts val="1000"/>
                        </a:spcAft>
                      </a:pPr>
                      <a:r>
                        <a:rPr lang="en-US" sz="1400" kern="100">
                          <a:effectLst/>
                        </a:rPr>
                        <a:t>65 years and older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479 (0, 1,433)</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437 (0, 1,443) </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a:lnSpc>
                          <a:spcPct val="115000"/>
                        </a:lnSpc>
                        <a:spcAft>
                          <a:spcPts val="1000"/>
                        </a:spcAft>
                      </a:pPr>
                      <a:r>
                        <a:rPr lang="en-US" sz="1400" kern="100">
                          <a:effectLst/>
                        </a:rPr>
                        <a:t>579 (0, 1,609)</a:t>
                      </a:r>
                      <a:endParaRPr lang="en-KE" sz="1400" kern="10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tc>
                  <a:txBody>
                    <a:bodyPr/>
                    <a:lstStyle/>
                    <a:p>
                      <a:pPr indent="112395">
                        <a:lnSpc>
                          <a:spcPct val="115000"/>
                        </a:lnSpc>
                        <a:spcAft>
                          <a:spcPts val="1000"/>
                        </a:spcAft>
                      </a:pPr>
                      <a:r>
                        <a:rPr lang="en-US" sz="1400" kern="100" dirty="0">
                          <a:effectLst/>
                        </a:rPr>
                        <a:t>0.27</a:t>
                      </a:r>
                      <a:endParaRPr lang="en-KE" sz="1400" kern="100" dirty="0">
                        <a:effectLst/>
                        <a:latin typeface="Calibri" panose="020F0502020204030204" pitchFamily="34" charset="0"/>
                        <a:ea typeface="Calibri" panose="020F0502020204030204" pitchFamily="34" charset="0"/>
                        <a:cs typeface="Arial" panose="020B0604020202020204" pitchFamily="34" charset="0"/>
                      </a:endParaRPr>
                    </a:p>
                  </a:txBody>
                  <a:tcPr marL="64354" marR="64354" marT="0" marB="0" anchor="ctr"/>
                </a:tc>
                <a:extLst>
                  <a:ext uri="{0D108BD9-81ED-4DB2-BD59-A6C34878D82A}">
                    <a16:rowId xmlns:a16="http://schemas.microsoft.com/office/drawing/2014/main" val="1295210891"/>
                  </a:ext>
                </a:extLst>
              </a:tr>
            </a:tbl>
          </a:graphicData>
        </a:graphic>
      </p:graphicFrame>
      <p:sp>
        <p:nvSpPr>
          <p:cNvPr id="4" name="TextBox 3">
            <a:extLst>
              <a:ext uri="{FF2B5EF4-FFF2-40B4-BE49-F238E27FC236}">
                <a16:creationId xmlns:a16="http://schemas.microsoft.com/office/drawing/2014/main" id="{871B50B7-324B-4E33-F1E0-9DE9C480096D}"/>
              </a:ext>
            </a:extLst>
          </p:cNvPr>
          <p:cNvSpPr txBox="1"/>
          <p:nvPr/>
        </p:nvSpPr>
        <p:spPr>
          <a:xfrm>
            <a:off x="2197444" y="387349"/>
            <a:ext cx="7797112" cy="646331"/>
          </a:xfrm>
          <a:prstGeom prst="rect">
            <a:avLst/>
          </a:prstGeom>
          <a:noFill/>
        </p:spPr>
        <p:txBody>
          <a:bodyPr wrap="square">
            <a:spAutoFit/>
          </a:bodyPr>
          <a:lstStyle/>
          <a:p>
            <a:r>
              <a:rPr lang="en-US" sz="1800" b="1" kern="0" dirty="0">
                <a:effectLst/>
                <a:latin typeface="Calibri" panose="020F0502020204030204" pitchFamily="34" charset="0"/>
                <a:ea typeface="Calibri" panose="020F0502020204030204" pitchFamily="34" charset="0"/>
                <a:cs typeface="Arial" panose="020B0604020202020204" pitchFamily="34" charset="0"/>
              </a:rPr>
              <a:t>Estimated weighted pulmonary TB prevalence in 2022 survey by cough duration and in 2015 survey</a:t>
            </a:r>
            <a:r>
              <a:rPr lang="en-KE" dirty="0">
                <a:effectLst/>
              </a:rPr>
              <a:t> </a:t>
            </a:r>
            <a:endParaRPr lang="en-KE" dirty="0"/>
          </a:p>
        </p:txBody>
      </p:sp>
      <p:sp>
        <p:nvSpPr>
          <p:cNvPr id="5" name="Oval 4">
            <a:extLst>
              <a:ext uri="{FF2B5EF4-FFF2-40B4-BE49-F238E27FC236}">
                <a16:creationId xmlns:a16="http://schemas.microsoft.com/office/drawing/2014/main" id="{E5A7DA71-7F8D-73C4-1633-9B56C38BE9B8}"/>
              </a:ext>
            </a:extLst>
          </p:cNvPr>
          <p:cNvSpPr/>
          <p:nvPr/>
        </p:nvSpPr>
        <p:spPr>
          <a:xfrm>
            <a:off x="6932141" y="4182992"/>
            <a:ext cx="1680518" cy="32127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6" name="Oval 5">
            <a:extLst>
              <a:ext uri="{FF2B5EF4-FFF2-40B4-BE49-F238E27FC236}">
                <a16:creationId xmlns:a16="http://schemas.microsoft.com/office/drawing/2014/main" id="{166AFB39-AF00-A68A-813A-BFC93D875560}"/>
              </a:ext>
            </a:extLst>
          </p:cNvPr>
          <p:cNvSpPr/>
          <p:nvPr/>
        </p:nvSpPr>
        <p:spPr>
          <a:xfrm>
            <a:off x="6932141" y="4939958"/>
            <a:ext cx="1680518" cy="88436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7" name="Oval 6">
            <a:extLst>
              <a:ext uri="{FF2B5EF4-FFF2-40B4-BE49-F238E27FC236}">
                <a16:creationId xmlns:a16="http://schemas.microsoft.com/office/drawing/2014/main" id="{3AA9C0DD-4D53-BB31-B734-B8184650BC04}"/>
              </a:ext>
            </a:extLst>
          </p:cNvPr>
          <p:cNvSpPr/>
          <p:nvPr/>
        </p:nvSpPr>
        <p:spPr>
          <a:xfrm>
            <a:off x="5165124" y="4134879"/>
            <a:ext cx="1495168" cy="321276"/>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Oval 7">
            <a:extLst>
              <a:ext uri="{FF2B5EF4-FFF2-40B4-BE49-F238E27FC236}">
                <a16:creationId xmlns:a16="http://schemas.microsoft.com/office/drawing/2014/main" id="{9B1F2F76-C2FD-7C5C-E322-8EC5F8DB340B}"/>
              </a:ext>
            </a:extLst>
          </p:cNvPr>
          <p:cNvSpPr/>
          <p:nvPr/>
        </p:nvSpPr>
        <p:spPr>
          <a:xfrm>
            <a:off x="5276335" y="5102486"/>
            <a:ext cx="1495168" cy="721833"/>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9" name="TextBox 8">
            <a:extLst>
              <a:ext uri="{FF2B5EF4-FFF2-40B4-BE49-F238E27FC236}">
                <a16:creationId xmlns:a16="http://schemas.microsoft.com/office/drawing/2014/main" id="{AEAA9196-5F8F-7E0F-765C-956F6FB1A27E}"/>
              </a:ext>
            </a:extLst>
          </p:cNvPr>
          <p:cNvSpPr txBox="1"/>
          <p:nvPr/>
        </p:nvSpPr>
        <p:spPr>
          <a:xfrm>
            <a:off x="1643449" y="6376086"/>
            <a:ext cx="7074565" cy="369332"/>
          </a:xfrm>
          <a:prstGeom prst="rect">
            <a:avLst/>
          </a:prstGeom>
          <a:noFill/>
        </p:spPr>
        <p:txBody>
          <a:bodyPr wrap="none" rtlCol="0">
            <a:spAutoFit/>
          </a:bodyPr>
          <a:lstStyle/>
          <a:p>
            <a:r>
              <a:rPr lang="en-KE" dirty="0"/>
              <a:t>Point estimates of TB Prevalence are higher in 2022 compared to 2015</a:t>
            </a:r>
          </a:p>
        </p:txBody>
      </p:sp>
    </p:spTree>
    <p:extLst>
      <p:ext uri="{BB962C8B-B14F-4D97-AF65-F5344CB8AC3E}">
        <p14:creationId xmlns:p14="http://schemas.microsoft.com/office/powerpoint/2010/main" val="972899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5F1C84-A878-E7FC-4C3D-39FFD57653FE}"/>
              </a:ext>
            </a:extLst>
          </p:cNvPr>
          <p:cNvPicPr>
            <a:picLocks noChangeAspect="1"/>
          </p:cNvPicPr>
          <p:nvPr/>
        </p:nvPicPr>
        <p:blipFill>
          <a:blip r:embed="rId2"/>
          <a:stretch>
            <a:fillRect/>
          </a:stretch>
        </p:blipFill>
        <p:spPr>
          <a:xfrm>
            <a:off x="2540000" y="856343"/>
            <a:ext cx="7823200" cy="4572000"/>
          </a:xfrm>
          <a:prstGeom prst="rect">
            <a:avLst/>
          </a:prstGeom>
        </p:spPr>
      </p:pic>
    </p:spTree>
    <p:extLst>
      <p:ext uri="{BB962C8B-B14F-4D97-AF65-F5344CB8AC3E}">
        <p14:creationId xmlns:p14="http://schemas.microsoft.com/office/powerpoint/2010/main" val="205291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B6176-362E-E4C6-0093-FB0FB016C711}"/>
              </a:ext>
            </a:extLst>
          </p:cNvPr>
          <p:cNvSpPr>
            <a:spLocks noGrp="1"/>
          </p:cNvSpPr>
          <p:nvPr>
            <p:ph type="title"/>
          </p:nvPr>
        </p:nvSpPr>
        <p:spPr/>
        <p:txBody>
          <a:bodyPr/>
          <a:lstStyle/>
          <a:p>
            <a:r>
              <a:rPr lang="en-KE" dirty="0"/>
              <a:t> </a:t>
            </a:r>
          </a:p>
        </p:txBody>
      </p:sp>
      <p:graphicFrame>
        <p:nvGraphicFramePr>
          <p:cNvPr id="4" name="Content Placeholder 3">
            <a:extLst>
              <a:ext uri="{FF2B5EF4-FFF2-40B4-BE49-F238E27FC236}">
                <a16:creationId xmlns:a16="http://schemas.microsoft.com/office/drawing/2014/main" id="{35C885CE-380F-73A7-21C2-398C95FD0945}"/>
              </a:ext>
            </a:extLst>
          </p:cNvPr>
          <p:cNvGraphicFramePr>
            <a:graphicFrameLocks noGrp="1"/>
          </p:cNvGraphicFramePr>
          <p:nvPr>
            <p:ph idx="1"/>
            <p:extLst>
              <p:ext uri="{D42A27DB-BD31-4B8C-83A1-F6EECF244321}">
                <p14:modId xmlns:p14="http://schemas.microsoft.com/office/powerpoint/2010/main" val="117705063"/>
              </p:ext>
            </p:extLst>
          </p:nvPr>
        </p:nvGraphicFramePr>
        <p:xfrm>
          <a:off x="2031259" y="1038772"/>
          <a:ext cx="8360773" cy="4675692"/>
        </p:xfrm>
        <a:graphic>
          <a:graphicData uri="http://schemas.openxmlformats.org/drawingml/2006/table">
            <a:tbl>
              <a:tblPr firstRow="1" firstCol="1" bandRow="1">
                <a:tableStyleId>{5C22544A-7EE6-4342-B048-85BDC9FD1C3A}</a:tableStyleId>
              </a:tblPr>
              <a:tblGrid>
                <a:gridCol w="962304">
                  <a:extLst>
                    <a:ext uri="{9D8B030D-6E8A-4147-A177-3AD203B41FA5}">
                      <a16:colId xmlns:a16="http://schemas.microsoft.com/office/drawing/2014/main" val="3159589605"/>
                    </a:ext>
                  </a:extLst>
                </a:gridCol>
                <a:gridCol w="1269366">
                  <a:extLst>
                    <a:ext uri="{9D8B030D-6E8A-4147-A177-3AD203B41FA5}">
                      <a16:colId xmlns:a16="http://schemas.microsoft.com/office/drawing/2014/main" val="1039643738"/>
                    </a:ext>
                  </a:extLst>
                </a:gridCol>
                <a:gridCol w="790985">
                  <a:extLst>
                    <a:ext uri="{9D8B030D-6E8A-4147-A177-3AD203B41FA5}">
                      <a16:colId xmlns:a16="http://schemas.microsoft.com/office/drawing/2014/main" val="1505374470"/>
                    </a:ext>
                  </a:extLst>
                </a:gridCol>
                <a:gridCol w="877329">
                  <a:extLst>
                    <a:ext uri="{9D8B030D-6E8A-4147-A177-3AD203B41FA5}">
                      <a16:colId xmlns:a16="http://schemas.microsoft.com/office/drawing/2014/main" val="3162742025"/>
                    </a:ext>
                  </a:extLst>
                </a:gridCol>
                <a:gridCol w="1169091">
                  <a:extLst>
                    <a:ext uri="{9D8B030D-6E8A-4147-A177-3AD203B41FA5}">
                      <a16:colId xmlns:a16="http://schemas.microsoft.com/office/drawing/2014/main" val="167852184"/>
                    </a:ext>
                  </a:extLst>
                </a:gridCol>
                <a:gridCol w="937421">
                  <a:extLst>
                    <a:ext uri="{9D8B030D-6E8A-4147-A177-3AD203B41FA5}">
                      <a16:colId xmlns:a16="http://schemas.microsoft.com/office/drawing/2014/main" val="1848215585"/>
                    </a:ext>
                  </a:extLst>
                </a:gridCol>
                <a:gridCol w="995034">
                  <a:extLst>
                    <a:ext uri="{9D8B030D-6E8A-4147-A177-3AD203B41FA5}">
                      <a16:colId xmlns:a16="http://schemas.microsoft.com/office/drawing/2014/main" val="1664931805"/>
                    </a:ext>
                  </a:extLst>
                </a:gridCol>
                <a:gridCol w="1359243">
                  <a:extLst>
                    <a:ext uri="{9D8B030D-6E8A-4147-A177-3AD203B41FA5}">
                      <a16:colId xmlns:a16="http://schemas.microsoft.com/office/drawing/2014/main" val="15234371"/>
                    </a:ext>
                  </a:extLst>
                </a:gridCol>
              </a:tblGrid>
              <a:tr h="1248774">
                <a:tc>
                  <a:txBody>
                    <a:bodyPr/>
                    <a:lstStyle/>
                    <a:p>
                      <a:pPr algn="ctr">
                        <a:lnSpc>
                          <a:spcPct val="115000"/>
                        </a:lnSpc>
                        <a:spcAft>
                          <a:spcPts val="1000"/>
                        </a:spcAft>
                      </a:pPr>
                      <a:r>
                        <a:rPr lang="en-US" sz="1600" kern="100" dirty="0">
                          <a:effectLst/>
                        </a:rPr>
                        <a:t>Cluster </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KE" sz="1600" kern="100" dirty="0">
                          <a:effectLst/>
                          <a:latin typeface="Aptos" panose="020B0004020202020204" pitchFamily="34" charset="0"/>
                          <a:ea typeface="Aptos" panose="020B0004020202020204" pitchFamily="34" charset="0"/>
                          <a:cs typeface="Times New Roman" panose="02020603050405020304" pitchFamily="18" charset="0"/>
                        </a:rPr>
                        <a:t>Name</a:t>
                      </a:r>
                    </a:p>
                  </a:txBody>
                  <a:tcPr marL="68580" marR="68580" marT="0" marB="0" anchor="ctr"/>
                </a:tc>
                <a:tc>
                  <a:txBody>
                    <a:bodyPr/>
                    <a:lstStyle/>
                    <a:p>
                      <a:pPr algn="ctr">
                        <a:lnSpc>
                          <a:spcPct val="115000"/>
                        </a:lnSpc>
                        <a:spcAft>
                          <a:spcPts val="1000"/>
                        </a:spcAft>
                      </a:pPr>
                      <a:r>
                        <a:rPr lang="en-US" sz="1600" kern="100">
                          <a:effectLst/>
                        </a:rPr>
                        <a:t>TB disease in 2022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Number surveyed 2022</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Crude prevalence 2022 (per 100,000 persons)</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TB disease in 2015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Number surveyed 2015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Crude prevalence 2015 (per 100,000 persons)</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20695604"/>
                  </a:ext>
                </a:extLst>
              </a:tr>
              <a:tr h="277917">
                <a:tc>
                  <a:txBody>
                    <a:bodyPr/>
                    <a:lstStyle/>
                    <a:p>
                      <a:pPr indent="419100">
                        <a:lnSpc>
                          <a:spcPct val="115000"/>
                        </a:lnSpc>
                        <a:spcAft>
                          <a:spcPts val="1000"/>
                        </a:spcAft>
                      </a:pPr>
                      <a:r>
                        <a:rPr lang="en-US" sz="1600" kern="100" dirty="0">
                          <a:effectLst/>
                        </a:rPr>
                        <a:t>1</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Kiamaiko/</a:t>
                      </a:r>
                      <a:r>
                        <a:rPr lang="en-US" sz="1200" kern="0" dirty="0" err="1">
                          <a:solidFill>
                            <a:srgbClr val="222222"/>
                          </a:solidFill>
                          <a:effectLst/>
                          <a:latin typeface="Calibri" panose="020F0502020204030204" pitchFamily="34" charset="0"/>
                          <a:ea typeface="Times New Roman" panose="02020603050405020304" pitchFamily="18" charset="0"/>
                        </a:rPr>
                        <a:t>Ndururuno</a:t>
                      </a:r>
                      <a:r>
                        <a:rPr lang="en-US" sz="1200" kern="0" dirty="0">
                          <a:solidFill>
                            <a:srgbClr val="222222"/>
                          </a:solidFill>
                          <a:effectLst/>
                          <a:latin typeface="Calibri" panose="020F0502020204030204" pitchFamily="34" charset="0"/>
                          <a:ea typeface="Times New Roman" panose="02020603050405020304" pitchFamily="18" charset="0"/>
                        </a:rPr>
                        <a:t> 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645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solidFill>
                            <a:srgbClr val="FF0000"/>
                          </a:solidFill>
                          <a:effectLst/>
                        </a:rPr>
                        <a:t>620</a:t>
                      </a:r>
                      <a:endParaRPr lang="en-KE"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13</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855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1520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15689938"/>
                  </a:ext>
                </a:extLst>
              </a:tr>
              <a:tr h="277917">
                <a:tc>
                  <a:txBody>
                    <a:bodyPr/>
                    <a:lstStyle/>
                    <a:p>
                      <a:pPr indent="419100">
                        <a:lnSpc>
                          <a:spcPct val="115000"/>
                        </a:lnSpc>
                        <a:spcAft>
                          <a:spcPts val="1000"/>
                        </a:spcAft>
                      </a:pPr>
                      <a:r>
                        <a:rPr lang="en-US" sz="1600" kern="100" dirty="0">
                          <a:effectLst/>
                        </a:rPr>
                        <a:t>2</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Kasarani/</a:t>
                      </a:r>
                      <a:r>
                        <a:rPr lang="en-US" sz="1200" kern="0" dirty="0">
                          <a:solidFill>
                            <a:srgbClr val="222222"/>
                          </a:solidFill>
                          <a:effectLst/>
                          <a:latin typeface="Calibri" panose="020F0502020204030204" pitchFamily="34" charset="0"/>
                          <a:ea typeface="Times New Roman" panose="02020603050405020304" pitchFamily="18" charset="0"/>
                        </a:rPr>
                        <a:t>Clay works Village</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3</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670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447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546</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06432170"/>
                  </a:ext>
                </a:extLst>
              </a:tr>
              <a:tr h="277917">
                <a:tc>
                  <a:txBody>
                    <a:bodyPr/>
                    <a:lstStyle/>
                    <a:p>
                      <a:pPr indent="419100">
                        <a:lnSpc>
                          <a:spcPct val="115000"/>
                        </a:lnSpc>
                        <a:spcAft>
                          <a:spcPts val="1000"/>
                        </a:spcAft>
                      </a:pPr>
                      <a:r>
                        <a:rPr lang="en-US" sz="1600" kern="100" dirty="0">
                          <a:effectLst/>
                        </a:rPr>
                        <a:t>3</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Ruai/</a:t>
                      </a:r>
                      <a:r>
                        <a:rPr lang="en-US" sz="1200" kern="0" dirty="0">
                          <a:solidFill>
                            <a:srgbClr val="222222"/>
                          </a:solidFill>
                          <a:effectLst/>
                          <a:latin typeface="Calibri" panose="020F0502020204030204" pitchFamily="34" charset="0"/>
                          <a:ea typeface="Times New Roman" panose="02020603050405020304" pitchFamily="18" charset="0"/>
                        </a:rPr>
                        <a:t>White House Manyatta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637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784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595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504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1647345"/>
                  </a:ext>
                </a:extLst>
              </a:tr>
              <a:tr h="277917">
                <a:tc>
                  <a:txBody>
                    <a:bodyPr/>
                    <a:lstStyle/>
                    <a:p>
                      <a:pPr indent="419100">
                        <a:lnSpc>
                          <a:spcPct val="115000"/>
                        </a:lnSpc>
                        <a:spcAft>
                          <a:spcPts val="1000"/>
                        </a:spcAft>
                      </a:pPr>
                      <a:r>
                        <a:rPr lang="en-US" sz="1600" kern="100" dirty="0">
                          <a:effectLst/>
                        </a:rPr>
                        <a:t>5</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Mukuru Kwa Njenga/</a:t>
                      </a:r>
                      <a:r>
                        <a:rPr lang="en-KE" sz="1200" kern="0" dirty="0">
                          <a:solidFill>
                            <a:srgbClr val="222222"/>
                          </a:solidFill>
                          <a:effectLst/>
                          <a:latin typeface="Calibri" panose="020F0502020204030204" pitchFamily="34" charset="0"/>
                          <a:ea typeface="Times New Roman" panose="02020603050405020304" pitchFamily="18" charset="0"/>
                        </a:rPr>
                        <a:t> </a:t>
                      </a:r>
                      <a:r>
                        <a:rPr lang="en-US" sz="1200" kern="0" dirty="0" err="1">
                          <a:solidFill>
                            <a:srgbClr val="222222"/>
                          </a:solidFill>
                          <a:effectLst/>
                          <a:latin typeface="Calibri" panose="020F0502020204030204" pitchFamily="34" charset="0"/>
                          <a:ea typeface="Times New Roman" panose="02020603050405020304" pitchFamily="18" charset="0"/>
                        </a:rPr>
                        <a:t>Jua</a:t>
                      </a:r>
                      <a:r>
                        <a:rPr lang="en-US" sz="1200" kern="0" dirty="0">
                          <a:solidFill>
                            <a:srgbClr val="222222"/>
                          </a:solidFill>
                          <a:effectLst/>
                          <a:latin typeface="Calibri" panose="020F0502020204030204" pitchFamily="34" charset="0"/>
                          <a:ea typeface="Times New Roman" panose="02020603050405020304" pitchFamily="18" charset="0"/>
                        </a:rPr>
                        <a:t> Kali</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697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solidFill>
                            <a:srgbClr val="FF0000"/>
                          </a:solidFill>
                          <a:effectLst/>
                        </a:rPr>
                        <a:t>0</a:t>
                      </a:r>
                      <a:endParaRPr lang="en-KE" sz="16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702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284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47932282"/>
                  </a:ext>
                </a:extLst>
              </a:tr>
              <a:tr h="277917">
                <a:tc>
                  <a:txBody>
                    <a:bodyPr/>
                    <a:lstStyle/>
                    <a:p>
                      <a:pPr indent="419100">
                        <a:lnSpc>
                          <a:spcPct val="115000"/>
                        </a:lnSpc>
                        <a:spcAft>
                          <a:spcPts val="1000"/>
                        </a:spcAft>
                      </a:pPr>
                      <a:r>
                        <a:rPr lang="en-US" sz="1600" kern="100" dirty="0">
                          <a:effectLst/>
                        </a:rPr>
                        <a:t>6</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Gatina/</a:t>
                      </a:r>
                      <a:r>
                        <a:rPr lang="en-US" sz="1200" kern="0" dirty="0">
                          <a:solidFill>
                            <a:srgbClr val="222222"/>
                          </a:solidFill>
                          <a:effectLst/>
                          <a:latin typeface="Calibri" panose="020F0502020204030204" pitchFamily="34" charset="0"/>
                          <a:ea typeface="Times New Roman" panose="02020603050405020304" pitchFamily="18" charset="0"/>
                        </a:rPr>
                        <a:t>Karama</a:t>
                      </a:r>
                      <a:r>
                        <a:rPr lang="en-KE" sz="1200" dirty="0">
                          <a:effectLst/>
                        </a:rPr>
                        <a:t> </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691</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578</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625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320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2711763"/>
                  </a:ext>
                </a:extLst>
              </a:tr>
              <a:tr h="277917">
                <a:tc>
                  <a:txBody>
                    <a:bodyPr/>
                    <a:lstStyle/>
                    <a:p>
                      <a:pPr indent="419100">
                        <a:lnSpc>
                          <a:spcPct val="115000"/>
                        </a:lnSpc>
                        <a:spcAft>
                          <a:spcPts val="1000"/>
                        </a:spcAft>
                      </a:pPr>
                      <a:r>
                        <a:rPr lang="en-US" sz="1600" kern="100" dirty="0">
                          <a:effectLst/>
                        </a:rPr>
                        <a:t>8</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Riruta/Satellite B</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704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710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544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367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38225010"/>
                  </a:ext>
                </a:extLst>
              </a:tr>
              <a:tr h="277917">
                <a:tc>
                  <a:txBody>
                    <a:bodyPr/>
                    <a:lstStyle/>
                    <a:p>
                      <a:pPr indent="419100">
                        <a:lnSpc>
                          <a:spcPct val="115000"/>
                        </a:lnSpc>
                        <a:spcAft>
                          <a:spcPts val="1000"/>
                        </a:spcAft>
                      </a:pPr>
                      <a:r>
                        <a:rPr lang="en-US" sz="1600" kern="100" dirty="0">
                          <a:effectLst/>
                        </a:rPr>
                        <a:t>9</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Laini Saba/Soweto East</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4</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759</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527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605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496</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15236980"/>
                  </a:ext>
                </a:extLst>
              </a:tr>
              <a:tr h="277917">
                <a:tc>
                  <a:txBody>
                    <a:bodyPr/>
                    <a:lstStyle/>
                    <a:p>
                      <a:pPr indent="419100">
                        <a:lnSpc>
                          <a:spcPct val="115000"/>
                        </a:lnSpc>
                        <a:spcAft>
                          <a:spcPts val="1000"/>
                        </a:spcAft>
                      </a:pPr>
                      <a:r>
                        <a:rPr lang="en-US" sz="1600" kern="100" dirty="0">
                          <a:effectLst/>
                        </a:rPr>
                        <a:t>10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Muthurwa/Muthrwa Est B</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6</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787</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762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815</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368</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6038654"/>
                  </a:ext>
                </a:extLst>
              </a:tr>
              <a:tr h="277917">
                <a:tc>
                  <a:txBody>
                    <a:bodyPr/>
                    <a:lstStyle/>
                    <a:p>
                      <a:pPr indent="419100">
                        <a:lnSpc>
                          <a:spcPct val="115000"/>
                        </a:lnSpc>
                        <a:spcAft>
                          <a:spcPts val="1000"/>
                        </a:spcAft>
                      </a:pPr>
                      <a:r>
                        <a:rPr lang="en-US" sz="1600" kern="100" dirty="0">
                          <a:effectLst/>
                        </a:rPr>
                        <a:t>11</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KE" sz="1100" kern="0" dirty="0">
                          <a:solidFill>
                            <a:srgbClr val="222222"/>
                          </a:solidFill>
                          <a:effectLst/>
                          <a:latin typeface="Calibri" panose="020F0502020204030204" pitchFamily="34" charset="0"/>
                          <a:ea typeface="Times New Roman" panose="02020603050405020304" pitchFamily="18" charset="0"/>
                          <a:cs typeface="Calibri" panose="020F0502020204030204" pitchFamily="34" charset="0"/>
                        </a:rPr>
                        <a:t>Konga Soweto/ Soweto 1</a:t>
                      </a:r>
                      <a:endParaRPr lang="en-KE"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1000"/>
                        </a:spcAft>
                      </a:pPr>
                      <a:r>
                        <a:rPr lang="en-US" sz="1600" kern="100">
                          <a:effectLst/>
                        </a:rPr>
                        <a:t>11</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779</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1412</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835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a:effectLst/>
                        </a:rPr>
                        <a:t>368</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74174769"/>
                  </a:ext>
                </a:extLst>
              </a:tr>
              <a:tr h="277917">
                <a:tc>
                  <a:txBody>
                    <a:bodyPr/>
                    <a:lstStyle/>
                    <a:p>
                      <a:pPr indent="279400">
                        <a:lnSpc>
                          <a:spcPct val="115000"/>
                        </a:lnSpc>
                        <a:spcAft>
                          <a:spcPts val="1000"/>
                        </a:spcAft>
                      </a:pPr>
                      <a:r>
                        <a:rPr lang="en-US" sz="1600" kern="100" dirty="0">
                          <a:effectLst/>
                        </a:rPr>
                        <a:t>Total</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indent="279400">
                        <a:lnSpc>
                          <a:spcPct val="115000"/>
                        </a:lnSpc>
                        <a:spcAft>
                          <a:spcPts val="1000"/>
                        </a:spcAft>
                      </a:pP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42</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6369</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659</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33</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6132</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600" kern="100" dirty="0">
                          <a:effectLst/>
                        </a:rPr>
                        <a:t>538</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554865463"/>
                  </a:ext>
                </a:extLst>
              </a:tr>
            </a:tbl>
          </a:graphicData>
        </a:graphic>
      </p:graphicFrame>
      <p:sp>
        <p:nvSpPr>
          <p:cNvPr id="6" name="TextBox 5">
            <a:extLst>
              <a:ext uri="{FF2B5EF4-FFF2-40B4-BE49-F238E27FC236}">
                <a16:creationId xmlns:a16="http://schemas.microsoft.com/office/drawing/2014/main" id="{8FA4EDA0-BECC-B3F4-10EA-8666CCCE648A}"/>
              </a:ext>
            </a:extLst>
          </p:cNvPr>
          <p:cNvSpPr txBox="1"/>
          <p:nvPr/>
        </p:nvSpPr>
        <p:spPr>
          <a:xfrm>
            <a:off x="2329249" y="511104"/>
            <a:ext cx="7710616" cy="369332"/>
          </a:xfrm>
          <a:prstGeom prst="rect">
            <a:avLst/>
          </a:prstGeom>
          <a:noFill/>
        </p:spPr>
        <p:txBody>
          <a:bodyPr wrap="square">
            <a:spAutoFit/>
          </a:bodyPr>
          <a:lstStyle/>
          <a:p>
            <a:r>
              <a:rPr lang="en-US" sz="1800" b="1" kern="0" dirty="0">
                <a:solidFill>
                  <a:srgbClr val="000000"/>
                </a:solidFill>
                <a:effectLst/>
                <a:latin typeface="Aptos" panose="020B0004020202020204" pitchFamily="34" charset="0"/>
                <a:ea typeface="WhitneyHTF-Book"/>
                <a:cs typeface="Times New Roman" panose="02020603050405020304" pitchFamily="18" charset="0"/>
              </a:rPr>
              <a:t>Participants diagnosed with TB in 2022 and 2015 by geographic cluster.</a:t>
            </a:r>
            <a:r>
              <a:rPr lang="en-KE" dirty="0">
                <a:effectLst/>
              </a:rPr>
              <a:t> </a:t>
            </a:r>
            <a:endParaRPr lang="en-KE" dirty="0"/>
          </a:p>
        </p:txBody>
      </p:sp>
      <p:sp>
        <p:nvSpPr>
          <p:cNvPr id="8" name="TextBox 7">
            <a:extLst>
              <a:ext uri="{FF2B5EF4-FFF2-40B4-BE49-F238E27FC236}">
                <a16:creationId xmlns:a16="http://schemas.microsoft.com/office/drawing/2014/main" id="{D3379444-449D-02E5-0963-60ADF59B2A7D}"/>
              </a:ext>
            </a:extLst>
          </p:cNvPr>
          <p:cNvSpPr txBox="1"/>
          <p:nvPr/>
        </p:nvSpPr>
        <p:spPr>
          <a:xfrm>
            <a:off x="1173892" y="5762121"/>
            <a:ext cx="10021330" cy="584775"/>
          </a:xfrm>
          <a:prstGeom prst="rect">
            <a:avLst/>
          </a:prstGeom>
          <a:noFill/>
        </p:spPr>
        <p:txBody>
          <a:bodyPr wrap="square">
            <a:spAutoFit/>
          </a:bodyPr>
          <a:lstStyle/>
          <a:p>
            <a:pPr marL="285750" indent="-285750">
              <a:buFont typeface="Arial" panose="020B0604020202020204" pitchFamily="34" charset="0"/>
              <a:buChar char="•"/>
            </a:pPr>
            <a:r>
              <a:rPr lang="en-US" sz="1600" b="1" kern="0" dirty="0">
                <a:solidFill>
                  <a:srgbClr val="000000"/>
                </a:solidFill>
                <a:effectLst/>
                <a:latin typeface="Calibri" panose="020F0502020204030204" pitchFamily="34" charset="0"/>
                <a:ea typeface="WhitneyHTF-Book"/>
                <a:cs typeface="Arial" panose="020B0604020202020204" pitchFamily="34" charset="0"/>
              </a:rPr>
              <a:t>Crude prevalence point estimates were higher in seven of the nine clusters in 2022 relative to 2015, although these differences were not significant. </a:t>
            </a:r>
            <a:endParaRPr lang="en-KE" sz="1600" b="1" dirty="0"/>
          </a:p>
        </p:txBody>
      </p:sp>
      <p:sp>
        <p:nvSpPr>
          <p:cNvPr id="3" name="Oval 2">
            <a:extLst>
              <a:ext uri="{FF2B5EF4-FFF2-40B4-BE49-F238E27FC236}">
                <a16:creationId xmlns:a16="http://schemas.microsoft.com/office/drawing/2014/main" id="{9A215CF1-CFBB-A58A-3DB5-D2CB3B71F668}"/>
              </a:ext>
            </a:extLst>
          </p:cNvPr>
          <p:cNvSpPr/>
          <p:nvPr/>
        </p:nvSpPr>
        <p:spPr>
          <a:xfrm>
            <a:off x="6096000" y="2351977"/>
            <a:ext cx="848497" cy="34101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 name="Oval 4">
            <a:extLst>
              <a:ext uri="{FF2B5EF4-FFF2-40B4-BE49-F238E27FC236}">
                <a16:creationId xmlns:a16="http://schemas.microsoft.com/office/drawing/2014/main" id="{6795BD6C-8B4B-3E42-EC81-88F3C1084151}"/>
              </a:ext>
            </a:extLst>
          </p:cNvPr>
          <p:cNvSpPr/>
          <p:nvPr/>
        </p:nvSpPr>
        <p:spPr>
          <a:xfrm>
            <a:off x="9246341" y="2187146"/>
            <a:ext cx="914400" cy="3660940"/>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Tree>
    <p:extLst>
      <p:ext uri="{BB962C8B-B14F-4D97-AF65-F5344CB8AC3E}">
        <p14:creationId xmlns:p14="http://schemas.microsoft.com/office/powerpoint/2010/main" val="2549897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398E74-7281-935E-D06F-901702513137}"/>
              </a:ext>
            </a:extLst>
          </p:cNvPr>
          <p:cNvGraphicFramePr>
            <a:graphicFrameLocks noGrp="1"/>
          </p:cNvGraphicFramePr>
          <p:nvPr>
            <p:extLst>
              <p:ext uri="{D42A27DB-BD31-4B8C-83A1-F6EECF244321}">
                <p14:modId xmlns:p14="http://schemas.microsoft.com/office/powerpoint/2010/main" val="2624809224"/>
              </p:ext>
            </p:extLst>
          </p:nvPr>
        </p:nvGraphicFramePr>
        <p:xfrm>
          <a:off x="1816443" y="542188"/>
          <a:ext cx="8736227" cy="5701681"/>
        </p:xfrm>
        <a:graphic>
          <a:graphicData uri="http://schemas.openxmlformats.org/drawingml/2006/table">
            <a:tbl>
              <a:tblPr firstRow="1" bandRow="1" bandCol="1">
                <a:tableStyleId>{5C22544A-7EE6-4342-B048-85BDC9FD1C3A}</a:tableStyleId>
              </a:tblPr>
              <a:tblGrid>
                <a:gridCol w="2394002">
                  <a:extLst>
                    <a:ext uri="{9D8B030D-6E8A-4147-A177-3AD203B41FA5}">
                      <a16:colId xmlns:a16="http://schemas.microsoft.com/office/drawing/2014/main" val="4032793330"/>
                    </a:ext>
                  </a:extLst>
                </a:gridCol>
                <a:gridCol w="1504085">
                  <a:extLst>
                    <a:ext uri="{9D8B030D-6E8A-4147-A177-3AD203B41FA5}">
                      <a16:colId xmlns:a16="http://schemas.microsoft.com/office/drawing/2014/main" val="4157358097"/>
                    </a:ext>
                  </a:extLst>
                </a:gridCol>
                <a:gridCol w="1401306">
                  <a:extLst>
                    <a:ext uri="{9D8B030D-6E8A-4147-A177-3AD203B41FA5}">
                      <a16:colId xmlns:a16="http://schemas.microsoft.com/office/drawing/2014/main" val="3847637998"/>
                    </a:ext>
                  </a:extLst>
                </a:gridCol>
                <a:gridCol w="1541687">
                  <a:extLst>
                    <a:ext uri="{9D8B030D-6E8A-4147-A177-3AD203B41FA5}">
                      <a16:colId xmlns:a16="http://schemas.microsoft.com/office/drawing/2014/main" val="1500031351"/>
                    </a:ext>
                  </a:extLst>
                </a:gridCol>
                <a:gridCol w="1226665">
                  <a:extLst>
                    <a:ext uri="{9D8B030D-6E8A-4147-A177-3AD203B41FA5}">
                      <a16:colId xmlns:a16="http://schemas.microsoft.com/office/drawing/2014/main" val="1696325999"/>
                    </a:ext>
                  </a:extLst>
                </a:gridCol>
                <a:gridCol w="668482">
                  <a:extLst>
                    <a:ext uri="{9D8B030D-6E8A-4147-A177-3AD203B41FA5}">
                      <a16:colId xmlns:a16="http://schemas.microsoft.com/office/drawing/2014/main" val="881802433"/>
                    </a:ext>
                  </a:extLst>
                </a:gridCol>
              </a:tblGrid>
              <a:tr h="1103484">
                <a:tc>
                  <a:txBody>
                    <a:bodyPr/>
                    <a:lstStyle/>
                    <a:p>
                      <a:pPr>
                        <a:lnSpc>
                          <a:spcPct val="115000"/>
                        </a:lnSpc>
                        <a:spcBef>
                          <a:spcPts val="180"/>
                        </a:spcBef>
                        <a:spcAft>
                          <a:spcPts val="180"/>
                        </a:spcAft>
                      </a:pPr>
                      <a:r>
                        <a:rPr lang="en-US" sz="1400" kern="100" dirty="0">
                          <a:effectLst/>
                        </a:rPr>
                        <a:t>Characteristic</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ctr"/>
                </a:tc>
                <a:tc>
                  <a:txBody>
                    <a:bodyPr/>
                    <a:lstStyle/>
                    <a:p>
                      <a:pPr>
                        <a:lnSpc>
                          <a:spcPct val="115000"/>
                        </a:lnSpc>
                        <a:spcBef>
                          <a:spcPts val="180"/>
                        </a:spcBef>
                        <a:spcAft>
                          <a:spcPts val="180"/>
                        </a:spcAft>
                      </a:pPr>
                      <a:r>
                        <a:rPr lang="en-US" sz="1400" kern="100">
                          <a:effectLst/>
                        </a:rPr>
                        <a:t> Culture-positive, Ultra negative </a:t>
                      </a:r>
                      <a:endParaRPr lang="en-KE" sz="1400" kern="100">
                        <a:effectLst/>
                      </a:endParaRPr>
                    </a:p>
                    <a:p>
                      <a:pPr>
                        <a:lnSpc>
                          <a:spcPct val="115000"/>
                        </a:lnSpc>
                        <a:spcBef>
                          <a:spcPts val="180"/>
                        </a:spcBef>
                        <a:spcAft>
                          <a:spcPts val="180"/>
                        </a:spcAft>
                      </a:pPr>
                      <a:r>
                        <a:rPr lang="en-US" sz="1400" kern="100">
                          <a:effectLst/>
                        </a:rPr>
                        <a:t>N = 5</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b"/>
                </a:tc>
                <a:tc>
                  <a:txBody>
                    <a:bodyPr/>
                    <a:lstStyle/>
                    <a:p>
                      <a:pPr algn="ctr">
                        <a:lnSpc>
                          <a:spcPct val="115000"/>
                        </a:lnSpc>
                        <a:spcBef>
                          <a:spcPts val="180"/>
                        </a:spcBef>
                        <a:spcAft>
                          <a:spcPts val="180"/>
                        </a:spcAft>
                      </a:pPr>
                      <a:r>
                        <a:rPr lang="en-US" sz="1400" kern="100">
                          <a:effectLst/>
                        </a:rPr>
                        <a:t>Culture-positive, Ultra Positive</a:t>
                      </a:r>
                      <a:endParaRPr lang="en-KE" sz="1400" kern="100">
                        <a:effectLst/>
                      </a:endParaRPr>
                    </a:p>
                    <a:p>
                      <a:pPr algn="ctr">
                        <a:lnSpc>
                          <a:spcPct val="115000"/>
                        </a:lnSpc>
                        <a:spcBef>
                          <a:spcPts val="180"/>
                        </a:spcBef>
                        <a:spcAft>
                          <a:spcPts val="180"/>
                        </a:spcAft>
                      </a:pPr>
                      <a:r>
                        <a:rPr lang="en-US" sz="1400" kern="100">
                          <a:effectLst/>
                        </a:rPr>
                        <a:t>N = 37</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b"/>
                </a:tc>
                <a:tc>
                  <a:txBody>
                    <a:bodyPr/>
                    <a:lstStyle/>
                    <a:p>
                      <a:pPr algn="ctr">
                        <a:lnSpc>
                          <a:spcPct val="115000"/>
                        </a:lnSpc>
                        <a:spcBef>
                          <a:spcPts val="180"/>
                        </a:spcBef>
                        <a:spcAft>
                          <a:spcPts val="180"/>
                        </a:spcAft>
                      </a:pPr>
                      <a:r>
                        <a:rPr lang="en-US" sz="1400" kern="100">
                          <a:effectLst/>
                        </a:rPr>
                        <a:t>Culture-negative, Ultra Trace positive, N = 31</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b"/>
                </a:tc>
                <a:tc>
                  <a:txBody>
                    <a:bodyPr/>
                    <a:lstStyle/>
                    <a:p>
                      <a:pPr algn="ctr">
                        <a:lnSpc>
                          <a:spcPct val="115000"/>
                        </a:lnSpc>
                        <a:spcBef>
                          <a:spcPts val="180"/>
                        </a:spcBef>
                        <a:spcAft>
                          <a:spcPts val="180"/>
                        </a:spcAft>
                      </a:pPr>
                      <a:r>
                        <a:rPr lang="en-US" sz="1400" kern="100" dirty="0">
                          <a:effectLst/>
                        </a:rPr>
                        <a:t> </a:t>
                      </a:r>
                      <a:endParaRPr lang="en-KE" sz="1400" kern="100" dirty="0">
                        <a:effectLst/>
                      </a:endParaRPr>
                    </a:p>
                    <a:p>
                      <a:pPr algn="ctr">
                        <a:lnSpc>
                          <a:spcPct val="115000"/>
                        </a:lnSpc>
                        <a:spcBef>
                          <a:spcPts val="180"/>
                        </a:spcBef>
                        <a:spcAft>
                          <a:spcPts val="180"/>
                        </a:spcAft>
                      </a:pPr>
                      <a:r>
                        <a:rPr lang="en-US" sz="1400" kern="100" dirty="0">
                          <a:effectLst/>
                        </a:rPr>
                        <a:t>Overall, N = 73</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ctr"/>
                </a:tc>
                <a:tc>
                  <a:txBody>
                    <a:bodyPr/>
                    <a:lstStyle/>
                    <a:p>
                      <a:pPr algn="ctr">
                        <a:lnSpc>
                          <a:spcPct val="115000"/>
                        </a:lnSpc>
                        <a:spcBef>
                          <a:spcPts val="180"/>
                        </a:spcBef>
                        <a:spcAft>
                          <a:spcPts val="180"/>
                        </a:spcAft>
                      </a:pPr>
                      <a:r>
                        <a:rPr lang="en-US" sz="1400" kern="100">
                          <a:effectLst/>
                        </a:rPr>
                        <a:t> </a:t>
                      </a:r>
                      <a:endParaRPr lang="en-KE" sz="1400" kern="100">
                        <a:effectLst/>
                      </a:endParaRPr>
                    </a:p>
                    <a:p>
                      <a:pPr algn="ctr">
                        <a:lnSpc>
                          <a:spcPct val="115000"/>
                        </a:lnSpc>
                        <a:spcBef>
                          <a:spcPts val="180"/>
                        </a:spcBef>
                        <a:spcAft>
                          <a:spcPts val="180"/>
                        </a:spcAft>
                      </a:pPr>
                      <a:r>
                        <a:rPr lang="en-US" sz="1400" kern="100">
                          <a:effectLst/>
                        </a:rPr>
                        <a:t>p-value</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nchor="ctr"/>
                </a:tc>
                <a:extLst>
                  <a:ext uri="{0D108BD9-81ED-4DB2-BD59-A6C34878D82A}">
                    <a16:rowId xmlns:a16="http://schemas.microsoft.com/office/drawing/2014/main" val="3825228511"/>
                  </a:ext>
                </a:extLst>
              </a:tr>
              <a:tr h="202075">
                <a:tc>
                  <a:txBody>
                    <a:bodyPr/>
                    <a:lstStyle/>
                    <a:p>
                      <a:pPr>
                        <a:lnSpc>
                          <a:spcPct val="115000"/>
                        </a:lnSpc>
                        <a:spcBef>
                          <a:spcPts val="180"/>
                        </a:spcBef>
                        <a:spcAft>
                          <a:spcPts val="180"/>
                        </a:spcAft>
                      </a:pPr>
                      <a:r>
                        <a:rPr lang="en-US" sz="1400" kern="100" dirty="0">
                          <a:effectLst/>
                        </a:rPr>
                        <a:t>Reported symptoms</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976136564"/>
                  </a:ext>
                </a:extLst>
              </a:tr>
              <a:tr h="202075">
                <a:tc>
                  <a:txBody>
                    <a:bodyPr/>
                    <a:lstStyle/>
                    <a:p>
                      <a:pPr>
                        <a:lnSpc>
                          <a:spcPct val="115000"/>
                        </a:lnSpc>
                        <a:spcBef>
                          <a:spcPts val="180"/>
                        </a:spcBef>
                        <a:spcAft>
                          <a:spcPts val="180"/>
                        </a:spcAft>
                      </a:pPr>
                      <a:r>
                        <a:rPr lang="en-US" sz="1400" kern="100" dirty="0">
                          <a:solidFill>
                            <a:srgbClr val="FF0000"/>
                          </a:solidFill>
                          <a:effectLst/>
                        </a:rPr>
                        <a:t>  Cough of any duration</a:t>
                      </a:r>
                      <a:endParaRPr lang="en-KE" sz="1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4 (80%)</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21 (57%)</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21 (68%)</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46 (63%)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3858946541"/>
                  </a:ext>
                </a:extLst>
              </a:tr>
              <a:tr h="202075">
                <a:tc>
                  <a:txBody>
                    <a:bodyPr/>
                    <a:lstStyle/>
                    <a:p>
                      <a:pPr>
                        <a:lnSpc>
                          <a:spcPct val="115000"/>
                        </a:lnSpc>
                        <a:spcBef>
                          <a:spcPts val="180"/>
                        </a:spcBef>
                        <a:spcAft>
                          <a:spcPts val="180"/>
                        </a:spcAft>
                      </a:pPr>
                      <a:r>
                        <a:rPr lang="en-US" sz="1400" kern="100" dirty="0">
                          <a:effectLst/>
                        </a:rPr>
                        <a:t>  Cough &gt; 2wks</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 (20%)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14 (39%)</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8 (29%)</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23 (33%)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3642113740"/>
                  </a:ext>
                </a:extLst>
              </a:tr>
              <a:tr h="202075">
                <a:tc>
                  <a:txBody>
                    <a:bodyPr/>
                    <a:lstStyle/>
                    <a:p>
                      <a:pPr>
                        <a:lnSpc>
                          <a:spcPct val="115000"/>
                        </a:lnSpc>
                        <a:spcAft>
                          <a:spcPts val="1000"/>
                        </a:spcAft>
                      </a:pPr>
                      <a:r>
                        <a:rPr lang="en-US" sz="1400" kern="100" dirty="0">
                          <a:effectLst/>
                        </a:rPr>
                        <a:t>      Unknown</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966909027"/>
                  </a:ext>
                </a:extLst>
              </a:tr>
              <a:tr h="202075">
                <a:tc>
                  <a:txBody>
                    <a:bodyPr/>
                    <a:lstStyle/>
                    <a:p>
                      <a:pPr>
                        <a:lnSpc>
                          <a:spcPct val="115000"/>
                        </a:lnSpc>
                        <a:spcBef>
                          <a:spcPts val="180"/>
                        </a:spcBef>
                        <a:spcAft>
                          <a:spcPts val="180"/>
                        </a:spcAft>
                      </a:pPr>
                      <a:r>
                        <a:rPr lang="en-US" sz="1400" kern="100" dirty="0">
                          <a:effectLst/>
                        </a:rPr>
                        <a:t>  Fever</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 (0%)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 (11%)</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 (6.5%)</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6 (8.2%)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0.8</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92349324"/>
                  </a:ext>
                </a:extLst>
              </a:tr>
              <a:tr h="202075">
                <a:tc>
                  <a:txBody>
                    <a:bodyPr/>
                    <a:lstStyle/>
                    <a:p>
                      <a:pPr>
                        <a:lnSpc>
                          <a:spcPct val="115000"/>
                        </a:lnSpc>
                        <a:spcBef>
                          <a:spcPts val="180"/>
                        </a:spcBef>
                        <a:spcAft>
                          <a:spcPts val="180"/>
                        </a:spcAft>
                      </a:pPr>
                      <a:r>
                        <a:rPr lang="en-US" sz="1400" kern="100" dirty="0">
                          <a:effectLst/>
                        </a:rPr>
                        <a:t>  Weight loss</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 (20%)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 (11%)</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 (3.2%)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6 (8.2%)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11079586"/>
                  </a:ext>
                </a:extLst>
              </a:tr>
              <a:tr h="202075">
                <a:tc>
                  <a:txBody>
                    <a:bodyPr/>
                    <a:lstStyle/>
                    <a:p>
                      <a:pPr>
                        <a:lnSpc>
                          <a:spcPct val="115000"/>
                        </a:lnSpc>
                        <a:spcBef>
                          <a:spcPts val="180"/>
                        </a:spcBef>
                        <a:spcAft>
                          <a:spcPts val="180"/>
                        </a:spcAft>
                      </a:pPr>
                      <a:r>
                        <a:rPr lang="en-US" sz="1400" kern="100" dirty="0">
                          <a:effectLst/>
                        </a:rPr>
                        <a:t>  Night sweats</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 (20%)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6 (16%)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 (6.5%)</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9 (12%)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4265235870"/>
                  </a:ext>
                </a:extLst>
              </a:tr>
              <a:tr h="202075">
                <a:tc>
                  <a:txBody>
                    <a:bodyPr/>
                    <a:lstStyle/>
                    <a:p>
                      <a:pPr>
                        <a:lnSpc>
                          <a:spcPct val="115000"/>
                        </a:lnSpc>
                        <a:spcBef>
                          <a:spcPts val="180"/>
                        </a:spcBef>
                        <a:spcAft>
                          <a:spcPts val="180"/>
                        </a:spcAft>
                      </a:pPr>
                      <a:r>
                        <a:rPr lang="en-US" sz="1400" kern="100" dirty="0">
                          <a:effectLst/>
                        </a:rPr>
                        <a:t>  Fatigue</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 (40%)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8 (22%)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5 (16%)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15 (21%)</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0.4</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4080562075"/>
                  </a:ext>
                </a:extLst>
              </a:tr>
              <a:tr h="202075">
                <a:tc>
                  <a:txBody>
                    <a:bodyPr/>
                    <a:lstStyle/>
                    <a:p>
                      <a:pPr>
                        <a:lnSpc>
                          <a:spcPct val="115000"/>
                        </a:lnSpc>
                        <a:spcBef>
                          <a:spcPts val="180"/>
                        </a:spcBef>
                        <a:spcAft>
                          <a:spcPts val="180"/>
                        </a:spcAft>
                      </a:pPr>
                      <a:r>
                        <a:rPr lang="en-US" sz="1400" kern="100" dirty="0">
                          <a:effectLst/>
                        </a:rPr>
                        <a:t>  Shortness of breath</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 (0%)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6 (16%)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7 (23%)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13 (18%)</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910480619"/>
                  </a:ext>
                </a:extLst>
              </a:tr>
              <a:tr h="202075">
                <a:tc>
                  <a:txBody>
                    <a:bodyPr/>
                    <a:lstStyle/>
                    <a:p>
                      <a:pPr>
                        <a:lnSpc>
                          <a:spcPct val="115000"/>
                        </a:lnSpc>
                        <a:spcBef>
                          <a:spcPts val="180"/>
                        </a:spcBef>
                        <a:spcAft>
                          <a:spcPts val="180"/>
                        </a:spcAft>
                      </a:pPr>
                      <a:r>
                        <a:rPr lang="en-US" sz="1400" kern="100" dirty="0">
                          <a:solidFill>
                            <a:srgbClr val="FF0000"/>
                          </a:solidFill>
                          <a:effectLst/>
                        </a:rPr>
                        <a:t>  Chest pain</a:t>
                      </a:r>
                      <a:endParaRPr lang="en-KE" sz="1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3 (60%)</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12 (32%)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13 (42%)</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28 (38%)</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0.4</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524094820"/>
                  </a:ext>
                </a:extLst>
              </a:tr>
              <a:tr h="839678">
                <a:tc>
                  <a:txBody>
                    <a:bodyPr/>
                    <a:lstStyle/>
                    <a:p>
                      <a:pPr marL="152400" indent="-165100">
                        <a:lnSpc>
                          <a:spcPct val="115000"/>
                        </a:lnSpc>
                        <a:spcBef>
                          <a:spcPts val="180"/>
                        </a:spcBef>
                        <a:spcAft>
                          <a:spcPts val="180"/>
                        </a:spcAft>
                      </a:pPr>
                      <a:r>
                        <a:rPr lang="en-US" sz="1400" kern="100" dirty="0">
                          <a:effectLst/>
                        </a:rPr>
                        <a:t>  </a:t>
                      </a:r>
                      <a:r>
                        <a:rPr lang="en-US" sz="1400" kern="100" dirty="0">
                          <a:solidFill>
                            <a:srgbClr val="FF0000"/>
                          </a:solidFill>
                          <a:effectLst/>
                        </a:rPr>
                        <a:t>One or more of WHO screening symptoms (cough/fever/weight loss/night sweats)</a:t>
                      </a:r>
                      <a:endParaRPr lang="en-KE" sz="1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 (80%)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22 (59%)</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21 (68%)</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47 (64%)</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0.6</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887363390"/>
                  </a:ext>
                </a:extLst>
              </a:tr>
              <a:tr h="414609">
                <a:tc>
                  <a:txBody>
                    <a:bodyPr/>
                    <a:lstStyle/>
                    <a:p>
                      <a:pPr>
                        <a:lnSpc>
                          <a:spcPct val="115000"/>
                        </a:lnSpc>
                        <a:spcBef>
                          <a:spcPts val="180"/>
                        </a:spcBef>
                        <a:spcAft>
                          <a:spcPts val="180"/>
                        </a:spcAft>
                      </a:pPr>
                      <a:r>
                        <a:rPr lang="en-US" sz="1400" kern="100" dirty="0">
                          <a:effectLst/>
                        </a:rPr>
                        <a:t>X-ray findings</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0·007</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903124393"/>
                  </a:ext>
                </a:extLst>
              </a:tr>
              <a:tr h="202075">
                <a:tc>
                  <a:txBody>
                    <a:bodyPr/>
                    <a:lstStyle/>
                    <a:p>
                      <a:pPr>
                        <a:lnSpc>
                          <a:spcPct val="115000"/>
                        </a:lnSpc>
                        <a:spcBef>
                          <a:spcPts val="180"/>
                        </a:spcBef>
                        <a:spcAft>
                          <a:spcPts val="180"/>
                        </a:spcAft>
                      </a:pPr>
                      <a:r>
                        <a:rPr lang="en-US" sz="1400" kern="100" dirty="0">
                          <a:effectLst/>
                        </a:rPr>
                        <a:t>   Normal</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 (40%)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 (5.6%)</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10 (33%)</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14 (20%)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50839662"/>
                  </a:ext>
                </a:extLst>
              </a:tr>
              <a:tr h="414609">
                <a:tc>
                  <a:txBody>
                    <a:bodyPr/>
                    <a:lstStyle/>
                    <a:p>
                      <a:pPr>
                        <a:lnSpc>
                          <a:spcPct val="115000"/>
                        </a:lnSpc>
                        <a:spcBef>
                          <a:spcPts val="180"/>
                        </a:spcBef>
                        <a:spcAft>
                          <a:spcPts val="180"/>
                        </a:spcAft>
                      </a:pPr>
                      <a:r>
                        <a:rPr lang="en-US" sz="1400" kern="100" dirty="0">
                          <a:effectLst/>
                        </a:rPr>
                        <a:t>   </a:t>
                      </a:r>
                      <a:r>
                        <a:rPr lang="en-US" sz="1400" kern="100" dirty="0">
                          <a:solidFill>
                            <a:srgbClr val="FF0000"/>
                          </a:solidFill>
                          <a:effectLst/>
                        </a:rPr>
                        <a:t>Abnormal, suggestive of TB</a:t>
                      </a:r>
                      <a:endParaRPr lang="en-KE" sz="1400"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3 (60%)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34 (94%)</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20 (67%)</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a:effectLst/>
                        </a:rPr>
                        <a:t>57 (80%)</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a:effectLst/>
                        </a:rPr>
                        <a:t> </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1433362450"/>
                  </a:ext>
                </a:extLst>
              </a:tr>
              <a:tr h="202075">
                <a:tc>
                  <a:txBody>
                    <a:bodyPr/>
                    <a:lstStyle/>
                    <a:p>
                      <a:pPr>
                        <a:lnSpc>
                          <a:spcPct val="115000"/>
                        </a:lnSpc>
                        <a:spcBef>
                          <a:spcPts val="180"/>
                        </a:spcBef>
                        <a:spcAft>
                          <a:spcPts val="180"/>
                        </a:spcAft>
                      </a:pPr>
                      <a:r>
                        <a:rPr lang="en-US" sz="1400" kern="100" dirty="0">
                          <a:effectLst/>
                        </a:rPr>
                        <a:t>   Unknown</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0</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1</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1</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gn="ctr">
                        <a:lnSpc>
                          <a:spcPct val="115000"/>
                        </a:lnSpc>
                        <a:spcBef>
                          <a:spcPts val="180"/>
                        </a:spcBef>
                        <a:spcAft>
                          <a:spcPts val="180"/>
                        </a:spcAft>
                      </a:pPr>
                      <a:r>
                        <a:rPr lang="en-US" sz="1400" kern="100" dirty="0">
                          <a:effectLst/>
                        </a:rPr>
                        <a:t>2</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tc>
                  <a:txBody>
                    <a:bodyPr/>
                    <a:lstStyle/>
                    <a:p>
                      <a:pPr>
                        <a:lnSpc>
                          <a:spcPct val="115000"/>
                        </a:lnSpc>
                        <a:spcBef>
                          <a:spcPts val="180"/>
                        </a:spcBef>
                        <a:spcAft>
                          <a:spcPts val="180"/>
                        </a:spcAft>
                      </a:pPr>
                      <a:r>
                        <a:rPr lang="en-US" sz="1400" kern="100" dirty="0">
                          <a:effectLst/>
                        </a:rPr>
                        <a:t> </a:t>
                      </a:r>
                      <a:endParaRPr lang="en-KE"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7414" marR="67414" marT="0" marB="0"/>
                </a:tc>
                <a:extLst>
                  <a:ext uri="{0D108BD9-81ED-4DB2-BD59-A6C34878D82A}">
                    <a16:rowId xmlns:a16="http://schemas.microsoft.com/office/drawing/2014/main" val="909193954"/>
                  </a:ext>
                </a:extLst>
              </a:tr>
            </a:tbl>
          </a:graphicData>
        </a:graphic>
      </p:graphicFrame>
      <p:sp>
        <p:nvSpPr>
          <p:cNvPr id="3" name="TextBox 2">
            <a:extLst>
              <a:ext uri="{FF2B5EF4-FFF2-40B4-BE49-F238E27FC236}">
                <a16:creationId xmlns:a16="http://schemas.microsoft.com/office/drawing/2014/main" id="{D47CC811-701B-D9C1-A061-E45F76A23942}"/>
              </a:ext>
            </a:extLst>
          </p:cNvPr>
          <p:cNvSpPr txBox="1"/>
          <p:nvPr/>
        </p:nvSpPr>
        <p:spPr>
          <a:xfrm>
            <a:off x="2208004" y="98026"/>
            <a:ext cx="7112845" cy="369332"/>
          </a:xfrm>
          <a:prstGeom prst="rect">
            <a:avLst/>
          </a:prstGeom>
          <a:noFill/>
        </p:spPr>
        <p:txBody>
          <a:bodyPr wrap="none" rtlCol="0">
            <a:spAutoFit/>
          </a:bodyPr>
          <a:lstStyle/>
          <a:p>
            <a:r>
              <a:rPr lang="en-US" b="1" kern="0" dirty="0">
                <a:latin typeface="Calibri" panose="020F0502020204030204" pitchFamily="34" charset="0"/>
                <a:ea typeface="Yu Mincho" panose="02020400000000000000" pitchFamily="18" charset="-128"/>
                <a:cs typeface="Arial" panose="020B0604020202020204" pitchFamily="34" charset="0"/>
              </a:rPr>
              <a:t>P</a:t>
            </a:r>
            <a:r>
              <a:rPr lang="en-US" sz="1800" b="1" kern="0" dirty="0">
                <a:effectLst/>
                <a:latin typeface="Calibri" panose="020F0502020204030204" pitchFamily="34" charset="0"/>
                <a:ea typeface="Yu Mincho" panose="02020400000000000000" pitchFamily="18" charset="-128"/>
                <a:cs typeface="Arial" panose="020B0604020202020204" pitchFamily="34" charset="0"/>
              </a:rPr>
              <a:t>revalent TB or Xpert Ultra Trace: reported symptoms and x-ray findings</a:t>
            </a:r>
            <a:endParaRPr lang="en-KE" dirty="0"/>
          </a:p>
        </p:txBody>
      </p:sp>
      <p:sp>
        <p:nvSpPr>
          <p:cNvPr id="4" name="Oval 3">
            <a:extLst>
              <a:ext uri="{FF2B5EF4-FFF2-40B4-BE49-F238E27FC236}">
                <a16:creationId xmlns:a16="http://schemas.microsoft.com/office/drawing/2014/main" id="{4FB8AD16-22C1-AA98-9934-F8779AD87371}"/>
              </a:ext>
            </a:extLst>
          </p:cNvPr>
          <p:cNvSpPr/>
          <p:nvPr/>
        </p:nvSpPr>
        <p:spPr>
          <a:xfrm>
            <a:off x="4436076" y="1816443"/>
            <a:ext cx="2545492" cy="407773"/>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 name="Oval 4">
            <a:extLst>
              <a:ext uri="{FF2B5EF4-FFF2-40B4-BE49-F238E27FC236}">
                <a16:creationId xmlns:a16="http://schemas.microsoft.com/office/drawing/2014/main" id="{775AA93D-69F9-9D52-350C-3BF9653AC32D}"/>
              </a:ext>
            </a:extLst>
          </p:cNvPr>
          <p:cNvSpPr/>
          <p:nvPr/>
        </p:nvSpPr>
        <p:spPr>
          <a:xfrm>
            <a:off x="4436076" y="5609967"/>
            <a:ext cx="2545492" cy="407773"/>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7" name="TextBox 6">
            <a:extLst>
              <a:ext uri="{FF2B5EF4-FFF2-40B4-BE49-F238E27FC236}">
                <a16:creationId xmlns:a16="http://schemas.microsoft.com/office/drawing/2014/main" id="{6D13139C-C197-E2E7-2DC6-A542AE9D3BA5}"/>
              </a:ext>
            </a:extLst>
          </p:cNvPr>
          <p:cNvSpPr txBox="1"/>
          <p:nvPr/>
        </p:nvSpPr>
        <p:spPr>
          <a:xfrm>
            <a:off x="1371599" y="6318700"/>
            <a:ext cx="9316995" cy="461665"/>
          </a:xfrm>
          <a:prstGeom prst="rect">
            <a:avLst/>
          </a:prstGeom>
          <a:noFill/>
        </p:spPr>
        <p:txBody>
          <a:bodyPr wrap="square">
            <a:spAutoFit/>
          </a:bodyPr>
          <a:lstStyle/>
          <a:p>
            <a:pPr marL="171450" indent="-171450">
              <a:buFont typeface="Arial" panose="020B0604020202020204" pitchFamily="34" charset="0"/>
              <a:buChar char="•"/>
            </a:pPr>
            <a:r>
              <a:rPr lang="en-GB" sz="1200" b="1" kern="0" dirty="0">
                <a:solidFill>
                  <a:srgbClr val="000000"/>
                </a:solidFill>
                <a:effectLst/>
                <a:latin typeface="Calibri" panose="020F0502020204030204" pitchFamily="34" charset="0"/>
                <a:ea typeface="Calibri" panose="020F0502020204030204" pitchFamily="34" charset="0"/>
                <a:cs typeface="Arial" panose="020B0604020202020204" pitchFamily="34" charset="0"/>
              </a:rPr>
              <a:t>17/42 (40%) did not report a cough and 16/42 (38%) denied all of the WHO screening symptoms.   (sub-clinical TB)</a:t>
            </a:r>
          </a:p>
          <a:p>
            <a:pPr marL="171450" indent="-171450">
              <a:buFont typeface="Arial" panose="020B0604020202020204" pitchFamily="34" charset="0"/>
              <a:buChar char="•"/>
            </a:pPr>
            <a:r>
              <a:rPr lang="en-GB" sz="1200" b="1" kern="0" dirty="0">
                <a:solidFill>
                  <a:srgbClr val="000000"/>
                </a:solidFill>
                <a:effectLst/>
                <a:latin typeface="Calibri" panose="020F0502020204030204" pitchFamily="34" charset="0"/>
                <a:ea typeface="Calibri" panose="020F0502020204030204" pitchFamily="34" charset="0"/>
                <a:cs typeface="Arial" panose="020B0604020202020204" pitchFamily="34" charset="0"/>
              </a:rPr>
              <a:t>chest x-ray demonstrated higher sensitivity as 37/42 (88%) of participants with confirmed TB had an abnormal chest X-ray suggestive of TB. </a:t>
            </a:r>
            <a:endParaRPr lang="en-KE" sz="1200" b="1" dirty="0"/>
          </a:p>
        </p:txBody>
      </p:sp>
      <p:sp>
        <p:nvSpPr>
          <p:cNvPr id="8" name="Oval 7">
            <a:extLst>
              <a:ext uri="{FF2B5EF4-FFF2-40B4-BE49-F238E27FC236}">
                <a16:creationId xmlns:a16="http://schemas.microsoft.com/office/drawing/2014/main" id="{E2262EC9-6FB1-F1CB-1372-B90074B2670A}"/>
              </a:ext>
            </a:extLst>
          </p:cNvPr>
          <p:cNvSpPr/>
          <p:nvPr/>
        </p:nvSpPr>
        <p:spPr>
          <a:xfrm>
            <a:off x="4436076" y="3940434"/>
            <a:ext cx="2656702" cy="693351"/>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Tree>
    <p:extLst>
      <p:ext uri="{BB962C8B-B14F-4D97-AF65-F5344CB8AC3E}">
        <p14:creationId xmlns:p14="http://schemas.microsoft.com/office/powerpoint/2010/main" val="328335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FAED254-5790-7FC9-C43E-B27325D2DB16}"/>
              </a:ext>
            </a:extLst>
          </p:cNvPr>
          <p:cNvGraphicFramePr>
            <a:graphicFrameLocks noGrp="1"/>
          </p:cNvGraphicFramePr>
          <p:nvPr>
            <p:extLst>
              <p:ext uri="{D42A27DB-BD31-4B8C-83A1-F6EECF244321}">
                <p14:modId xmlns:p14="http://schemas.microsoft.com/office/powerpoint/2010/main" val="2596884824"/>
              </p:ext>
            </p:extLst>
          </p:nvPr>
        </p:nvGraphicFramePr>
        <p:xfrm>
          <a:off x="2180967" y="735766"/>
          <a:ext cx="7506729" cy="4564903"/>
        </p:xfrm>
        <a:graphic>
          <a:graphicData uri="http://schemas.openxmlformats.org/drawingml/2006/table">
            <a:tbl>
              <a:tblPr firstRow="1" firstCol="1" bandRow="1">
                <a:tableStyleId>{5C22544A-7EE6-4342-B048-85BDC9FD1C3A}</a:tableStyleId>
              </a:tblPr>
              <a:tblGrid>
                <a:gridCol w="1068839">
                  <a:extLst>
                    <a:ext uri="{9D8B030D-6E8A-4147-A177-3AD203B41FA5}">
                      <a16:colId xmlns:a16="http://schemas.microsoft.com/office/drawing/2014/main" val="3033019427"/>
                    </a:ext>
                  </a:extLst>
                </a:gridCol>
                <a:gridCol w="857975">
                  <a:extLst>
                    <a:ext uri="{9D8B030D-6E8A-4147-A177-3AD203B41FA5}">
                      <a16:colId xmlns:a16="http://schemas.microsoft.com/office/drawing/2014/main" val="2786547271"/>
                    </a:ext>
                  </a:extLst>
                </a:gridCol>
                <a:gridCol w="770308">
                  <a:extLst>
                    <a:ext uri="{9D8B030D-6E8A-4147-A177-3AD203B41FA5}">
                      <a16:colId xmlns:a16="http://schemas.microsoft.com/office/drawing/2014/main" val="3089328933"/>
                    </a:ext>
                  </a:extLst>
                </a:gridCol>
                <a:gridCol w="770308">
                  <a:extLst>
                    <a:ext uri="{9D8B030D-6E8A-4147-A177-3AD203B41FA5}">
                      <a16:colId xmlns:a16="http://schemas.microsoft.com/office/drawing/2014/main" val="575390497"/>
                    </a:ext>
                  </a:extLst>
                </a:gridCol>
                <a:gridCol w="1085488">
                  <a:extLst>
                    <a:ext uri="{9D8B030D-6E8A-4147-A177-3AD203B41FA5}">
                      <a16:colId xmlns:a16="http://schemas.microsoft.com/office/drawing/2014/main" val="3804312563"/>
                    </a:ext>
                  </a:extLst>
                </a:gridCol>
                <a:gridCol w="1085488">
                  <a:extLst>
                    <a:ext uri="{9D8B030D-6E8A-4147-A177-3AD203B41FA5}">
                      <a16:colId xmlns:a16="http://schemas.microsoft.com/office/drawing/2014/main" val="2786787973"/>
                    </a:ext>
                  </a:extLst>
                </a:gridCol>
                <a:gridCol w="755987">
                  <a:extLst>
                    <a:ext uri="{9D8B030D-6E8A-4147-A177-3AD203B41FA5}">
                      <a16:colId xmlns:a16="http://schemas.microsoft.com/office/drawing/2014/main" val="3151815364"/>
                    </a:ext>
                  </a:extLst>
                </a:gridCol>
                <a:gridCol w="1112336">
                  <a:extLst>
                    <a:ext uri="{9D8B030D-6E8A-4147-A177-3AD203B41FA5}">
                      <a16:colId xmlns:a16="http://schemas.microsoft.com/office/drawing/2014/main" val="1486833953"/>
                    </a:ext>
                  </a:extLst>
                </a:gridCol>
              </a:tblGrid>
              <a:tr h="208002">
                <a:tc rowSpan="2">
                  <a:txBody>
                    <a:bodyPr/>
                    <a:lstStyle/>
                    <a:p>
                      <a:pPr algn="ctr">
                        <a:lnSpc>
                          <a:spcPct val="115000"/>
                        </a:lnSpc>
                        <a:spcAft>
                          <a:spcPts val="1000"/>
                        </a:spcAft>
                      </a:pPr>
                      <a:r>
                        <a:rPr lang="en-US" sz="1600" kern="100" dirty="0">
                          <a:effectLst/>
                        </a:rPr>
                        <a:t>Ultra cartridge results</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gridSpan="6">
                  <a:txBody>
                    <a:bodyPr/>
                    <a:lstStyle/>
                    <a:p>
                      <a:pPr algn="ctr">
                        <a:lnSpc>
                          <a:spcPct val="115000"/>
                        </a:lnSpc>
                        <a:spcAft>
                          <a:spcPts val="1000"/>
                        </a:spcAft>
                      </a:pPr>
                      <a:r>
                        <a:rPr lang="en-US" sz="1400" kern="100">
                          <a:effectLst/>
                        </a:rPr>
                        <a:t>MTB/RIF results</a:t>
                      </a:r>
                      <a:endParaRPr lang="en-KE" sz="14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hMerge="1">
                  <a:txBody>
                    <a:bodyPr/>
                    <a:lstStyle/>
                    <a:p>
                      <a:endParaRPr lang="en-KE"/>
                    </a:p>
                  </a:txBody>
                  <a:tcPr/>
                </a:tc>
                <a:tc rowSpan="2">
                  <a:txBody>
                    <a:bodyPr/>
                    <a:lstStyle/>
                    <a:p>
                      <a:pPr algn="ctr">
                        <a:lnSpc>
                          <a:spcPct val="115000"/>
                        </a:lnSpc>
                        <a:spcAft>
                          <a:spcPts val="1000"/>
                        </a:spcAft>
                      </a:pPr>
                      <a:r>
                        <a:rPr lang="en-US" sz="1600" kern="100" dirty="0">
                          <a:effectLst/>
                        </a:rPr>
                        <a:t> Total</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344308234"/>
                  </a:ext>
                </a:extLst>
              </a:tr>
              <a:tr h="737687">
                <a:tc vMerge="1">
                  <a:txBody>
                    <a:bodyPr/>
                    <a:lstStyle/>
                    <a:p>
                      <a:endParaRPr lang="en-KE"/>
                    </a:p>
                  </a:txBody>
                  <a:tcPr/>
                </a:tc>
                <a:tc>
                  <a:txBody>
                    <a:bodyPr/>
                    <a:lstStyle/>
                    <a:p>
                      <a:pPr algn="ctr">
                        <a:lnSpc>
                          <a:spcPct val="115000"/>
                        </a:lnSpc>
                        <a:spcAft>
                          <a:spcPts val="1000"/>
                        </a:spcAft>
                      </a:pPr>
                      <a:r>
                        <a:rPr lang="en-US" sz="1600" kern="100" dirty="0">
                          <a:effectLst/>
                        </a:rPr>
                        <a:t>MTB Very Low</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MTB Low</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MTB Medium</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MTB High</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MTB not Detected</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Error</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vMerge="1">
                  <a:txBody>
                    <a:bodyPr/>
                    <a:lstStyle/>
                    <a:p>
                      <a:endParaRPr lang="en-KE"/>
                    </a:p>
                  </a:txBody>
                  <a:tcPr/>
                </a:tc>
                <a:extLst>
                  <a:ext uri="{0D108BD9-81ED-4DB2-BD59-A6C34878D82A}">
                    <a16:rowId xmlns:a16="http://schemas.microsoft.com/office/drawing/2014/main" val="4123499002"/>
                  </a:ext>
                </a:extLst>
              </a:tr>
              <a:tr h="266461">
                <a:tc>
                  <a:txBody>
                    <a:bodyPr/>
                    <a:lstStyle/>
                    <a:p>
                      <a:pPr algn="ctr">
                        <a:lnSpc>
                          <a:spcPct val="115000"/>
                        </a:lnSpc>
                        <a:spcAft>
                          <a:spcPts val="1000"/>
                        </a:spcAft>
                      </a:pPr>
                      <a:r>
                        <a:rPr lang="en-US" sz="1600" kern="100" dirty="0">
                          <a:effectLst/>
                        </a:rPr>
                        <a:t>MTB Trace</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1 (10%)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effectLst/>
                        </a:rPr>
                        <a:t>12 (90%)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a:effectLst/>
                        </a:rPr>
                        <a:t>13 (32.5%)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1105167500"/>
                  </a:ext>
                </a:extLst>
              </a:tr>
              <a:tr h="487609">
                <a:tc>
                  <a:txBody>
                    <a:bodyPr/>
                    <a:lstStyle/>
                    <a:p>
                      <a:pPr algn="ctr">
                        <a:lnSpc>
                          <a:spcPct val="115000"/>
                        </a:lnSpc>
                        <a:spcAft>
                          <a:spcPts val="1000"/>
                        </a:spcAft>
                      </a:pPr>
                      <a:r>
                        <a:rPr lang="en-US" sz="1600" kern="100">
                          <a:effectLst/>
                        </a:rPr>
                        <a:t>MTB Very Low</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solidFill>
                            <a:schemeClr val="accent5"/>
                          </a:solidFill>
                          <a:effectLst/>
                        </a:rPr>
                        <a:t>1 (30%)</a:t>
                      </a:r>
                      <a:endParaRPr lang="en-KE" sz="1600" kern="100" dirty="0">
                        <a:solidFill>
                          <a:schemeClr val="accent5"/>
                        </a:solidFill>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a:effectLst/>
                        </a:rPr>
                        <a:t>2 (70%)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effectLst/>
                        </a:rPr>
                        <a:t>3 (7.5%)</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3677858505"/>
                  </a:ext>
                </a:extLst>
              </a:tr>
              <a:tr h="454046">
                <a:tc>
                  <a:txBody>
                    <a:bodyPr/>
                    <a:lstStyle/>
                    <a:p>
                      <a:pPr algn="ctr">
                        <a:lnSpc>
                          <a:spcPct val="115000"/>
                        </a:lnSpc>
                        <a:spcAft>
                          <a:spcPts val="1000"/>
                        </a:spcAft>
                      </a:pPr>
                      <a:r>
                        <a:rPr lang="en-US" sz="1600" kern="100">
                          <a:effectLst/>
                        </a:rPr>
                        <a:t>MTB Low</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2 (20%)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solidFill>
                            <a:schemeClr val="accent5"/>
                          </a:solidFill>
                          <a:effectLst/>
                        </a:rPr>
                        <a:t>5 (60%)</a:t>
                      </a:r>
                      <a:endParaRPr lang="en-KE" sz="1600" kern="100" dirty="0">
                        <a:solidFill>
                          <a:schemeClr val="accent5"/>
                        </a:solidFill>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1 (10%)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effectLst/>
                        </a:rPr>
                        <a:t>1 (10%)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00000"/>
                        </a:lnSpc>
                        <a:spcAft>
                          <a:spcPts val="1000"/>
                        </a:spcAft>
                      </a:pPr>
                      <a:r>
                        <a:rPr lang="en-US" sz="1600" kern="100" dirty="0">
                          <a:effectLst/>
                        </a:rPr>
                        <a:t>9 (22.5%)</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429036172"/>
                  </a:ext>
                </a:extLst>
              </a:tr>
              <a:tr h="487735">
                <a:tc>
                  <a:txBody>
                    <a:bodyPr/>
                    <a:lstStyle/>
                    <a:p>
                      <a:pPr algn="ctr">
                        <a:lnSpc>
                          <a:spcPct val="115000"/>
                        </a:lnSpc>
                        <a:spcAft>
                          <a:spcPts val="1000"/>
                        </a:spcAft>
                      </a:pPr>
                      <a:r>
                        <a:rPr lang="en-US" sz="1600" kern="100">
                          <a:effectLst/>
                        </a:rPr>
                        <a:t>MTB Medium</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a:effectLst/>
                        </a:rPr>
                        <a:t>1 (50%)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solidFill>
                            <a:schemeClr val="accent5"/>
                          </a:solidFill>
                          <a:effectLst/>
                        </a:rPr>
                        <a:t>1 (50%)</a:t>
                      </a:r>
                      <a:endParaRPr lang="en-KE" sz="1600" kern="100" dirty="0">
                        <a:solidFill>
                          <a:schemeClr val="accent5"/>
                        </a:solidFill>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effectLst/>
                        </a:rPr>
                        <a:t>2 (5%)</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3795508775"/>
                  </a:ext>
                </a:extLst>
              </a:tr>
              <a:tr h="396923">
                <a:tc>
                  <a:txBody>
                    <a:bodyPr/>
                    <a:lstStyle/>
                    <a:p>
                      <a:pPr algn="ctr">
                        <a:lnSpc>
                          <a:spcPct val="115000"/>
                        </a:lnSpc>
                        <a:spcAft>
                          <a:spcPts val="1000"/>
                        </a:spcAft>
                      </a:pPr>
                      <a:r>
                        <a:rPr lang="en-US" sz="1600" kern="100">
                          <a:effectLst/>
                        </a:rPr>
                        <a:t>MTB High</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solidFill>
                            <a:schemeClr val="accent5"/>
                          </a:solidFill>
                          <a:effectLst/>
                        </a:rPr>
                        <a:t>3 (100%)</a:t>
                      </a:r>
                      <a:endParaRPr lang="en-KE" sz="1600" kern="100" dirty="0">
                        <a:solidFill>
                          <a:schemeClr val="accent5"/>
                        </a:solidFill>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a:effectLst/>
                        </a:rPr>
                        <a:t>3 (7.5%)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663726110"/>
                  </a:ext>
                </a:extLst>
              </a:tr>
              <a:tr h="487609">
                <a:tc>
                  <a:txBody>
                    <a:bodyPr/>
                    <a:lstStyle/>
                    <a:p>
                      <a:pPr algn="ctr">
                        <a:lnSpc>
                          <a:spcPct val="115000"/>
                        </a:lnSpc>
                        <a:spcAft>
                          <a:spcPts val="1000"/>
                        </a:spcAft>
                      </a:pPr>
                      <a:r>
                        <a:rPr lang="en-US" sz="1600" kern="100">
                          <a:effectLst/>
                        </a:rPr>
                        <a:t>MTB not Detected</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a:effectLst/>
                        <a:latin typeface="Aptos" panose="020B0004020202020204" pitchFamily="34" charset="0"/>
                      </a:endParaRPr>
                    </a:p>
                  </a:txBody>
                  <a:tcPr marL="33658" marR="33658" marT="0" marB="0" anchor="b"/>
                </a:tc>
                <a:tc>
                  <a:txBody>
                    <a:bodyPr/>
                    <a:lstStyle/>
                    <a:p>
                      <a:endParaRPr lang="en-KE" sz="1800" kern="100" dirty="0">
                        <a:effectLst/>
                        <a:latin typeface="Aptos" panose="020B0004020202020204" pitchFamily="34" charset="0"/>
                      </a:endParaRPr>
                    </a:p>
                  </a:txBody>
                  <a:tcPr marL="33658" marR="33658" marT="0" marB="0" anchor="b"/>
                </a:tc>
                <a:tc>
                  <a:txBody>
                    <a:bodyPr/>
                    <a:lstStyle/>
                    <a:p>
                      <a:pPr algn="ctr">
                        <a:lnSpc>
                          <a:spcPct val="115000"/>
                        </a:lnSpc>
                        <a:spcAft>
                          <a:spcPts val="1000"/>
                        </a:spcAft>
                      </a:pPr>
                      <a:r>
                        <a:rPr lang="en-US" sz="1600" kern="100" dirty="0">
                          <a:solidFill>
                            <a:schemeClr val="accent5"/>
                          </a:solidFill>
                          <a:effectLst/>
                        </a:rPr>
                        <a:t>9 (90%)</a:t>
                      </a:r>
                      <a:endParaRPr lang="en-KE" sz="1600" kern="100" dirty="0">
                        <a:solidFill>
                          <a:schemeClr val="accent5"/>
                        </a:solidFill>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1 (10%)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10 (25%)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1569760461"/>
                  </a:ext>
                </a:extLst>
              </a:tr>
              <a:tr h="737687">
                <a:tc>
                  <a:txBody>
                    <a:bodyPr/>
                    <a:lstStyle/>
                    <a:p>
                      <a:pPr algn="ctr">
                        <a:lnSpc>
                          <a:spcPct val="115000"/>
                        </a:lnSpc>
                        <a:spcAft>
                          <a:spcPts val="1000"/>
                        </a:spcAft>
                      </a:pPr>
                      <a:r>
                        <a:rPr lang="en-US" sz="1600" kern="100">
                          <a:effectLst/>
                        </a:rPr>
                        <a:t>Total</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4 (10%)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6 (15%)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2 (5%)</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a:effectLst/>
                        </a:rPr>
                        <a:t>3 (10%)</a:t>
                      </a:r>
                      <a:endParaRPr lang="en-KE" sz="1600" kern="10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24 (60%)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1 (0%)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tc>
                  <a:txBody>
                    <a:bodyPr/>
                    <a:lstStyle/>
                    <a:p>
                      <a:pPr algn="ctr">
                        <a:lnSpc>
                          <a:spcPct val="115000"/>
                        </a:lnSpc>
                        <a:spcAft>
                          <a:spcPts val="1000"/>
                        </a:spcAft>
                      </a:pPr>
                      <a:r>
                        <a:rPr lang="en-US" sz="1600" kern="100" dirty="0">
                          <a:effectLst/>
                        </a:rPr>
                        <a:t>40</a:t>
                      </a:r>
                      <a:endParaRPr lang="en-KE"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3658" marR="33658" marT="0" marB="0" anchor="b"/>
                </a:tc>
                <a:extLst>
                  <a:ext uri="{0D108BD9-81ED-4DB2-BD59-A6C34878D82A}">
                    <a16:rowId xmlns:a16="http://schemas.microsoft.com/office/drawing/2014/main" val="959629029"/>
                  </a:ext>
                </a:extLst>
              </a:tr>
            </a:tbl>
          </a:graphicData>
        </a:graphic>
      </p:graphicFrame>
      <p:sp>
        <p:nvSpPr>
          <p:cNvPr id="3" name="Oval 2">
            <a:extLst>
              <a:ext uri="{FF2B5EF4-FFF2-40B4-BE49-F238E27FC236}">
                <a16:creationId xmlns:a16="http://schemas.microsoft.com/office/drawing/2014/main" id="{F220D402-2BC8-0D15-590D-D85BAECA30A1}"/>
              </a:ext>
            </a:extLst>
          </p:cNvPr>
          <p:cNvSpPr/>
          <p:nvPr/>
        </p:nvSpPr>
        <p:spPr>
          <a:xfrm>
            <a:off x="6722075" y="2199502"/>
            <a:ext cx="1112107" cy="38305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5" name="TextBox 4">
            <a:extLst>
              <a:ext uri="{FF2B5EF4-FFF2-40B4-BE49-F238E27FC236}">
                <a16:creationId xmlns:a16="http://schemas.microsoft.com/office/drawing/2014/main" id="{3E5B815F-C4BB-2363-6E51-7CCF42E28D7F}"/>
              </a:ext>
            </a:extLst>
          </p:cNvPr>
          <p:cNvSpPr txBox="1"/>
          <p:nvPr/>
        </p:nvSpPr>
        <p:spPr>
          <a:xfrm>
            <a:off x="2180967" y="89435"/>
            <a:ext cx="7642655" cy="646331"/>
          </a:xfrm>
          <a:prstGeom prst="rect">
            <a:avLst/>
          </a:prstGeom>
          <a:noFill/>
        </p:spPr>
        <p:txBody>
          <a:bodyPr wrap="square">
            <a:spAutoFit/>
          </a:bodyPr>
          <a:lstStyle/>
          <a:p>
            <a:pPr>
              <a:spcAft>
                <a:spcPts val="1000"/>
              </a:spcAft>
            </a:pPr>
            <a:r>
              <a:rPr lang="en-US" sz="1800" b="1" dirty="0">
                <a:solidFill>
                  <a:srgbClr val="000000"/>
                </a:solidFill>
                <a:effectLst/>
                <a:latin typeface="Aptos" panose="020B0004020202020204" pitchFamily="34" charset="0"/>
                <a:ea typeface="WhitneyHTF-Book"/>
                <a:cs typeface="Times New Roman" panose="02020603050405020304" pitchFamily="18" charset="0"/>
              </a:rPr>
              <a:t>Comparison of GeneXpert results from Xpert Ultra cartridge and Xpert MTB/RIF cartridge</a:t>
            </a:r>
            <a:endParaRPr lang="en-KE" sz="18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Oval 5">
            <a:extLst>
              <a:ext uri="{FF2B5EF4-FFF2-40B4-BE49-F238E27FC236}">
                <a16:creationId xmlns:a16="http://schemas.microsoft.com/office/drawing/2014/main" id="{7906278F-D45E-9213-611D-E77FBA069986}"/>
              </a:ext>
            </a:extLst>
          </p:cNvPr>
          <p:cNvSpPr/>
          <p:nvPr/>
        </p:nvSpPr>
        <p:spPr>
          <a:xfrm>
            <a:off x="6734430" y="2670412"/>
            <a:ext cx="1099752" cy="558480"/>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
        <p:nvSpPr>
          <p:cNvPr id="8" name="TextBox 7">
            <a:extLst>
              <a:ext uri="{FF2B5EF4-FFF2-40B4-BE49-F238E27FC236}">
                <a16:creationId xmlns:a16="http://schemas.microsoft.com/office/drawing/2014/main" id="{191E5157-B6B3-DACF-F141-53FE4AA8A691}"/>
              </a:ext>
            </a:extLst>
          </p:cNvPr>
          <p:cNvSpPr txBox="1"/>
          <p:nvPr/>
        </p:nvSpPr>
        <p:spPr>
          <a:xfrm>
            <a:off x="776416" y="5660569"/>
            <a:ext cx="10639167" cy="738664"/>
          </a:xfrm>
          <a:prstGeom prst="rect">
            <a:avLst/>
          </a:prstGeom>
          <a:noFill/>
        </p:spPr>
        <p:txBody>
          <a:bodyPr wrap="square">
            <a:spAutoFit/>
          </a:bodyPr>
          <a:lstStyle/>
          <a:p>
            <a:pPr marL="285750" indent="-285750">
              <a:buFont typeface="Arial" panose="020B0604020202020204" pitchFamily="34" charset="0"/>
              <a:buChar char="•"/>
            </a:pPr>
            <a:r>
              <a:rPr lang="en-US" sz="1400" b="1" kern="0" dirty="0">
                <a:solidFill>
                  <a:srgbClr val="000000"/>
                </a:solidFill>
                <a:effectLst/>
                <a:latin typeface="Calibri" panose="020F0502020204030204" pitchFamily="34" charset="0"/>
                <a:ea typeface="WhitneyHTF-Book"/>
                <a:cs typeface="Arial" panose="020B0604020202020204" pitchFamily="34" charset="0"/>
              </a:rPr>
              <a:t>Of the 13 samples that were trace positive by Xpert Ultra testing, only 1 was positive on GeneXpert MTB/RIF.</a:t>
            </a:r>
          </a:p>
          <a:p>
            <a:pPr marL="285750" indent="-285750">
              <a:buFont typeface="Arial" panose="020B0604020202020204" pitchFamily="34" charset="0"/>
              <a:buChar char="•"/>
            </a:pPr>
            <a:r>
              <a:rPr lang="en-US" sz="1400" b="1" kern="0" dirty="0">
                <a:solidFill>
                  <a:srgbClr val="000000"/>
                </a:solidFill>
                <a:effectLst/>
                <a:latin typeface="Calibri" panose="020F0502020204030204" pitchFamily="34" charset="0"/>
                <a:ea typeface="WhitneyHTF-Book"/>
                <a:cs typeface="Arial" panose="020B0604020202020204" pitchFamily="34" charset="0"/>
              </a:rPr>
              <a:t>Fourteen (82%) of the 17 Xpert Ultra participants with positive results &gt; trace were also test positive by GeneXpert MTB/RIF; thus, Xpert Ultra detected 3 additional persons with tuberculosis. </a:t>
            </a:r>
            <a:endParaRPr lang="en-KE" sz="1400" b="1" dirty="0"/>
          </a:p>
        </p:txBody>
      </p:sp>
    </p:spTree>
    <p:extLst>
      <p:ext uri="{BB962C8B-B14F-4D97-AF65-F5344CB8AC3E}">
        <p14:creationId xmlns:p14="http://schemas.microsoft.com/office/powerpoint/2010/main" val="284735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F177-9630-A0DA-FD76-D0547D5B8A37}"/>
              </a:ext>
            </a:extLst>
          </p:cNvPr>
          <p:cNvSpPr>
            <a:spLocks noGrp="1"/>
          </p:cNvSpPr>
          <p:nvPr>
            <p:ph type="title"/>
          </p:nvPr>
        </p:nvSpPr>
        <p:spPr>
          <a:xfrm>
            <a:off x="838200" y="365126"/>
            <a:ext cx="10515600" cy="833480"/>
          </a:xfrm>
        </p:spPr>
        <p:txBody>
          <a:bodyPr/>
          <a:lstStyle/>
          <a:p>
            <a:r>
              <a:rPr lang="en-KE" dirty="0"/>
              <a:t>Key Findings /Discussion 1/2</a:t>
            </a:r>
          </a:p>
        </p:txBody>
      </p:sp>
      <p:sp>
        <p:nvSpPr>
          <p:cNvPr id="3" name="Content Placeholder 2">
            <a:extLst>
              <a:ext uri="{FF2B5EF4-FFF2-40B4-BE49-F238E27FC236}">
                <a16:creationId xmlns:a16="http://schemas.microsoft.com/office/drawing/2014/main" id="{3DAC93A0-95EC-E6B3-CCB2-C0ED9DB4A6CC}"/>
              </a:ext>
            </a:extLst>
          </p:cNvPr>
          <p:cNvSpPr>
            <a:spLocks noGrp="1"/>
          </p:cNvSpPr>
          <p:nvPr>
            <p:ph idx="1"/>
          </p:nvPr>
        </p:nvSpPr>
        <p:spPr>
          <a:xfrm>
            <a:off x="838200" y="1421027"/>
            <a:ext cx="10515600" cy="5071848"/>
          </a:xfrm>
        </p:spPr>
        <p:txBody>
          <a:bodyPr>
            <a:normAutofit/>
          </a:bodyPr>
          <a:lstStyle/>
          <a:p>
            <a:r>
              <a:rPr lang="en-US" sz="1800" dirty="0">
                <a:effectLst/>
                <a:latin typeface="Calibri" panose="020F0502020204030204" pitchFamily="34" charset="0"/>
                <a:ea typeface="Calibri" panose="020F0502020204030204" pitchFamily="34" charset="0"/>
                <a:cs typeface="Arial" panose="020B0604020202020204" pitchFamily="34" charset="0"/>
              </a:rPr>
              <a:t>Estimated TB prevalence in nine geographic clusters in Nairobi County remained high from 2015 to 2022. </a:t>
            </a:r>
          </a:p>
          <a:p>
            <a:r>
              <a:rPr lang="en-US" sz="1800" dirty="0">
                <a:effectLst/>
                <a:latin typeface="Calibri" panose="020F0502020204030204" pitchFamily="34" charset="0"/>
                <a:ea typeface="Calibri" panose="020F0502020204030204" pitchFamily="34" charset="0"/>
                <a:cs typeface="Arial" panose="020B0604020202020204" pitchFamily="34" charset="0"/>
              </a:rPr>
              <a:t>Despite programmatic interventions after the 2015 survey, there was no evidence of a decline in TB overall, by sex, or in age subgroups</a:t>
            </a:r>
          </a:p>
          <a:p>
            <a:r>
              <a:rPr lang="en-US" sz="1800" dirty="0">
                <a:effectLst/>
                <a:latin typeface="Calibri" panose="020F0502020204030204" pitchFamily="34" charset="0"/>
                <a:ea typeface="Calibri" panose="020F0502020204030204" pitchFamily="34" charset="0"/>
                <a:cs typeface="Arial" panose="020B0604020202020204" pitchFamily="34" charset="0"/>
              </a:rPr>
              <a:t> </a:t>
            </a:r>
            <a:r>
              <a:rPr lang="en-US" sz="1800" dirty="0">
                <a:latin typeface="Calibri" panose="020F0502020204030204" pitchFamily="34" charset="0"/>
                <a:ea typeface="Calibri" panose="020F0502020204030204" pitchFamily="34" charset="0"/>
                <a:cs typeface="Arial" panose="020B0604020202020204" pitchFamily="34" charset="0"/>
              </a:rPr>
              <a:t>M</a:t>
            </a:r>
            <a:r>
              <a:rPr lang="en-US" sz="1800" dirty="0">
                <a:effectLst/>
                <a:latin typeface="Calibri" panose="020F0502020204030204" pitchFamily="34" charset="0"/>
                <a:ea typeface="Calibri" panose="020F0502020204030204" pitchFamily="34" charset="0"/>
                <a:cs typeface="Arial" panose="020B0604020202020204" pitchFamily="34" charset="0"/>
              </a:rPr>
              <a:t>en and 45-54 year old participants belonged to groups with higher risk for TB in these geographic clusters in both 2015 and 2022. </a:t>
            </a:r>
          </a:p>
          <a:p>
            <a:r>
              <a:rPr lang="en-US" sz="1800" dirty="0">
                <a:effectLst/>
                <a:latin typeface="Calibri" panose="020F0502020204030204" pitchFamily="34" charset="0"/>
                <a:ea typeface="Calibri" panose="020F0502020204030204" pitchFamily="34" charset="0"/>
                <a:cs typeface="Arial" panose="020B0604020202020204" pitchFamily="34" charset="0"/>
              </a:rPr>
              <a:t>This suggests that in Nairobi County, local drivers of the TB epidemic are stable and may be used to develop targeted TB control interventions. Without specific interventions, it is likely that TB burden will remain high.</a:t>
            </a:r>
          </a:p>
          <a:p>
            <a:r>
              <a:rPr lang="en-US" sz="1800" kern="0" dirty="0">
                <a:effectLst/>
                <a:latin typeface="Calibri" panose="020F0502020204030204" pitchFamily="34" charset="0"/>
                <a:ea typeface="Calibri" panose="020F0502020204030204" pitchFamily="34" charset="0"/>
                <a:cs typeface="Arial" panose="020B0604020202020204" pitchFamily="34" charset="0"/>
              </a:rPr>
              <a:t>In comparing our results from 2022 and 2015, it is important to note that the TB detection methods used in 2022 were more sensitive than those used in 2015. </a:t>
            </a:r>
            <a:endParaRPr lang="en-US" sz="1800" kern="0" dirty="0">
              <a:latin typeface="Calibri" panose="020F0502020204030204" pitchFamily="34" charset="0"/>
              <a:ea typeface="Calibri" panose="020F0502020204030204" pitchFamily="34" charset="0"/>
              <a:cs typeface="Arial" panose="020B0604020202020204" pitchFamily="34" charset="0"/>
            </a:endParaRPr>
          </a:p>
          <a:p>
            <a:pPr lvl="1"/>
            <a:r>
              <a:rPr lang="en-US" sz="1400" kern="0" dirty="0">
                <a:effectLst/>
                <a:latin typeface="Calibri" panose="020F0502020204030204" pitchFamily="34" charset="0"/>
                <a:ea typeface="Calibri" panose="020F0502020204030204" pitchFamily="34" charset="0"/>
                <a:cs typeface="Arial" panose="020B0604020202020204" pitchFamily="34" charset="0"/>
              </a:rPr>
              <a:t>Liquid broth-based culture is estimated to be approximately 16% more sensitive than culture on solid media [1], </a:t>
            </a:r>
          </a:p>
          <a:p>
            <a:pPr lvl="1"/>
            <a:r>
              <a:rPr lang="en-US" sz="1400" kern="0" dirty="0">
                <a:effectLst/>
                <a:latin typeface="Calibri" panose="020F0502020204030204" pitchFamily="34" charset="0"/>
                <a:ea typeface="Calibri" panose="020F0502020204030204" pitchFamily="34" charset="0"/>
                <a:cs typeface="Arial" panose="020B0604020202020204" pitchFamily="34" charset="0"/>
              </a:rPr>
              <a:t>a meta-analysis of studies that directly compared GeneXpert assays found that, compared to culture, the sensitivity of Xpert Ultra and Xpert MTB/RIF were 90.9%</a:t>
            </a:r>
            <a:r>
              <a:rPr lang="en-KE" sz="800" dirty="0">
                <a:effectLst/>
              </a:rPr>
              <a:t>  </a:t>
            </a:r>
            <a:r>
              <a:rPr lang="en-US" sz="1400" kern="0" dirty="0">
                <a:effectLst/>
                <a:latin typeface="Calibri" panose="020F0502020204030204" pitchFamily="34" charset="0"/>
                <a:ea typeface="Calibri" panose="020F0502020204030204" pitchFamily="34" charset="0"/>
                <a:cs typeface="Arial" panose="020B0604020202020204" pitchFamily="34" charset="0"/>
              </a:rPr>
              <a:t>and 84.7%, respectively, a difference of 6.3% [2]</a:t>
            </a:r>
          </a:p>
          <a:p>
            <a:pPr lvl="1"/>
            <a:r>
              <a:rPr lang="en-US" sz="1400" kern="0" dirty="0">
                <a:effectLst/>
                <a:latin typeface="Calibri" panose="020F0502020204030204" pitchFamily="34" charset="0"/>
                <a:ea typeface="Calibri" panose="020F0502020204030204" pitchFamily="34" charset="0"/>
                <a:cs typeface="Arial" panose="020B0604020202020204" pitchFamily="34" charset="0"/>
              </a:rPr>
              <a:t>In a limited head-to-head comparison, we also found that Xpert Ultra detected more people with TB than Xpert MTB/RIF</a:t>
            </a:r>
            <a:r>
              <a:rPr lang="en-KE" sz="800" dirty="0">
                <a:effectLst/>
              </a:rPr>
              <a:t> </a:t>
            </a:r>
            <a:endParaRPr lang="en-KE" sz="14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0000"/>
              </a:lnSpc>
              <a:spcBef>
                <a:spcPts val="0"/>
              </a:spcBef>
              <a:buNone/>
            </a:pPr>
            <a:endParaRPr lang="en-US" sz="1000" kern="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0000"/>
              </a:lnSpc>
              <a:spcBef>
                <a:spcPts val="0"/>
              </a:spcBef>
              <a:buNone/>
            </a:pPr>
            <a:endParaRPr lang="en-US" sz="1000" kern="0" dirty="0">
              <a:latin typeface="Calibri" panose="020F0502020204030204" pitchFamily="34" charset="0"/>
              <a:ea typeface="Calibri" panose="020F0502020204030204" pitchFamily="34" charset="0"/>
              <a:cs typeface="Arial" panose="020B0604020202020204" pitchFamily="34" charset="0"/>
            </a:endParaRPr>
          </a:p>
          <a:p>
            <a:pPr marL="0" indent="0">
              <a:lnSpc>
                <a:spcPct val="100000"/>
              </a:lnSpc>
              <a:spcBef>
                <a:spcPts val="0"/>
              </a:spcBef>
              <a:buNone/>
            </a:pPr>
            <a:r>
              <a:rPr lang="en-US" sz="1300" i="1" kern="0" dirty="0">
                <a:effectLst/>
                <a:latin typeface="Calibri" panose="020F0502020204030204" pitchFamily="34" charset="0"/>
                <a:ea typeface="Calibri" panose="020F0502020204030204" pitchFamily="34" charset="0"/>
                <a:cs typeface="Arial" panose="020B0604020202020204" pitchFamily="34" charset="0"/>
              </a:rPr>
              <a:t>1.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Cruciani</a:t>
            </a:r>
            <a:r>
              <a:rPr lang="en-US" sz="1300" i="1" kern="0" dirty="0">
                <a:effectLst/>
                <a:latin typeface="Calibri" panose="020F0502020204030204" pitchFamily="34" charset="0"/>
                <a:ea typeface="Calibri" panose="020F0502020204030204" pitchFamily="34" charset="0"/>
                <a:cs typeface="Arial" panose="020B0604020202020204" pitchFamily="34" charset="0"/>
              </a:rPr>
              <a:t> M,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Scarparo</a:t>
            </a:r>
            <a:r>
              <a:rPr lang="en-US" sz="1300" i="1" kern="0" dirty="0">
                <a:effectLst/>
                <a:latin typeface="Calibri" panose="020F0502020204030204" pitchFamily="34" charset="0"/>
                <a:ea typeface="Calibri" panose="020F0502020204030204" pitchFamily="34" charset="0"/>
                <a:cs typeface="Arial" panose="020B0604020202020204" pitchFamily="34" charset="0"/>
              </a:rPr>
              <a:t> C, Malena M, Bosco O,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Serpelloni</a:t>
            </a:r>
            <a:r>
              <a:rPr lang="en-US" sz="1300" i="1" kern="0" dirty="0">
                <a:effectLst/>
                <a:latin typeface="Calibri" panose="020F0502020204030204" pitchFamily="34" charset="0"/>
                <a:ea typeface="Calibri" panose="020F0502020204030204" pitchFamily="34" charset="0"/>
                <a:cs typeface="Arial" panose="020B0604020202020204" pitchFamily="34" charset="0"/>
              </a:rPr>
              <a:t> G,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Mengoli</a:t>
            </a:r>
            <a:r>
              <a:rPr lang="en-US" sz="1300" i="1" kern="0" dirty="0">
                <a:effectLst/>
                <a:latin typeface="Calibri" panose="020F0502020204030204" pitchFamily="34" charset="0"/>
                <a:ea typeface="Calibri" panose="020F0502020204030204" pitchFamily="34" charset="0"/>
                <a:cs typeface="Arial" panose="020B0604020202020204" pitchFamily="34" charset="0"/>
              </a:rPr>
              <a:t> C. Meta-analysis of BACTEC MGIT 960 and BACTEC 460 TB, with or without solid media, for detection of mycobacteria. J Clin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Microbiol</a:t>
            </a:r>
            <a:r>
              <a:rPr lang="en-US" sz="1300" i="1" kern="0" dirty="0">
                <a:effectLst/>
                <a:latin typeface="Calibri" panose="020F0502020204030204" pitchFamily="34" charset="0"/>
                <a:ea typeface="Calibri" panose="020F0502020204030204" pitchFamily="34" charset="0"/>
                <a:cs typeface="Arial" panose="020B0604020202020204" pitchFamily="34" charset="0"/>
              </a:rPr>
              <a:t>. 2004;42(5):2321-5</a:t>
            </a:r>
          </a:p>
          <a:p>
            <a:pPr marL="0" indent="0">
              <a:lnSpc>
                <a:spcPct val="100000"/>
              </a:lnSpc>
              <a:spcBef>
                <a:spcPts val="0"/>
              </a:spcBef>
              <a:buNone/>
            </a:pPr>
            <a:r>
              <a:rPr lang="en-US" sz="1300" i="1" kern="0" dirty="0">
                <a:effectLst/>
                <a:latin typeface="Calibri" panose="020F0502020204030204" pitchFamily="34" charset="0"/>
                <a:ea typeface="Calibri" panose="020F0502020204030204" pitchFamily="34" charset="0"/>
                <a:cs typeface="Arial" panose="020B0604020202020204" pitchFamily="34" charset="0"/>
              </a:rPr>
              <a:t>2.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Zifodya</a:t>
            </a:r>
            <a:r>
              <a:rPr lang="en-US" sz="1300" i="1" kern="0" dirty="0">
                <a:effectLst/>
                <a:latin typeface="Calibri" panose="020F0502020204030204" pitchFamily="34" charset="0"/>
                <a:ea typeface="Calibri" panose="020F0502020204030204" pitchFamily="34" charset="0"/>
                <a:cs typeface="Arial" panose="020B0604020202020204" pitchFamily="34" charset="0"/>
              </a:rPr>
              <a:t> JS,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Kreniske</a:t>
            </a:r>
            <a:r>
              <a:rPr lang="en-US" sz="1300" i="1" kern="0" dirty="0">
                <a:effectLst/>
                <a:latin typeface="Calibri" panose="020F0502020204030204" pitchFamily="34" charset="0"/>
                <a:ea typeface="Calibri" panose="020F0502020204030204" pitchFamily="34" charset="0"/>
                <a:cs typeface="Arial" panose="020B0604020202020204" pitchFamily="34" charset="0"/>
              </a:rPr>
              <a:t> JS, Schiller I, Kohli M, </a:t>
            </a:r>
            <a:r>
              <a:rPr lang="en-US" sz="1300" i="1" kern="0" dirty="0" err="1">
                <a:effectLst/>
                <a:latin typeface="Calibri" panose="020F0502020204030204" pitchFamily="34" charset="0"/>
                <a:ea typeface="Calibri" panose="020F0502020204030204" pitchFamily="34" charset="0"/>
                <a:cs typeface="Arial" panose="020B0604020202020204" pitchFamily="34" charset="0"/>
              </a:rPr>
              <a:t>Dendukuri</a:t>
            </a:r>
            <a:r>
              <a:rPr lang="en-US" sz="1300" i="1" kern="0" dirty="0">
                <a:effectLst/>
                <a:latin typeface="Calibri" panose="020F0502020204030204" pitchFamily="34" charset="0"/>
                <a:ea typeface="Calibri" panose="020F0502020204030204" pitchFamily="34" charset="0"/>
                <a:cs typeface="Arial" panose="020B0604020202020204" pitchFamily="34" charset="0"/>
              </a:rPr>
              <a:t> N, Schumacher SG, et al. Xpert Ultra versus Xpert MTB/RIF for pulmonary tuberculosis and rifampicin resistance in adults with presumptive pulmonary tuberculosis. Cochrane Database Syst Rev. 2021;2:CD009593</a:t>
            </a:r>
            <a:r>
              <a:rPr lang="en-KE" sz="1300" i="1" dirty="0">
                <a:effectLst/>
              </a:rPr>
              <a:t>  </a:t>
            </a:r>
            <a:endParaRPr lang="en-US" sz="1300" i="1" kern="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920406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D328E-C2AF-B946-5EE2-BAA3245C10EB}"/>
              </a:ext>
            </a:extLst>
          </p:cNvPr>
          <p:cNvSpPr>
            <a:spLocks noGrp="1"/>
          </p:cNvSpPr>
          <p:nvPr>
            <p:ph type="title"/>
          </p:nvPr>
        </p:nvSpPr>
        <p:spPr/>
        <p:txBody>
          <a:bodyPr/>
          <a:lstStyle/>
          <a:p>
            <a:r>
              <a:rPr lang="en-KE" dirty="0"/>
              <a:t>Key Findings /Discussion 2/2</a:t>
            </a:r>
          </a:p>
        </p:txBody>
      </p:sp>
      <p:sp>
        <p:nvSpPr>
          <p:cNvPr id="3" name="Content Placeholder 2">
            <a:extLst>
              <a:ext uri="{FF2B5EF4-FFF2-40B4-BE49-F238E27FC236}">
                <a16:creationId xmlns:a16="http://schemas.microsoft.com/office/drawing/2014/main" id="{490E9B9F-1CEB-F350-242D-B6DA1BBF1DD0}"/>
              </a:ext>
            </a:extLst>
          </p:cNvPr>
          <p:cNvSpPr>
            <a:spLocks noGrp="1"/>
          </p:cNvSpPr>
          <p:nvPr>
            <p:ph idx="1"/>
          </p:nvPr>
        </p:nvSpPr>
        <p:spPr/>
        <p:txBody>
          <a:bodyPr>
            <a:normAutofit/>
          </a:bodyPr>
          <a:lstStyle/>
          <a:p>
            <a:r>
              <a:rPr lang="en-US" sz="1800" kern="0" dirty="0">
                <a:effectLst/>
                <a:latin typeface="Calibri" panose="020F0502020204030204" pitchFamily="34" charset="0"/>
                <a:ea typeface="Calibri" panose="020F0502020204030204" pitchFamily="34" charset="0"/>
                <a:cs typeface="Arial" panose="020B0604020202020204" pitchFamily="34" charset="0"/>
              </a:rPr>
              <a:t>Beyond differences in testing, additional factors likely to have contributed to the persistently high TB burden in 2022. </a:t>
            </a:r>
          </a:p>
          <a:p>
            <a:pPr lvl="1" indent="-192600">
              <a:lnSpc>
                <a:spcPct val="100000"/>
              </a:lnSpc>
              <a:spcBef>
                <a:spcPts val="0"/>
              </a:spcBef>
            </a:pPr>
            <a:r>
              <a:rPr lang="en-US" sz="1600" kern="0" dirty="0">
                <a:effectLst/>
                <a:latin typeface="Calibri" panose="020F0502020204030204" pitchFamily="34" charset="0"/>
                <a:ea typeface="Calibri" panose="020F0502020204030204" pitchFamily="34" charset="0"/>
                <a:cs typeface="Arial" panose="020B0604020202020204" pitchFamily="34" charset="0"/>
              </a:rPr>
              <a:t>health services disruptions in the two years immediately preceding the 2022 survey, including a COVID-19 related decrease in TB case notifications and a Kenyan healthcare worker strike in December 2020 – January2021</a:t>
            </a:r>
            <a:r>
              <a:rPr lang="en-KE" sz="1600" dirty="0">
                <a:effectLst/>
              </a:rPr>
              <a:t> </a:t>
            </a:r>
            <a:r>
              <a:rPr lang="en-US" sz="1600" kern="0" dirty="0">
                <a:latin typeface="Calibri" panose="020F0502020204030204" pitchFamily="34" charset="0"/>
                <a:cs typeface="Arial" panose="020B0604020202020204" pitchFamily="34" charset="0"/>
              </a:rPr>
              <a:t>followed by </a:t>
            </a:r>
            <a:r>
              <a:rPr lang="en-US" sz="1600" kern="0" dirty="0">
                <a:effectLst/>
                <a:latin typeface="Calibri" panose="020F0502020204030204" pitchFamily="34" charset="0"/>
                <a:ea typeface="Calibri" panose="020F0502020204030204" pitchFamily="34" charset="0"/>
                <a:cs typeface="Arial" panose="020B0604020202020204" pitchFamily="34" charset="0"/>
              </a:rPr>
              <a:t>TB case notifications subsequently increased </a:t>
            </a:r>
          </a:p>
          <a:p>
            <a:pPr lvl="1" indent="-192600">
              <a:lnSpc>
                <a:spcPct val="100000"/>
              </a:lnSpc>
              <a:spcBef>
                <a:spcPts val="0"/>
              </a:spcBef>
            </a:pPr>
            <a:r>
              <a:rPr lang="en-US" sz="1600" kern="0" dirty="0">
                <a:effectLst/>
                <a:latin typeface="Calibri" panose="020F0502020204030204" pitchFamily="34" charset="0"/>
                <a:ea typeface="Calibri" panose="020F0502020204030204" pitchFamily="34" charset="0"/>
                <a:cs typeface="Arial" panose="020B0604020202020204" pitchFamily="34" charset="0"/>
              </a:rPr>
              <a:t> a significant increase in participants who were unemployed in 2022 compared to 2015, which may predispose to economic</a:t>
            </a:r>
            <a:r>
              <a:rPr lang="en-US" sz="1400" kern="0" dirty="0">
                <a:effectLst/>
                <a:latin typeface="Calibri" panose="020F0502020204030204" pitchFamily="34" charset="0"/>
                <a:ea typeface="Calibri" panose="020F0502020204030204" pitchFamily="34" charset="0"/>
                <a:cs typeface="Arial" panose="020B0604020202020204" pitchFamily="34" charset="0"/>
              </a:rPr>
              <a:t> deprivation and higher TB risk</a:t>
            </a:r>
            <a:r>
              <a:rPr lang="en-KE" dirty="0">
                <a:effectLst/>
              </a:rPr>
              <a:t> </a:t>
            </a:r>
          </a:p>
          <a:p>
            <a:pPr marL="493200" lvl="1" indent="0">
              <a:lnSpc>
                <a:spcPct val="100000"/>
              </a:lnSpc>
              <a:spcBef>
                <a:spcPts val="0"/>
              </a:spcBef>
              <a:buNone/>
            </a:pPr>
            <a:endParaRPr lang="en-KE" dirty="0">
              <a:effectLst/>
            </a:endParaRPr>
          </a:p>
          <a:p>
            <a:pPr indent="-192600">
              <a:lnSpc>
                <a:spcPct val="100000"/>
              </a:lnSpc>
              <a:spcBef>
                <a:spcPts val="0"/>
              </a:spcBef>
            </a:pPr>
            <a:r>
              <a:rPr lang="en-GB" sz="1800" kern="0" dirty="0">
                <a:solidFill>
                  <a:srgbClr val="000000"/>
                </a:solidFill>
                <a:latin typeface="Calibri" panose="020F0502020204030204" pitchFamily="34" charset="0"/>
                <a:ea typeface="Calibri" panose="020F0502020204030204" pitchFamily="34" charset="0"/>
                <a:cs typeface="Arial" panose="020B0604020202020204" pitchFamily="34" charset="0"/>
              </a:rPr>
              <a:t>The </a:t>
            </a:r>
            <a:r>
              <a:rPr lang="en-GB" sz="1800" kern="0" dirty="0">
                <a:solidFill>
                  <a:srgbClr val="000000"/>
                </a:solidFill>
                <a:effectLst/>
                <a:latin typeface="Calibri" panose="020F0502020204030204" pitchFamily="34" charset="0"/>
                <a:ea typeface="Calibri" panose="020F0502020204030204" pitchFamily="34" charset="0"/>
                <a:cs typeface="Arial" panose="020B0604020202020204" pitchFamily="34" charset="0"/>
              </a:rPr>
              <a:t>likelihood of  missing participants with TB who were without cough or abnormal chest x-ray is high.</a:t>
            </a:r>
          </a:p>
          <a:p>
            <a:pPr lvl="1" indent="-192600">
              <a:lnSpc>
                <a:spcPct val="100000"/>
              </a:lnSpc>
              <a:spcBef>
                <a:spcPts val="0"/>
              </a:spcBef>
            </a:pPr>
            <a:r>
              <a:rPr lang="en-GB" sz="1600" kern="0" dirty="0">
                <a:solidFill>
                  <a:srgbClr val="000000"/>
                </a:solidFill>
                <a:effectLst/>
                <a:latin typeface="Calibri" panose="020F0502020204030204" pitchFamily="34" charset="0"/>
                <a:ea typeface="Calibri" panose="020F0502020204030204" pitchFamily="34" charset="0"/>
                <a:cs typeface="Arial" panose="020B0604020202020204" pitchFamily="34" charset="0"/>
              </a:rPr>
              <a:t>importance </a:t>
            </a:r>
            <a:r>
              <a:rPr lang="en-GB" sz="1600" kern="0" dirty="0">
                <a:solidFill>
                  <a:srgbClr val="000000"/>
                </a:solidFill>
                <a:effectLst/>
                <a:latin typeface="Calibri" panose="020F0502020204030204" pitchFamily="34" charset="0"/>
                <a:ea typeface="Calibri" panose="020F0502020204030204" pitchFamily="34" charset="0"/>
              </a:rPr>
              <a:t>of sub-clinical or asymptomatic TB as a large proportion of prevalent TB and as a likely driver of ongoing TB transmission</a:t>
            </a:r>
          </a:p>
          <a:p>
            <a:pPr lvl="1" indent="-192600">
              <a:lnSpc>
                <a:spcPct val="100000"/>
              </a:lnSpc>
              <a:spcBef>
                <a:spcPts val="0"/>
              </a:spcBef>
            </a:pPr>
            <a:r>
              <a:rPr lang="en-US" sz="1600" kern="0" dirty="0">
                <a:effectLst/>
                <a:latin typeface="Calibri" panose="020F0502020204030204" pitchFamily="34" charset="0"/>
                <a:ea typeface="Calibri" panose="020F0502020204030204" pitchFamily="34" charset="0"/>
              </a:rPr>
              <a:t>require novel methods to address diagnostic gaps including point-of-care testing</a:t>
            </a:r>
          </a:p>
          <a:p>
            <a:pPr marL="36000" indent="0">
              <a:lnSpc>
                <a:spcPct val="100000"/>
              </a:lnSpc>
              <a:spcBef>
                <a:spcPts val="0"/>
              </a:spcBef>
              <a:buNone/>
            </a:pPr>
            <a:endParaRPr lang="en-KE" dirty="0"/>
          </a:p>
        </p:txBody>
      </p:sp>
    </p:spTree>
    <p:extLst>
      <p:ext uri="{BB962C8B-B14F-4D97-AF65-F5344CB8AC3E}">
        <p14:creationId xmlns:p14="http://schemas.microsoft.com/office/powerpoint/2010/main" val="116707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57F7-9ACD-921D-7E00-146DF473B2FC}"/>
              </a:ext>
            </a:extLst>
          </p:cNvPr>
          <p:cNvSpPr>
            <a:spLocks noGrp="1"/>
          </p:cNvSpPr>
          <p:nvPr>
            <p:ph type="title"/>
          </p:nvPr>
        </p:nvSpPr>
        <p:spPr/>
        <p:txBody>
          <a:bodyPr/>
          <a:lstStyle/>
          <a:p>
            <a:r>
              <a:rPr lang="en-KE" dirty="0"/>
              <a:t> Recommendations</a:t>
            </a:r>
          </a:p>
        </p:txBody>
      </p:sp>
      <p:sp>
        <p:nvSpPr>
          <p:cNvPr id="3" name="Content Placeholder 2">
            <a:extLst>
              <a:ext uri="{FF2B5EF4-FFF2-40B4-BE49-F238E27FC236}">
                <a16:creationId xmlns:a16="http://schemas.microsoft.com/office/drawing/2014/main" id="{F99D2500-F1D6-D4EE-88FE-A4AC114ED112}"/>
              </a:ext>
            </a:extLst>
          </p:cNvPr>
          <p:cNvSpPr>
            <a:spLocks noGrp="1"/>
          </p:cNvSpPr>
          <p:nvPr>
            <p:ph idx="1"/>
          </p:nvPr>
        </p:nvSpPr>
        <p:spPr/>
        <p:txBody>
          <a:bodyPr/>
          <a:lstStyle/>
          <a:p>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indent="-192600">
              <a:lnSpc>
                <a:spcPct val="100000"/>
              </a:lnSpc>
              <a:spcBef>
                <a:spcPts val="0"/>
              </a:spcBef>
            </a:pPr>
            <a:r>
              <a:rPr lang="en-US" sz="1800" kern="0" dirty="0">
                <a:latin typeface="Calibri" panose="020F0502020204030204" pitchFamily="34" charset="0"/>
                <a:ea typeface="Calibri" panose="020F0502020204030204" pitchFamily="34" charset="0"/>
                <a:cs typeface="Arial" panose="020B0604020202020204" pitchFamily="34" charset="0"/>
              </a:rPr>
              <a:t>A</a:t>
            </a:r>
            <a:r>
              <a:rPr lang="en-US" sz="1800" kern="0" dirty="0">
                <a:effectLst/>
                <a:latin typeface="Calibri" panose="020F0502020204030204" pitchFamily="34" charset="0"/>
                <a:ea typeface="Calibri" panose="020F0502020204030204" pitchFamily="34" charset="0"/>
                <a:cs typeface="Arial" panose="020B0604020202020204" pitchFamily="34" charset="0"/>
              </a:rPr>
              <a:t>ctive case-finding approaches need to identify strategies to increase inclusion of men such as enrollment through non-household locales or performing screening outside of business hours</a:t>
            </a:r>
            <a:r>
              <a:rPr lang="en-KE" sz="1800" dirty="0">
                <a:effectLst/>
              </a:rPr>
              <a:t> </a:t>
            </a:r>
          </a:p>
          <a:p>
            <a:pPr indent="-192600">
              <a:lnSpc>
                <a:spcPct val="100000"/>
              </a:lnSpc>
              <a:spcBef>
                <a:spcPts val="0"/>
              </a:spcBef>
            </a:pPr>
            <a:endParaRPr lang="en-US" sz="1800" dirty="0">
              <a:latin typeface="Calibri" panose="020F0502020204030204" pitchFamily="34" charset="0"/>
              <a:ea typeface="Calibri" panose="020F0502020204030204" pitchFamily="34" charset="0"/>
              <a:cs typeface="Arial" panose="020B0604020202020204" pitchFamily="34" charset="0"/>
            </a:endParaRPr>
          </a:p>
          <a:p>
            <a:pPr indent="-192600">
              <a:lnSpc>
                <a:spcPct val="100000"/>
              </a:lnSpc>
              <a:spcBef>
                <a:spcPts val="0"/>
              </a:spcBef>
            </a:pPr>
            <a:r>
              <a:rPr lang="en-US" sz="1800" dirty="0">
                <a:latin typeface="Calibri" panose="020F0502020204030204" pitchFamily="34" charset="0"/>
                <a:ea typeface="Calibri" panose="020F0502020204030204" pitchFamily="34" charset="0"/>
                <a:cs typeface="Arial" panose="020B0604020202020204" pitchFamily="34" charset="0"/>
              </a:rPr>
              <a:t>A</a:t>
            </a:r>
            <a:r>
              <a:rPr lang="en-US" sz="1800" dirty="0">
                <a:effectLst/>
                <a:latin typeface="Calibri" panose="020F0502020204030204" pitchFamily="34" charset="0"/>
                <a:ea typeface="Calibri" panose="020F0502020204030204" pitchFamily="34" charset="0"/>
                <a:cs typeface="Arial" panose="020B0604020202020204" pitchFamily="34" charset="0"/>
              </a:rPr>
              <a:t>ctive case-finding among 45-64 year-old men in Nairobi County may be a strategy to maximize the detection of TB.</a:t>
            </a:r>
            <a:endParaRPr lang="en-KE" sz="1800" dirty="0">
              <a:effectLst/>
              <a:latin typeface="Calibri" panose="020F0502020204030204" pitchFamily="34" charset="0"/>
              <a:ea typeface="Calibri" panose="020F0502020204030204" pitchFamily="34" charset="0"/>
              <a:cs typeface="Arial" panose="020B0604020202020204" pitchFamily="34" charset="0"/>
            </a:endParaRPr>
          </a:p>
          <a:p>
            <a:endParaRPr lang="en-US" sz="1800" dirty="0">
              <a:latin typeface="Calibri" panose="020F0502020204030204" pitchFamily="34" charset="0"/>
              <a:ea typeface="Calibri" panose="020F0502020204030204" pitchFamily="34" charset="0"/>
              <a:cs typeface="Arial" panose="020B0604020202020204" pitchFamily="34" charset="0"/>
            </a:endParaRPr>
          </a:p>
          <a:p>
            <a:r>
              <a:rPr lang="en-US" sz="1800" dirty="0">
                <a:effectLst/>
                <a:latin typeface="Calibri" panose="020F0502020204030204" pitchFamily="34" charset="0"/>
                <a:ea typeface="Calibri" panose="020F0502020204030204" pitchFamily="34" charset="0"/>
                <a:cs typeface="Arial" panose="020B0604020202020204" pitchFamily="34" charset="0"/>
              </a:rPr>
              <a:t>Future work should explore factors such as overcrowding, poor ventilation, poverty, and limited access to healthcare in these neighborhoods to help identify more targeted interventions to address the root causes driving TB transmission in these high-risk areas.</a:t>
            </a:r>
            <a:endParaRPr lang="en-KE" sz="1800" dirty="0">
              <a:effectLst/>
              <a:latin typeface="Calibri" panose="020F0502020204030204" pitchFamily="34" charset="0"/>
              <a:ea typeface="Calibri" panose="020F0502020204030204" pitchFamily="34" charset="0"/>
              <a:cs typeface="Arial" panose="020B0604020202020204" pitchFamily="34" charset="0"/>
            </a:endParaRPr>
          </a:p>
          <a:p>
            <a:endParaRPr lang="en-KE" dirty="0"/>
          </a:p>
        </p:txBody>
      </p:sp>
    </p:spTree>
    <p:extLst>
      <p:ext uri="{BB962C8B-B14F-4D97-AF65-F5344CB8AC3E}">
        <p14:creationId xmlns:p14="http://schemas.microsoft.com/office/powerpoint/2010/main" val="3659119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788D709-8B02-52E1-DE2B-B5E8942F6E0E}"/>
              </a:ext>
            </a:extLst>
          </p:cNvPr>
          <p:cNvPicPr>
            <a:picLocks noChangeAspect="1"/>
          </p:cNvPicPr>
          <p:nvPr/>
        </p:nvPicPr>
        <p:blipFill>
          <a:blip r:embed="rId2"/>
          <a:stretch>
            <a:fillRect/>
          </a:stretch>
        </p:blipFill>
        <p:spPr>
          <a:xfrm>
            <a:off x="2209800" y="1151479"/>
            <a:ext cx="7772400" cy="4555041"/>
          </a:xfrm>
          <a:prstGeom prst="rect">
            <a:avLst/>
          </a:prstGeom>
        </p:spPr>
      </p:pic>
    </p:spTree>
    <p:extLst>
      <p:ext uri="{BB962C8B-B14F-4D97-AF65-F5344CB8AC3E}">
        <p14:creationId xmlns:p14="http://schemas.microsoft.com/office/powerpoint/2010/main" val="3412418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024D3-D7FB-EC96-EF82-8A1F62017229}"/>
              </a:ext>
            </a:extLst>
          </p:cNvPr>
          <p:cNvSpPr>
            <a:spLocks noGrp="1"/>
          </p:cNvSpPr>
          <p:nvPr>
            <p:ph type="title"/>
          </p:nvPr>
        </p:nvSpPr>
        <p:spPr/>
        <p:txBody>
          <a:bodyPr/>
          <a:lstStyle/>
          <a:p>
            <a:r>
              <a:rPr lang="en-KE" dirty="0"/>
              <a:t> Acknowledgement</a:t>
            </a:r>
          </a:p>
        </p:txBody>
      </p:sp>
      <p:sp>
        <p:nvSpPr>
          <p:cNvPr id="3" name="Content Placeholder 2">
            <a:extLst>
              <a:ext uri="{FF2B5EF4-FFF2-40B4-BE49-F238E27FC236}">
                <a16:creationId xmlns:a16="http://schemas.microsoft.com/office/drawing/2014/main" id="{D5BF3F14-944F-C049-A8FE-1D76B291C5C8}"/>
              </a:ext>
            </a:extLst>
          </p:cNvPr>
          <p:cNvSpPr>
            <a:spLocks noGrp="1"/>
          </p:cNvSpPr>
          <p:nvPr>
            <p:ph idx="1"/>
          </p:nvPr>
        </p:nvSpPr>
        <p:spPr/>
        <p:txBody>
          <a:bodyPr/>
          <a:lstStyle/>
          <a:p>
            <a:r>
              <a:rPr lang="en-US" sz="1800" dirty="0">
                <a:effectLst/>
                <a:latin typeface="Calibri" panose="020F0502020204030204" pitchFamily="34" charset="0"/>
                <a:ea typeface="Calibri" panose="020F0502020204030204" pitchFamily="34" charset="0"/>
                <a:cs typeface="Arial" panose="020B0604020202020204" pitchFamily="34" charset="0"/>
              </a:rPr>
              <a:t> Individual study participants and their families</a:t>
            </a:r>
          </a:p>
          <a:p>
            <a:r>
              <a:rPr lang="en-US" sz="1800" dirty="0">
                <a:effectLst/>
                <a:latin typeface="Calibri" panose="020F0502020204030204" pitchFamily="34" charset="0"/>
                <a:ea typeface="Calibri" panose="020F0502020204030204" pitchFamily="34" charset="0"/>
                <a:cs typeface="Arial" panose="020B0604020202020204" pitchFamily="34" charset="0"/>
              </a:rPr>
              <a:t>community resource persons (CHPs, Village Elders Chiefs, Local </a:t>
            </a:r>
            <a:r>
              <a:rPr lang="en-US" sz="1800" dirty="0" err="1">
                <a:effectLst/>
                <a:latin typeface="Calibri" panose="020F0502020204030204" pitchFamily="34" charset="0"/>
                <a:ea typeface="Calibri" panose="020F0502020204030204" pitchFamily="34" charset="0"/>
                <a:cs typeface="Arial" panose="020B0604020202020204" pitchFamily="34" charset="0"/>
              </a:rPr>
              <a:t>Adminstration</a:t>
            </a:r>
            <a:r>
              <a:rPr lang="en-US" sz="1800" dirty="0">
                <a:effectLst/>
                <a:latin typeface="Calibri" panose="020F0502020204030204" pitchFamily="34" charset="0"/>
                <a:ea typeface="Calibri" panose="020F0502020204030204" pitchFamily="34" charset="0"/>
                <a:cs typeface="Arial" panose="020B0604020202020204" pitchFamily="34" charset="0"/>
              </a:rPr>
              <a:t>)</a:t>
            </a:r>
          </a:p>
          <a:p>
            <a:r>
              <a:rPr lang="en-US" sz="1800" dirty="0">
                <a:latin typeface="Calibri" panose="020F0502020204030204" pitchFamily="34" charset="0"/>
                <a:ea typeface="Calibri" panose="020F0502020204030204" pitchFamily="34" charset="0"/>
                <a:cs typeface="Arial" panose="020B0604020202020204" pitchFamily="34" charset="0"/>
              </a:rPr>
              <a:t>Nairobi County TB Coordinators</a:t>
            </a:r>
          </a:p>
          <a:p>
            <a:r>
              <a:rPr lang="en-US" sz="1800" dirty="0">
                <a:effectLst/>
                <a:latin typeface="Calibri" panose="020F0502020204030204" pitchFamily="34" charset="0"/>
                <a:ea typeface="Calibri" panose="020F0502020204030204" pitchFamily="34" charset="0"/>
                <a:cs typeface="Arial" panose="020B0604020202020204" pitchFamily="34" charset="0"/>
              </a:rPr>
              <a:t>Nairobi County health management team</a:t>
            </a:r>
          </a:p>
          <a:p>
            <a:r>
              <a:rPr lang="en-US" sz="1800" dirty="0">
                <a:effectLst/>
                <a:latin typeface="Calibri" panose="020F0502020204030204" pitchFamily="34" charset="0"/>
                <a:ea typeface="Calibri" panose="020F0502020204030204" pitchFamily="34" charset="0"/>
                <a:cs typeface="Arial" panose="020B0604020202020204" pitchFamily="34" charset="0"/>
              </a:rPr>
              <a:t>National TB Program</a:t>
            </a:r>
          </a:p>
          <a:p>
            <a:r>
              <a:rPr lang="en-US" sz="1800" dirty="0">
                <a:latin typeface="Calibri" panose="020F0502020204030204" pitchFamily="34" charset="0"/>
                <a:ea typeface="Calibri" panose="020F0502020204030204" pitchFamily="34" charset="0"/>
                <a:cs typeface="Arial" panose="020B0604020202020204" pitchFamily="34" charset="0"/>
              </a:rPr>
              <a:t>KNBS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r>
              <a:rPr lang="en-US" sz="1800" dirty="0">
                <a:latin typeface="Calibri" panose="020F0502020204030204" pitchFamily="34" charset="0"/>
                <a:ea typeface="Calibri" panose="020F0502020204030204" pitchFamily="34" charset="0"/>
                <a:cs typeface="Arial" panose="020B0604020202020204" pitchFamily="34" charset="0"/>
              </a:rPr>
              <a:t>University of Washington</a:t>
            </a:r>
          </a:p>
          <a:p>
            <a:r>
              <a:rPr lang="en-US" sz="1800" dirty="0">
                <a:effectLst/>
                <a:latin typeface="Calibri" panose="020F0502020204030204" pitchFamily="34" charset="0"/>
                <a:ea typeface="Calibri" panose="020F0502020204030204" pitchFamily="34" charset="0"/>
                <a:cs typeface="Arial" panose="020B0604020202020204" pitchFamily="34" charset="0"/>
              </a:rPr>
              <a:t>CRDR KEMRI Study staff </a:t>
            </a:r>
            <a:endParaRPr lang="en-KE" sz="18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KE" dirty="0"/>
          </a:p>
        </p:txBody>
      </p:sp>
    </p:spTree>
    <p:extLst>
      <p:ext uri="{BB962C8B-B14F-4D97-AF65-F5344CB8AC3E}">
        <p14:creationId xmlns:p14="http://schemas.microsoft.com/office/powerpoint/2010/main" val="556311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887</TotalTime>
  <Words>2209</Words>
  <Application>Microsoft Macintosh PowerPoint</Application>
  <PresentationFormat>Widescreen</PresentationFormat>
  <Paragraphs>466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Wingdings</vt:lpstr>
      <vt:lpstr>Office Theme</vt:lpstr>
      <vt:lpstr>Nairobi County TB Prevalence survey 2022: Has the prevalence changed since 2016?</vt:lpstr>
      <vt:lpstr> Introduction</vt:lpstr>
      <vt:lpstr>Methods 2015 vs 2022</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Key Findings /Discussion 1/2</vt:lpstr>
      <vt:lpstr>Key Findings /Discussion 2/2</vt:lpstr>
      <vt:lpstr> Recommendations</vt:lpstr>
      <vt:lpstr>PowerPoint Presentation</vt:lpstr>
      <vt:lpstr> 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Jane Ong'ang'o</dc:creator>
  <cp:lastModifiedBy>Jane Ong'ang'o</cp:lastModifiedBy>
  <cp:revision>8</cp:revision>
  <cp:lastPrinted>2025-09-25T13:10:17Z</cp:lastPrinted>
  <dcterms:created xsi:type="dcterms:W3CDTF">2025-01-23T19:35:21Z</dcterms:created>
  <dcterms:modified xsi:type="dcterms:W3CDTF">2025-09-28T20:30:19Z</dcterms:modified>
</cp:coreProperties>
</file>