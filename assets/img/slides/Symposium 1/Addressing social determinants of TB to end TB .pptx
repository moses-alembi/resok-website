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sldIdLst>
    <p:sldId id="2147377420" r:id="rId5"/>
    <p:sldId id="2147377404" r:id="rId6"/>
    <p:sldId id="283" r:id="rId7"/>
    <p:sldId id="258" r:id="rId8"/>
    <p:sldId id="2147377405" r:id="rId9"/>
    <p:sldId id="2147377410" r:id="rId10"/>
    <p:sldId id="2147377409" r:id="rId11"/>
    <p:sldId id="2147377411" r:id="rId12"/>
    <p:sldId id="2147377412" r:id="rId13"/>
    <p:sldId id="2147377413" r:id="rId14"/>
    <p:sldId id="257" r:id="rId15"/>
    <p:sldId id="2147377391" r:id="rId16"/>
    <p:sldId id="2147377380" r:id="rId17"/>
    <p:sldId id="2147377402" r:id="rId18"/>
    <p:sldId id="281" r:id="rId19"/>
    <p:sldId id="2147377406" r:id="rId20"/>
    <p:sldId id="443" r:id="rId21"/>
    <p:sldId id="444" r:id="rId22"/>
    <p:sldId id="2147377414" r:id="rId23"/>
    <p:sldId id="2147377415" r:id="rId24"/>
    <p:sldId id="2147377407" r:id="rId25"/>
    <p:sldId id="450" r:id="rId26"/>
    <p:sldId id="2147377328" r:id="rId27"/>
    <p:sldId id="285" r:id="rId28"/>
    <p:sldId id="2147377385" r:id="rId29"/>
    <p:sldId id="294" r:id="rId30"/>
    <p:sldId id="295" r:id="rId31"/>
    <p:sldId id="2147377416" r:id="rId32"/>
    <p:sldId id="2147377417" r:id="rId33"/>
    <p:sldId id="260" r:id="rId34"/>
    <p:sldId id="264" r:id="rId35"/>
    <p:sldId id="2147377418" r:id="rId36"/>
    <p:sldId id="214737740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D2E"/>
    <a:srgbClr val="006699"/>
    <a:srgbClr val="691C31"/>
    <a:srgbClr val="34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/>
    <p:restoredTop sz="94624"/>
  </p:normalViewPr>
  <p:slideViewPr>
    <p:cSldViewPr snapToGrid="0">
      <p:cViewPr varScale="1">
        <p:scale>
          <a:sx n="111" d="100"/>
          <a:sy n="111" d="100"/>
        </p:scale>
        <p:origin x="9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7FF51-5EA7-4949-9D88-87ACA94B393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64FC03E-AA30-4D14-9C9D-7F47489068AC}">
      <dgm:prSet/>
      <dgm:spPr/>
      <dgm:t>
        <a:bodyPr/>
        <a:lstStyle/>
        <a:p>
          <a:r>
            <a:rPr lang="en-KE" dirty="0"/>
            <a:t>Poverty </a:t>
          </a:r>
          <a:endParaRPr lang="en-US" dirty="0"/>
        </a:p>
      </dgm:t>
    </dgm:pt>
    <dgm:pt modelId="{9767D4B8-6F49-421E-B476-2B14E13A07DB}" type="parTrans" cxnId="{FA7E5406-47EA-452C-87C1-2AB610CB94FB}">
      <dgm:prSet/>
      <dgm:spPr/>
      <dgm:t>
        <a:bodyPr/>
        <a:lstStyle/>
        <a:p>
          <a:endParaRPr lang="en-US"/>
        </a:p>
      </dgm:t>
    </dgm:pt>
    <dgm:pt modelId="{21F622E5-80FE-49CE-BCA5-BC7CCD772B1B}" type="sibTrans" cxnId="{FA7E5406-47EA-452C-87C1-2AB610CB94FB}">
      <dgm:prSet/>
      <dgm:spPr/>
      <dgm:t>
        <a:bodyPr/>
        <a:lstStyle/>
        <a:p>
          <a:endParaRPr lang="en-US"/>
        </a:p>
      </dgm:t>
    </dgm:pt>
    <dgm:pt modelId="{EF83A727-A7E0-4C43-B654-7028C2E9FF36}">
      <dgm:prSet/>
      <dgm:spPr/>
      <dgm:t>
        <a:bodyPr/>
        <a:lstStyle/>
        <a:p>
          <a:r>
            <a:rPr lang="en-KE" dirty="0"/>
            <a:t>Poor housing </a:t>
          </a:r>
          <a:endParaRPr lang="en-US" dirty="0"/>
        </a:p>
      </dgm:t>
    </dgm:pt>
    <dgm:pt modelId="{500BD902-77BA-4C2A-A3A7-F829C0C0CB4E}" type="parTrans" cxnId="{9DA09725-E44F-4787-8AE9-3BAEB58887E3}">
      <dgm:prSet/>
      <dgm:spPr/>
      <dgm:t>
        <a:bodyPr/>
        <a:lstStyle/>
        <a:p>
          <a:endParaRPr lang="en-US"/>
        </a:p>
      </dgm:t>
    </dgm:pt>
    <dgm:pt modelId="{8C820ECE-11C7-4115-BFF1-DCDF70A42283}" type="sibTrans" cxnId="{9DA09725-E44F-4787-8AE9-3BAEB58887E3}">
      <dgm:prSet/>
      <dgm:spPr/>
      <dgm:t>
        <a:bodyPr/>
        <a:lstStyle/>
        <a:p>
          <a:endParaRPr lang="en-US"/>
        </a:p>
      </dgm:t>
    </dgm:pt>
    <dgm:pt modelId="{E211F583-C93B-4A86-BA78-5A66509A0438}">
      <dgm:prSet/>
      <dgm:spPr/>
      <dgm:t>
        <a:bodyPr/>
        <a:lstStyle/>
        <a:p>
          <a:r>
            <a:rPr lang="en-KE" dirty="0"/>
            <a:t>Undernutrition </a:t>
          </a:r>
          <a:endParaRPr lang="en-US" dirty="0"/>
        </a:p>
      </dgm:t>
    </dgm:pt>
    <dgm:pt modelId="{B43F3ADD-5451-496E-AA7D-2F2E29C8C099}" type="parTrans" cxnId="{9803C331-DFDB-4341-A1F5-301012F202CB}">
      <dgm:prSet/>
      <dgm:spPr/>
      <dgm:t>
        <a:bodyPr/>
        <a:lstStyle/>
        <a:p>
          <a:endParaRPr lang="en-US"/>
        </a:p>
      </dgm:t>
    </dgm:pt>
    <dgm:pt modelId="{DCC07A1E-3B3D-474C-9F67-17F71482AE87}" type="sibTrans" cxnId="{9803C331-DFDB-4341-A1F5-301012F202CB}">
      <dgm:prSet/>
      <dgm:spPr/>
      <dgm:t>
        <a:bodyPr/>
        <a:lstStyle/>
        <a:p>
          <a:endParaRPr lang="en-US"/>
        </a:p>
      </dgm:t>
    </dgm:pt>
    <dgm:pt modelId="{AC273FF8-1DCA-4E25-B84C-E4AFAC11CF08}">
      <dgm:prSet/>
      <dgm:spPr/>
      <dgm:t>
        <a:bodyPr/>
        <a:lstStyle/>
        <a:p>
          <a:r>
            <a:rPr lang="en-KE" dirty="0"/>
            <a:t>Poor access to  health care services </a:t>
          </a:r>
          <a:endParaRPr lang="en-US" dirty="0"/>
        </a:p>
      </dgm:t>
    </dgm:pt>
    <dgm:pt modelId="{EBBF19BD-495A-4EBA-8E99-4E9FED7A9F03}" type="parTrans" cxnId="{C65D1F5F-C89A-4E93-B835-39DC399BD24E}">
      <dgm:prSet/>
      <dgm:spPr/>
      <dgm:t>
        <a:bodyPr/>
        <a:lstStyle/>
        <a:p>
          <a:endParaRPr lang="en-US"/>
        </a:p>
      </dgm:t>
    </dgm:pt>
    <dgm:pt modelId="{BE2235A6-1CEE-4A89-B608-946620305E80}" type="sibTrans" cxnId="{C65D1F5F-C89A-4E93-B835-39DC399BD24E}">
      <dgm:prSet/>
      <dgm:spPr/>
      <dgm:t>
        <a:bodyPr/>
        <a:lstStyle/>
        <a:p>
          <a:endParaRPr lang="en-US"/>
        </a:p>
      </dgm:t>
    </dgm:pt>
    <dgm:pt modelId="{ED76EC83-DA73-4032-8CAE-C5ED820DDF85}">
      <dgm:prSet/>
      <dgm:spPr/>
      <dgm:t>
        <a:bodyPr/>
        <a:lstStyle/>
        <a:p>
          <a:r>
            <a:rPr lang="en-KE" dirty="0"/>
            <a:t>Low education level </a:t>
          </a:r>
          <a:endParaRPr lang="en-US" dirty="0"/>
        </a:p>
      </dgm:t>
    </dgm:pt>
    <dgm:pt modelId="{22AA30B3-2351-4867-96AC-F88838494319}" type="parTrans" cxnId="{FBDB0630-F1BD-4461-AD08-118C2BC6351A}">
      <dgm:prSet/>
      <dgm:spPr/>
      <dgm:t>
        <a:bodyPr/>
        <a:lstStyle/>
        <a:p>
          <a:endParaRPr lang="en-US"/>
        </a:p>
      </dgm:t>
    </dgm:pt>
    <dgm:pt modelId="{3C98C989-3FDC-4B9D-BC66-1A407D13B74B}" type="sibTrans" cxnId="{FBDB0630-F1BD-4461-AD08-118C2BC6351A}">
      <dgm:prSet/>
      <dgm:spPr/>
      <dgm:t>
        <a:bodyPr/>
        <a:lstStyle/>
        <a:p>
          <a:endParaRPr lang="en-US"/>
        </a:p>
      </dgm:t>
    </dgm:pt>
    <dgm:pt modelId="{0F173222-3641-4C17-ACAF-DA9929232621}">
      <dgm:prSet/>
      <dgm:spPr/>
      <dgm:t>
        <a:bodyPr/>
        <a:lstStyle/>
        <a:p>
          <a:r>
            <a:rPr lang="en-KE" dirty="0"/>
            <a:t>Migration, especially following conflict</a:t>
          </a:r>
          <a:endParaRPr lang="en-US" dirty="0"/>
        </a:p>
      </dgm:t>
    </dgm:pt>
    <dgm:pt modelId="{C0690B70-6958-4074-833A-0E8DFB8CDD6D}" type="parTrans" cxnId="{2C07B5DA-CD6C-4CA6-809B-CDE15A49C830}">
      <dgm:prSet/>
      <dgm:spPr/>
      <dgm:t>
        <a:bodyPr/>
        <a:lstStyle/>
        <a:p>
          <a:endParaRPr lang="en-US"/>
        </a:p>
      </dgm:t>
    </dgm:pt>
    <dgm:pt modelId="{3B28D126-DEB5-416B-9AD0-7F023879416A}" type="sibTrans" cxnId="{2C07B5DA-CD6C-4CA6-809B-CDE15A49C830}">
      <dgm:prSet/>
      <dgm:spPr/>
      <dgm:t>
        <a:bodyPr/>
        <a:lstStyle/>
        <a:p>
          <a:endParaRPr lang="en-US"/>
        </a:p>
      </dgm:t>
    </dgm:pt>
    <dgm:pt modelId="{563AFE66-B4AC-4CF0-84ED-22C418D836F4}">
      <dgm:prSet/>
      <dgm:spPr/>
      <dgm:t>
        <a:bodyPr/>
        <a:lstStyle/>
        <a:p>
          <a:r>
            <a:rPr lang="en-KE" dirty="0"/>
            <a:t>Gender  inequality </a:t>
          </a:r>
          <a:endParaRPr lang="en-US" dirty="0"/>
        </a:p>
      </dgm:t>
    </dgm:pt>
    <dgm:pt modelId="{BCE7F79A-2AFF-4EAD-B278-96ED3565DCBC}" type="parTrans" cxnId="{66682BE2-5078-4649-AFF1-CA326D7DE985}">
      <dgm:prSet/>
      <dgm:spPr/>
      <dgm:t>
        <a:bodyPr/>
        <a:lstStyle/>
        <a:p>
          <a:endParaRPr lang="en-US"/>
        </a:p>
      </dgm:t>
    </dgm:pt>
    <dgm:pt modelId="{4FFFB05E-4CA9-43F1-A5CE-D6FF413337E0}" type="sibTrans" cxnId="{66682BE2-5078-4649-AFF1-CA326D7DE985}">
      <dgm:prSet/>
      <dgm:spPr/>
      <dgm:t>
        <a:bodyPr/>
        <a:lstStyle/>
        <a:p>
          <a:endParaRPr lang="en-US"/>
        </a:p>
      </dgm:t>
    </dgm:pt>
    <dgm:pt modelId="{A685E011-1199-4429-84F2-B257C3DEA804}">
      <dgm:prSet/>
      <dgm:spPr/>
      <dgm:t>
        <a:bodyPr/>
        <a:lstStyle/>
        <a:p>
          <a:r>
            <a:rPr lang="en-KE" dirty="0"/>
            <a:t>Occupations, such as mining /health care professionals </a:t>
          </a:r>
          <a:endParaRPr lang="en-US" dirty="0"/>
        </a:p>
      </dgm:t>
    </dgm:pt>
    <dgm:pt modelId="{B6336108-D2C2-41E4-8869-918D8F8A294C}" type="parTrans" cxnId="{6E775590-1CA6-474E-A42F-CCA79A2CCB7A}">
      <dgm:prSet/>
      <dgm:spPr/>
      <dgm:t>
        <a:bodyPr/>
        <a:lstStyle/>
        <a:p>
          <a:endParaRPr lang="en-US"/>
        </a:p>
      </dgm:t>
    </dgm:pt>
    <dgm:pt modelId="{AD0C95F6-300F-43C2-93B6-0A1F1B5D63D4}" type="sibTrans" cxnId="{6E775590-1CA6-474E-A42F-CCA79A2CCB7A}">
      <dgm:prSet/>
      <dgm:spPr/>
      <dgm:t>
        <a:bodyPr/>
        <a:lstStyle/>
        <a:p>
          <a:endParaRPr lang="en-US"/>
        </a:p>
      </dgm:t>
    </dgm:pt>
    <dgm:pt modelId="{151D76D2-9215-E244-8B44-7A63933052D0}" type="pres">
      <dgm:prSet presAssocID="{60C7FF51-5EA7-4949-9D88-87ACA94B3931}" presName="diagram" presStyleCnt="0">
        <dgm:presLayoutVars>
          <dgm:dir/>
          <dgm:resizeHandles val="exact"/>
        </dgm:presLayoutVars>
      </dgm:prSet>
      <dgm:spPr/>
    </dgm:pt>
    <dgm:pt modelId="{4DA1FA6C-B964-224E-A42B-0FCD76F24662}" type="pres">
      <dgm:prSet presAssocID="{E64FC03E-AA30-4D14-9C9D-7F47489068AC}" presName="node" presStyleLbl="node1" presStyleIdx="0" presStyleCnt="8" custLinFactX="64529" custLinFactNeighborX="100000" custLinFactNeighborY="-46856">
        <dgm:presLayoutVars>
          <dgm:bulletEnabled val="1"/>
        </dgm:presLayoutVars>
      </dgm:prSet>
      <dgm:spPr/>
    </dgm:pt>
    <dgm:pt modelId="{72D35561-FDE4-1D44-8409-038DFC5403E0}" type="pres">
      <dgm:prSet presAssocID="{21F622E5-80FE-49CE-BCA5-BC7CCD772B1B}" presName="sibTrans" presStyleCnt="0"/>
      <dgm:spPr/>
    </dgm:pt>
    <dgm:pt modelId="{358AB40F-8885-AE46-A94B-AF0E0AC56F31}" type="pres">
      <dgm:prSet presAssocID="{EF83A727-A7E0-4C43-B654-7028C2E9FF36}" presName="node" presStyleLbl="node1" presStyleIdx="1" presStyleCnt="8" custScaleX="125595" custScaleY="70594" custLinFactNeighborX="-92874" custLinFactNeighborY="40379">
        <dgm:presLayoutVars>
          <dgm:bulletEnabled val="1"/>
        </dgm:presLayoutVars>
      </dgm:prSet>
      <dgm:spPr/>
    </dgm:pt>
    <dgm:pt modelId="{0256E1BD-3E6D-EA48-9D7A-3AE5D4B7C9EA}" type="pres">
      <dgm:prSet presAssocID="{8C820ECE-11C7-4115-BFF1-DCDF70A42283}" presName="sibTrans" presStyleCnt="0"/>
      <dgm:spPr/>
    </dgm:pt>
    <dgm:pt modelId="{B39246E1-D83D-1F47-AF06-BAFD8A21ACB6}" type="pres">
      <dgm:prSet presAssocID="{E211F583-C93B-4A86-BA78-5A66509A0438}" presName="node" presStyleLbl="node1" presStyleIdx="2" presStyleCnt="8" custScaleX="146123" custScaleY="63898" custLinFactNeighborX="32542" custLinFactNeighborY="47175">
        <dgm:presLayoutVars>
          <dgm:bulletEnabled val="1"/>
        </dgm:presLayoutVars>
      </dgm:prSet>
      <dgm:spPr/>
    </dgm:pt>
    <dgm:pt modelId="{2701C507-2AA7-FF47-B129-802026E86299}" type="pres">
      <dgm:prSet presAssocID="{DCC07A1E-3B3D-474C-9F67-17F71482AE87}" presName="sibTrans" presStyleCnt="0"/>
      <dgm:spPr/>
    </dgm:pt>
    <dgm:pt modelId="{8972114B-76F8-5246-9761-586CFBBEAF40}" type="pres">
      <dgm:prSet presAssocID="{AC273FF8-1DCA-4E25-B84C-E4AFAC11CF08}" presName="node" presStyleLbl="node1" presStyleIdx="3" presStyleCnt="8" custScaleX="121249" custScaleY="67299" custLinFactNeighborX="-5446" custLinFactNeighborY="26465">
        <dgm:presLayoutVars>
          <dgm:bulletEnabled val="1"/>
        </dgm:presLayoutVars>
      </dgm:prSet>
      <dgm:spPr/>
    </dgm:pt>
    <dgm:pt modelId="{443F1FDB-67C3-D746-AE79-00C8390C6C75}" type="pres">
      <dgm:prSet presAssocID="{BE2235A6-1CEE-4A89-B608-946620305E80}" presName="sibTrans" presStyleCnt="0"/>
      <dgm:spPr/>
    </dgm:pt>
    <dgm:pt modelId="{FB8E61FB-AFA5-4647-AB67-190197EED0BE}" type="pres">
      <dgm:prSet presAssocID="{ED76EC83-DA73-4032-8CAE-C5ED820DDF85}" presName="node" presStyleLbl="node1" presStyleIdx="4" presStyleCnt="8" custLinFactNeighborX="522" custLinFactNeighborY="22610">
        <dgm:presLayoutVars>
          <dgm:bulletEnabled val="1"/>
        </dgm:presLayoutVars>
      </dgm:prSet>
      <dgm:spPr/>
    </dgm:pt>
    <dgm:pt modelId="{EF3AFAE3-2E69-A94D-93B0-31A99D74DB08}" type="pres">
      <dgm:prSet presAssocID="{3C98C989-3FDC-4B9D-BC66-1A407D13B74B}" presName="sibTrans" presStyleCnt="0"/>
      <dgm:spPr/>
    </dgm:pt>
    <dgm:pt modelId="{E7F4E906-B15F-8645-9FCC-B4C5CD5EE985}" type="pres">
      <dgm:prSet presAssocID="{0F173222-3641-4C17-ACAF-DA9929232621}" presName="node" presStyleLbl="node1" presStyleIdx="5" presStyleCnt="8" custLinFactNeighborX="-522" custLinFactNeighborY="22610">
        <dgm:presLayoutVars>
          <dgm:bulletEnabled val="1"/>
        </dgm:presLayoutVars>
      </dgm:prSet>
      <dgm:spPr/>
    </dgm:pt>
    <dgm:pt modelId="{F8A60C3A-B715-EE4D-A4DF-74384CB79969}" type="pres">
      <dgm:prSet presAssocID="{3B28D126-DEB5-416B-9AD0-7F023879416A}" presName="sibTrans" presStyleCnt="0"/>
      <dgm:spPr/>
    </dgm:pt>
    <dgm:pt modelId="{08B8579C-6864-6949-901B-589D4592796E}" type="pres">
      <dgm:prSet presAssocID="{563AFE66-B4AC-4CF0-84ED-22C418D836F4}" presName="node" presStyleLbl="node1" presStyleIdx="6" presStyleCnt="8" custLinFactNeighborX="-5471" custLinFactNeighborY="18262">
        <dgm:presLayoutVars>
          <dgm:bulletEnabled val="1"/>
        </dgm:presLayoutVars>
      </dgm:prSet>
      <dgm:spPr/>
    </dgm:pt>
    <dgm:pt modelId="{E2735B08-DAED-7045-90A2-05E450D58F4C}" type="pres">
      <dgm:prSet presAssocID="{4FFFB05E-4CA9-43F1-A5CE-D6FF413337E0}" presName="sibTrans" presStyleCnt="0"/>
      <dgm:spPr/>
    </dgm:pt>
    <dgm:pt modelId="{A9DBBC43-B67C-7641-894E-58EDADCA1632}" type="pres">
      <dgm:prSet presAssocID="{A685E011-1199-4429-84F2-B257C3DEA804}" presName="node" presStyleLbl="node1" presStyleIdx="7" presStyleCnt="8" custScaleY="75578" custLinFactNeighborX="-5446" custLinFactNeighborY="25219">
        <dgm:presLayoutVars>
          <dgm:bulletEnabled val="1"/>
        </dgm:presLayoutVars>
      </dgm:prSet>
      <dgm:spPr/>
    </dgm:pt>
  </dgm:ptLst>
  <dgm:cxnLst>
    <dgm:cxn modelId="{FA7E5406-47EA-452C-87C1-2AB610CB94FB}" srcId="{60C7FF51-5EA7-4949-9D88-87ACA94B3931}" destId="{E64FC03E-AA30-4D14-9C9D-7F47489068AC}" srcOrd="0" destOrd="0" parTransId="{9767D4B8-6F49-421E-B476-2B14E13A07DB}" sibTransId="{21F622E5-80FE-49CE-BCA5-BC7CCD772B1B}"/>
    <dgm:cxn modelId="{9DA09725-E44F-4787-8AE9-3BAEB58887E3}" srcId="{60C7FF51-5EA7-4949-9D88-87ACA94B3931}" destId="{EF83A727-A7E0-4C43-B654-7028C2E9FF36}" srcOrd="1" destOrd="0" parTransId="{500BD902-77BA-4C2A-A3A7-F829C0C0CB4E}" sibTransId="{8C820ECE-11C7-4115-BFF1-DCDF70A42283}"/>
    <dgm:cxn modelId="{FBDB0630-F1BD-4461-AD08-118C2BC6351A}" srcId="{60C7FF51-5EA7-4949-9D88-87ACA94B3931}" destId="{ED76EC83-DA73-4032-8CAE-C5ED820DDF85}" srcOrd="4" destOrd="0" parTransId="{22AA30B3-2351-4867-96AC-F88838494319}" sibTransId="{3C98C989-3FDC-4B9D-BC66-1A407D13B74B}"/>
    <dgm:cxn modelId="{9803C331-DFDB-4341-A1F5-301012F202CB}" srcId="{60C7FF51-5EA7-4949-9D88-87ACA94B3931}" destId="{E211F583-C93B-4A86-BA78-5A66509A0438}" srcOrd="2" destOrd="0" parTransId="{B43F3ADD-5451-496E-AA7D-2F2E29C8C099}" sibTransId="{DCC07A1E-3B3D-474C-9F67-17F71482AE87}"/>
    <dgm:cxn modelId="{70F22735-F68C-ED42-B9AA-A21CEB3B8F0F}" type="presOf" srcId="{ED76EC83-DA73-4032-8CAE-C5ED820DDF85}" destId="{FB8E61FB-AFA5-4647-AB67-190197EED0BE}" srcOrd="0" destOrd="0" presId="urn:microsoft.com/office/officeart/2005/8/layout/default"/>
    <dgm:cxn modelId="{E4093735-F23C-D143-8BB2-36EC6C089729}" type="presOf" srcId="{E64FC03E-AA30-4D14-9C9D-7F47489068AC}" destId="{4DA1FA6C-B964-224E-A42B-0FCD76F24662}" srcOrd="0" destOrd="0" presId="urn:microsoft.com/office/officeart/2005/8/layout/default"/>
    <dgm:cxn modelId="{19A2F244-2D16-4148-8CE3-72541DDCC7A0}" type="presOf" srcId="{AC273FF8-1DCA-4E25-B84C-E4AFAC11CF08}" destId="{8972114B-76F8-5246-9761-586CFBBEAF40}" srcOrd="0" destOrd="0" presId="urn:microsoft.com/office/officeart/2005/8/layout/default"/>
    <dgm:cxn modelId="{C65D1F5F-C89A-4E93-B835-39DC399BD24E}" srcId="{60C7FF51-5EA7-4949-9D88-87ACA94B3931}" destId="{AC273FF8-1DCA-4E25-B84C-E4AFAC11CF08}" srcOrd="3" destOrd="0" parTransId="{EBBF19BD-495A-4EBA-8E99-4E9FED7A9F03}" sibTransId="{BE2235A6-1CEE-4A89-B608-946620305E80}"/>
    <dgm:cxn modelId="{654B1863-5E72-8842-8E69-A8F76B945E32}" type="presOf" srcId="{0F173222-3641-4C17-ACAF-DA9929232621}" destId="{E7F4E906-B15F-8645-9FCC-B4C5CD5EE985}" srcOrd="0" destOrd="0" presId="urn:microsoft.com/office/officeart/2005/8/layout/default"/>
    <dgm:cxn modelId="{6F8BD76C-B7A3-6A4F-9152-05E74336FCB6}" type="presOf" srcId="{563AFE66-B4AC-4CF0-84ED-22C418D836F4}" destId="{08B8579C-6864-6949-901B-589D4592796E}" srcOrd="0" destOrd="0" presId="urn:microsoft.com/office/officeart/2005/8/layout/default"/>
    <dgm:cxn modelId="{6E775590-1CA6-474E-A42F-CCA79A2CCB7A}" srcId="{60C7FF51-5EA7-4949-9D88-87ACA94B3931}" destId="{A685E011-1199-4429-84F2-B257C3DEA804}" srcOrd="7" destOrd="0" parTransId="{B6336108-D2C2-41E4-8869-918D8F8A294C}" sibTransId="{AD0C95F6-300F-43C2-93B6-0A1F1B5D63D4}"/>
    <dgm:cxn modelId="{A198239F-7DEA-D64F-8456-04EE10870DD7}" type="presOf" srcId="{A685E011-1199-4429-84F2-B257C3DEA804}" destId="{A9DBBC43-B67C-7641-894E-58EDADCA1632}" srcOrd="0" destOrd="0" presId="urn:microsoft.com/office/officeart/2005/8/layout/default"/>
    <dgm:cxn modelId="{ED1FC5D3-E3A4-784E-8178-D0838E9495A9}" type="presOf" srcId="{EF83A727-A7E0-4C43-B654-7028C2E9FF36}" destId="{358AB40F-8885-AE46-A94B-AF0E0AC56F31}" srcOrd="0" destOrd="0" presId="urn:microsoft.com/office/officeart/2005/8/layout/default"/>
    <dgm:cxn modelId="{2C07B5DA-CD6C-4CA6-809B-CDE15A49C830}" srcId="{60C7FF51-5EA7-4949-9D88-87ACA94B3931}" destId="{0F173222-3641-4C17-ACAF-DA9929232621}" srcOrd="5" destOrd="0" parTransId="{C0690B70-6958-4074-833A-0E8DFB8CDD6D}" sibTransId="{3B28D126-DEB5-416B-9AD0-7F023879416A}"/>
    <dgm:cxn modelId="{66682BE2-5078-4649-AFF1-CA326D7DE985}" srcId="{60C7FF51-5EA7-4949-9D88-87ACA94B3931}" destId="{563AFE66-B4AC-4CF0-84ED-22C418D836F4}" srcOrd="6" destOrd="0" parTransId="{BCE7F79A-2AFF-4EAD-B278-96ED3565DCBC}" sibTransId="{4FFFB05E-4CA9-43F1-A5CE-D6FF413337E0}"/>
    <dgm:cxn modelId="{83F5B8E9-A6E6-1547-84EC-ED03D74E91C0}" type="presOf" srcId="{60C7FF51-5EA7-4949-9D88-87ACA94B3931}" destId="{151D76D2-9215-E244-8B44-7A63933052D0}" srcOrd="0" destOrd="0" presId="urn:microsoft.com/office/officeart/2005/8/layout/default"/>
    <dgm:cxn modelId="{1646F9EB-47B2-6B42-82FC-2C7A76334CC5}" type="presOf" srcId="{E211F583-C93B-4A86-BA78-5A66509A0438}" destId="{B39246E1-D83D-1F47-AF06-BAFD8A21ACB6}" srcOrd="0" destOrd="0" presId="urn:microsoft.com/office/officeart/2005/8/layout/default"/>
    <dgm:cxn modelId="{C7B633B6-4497-2745-BE77-2D1893E6EE97}" type="presParOf" srcId="{151D76D2-9215-E244-8B44-7A63933052D0}" destId="{4DA1FA6C-B964-224E-A42B-0FCD76F24662}" srcOrd="0" destOrd="0" presId="urn:microsoft.com/office/officeart/2005/8/layout/default"/>
    <dgm:cxn modelId="{05A92A6B-C988-6A46-B59E-D56516229A31}" type="presParOf" srcId="{151D76D2-9215-E244-8B44-7A63933052D0}" destId="{72D35561-FDE4-1D44-8409-038DFC5403E0}" srcOrd="1" destOrd="0" presId="urn:microsoft.com/office/officeart/2005/8/layout/default"/>
    <dgm:cxn modelId="{6972D1EC-47E3-7448-AA1E-146D6A2FBB43}" type="presParOf" srcId="{151D76D2-9215-E244-8B44-7A63933052D0}" destId="{358AB40F-8885-AE46-A94B-AF0E0AC56F31}" srcOrd="2" destOrd="0" presId="urn:microsoft.com/office/officeart/2005/8/layout/default"/>
    <dgm:cxn modelId="{7DB3AC58-E541-FB46-A08F-30571E5E7D76}" type="presParOf" srcId="{151D76D2-9215-E244-8B44-7A63933052D0}" destId="{0256E1BD-3E6D-EA48-9D7A-3AE5D4B7C9EA}" srcOrd="3" destOrd="0" presId="urn:microsoft.com/office/officeart/2005/8/layout/default"/>
    <dgm:cxn modelId="{D20E8B08-3530-AA4C-9C6E-167ABCC8065B}" type="presParOf" srcId="{151D76D2-9215-E244-8B44-7A63933052D0}" destId="{B39246E1-D83D-1F47-AF06-BAFD8A21ACB6}" srcOrd="4" destOrd="0" presId="urn:microsoft.com/office/officeart/2005/8/layout/default"/>
    <dgm:cxn modelId="{F0DF0946-CC73-1A44-BFFE-F7B395202AEF}" type="presParOf" srcId="{151D76D2-9215-E244-8B44-7A63933052D0}" destId="{2701C507-2AA7-FF47-B129-802026E86299}" srcOrd="5" destOrd="0" presId="urn:microsoft.com/office/officeart/2005/8/layout/default"/>
    <dgm:cxn modelId="{DA0BA6B0-F3DB-9B4D-9514-977567AD6FCA}" type="presParOf" srcId="{151D76D2-9215-E244-8B44-7A63933052D0}" destId="{8972114B-76F8-5246-9761-586CFBBEAF40}" srcOrd="6" destOrd="0" presId="urn:microsoft.com/office/officeart/2005/8/layout/default"/>
    <dgm:cxn modelId="{8A63FB8A-0CDE-804B-B7BA-E6952E786F56}" type="presParOf" srcId="{151D76D2-9215-E244-8B44-7A63933052D0}" destId="{443F1FDB-67C3-D746-AE79-00C8390C6C75}" srcOrd="7" destOrd="0" presId="urn:microsoft.com/office/officeart/2005/8/layout/default"/>
    <dgm:cxn modelId="{8F9FE296-EC22-0042-9D81-DAD422C34E89}" type="presParOf" srcId="{151D76D2-9215-E244-8B44-7A63933052D0}" destId="{FB8E61FB-AFA5-4647-AB67-190197EED0BE}" srcOrd="8" destOrd="0" presId="urn:microsoft.com/office/officeart/2005/8/layout/default"/>
    <dgm:cxn modelId="{161165FA-6F05-844D-8FD3-FFEBAC3240E0}" type="presParOf" srcId="{151D76D2-9215-E244-8B44-7A63933052D0}" destId="{EF3AFAE3-2E69-A94D-93B0-31A99D74DB08}" srcOrd="9" destOrd="0" presId="urn:microsoft.com/office/officeart/2005/8/layout/default"/>
    <dgm:cxn modelId="{0DF193A5-FBFB-EC47-8DFD-7A28C61589B0}" type="presParOf" srcId="{151D76D2-9215-E244-8B44-7A63933052D0}" destId="{E7F4E906-B15F-8645-9FCC-B4C5CD5EE985}" srcOrd="10" destOrd="0" presId="urn:microsoft.com/office/officeart/2005/8/layout/default"/>
    <dgm:cxn modelId="{B17D853D-E410-CC4E-9662-EB48C4888C99}" type="presParOf" srcId="{151D76D2-9215-E244-8B44-7A63933052D0}" destId="{F8A60C3A-B715-EE4D-A4DF-74384CB79969}" srcOrd="11" destOrd="0" presId="urn:microsoft.com/office/officeart/2005/8/layout/default"/>
    <dgm:cxn modelId="{EEF33E3B-5390-344F-A8DC-90C97F512845}" type="presParOf" srcId="{151D76D2-9215-E244-8B44-7A63933052D0}" destId="{08B8579C-6864-6949-901B-589D4592796E}" srcOrd="12" destOrd="0" presId="urn:microsoft.com/office/officeart/2005/8/layout/default"/>
    <dgm:cxn modelId="{5F3997F5-3633-6C42-ACBB-8F0B172AB099}" type="presParOf" srcId="{151D76D2-9215-E244-8B44-7A63933052D0}" destId="{E2735B08-DAED-7045-90A2-05E450D58F4C}" srcOrd="13" destOrd="0" presId="urn:microsoft.com/office/officeart/2005/8/layout/default"/>
    <dgm:cxn modelId="{E2DF579F-FEC2-5947-A056-6FA91F930116}" type="presParOf" srcId="{151D76D2-9215-E244-8B44-7A63933052D0}" destId="{A9DBBC43-B67C-7641-894E-58EDADCA1632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1FA6C-B964-224E-A42B-0FCD76F24662}">
      <dsp:nvSpPr>
        <dsp:cNvPr id="0" name=""/>
        <dsp:cNvSpPr/>
      </dsp:nvSpPr>
      <dsp:spPr>
        <a:xfrm>
          <a:off x="5022289" y="0"/>
          <a:ext cx="2399243" cy="14395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kern="1200" dirty="0"/>
            <a:t>Poverty </a:t>
          </a:r>
          <a:endParaRPr lang="en-US" sz="2100" kern="1200" dirty="0"/>
        </a:p>
      </dsp:txBody>
      <dsp:txXfrm>
        <a:off x="5022289" y="0"/>
        <a:ext cx="2399243" cy="1439545"/>
      </dsp:txXfrm>
    </dsp:sp>
    <dsp:sp modelId="{358AB40F-8885-AE46-A94B-AF0E0AC56F31}">
      <dsp:nvSpPr>
        <dsp:cNvPr id="0" name=""/>
        <dsp:cNvSpPr/>
      </dsp:nvSpPr>
      <dsp:spPr>
        <a:xfrm>
          <a:off x="1485732" y="1036308"/>
          <a:ext cx="3013329" cy="10162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kern="1200" dirty="0"/>
            <a:t>Poor housing </a:t>
          </a:r>
          <a:endParaRPr lang="en-US" sz="2100" kern="1200" dirty="0"/>
        </a:p>
      </dsp:txBody>
      <dsp:txXfrm>
        <a:off x="1485732" y="1036308"/>
        <a:ext cx="3013329" cy="1016233"/>
      </dsp:txXfrm>
    </dsp:sp>
    <dsp:sp modelId="{B39246E1-D83D-1F47-AF06-BAFD8A21ACB6}">
      <dsp:nvSpPr>
        <dsp:cNvPr id="0" name=""/>
        <dsp:cNvSpPr/>
      </dsp:nvSpPr>
      <dsp:spPr>
        <a:xfrm>
          <a:off x="7748021" y="1182335"/>
          <a:ext cx="3505846" cy="9198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kern="1200" dirty="0"/>
            <a:t>Undernutrition </a:t>
          </a:r>
          <a:endParaRPr lang="en-US" sz="2100" kern="1200" dirty="0"/>
        </a:p>
      </dsp:txBody>
      <dsp:txXfrm>
        <a:off x="7748021" y="1182335"/>
        <a:ext cx="3505846" cy="919841"/>
      </dsp:txXfrm>
    </dsp:sp>
    <dsp:sp modelId="{8972114B-76F8-5246-9761-586CFBBEAF40}">
      <dsp:nvSpPr>
        <dsp:cNvPr id="0" name=""/>
        <dsp:cNvSpPr/>
      </dsp:nvSpPr>
      <dsp:spPr>
        <a:xfrm>
          <a:off x="230028" y="2539196"/>
          <a:ext cx="2909058" cy="968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kern="1200" dirty="0"/>
            <a:t>Poor access to  health care services </a:t>
          </a:r>
          <a:endParaRPr lang="en-US" sz="2100" kern="1200" dirty="0"/>
        </a:p>
      </dsp:txBody>
      <dsp:txXfrm>
        <a:off x="230028" y="2539196"/>
        <a:ext cx="2909058" cy="968800"/>
      </dsp:txXfrm>
    </dsp:sp>
    <dsp:sp modelId="{FB8E61FB-AFA5-4647-AB67-190197EED0BE}">
      <dsp:nvSpPr>
        <dsp:cNvPr id="0" name=""/>
        <dsp:cNvSpPr/>
      </dsp:nvSpPr>
      <dsp:spPr>
        <a:xfrm>
          <a:off x="3522198" y="2248329"/>
          <a:ext cx="2399243" cy="143954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kern="1200" dirty="0"/>
            <a:t>Low education level </a:t>
          </a:r>
          <a:endParaRPr lang="en-US" sz="2100" kern="1200" dirty="0"/>
        </a:p>
      </dsp:txBody>
      <dsp:txXfrm>
        <a:off x="3522198" y="2248329"/>
        <a:ext cx="2399243" cy="1439545"/>
      </dsp:txXfrm>
    </dsp:sp>
    <dsp:sp modelId="{E7F4E906-B15F-8645-9FCC-B4C5CD5EE985}">
      <dsp:nvSpPr>
        <dsp:cNvPr id="0" name=""/>
        <dsp:cNvSpPr/>
      </dsp:nvSpPr>
      <dsp:spPr>
        <a:xfrm>
          <a:off x="6136317" y="2248329"/>
          <a:ext cx="2399243" cy="14395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kern="1200" dirty="0"/>
            <a:t>Migration, especially following conflict</a:t>
          </a:r>
          <a:endParaRPr lang="en-US" sz="2100" kern="1200" dirty="0"/>
        </a:p>
      </dsp:txBody>
      <dsp:txXfrm>
        <a:off x="6136317" y="2248329"/>
        <a:ext cx="2399243" cy="1439545"/>
      </dsp:txXfrm>
    </dsp:sp>
    <dsp:sp modelId="{08B8579C-6864-6949-901B-589D4592796E}">
      <dsp:nvSpPr>
        <dsp:cNvPr id="0" name=""/>
        <dsp:cNvSpPr/>
      </dsp:nvSpPr>
      <dsp:spPr>
        <a:xfrm>
          <a:off x="8656746" y="2185737"/>
          <a:ext cx="2399243" cy="143954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kern="1200" dirty="0"/>
            <a:t>Gender  inequality </a:t>
          </a:r>
          <a:endParaRPr lang="en-US" sz="2100" kern="1200" dirty="0"/>
        </a:p>
      </dsp:txBody>
      <dsp:txXfrm>
        <a:off x="8656746" y="2185737"/>
        <a:ext cx="2399243" cy="1439545"/>
      </dsp:txXfrm>
    </dsp:sp>
    <dsp:sp modelId="{A9DBBC43-B67C-7641-894E-58EDADCA1632}">
      <dsp:nvSpPr>
        <dsp:cNvPr id="0" name=""/>
        <dsp:cNvSpPr/>
      </dsp:nvSpPr>
      <dsp:spPr>
        <a:xfrm>
          <a:off x="4443687" y="3845695"/>
          <a:ext cx="2399243" cy="108798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kern="1200" dirty="0"/>
            <a:t>Occupations, such as mining /health care professionals </a:t>
          </a:r>
          <a:endParaRPr lang="en-US" sz="2100" kern="1200" dirty="0"/>
        </a:p>
      </dsp:txBody>
      <dsp:txXfrm>
        <a:off x="4443687" y="3845695"/>
        <a:ext cx="2399243" cy="1087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03:41:50.99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99138-492A-EF4A-8762-3B48CB797CE8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BCB8A-A3B2-124F-BEC2-D97826BB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52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E1092-849E-A84F-913A-4A7BF73D94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893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A985-0BE4-AF6A-CEE4-42C58059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8BB41-F948-D57F-CB53-8AB97449F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2175F-DD6F-A4CE-3AD6-3BFDC6DC3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32569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42E8-EFEB-9FEE-C53B-151F4CB95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F4351-80F9-01B6-539A-DBE37AD00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F2AB6-D7D5-51CC-66F8-2ED54E73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0241F-44AF-B20B-700F-7B3FE066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B096E-6602-AF96-1013-C6444B48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5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662C-D704-2EAB-9FB6-CFF31DF0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5E15-1C17-050F-FFFB-A76D00881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F25D-0AC8-484A-64F2-9099072B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CBD95-73DB-95F9-8622-4ECB8B9C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688F2-1C5D-0092-291F-60EC5B80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2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B92E-43E7-78E0-926E-81FA049D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AD242-F3FD-D1F8-3E5B-263934B9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292EF-B6F9-8044-1726-B9E2F77C3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845CD-81F6-799C-F089-F7ACFBBA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DDA6B-4B9E-D199-3BBE-9751CF81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4ACF-D0CE-71FB-9655-B36F7B40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3F544-423E-E748-0956-C67B71B6E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6A216-DF15-0D47-2EF3-42FD25033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F702A-F7C4-4B6D-569D-EC89313B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E36C5-9E90-9B83-4D8F-26D52D77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17DEB-37C0-C1AE-F520-67D8ED0E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2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9938-0783-2329-EAB9-B5935163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A2281-3AAA-4999-49EB-97851AA93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3CF28-9491-7F35-0EED-83E1E1A4E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D00AE-63AF-99C9-FB0B-EDFEA8180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2D869-CE7F-2309-02FE-C26E5B2D6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4F6F7-857C-3610-E08D-B09DD19A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2F75EC-EBF8-6481-C9F0-37A19E7AC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E39D5-2B5D-357F-E9CE-9B0E227D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0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CC93-B823-6952-1E04-2781E2E9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1716B-AA69-2F46-C190-54400308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2A81A-1E14-7F60-44B3-CF2AA876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A6323-1D49-AF7F-8699-6B4613DE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9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B75E6-0656-3503-683B-06F2DB69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4DF3F-1F1E-05E7-9BD6-7A7F39243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06C47-2DE8-358C-134F-A16EC2C8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7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7CC6-0EDC-4CC4-14E8-8F302B6C2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576C1-03C7-4887-C694-6E1D4231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FF004-2D29-3241-92A2-91F9387A1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28752-32F0-892C-723E-D661A9E6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9FD6E-4ECA-25FB-C196-D28EE6C4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7F12-16F1-2380-7B86-46F83F27E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0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8592-65B3-9F7E-1AED-E1731C31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8009A-A7F7-C72C-96E7-42D7453A1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4D2AC-8183-CEBA-C1A9-30848C283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4043B-C3D6-96BE-54FE-AB409255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72DE6-EC56-73D6-5D30-DE4FC1A2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1EF22-47DA-19AF-8AE9-D05B62F1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67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9032-608A-AD2A-13B7-F77C6A91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620EA-3272-2513-F2FF-8399E3AD9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19B2-2EBC-FE9B-6B58-2E1EFA2D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B1029-9257-35D6-5045-E6482864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870DF-4373-17B8-7C49-6561A17A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0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D3BC9-D8A1-72E7-387B-BDAD5C9A3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C81BD-EDAA-71E4-0E05-D0DEC3E49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FA2CE-2B41-D767-86FF-85429DEB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DBD2-B913-F347-8271-792DEC2C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F0EC2-496B-E336-50E8-62C7857C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7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FBE8C-5878-78A5-6169-E8855F2D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5C8F5-1F15-6BB5-64E6-8605CFB4A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66F33-15E7-B609-BCF8-4E84D0189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62655-B4EC-8444-947B-A3CCE2AFB53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DE5B-ABD1-4C62-1BAB-BF1D92D63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29304-74CD-0FA2-2A3E-E637AA366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5F176-E1D0-DE4F-AB13-B891C74F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2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A507-9176-3F63-3C06-F19364C3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8794"/>
            <a:ext cx="10515600" cy="3703293"/>
          </a:xfrm>
        </p:spPr>
        <p:txBody>
          <a:bodyPr>
            <a:normAutofit/>
          </a:bodyPr>
          <a:lstStyle/>
          <a:p>
            <a:pPr algn="ctr"/>
            <a:r>
              <a:rPr lang="en-KE" sz="3600" dirty="0"/>
              <a:t>Addressing social determinants  of TB to End TB</a:t>
            </a:r>
            <a:br>
              <a:rPr lang="en-KE" sz="3600" dirty="0"/>
            </a:br>
            <a:br>
              <a:rPr lang="en-KE" sz="3600" dirty="0"/>
            </a:br>
            <a:r>
              <a:rPr lang="en-KE" sz="3600" dirty="0"/>
              <a:t>Chakaya JM</a:t>
            </a:r>
            <a:br>
              <a:rPr lang="en-KE" sz="3600" dirty="0"/>
            </a:br>
            <a:br>
              <a:rPr lang="en-KE" sz="3600" dirty="0"/>
            </a:br>
            <a:r>
              <a:rPr lang="en-KE" sz="3200" dirty="0"/>
              <a:t>TB and Lung Health Symposium </a:t>
            </a:r>
            <a:br>
              <a:rPr lang="en-KE" sz="3600" dirty="0"/>
            </a:br>
            <a:br>
              <a:rPr lang="en-KE" sz="3600" dirty="0"/>
            </a:br>
            <a:r>
              <a:rPr lang="en-KE" sz="2000" i="1" dirty="0"/>
              <a:t>Nairobi Hospital Convention Centre </a:t>
            </a:r>
            <a:br>
              <a:rPr lang="en-KE" sz="2000" i="1" dirty="0"/>
            </a:br>
            <a:r>
              <a:rPr lang="en-KE" sz="2000" i="1" dirty="0"/>
              <a:t>September 29, 2025</a:t>
            </a:r>
          </a:p>
        </p:txBody>
      </p:sp>
    </p:spTree>
    <p:extLst>
      <p:ext uri="{BB962C8B-B14F-4D97-AF65-F5344CB8AC3E}">
        <p14:creationId xmlns:p14="http://schemas.microsoft.com/office/powerpoint/2010/main" val="320377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B321-5C60-9281-1FEB-AF8570F5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674" y="2103437"/>
            <a:ext cx="10515600" cy="1325563"/>
          </a:xfrm>
        </p:spPr>
        <p:txBody>
          <a:bodyPr/>
          <a:lstStyle/>
          <a:p>
            <a:r>
              <a:rPr lang="en-KE" dirty="0"/>
              <a:t>What is the problem that needs to be solved?</a:t>
            </a:r>
          </a:p>
        </p:txBody>
      </p:sp>
    </p:spTree>
    <p:extLst>
      <p:ext uri="{BB962C8B-B14F-4D97-AF65-F5344CB8AC3E}">
        <p14:creationId xmlns:p14="http://schemas.microsoft.com/office/powerpoint/2010/main" val="2940285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DF5DA1-D48D-EF81-3A76-ECD9F6D5C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240" y="414338"/>
            <a:ext cx="4594299" cy="6029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CE85FB-3546-F93F-ECC8-C6EBAA53ADA5}"/>
              </a:ext>
            </a:extLst>
          </p:cNvPr>
          <p:cNvSpPr txBox="1"/>
          <p:nvPr/>
        </p:nvSpPr>
        <p:spPr>
          <a:xfrm>
            <a:off x="175463" y="1504701"/>
            <a:ext cx="7246776" cy="4386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KE" sz="1351" dirty="0"/>
          </a:p>
          <a:p>
            <a:endParaRPr lang="en-KE" sz="1351" dirty="0"/>
          </a:p>
          <a:p>
            <a:r>
              <a:rPr lang="en-KE" sz="2800" dirty="0"/>
              <a:t>Incidence: 10.8 million (10.1-11.7) </a:t>
            </a:r>
          </a:p>
          <a:p>
            <a:endParaRPr lang="en-KE" sz="2800" dirty="0"/>
          </a:p>
          <a:p>
            <a:endParaRPr lang="en-KE" sz="2800" dirty="0"/>
          </a:p>
          <a:p>
            <a:r>
              <a:rPr lang="en-KE" sz="2800" dirty="0"/>
              <a:t>Mortality: 1.25 million ( 1.13-1.37) deaths</a:t>
            </a:r>
          </a:p>
          <a:p>
            <a:endParaRPr lang="en-KE" sz="2800" dirty="0"/>
          </a:p>
          <a:p>
            <a:r>
              <a:rPr lang="en-KE" sz="2800" dirty="0"/>
              <a:t>The chall</a:t>
            </a:r>
            <a:r>
              <a:rPr lang="en-GB" sz="2800" dirty="0"/>
              <a:t>e</a:t>
            </a:r>
            <a:r>
              <a:rPr lang="en-KE" sz="2800" dirty="0"/>
              <a:t>nge  of drug resistant TB: RR/MDRTB: 400,000 ( 360,000-440,000)</a:t>
            </a:r>
          </a:p>
          <a:p>
            <a:endParaRPr lang="en-KE" sz="2800" dirty="0"/>
          </a:p>
          <a:p>
            <a:endParaRPr lang="en-K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045F6-1EDE-D8F8-56AB-E64DAC3C9966}"/>
              </a:ext>
            </a:extLst>
          </p:cNvPr>
          <p:cNvSpPr txBox="1"/>
          <p:nvPr/>
        </p:nvSpPr>
        <p:spPr>
          <a:xfrm>
            <a:off x="175463" y="651030"/>
            <a:ext cx="7139739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E" sz="2400" dirty="0"/>
              <a:t> </a:t>
            </a:r>
            <a:r>
              <a:rPr lang="en-KE" sz="2667" dirty="0">
                <a:solidFill>
                  <a:srgbClr val="FF0000"/>
                </a:solidFill>
              </a:rPr>
              <a:t>The global burden of TB  remains too high </a:t>
            </a:r>
          </a:p>
        </p:txBody>
      </p:sp>
    </p:spTree>
    <p:extLst>
      <p:ext uri="{BB962C8B-B14F-4D97-AF65-F5344CB8AC3E}">
        <p14:creationId xmlns:p14="http://schemas.microsoft.com/office/powerpoint/2010/main" val="277390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E16A7B-30A0-1464-CF31-E928E7530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86" y="1192831"/>
            <a:ext cx="8800514" cy="48533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4F854C-9C3B-4C56-9858-28FF913AC336}"/>
              </a:ext>
            </a:extLst>
          </p:cNvPr>
          <p:cNvSpPr txBox="1"/>
          <p:nvPr/>
        </p:nvSpPr>
        <p:spPr>
          <a:xfrm>
            <a:off x="1181686" y="410532"/>
            <a:ext cx="7953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E" sz="2400" b="1" dirty="0"/>
              <a:t>Kenya: on track to achieve the  End TB Strategy  targets? </a:t>
            </a:r>
          </a:p>
        </p:txBody>
      </p:sp>
    </p:spTree>
    <p:extLst>
      <p:ext uri="{BB962C8B-B14F-4D97-AF65-F5344CB8AC3E}">
        <p14:creationId xmlns:p14="http://schemas.microsoft.com/office/powerpoint/2010/main" val="189717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D8BC66-F632-BE2D-4CB7-BF26D46F303D}"/>
              </a:ext>
            </a:extLst>
          </p:cNvPr>
          <p:cNvSpPr txBox="1"/>
          <p:nvPr/>
        </p:nvSpPr>
        <p:spPr>
          <a:xfrm>
            <a:off x="766761" y="244737"/>
            <a:ext cx="9590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solidFill>
                  <a:srgbClr val="FF0000"/>
                </a:solidFill>
              </a:rPr>
              <a:t>Is Kenya on track to achieve the 2030 SDG/End TB Targets?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ABB03E-F2FD-0E36-D9D4-081A4C2CF14F}"/>
              </a:ext>
            </a:extLst>
          </p:cNvPr>
          <p:cNvSpPr txBox="1"/>
          <p:nvPr/>
        </p:nvSpPr>
        <p:spPr>
          <a:xfrm>
            <a:off x="662609" y="1497495"/>
            <a:ext cx="11185799" cy="584775"/>
          </a:xfrm>
          <a:prstGeom prst="rect">
            <a:avLst/>
          </a:prstGeom>
          <a:noFill/>
          <a:ln>
            <a:solidFill>
              <a:srgbClr val="CD0D2E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KE" dirty="0"/>
              <a:t> </a:t>
            </a:r>
            <a:r>
              <a:rPr lang="en-KE" sz="3200" dirty="0"/>
              <a:t>179, 000 people developed TB in 2015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E8DF5-ADFE-4660-3596-CF4E1B79B52C}"/>
              </a:ext>
            </a:extLst>
          </p:cNvPr>
          <p:cNvSpPr txBox="1"/>
          <p:nvPr/>
        </p:nvSpPr>
        <p:spPr>
          <a:xfrm>
            <a:off x="2269768" y="2873363"/>
            <a:ext cx="7169426" cy="584775"/>
          </a:xfrm>
          <a:prstGeom prst="rect">
            <a:avLst/>
          </a:prstGeom>
          <a:noFill/>
          <a:ln>
            <a:solidFill>
              <a:srgbClr val="006699"/>
            </a:solidFill>
          </a:ln>
        </p:spPr>
        <p:txBody>
          <a:bodyPr wrap="square" rtlCol="0">
            <a:spAutoFit/>
          </a:bodyPr>
          <a:lstStyle/>
          <a:p>
            <a:r>
              <a:rPr lang="en-KE" dirty="0"/>
              <a:t> </a:t>
            </a:r>
            <a:r>
              <a:rPr lang="en-KE" sz="3200" dirty="0"/>
              <a:t>124, 000 people developed TB in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F5881-7E21-1436-B75F-B838CBB52D05}"/>
              </a:ext>
            </a:extLst>
          </p:cNvPr>
          <p:cNvSpPr txBox="1"/>
          <p:nvPr/>
        </p:nvSpPr>
        <p:spPr>
          <a:xfrm>
            <a:off x="327397" y="4483343"/>
            <a:ext cx="11537206" cy="5847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KE" dirty="0"/>
              <a:t> </a:t>
            </a:r>
            <a:r>
              <a:rPr lang="en-KE" sz="3200" dirty="0"/>
              <a:t>Can we get to fewer that 35,000 people developing TB  by 2030?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A84CDB-B07D-F154-237C-377DC9FBDC92}"/>
              </a:ext>
            </a:extLst>
          </p:cNvPr>
          <p:cNvCxnSpPr/>
          <p:nvPr/>
        </p:nvCxnSpPr>
        <p:spPr>
          <a:xfrm>
            <a:off x="1046922" y="2082270"/>
            <a:ext cx="0" cy="240107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41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4BCB23-467F-BFCE-1DD7-87DAE4DD3310}"/>
              </a:ext>
            </a:extLst>
          </p:cNvPr>
          <p:cNvSpPr txBox="1"/>
          <p:nvPr/>
        </p:nvSpPr>
        <p:spPr>
          <a:xfrm>
            <a:off x="3226904" y="769731"/>
            <a:ext cx="4974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E" sz="3600" dirty="0"/>
              <a:t>What about TB  deaths?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F1F8E-892C-C835-8154-F35E9C8A8995}"/>
              </a:ext>
            </a:extLst>
          </p:cNvPr>
          <p:cNvSpPr txBox="1"/>
          <p:nvPr/>
        </p:nvSpPr>
        <p:spPr>
          <a:xfrm>
            <a:off x="897346" y="2374949"/>
            <a:ext cx="5262979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KE" sz="2800" dirty="0"/>
              <a:t>57, 000 people died of TB in 2015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EF7C94-5A67-05C1-EE1C-3527BBD1F5A0}"/>
              </a:ext>
            </a:extLst>
          </p:cNvPr>
          <p:cNvSpPr txBox="1"/>
          <p:nvPr/>
        </p:nvSpPr>
        <p:spPr>
          <a:xfrm>
            <a:off x="3226904" y="3723860"/>
            <a:ext cx="5262979" cy="5232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KE" sz="2800" dirty="0"/>
              <a:t>23, 000 people died of TB in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FDE61-6833-0743-41BD-EF658583403C}"/>
              </a:ext>
            </a:extLst>
          </p:cNvPr>
          <p:cNvSpPr txBox="1"/>
          <p:nvPr/>
        </p:nvSpPr>
        <p:spPr>
          <a:xfrm>
            <a:off x="897346" y="5375243"/>
            <a:ext cx="10385920" cy="584775"/>
          </a:xfrm>
          <a:prstGeom prst="rect">
            <a:avLst/>
          </a:prstGeom>
          <a:noFill/>
          <a:ln>
            <a:solidFill>
              <a:srgbClr val="CD0D2E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KE" sz="3200" dirty="0"/>
              <a:t>Can we get to less than 5, 700 people dying of TB by 2030?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53D72C-58BB-E885-64C7-BC688C275241}"/>
              </a:ext>
            </a:extLst>
          </p:cNvPr>
          <p:cNvCxnSpPr/>
          <p:nvPr/>
        </p:nvCxnSpPr>
        <p:spPr>
          <a:xfrm>
            <a:off x="1391478" y="2898169"/>
            <a:ext cx="0" cy="2477074"/>
          </a:xfrm>
          <a:prstGeom prst="straightConnector1">
            <a:avLst/>
          </a:prstGeom>
          <a:ln>
            <a:solidFill>
              <a:srgbClr val="CD0D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27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01D6C-45CE-872A-336F-3AAF674C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9120"/>
            <a:ext cx="10515600" cy="1325563"/>
          </a:xfrm>
        </p:spPr>
        <p:txBody>
          <a:bodyPr/>
          <a:lstStyle/>
          <a:p>
            <a:pPr algn="ctr"/>
            <a:r>
              <a:rPr lang="en-KE" dirty="0"/>
              <a:t>What  is or could hold us back?</a:t>
            </a:r>
          </a:p>
        </p:txBody>
      </p:sp>
    </p:spTree>
    <p:extLst>
      <p:ext uri="{BB962C8B-B14F-4D97-AF65-F5344CB8AC3E}">
        <p14:creationId xmlns:p14="http://schemas.microsoft.com/office/powerpoint/2010/main" val="1086552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5589-C31A-92E9-0F50-4B34D1779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Social determinants of TB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F0B23-28CB-A87F-05B4-6A9C7AB01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Are Social Determinants of Health?</a:t>
            </a:r>
          </a:p>
          <a:p>
            <a:pPr marL="0" indent="0">
              <a:buNone/>
            </a:pPr>
            <a:endParaRPr lang="en-GB" b="1" dirty="0"/>
          </a:p>
          <a:p>
            <a:pPr lvl="1">
              <a:lnSpc>
                <a:spcPct val="200000"/>
              </a:lnSpc>
            </a:pPr>
            <a:r>
              <a:rPr lang="en-GB" sz="2800" dirty="0"/>
              <a:t>Conditions in which people are born, grow, live, work, and age</a:t>
            </a:r>
          </a:p>
          <a:p>
            <a:pPr lvl="1">
              <a:lnSpc>
                <a:spcPct val="200000"/>
              </a:lnSpc>
            </a:pPr>
            <a:r>
              <a:rPr lang="en-GB" sz="2800" dirty="0"/>
              <a:t>Influence health risks and outcomes</a:t>
            </a:r>
          </a:p>
          <a:p>
            <a:pPr lvl="1">
              <a:lnSpc>
                <a:spcPct val="200000"/>
              </a:lnSpc>
            </a:pPr>
            <a:r>
              <a:rPr lang="en-GB" sz="2800" dirty="0"/>
              <a:t>Directly impact TB transmission, progression, and care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75203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7A2F7A-072D-9DDE-77CC-6562DB31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key social determinats of TB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85C181-FC27-4F2B-FC5B-BDD7123A993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07693220"/>
              </p:ext>
            </p:extLst>
          </p:nvPr>
        </p:nvGraphicFramePr>
        <p:xfrm>
          <a:off x="644056" y="1575459"/>
          <a:ext cx="11547944" cy="4933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6100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751C-47DF-98E1-2A42-F62D2D83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1734"/>
            <a:ext cx="10515600" cy="1325563"/>
          </a:xfrm>
        </p:spPr>
        <p:txBody>
          <a:bodyPr/>
          <a:lstStyle/>
          <a:p>
            <a:pPr algn="ctr"/>
            <a:r>
              <a:rPr lang="en-KE" dirty="0"/>
              <a:t>How are we doing with these social determinats?  </a:t>
            </a:r>
          </a:p>
        </p:txBody>
      </p:sp>
    </p:spTree>
    <p:extLst>
      <p:ext uri="{BB962C8B-B14F-4D97-AF65-F5344CB8AC3E}">
        <p14:creationId xmlns:p14="http://schemas.microsoft.com/office/powerpoint/2010/main" val="1967269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028D14-C2D0-62B1-DED3-9819E025F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24" y="726954"/>
            <a:ext cx="3746500" cy="27020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61CA93-8751-107E-A7E1-1DC3341A38EF}"/>
              </a:ext>
            </a:extLst>
          </p:cNvPr>
          <p:cNvSpPr txBox="1"/>
          <p:nvPr/>
        </p:nvSpPr>
        <p:spPr>
          <a:xfrm>
            <a:off x="332524" y="309489"/>
            <a:ext cx="4380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E" dirty="0"/>
              <a:t>Poverty  Head Count Ratio at USD2.15/day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E64EF8-5B60-F45B-5779-14AD446B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418" y="428560"/>
            <a:ext cx="3657600" cy="3111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E521E9-D4FA-2B1D-F181-7C406FAC673A}"/>
              </a:ext>
            </a:extLst>
          </p:cNvPr>
          <p:cNvSpPr txBox="1"/>
          <p:nvPr/>
        </p:nvSpPr>
        <p:spPr>
          <a:xfrm>
            <a:off x="6917635" y="145774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E" dirty="0"/>
              <a:t>Prevalence of undernourishment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E12F3C-41C5-D24A-DDC4-6694A0E41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24" y="4020453"/>
            <a:ext cx="3543300" cy="26824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5832CB-E3B7-1F06-37EE-1B9C587958D7}"/>
              </a:ext>
            </a:extLst>
          </p:cNvPr>
          <p:cNvSpPr txBox="1"/>
          <p:nvPr/>
        </p:nvSpPr>
        <p:spPr>
          <a:xfrm>
            <a:off x="332524" y="3540060"/>
            <a:ext cx="337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E" dirty="0"/>
              <a:t>Inequality – the GINI Coefficient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A2D6E8-2322-FF93-7A3D-1BEA82302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244" y="4214191"/>
            <a:ext cx="4253948" cy="22926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E45E7C-167E-F4F4-F2D8-B2C7082B1F05}"/>
              </a:ext>
            </a:extLst>
          </p:cNvPr>
          <p:cNvSpPr txBox="1"/>
          <p:nvPr/>
        </p:nvSpPr>
        <p:spPr>
          <a:xfrm>
            <a:off x="5685989" y="3586226"/>
            <a:ext cx="4253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E" dirty="0"/>
              <a:t>Proportion of urban population living in slums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42E9B-17D1-B4DE-AFE1-337C8739C229}"/>
              </a:ext>
            </a:extLst>
          </p:cNvPr>
          <p:cNvSpPr txBox="1"/>
          <p:nvPr/>
        </p:nvSpPr>
        <p:spPr>
          <a:xfrm>
            <a:off x="4803494" y="6506817"/>
            <a:ext cx="2619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E" dirty="0"/>
              <a:t>Source: SDG dashboard </a:t>
            </a:r>
          </a:p>
        </p:txBody>
      </p:sp>
    </p:spTree>
    <p:extLst>
      <p:ext uri="{BB962C8B-B14F-4D97-AF65-F5344CB8AC3E}">
        <p14:creationId xmlns:p14="http://schemas.microsoft.com/office/powerpoint/2010/main" val="865969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104A4-4074-28EB-4AAC-24D5FDAC7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9749"/>
            <a:ext cx="10515600" cy="1724923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dirty="0"/>
              <a:t>Poverty, social deprivation and growth of urban slum populations: the source of all TB </a:t>
            </a:r>
          </a:p>
        </p:txBody>
      </p:sp>
    </p:spTree>
    <p:extLst>
      <p:ext uri="{BB962C8B-B14F-4D97-AF65-F5344CB8AC3E}">
        <p14:creationId xmlns:p14="http://schemas.microsoft.com/office/powerpoint/2010/main" val="1916951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SCN0024">
            <a:extLst>
              <a:ext uri="{FF2B5EF4-FFF2-40B4-BE49-F238E27FC236}">
                <a16:creationId xmlns:a16="http://schemas.microsoft.com/office/drawing/2014/main" id="{9B6F7665-041B-C6E2-E75E-8007656C16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4" r="9246"/>
          <a:stretch/>
        </p:blipFill>
        <p:spPr bwMode="auto"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13E986-2334-0B3F-EC68-115528A3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650" y="3962401"/>
            <a:ext cx="5505815" cy="1690409"/>
          </a:xfr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dirty="0"/>
              <a:t>Poverty, deprivation and inequity –the core drivers of  the  persistence of the TB Pandemic </a:t>
            </a:r>
          </a:p>
        </p:txBody>
      </p:sp>
      <p:pic>
        <p:nvPicPr>
          <p:cNvPr id="3" name="Picture 2" descr="A blue and white book cover&#10;&#10;Description automatically generated">
            <a:extLst>
              <a:ext uri="{FF2B5EF4-FFF2-40B4-BE49-F238E27FC236}">
                <a16:creationId xmlns:a16="http://schemas.microsoft.com/office/drawing/2014/main" id="{9C22AEB7-2F0B-0251-9E35-2C2970BF66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639" r="2" b="2"/>
          <a:stretch/>
        </p:blipFill>
        <p:spPr>
          <a:xfrm>
            <a:off x="7653542" y="7"/>
            <a:ext cx="4538463" cy="3264189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1F5914-750A-376A-3605-2E56E6202C6E}"/>
              </a:ext>
            </a:extLst>
          </p:cNvPr>
          <p:cNvSpPr txBox="1"/>
          <p:nvPr/>
        </p:nvSpPr>
        <p:spPr>
          <a:xfrm>
            <a:off x="7006857" y="6060559"/>
            <a:ext cx="2698239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1" i="1" dirty="0"/>
              <a:t>S16/Nature/Vol 605. 19 May 2022 </a:t>
            </a:r>
          </a:p>
        </p:txBody>
      </p:sp>
    </p:spTree>
    <p:extLst>
      <p:ext uri="{BB962C8B-B14F-4D97-AF65-F5344CB8AC3E}">
        <p14:creationId xmlns:p14="http://schemas.microsoft.com/office/powerpoint/2010/main" val="8479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1647-A624-0954-9A60-3AE8AE82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810" y="2103967"/>
            <a:ext cx="10637363" cy="1325033"/>
          </a:xfrm>
        </p:spPr>
        <p:txBody>
          <a:bodyPr/>
          <a:lstStyle/>
          <a:p>
            <a:pPr algn="ctr"/>
            <a:r>
              <a:rPr lang="en-KE" dirty="0"/>
              <a:t> Should we be concerned about climate ch</a:t>
            </a:r>
            <a:r>
              <a:rPr lang="en-GB" dirty="0"/>
              <a:t>an</a:t>
            </a:r>
            <a:r>
              <a:rPr lang="en-KE" dirty="0"/>
              <a:t>ge?  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7E5CBA-1A2D-BE55-D6C5-C4C25ED80F8A}"/>
                  </a:ext>
                </a:extLst>
              </p14:cNvPr>
              <p14:cNvContentPartPr/>
              <p14:nvPr/>
            </p14:nvContentPartPr>
            <p14:xfrm>
              <a:off x="4278633" y="2924531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7E5CBA-1A2D-BE55-D6C5-C4C25ED80F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0993" y="2906891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4978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4C6C-FA6A-C7C4-37D6-070FF37C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6" y="365125"/>
            <a:ext cx="6904498" cy="1325563"/>
          </a:xfrm>
          <a:ln w="381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KE" sz="3600" b="1" dirty="0"/>
              <a:t>Climate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0E62-A559-2C65-4108-1331C000B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5" y="1907256"/>
            <a:ext cx="6965281" cy="3703471"/>
          </a:xfrm>
          <a:ln w="38100">
            <a:solidFill>
              <a:srgbClr val="0070C0"/>
            </a:solidFill>
          </a:ln>
        </p:spPr>
        <p:txBody>
          <a:bodyPr>
            <a:normAutofit fontScale="85000" lnSpcReduction="20000"/>
          </a:bodyPr>
          <a:lstStyle/>
          <a:p>
            <a:endParaRPr lang="en-KE" dirty="0"/>
          </a:p>
          <a:p>
            <a:r>
              <a:rPr lang="en-KE" dirty="0"/>
              <a:t>Risk of natural disasters  such as heat waves, droughts and flooding. </a:t>
            </a:r>
          </a:p>
          <a:p>
            <a:endParaRPr lang="en-KE" dirty="0"/>
          </a:p>
          <a:p>
            <a:r>
              <a:rPr lang="en-KE" dirty="0"/>
              <a:t>Displacement  of people. </a:t>
            </a:r>
          </a:p>
          <a:p>
            <a:endParaRPr lang="en-KE" dirty="0"/>
          </a:p>
          <a:p>
            <a:r>
              <a:rPr lang="en-KE" dirty="0"/>
              <a:t>Food insecurity. </a:t>
            </a:r>
          </a:p>
          <a:p>
            <a:endParaRPr lang="en-KE" dirty="0"/>
          </a:p>
          <a:p>
            <a:r>
              <a:rPr lang="en-KE" dirty="0"/>
              <a:t>Increased  transmission ( the seed) and or vulnerability (the soil) of populations TB.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DB050-DAB9-9AF6-774C-F5CC1F9C6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019" y="211138"/>
            <a:ext cx="4636170" cy="2491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9793AE-B61C-15F2-1F57-E8C274D97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19" y="2702983"/>
            <a:ext cx="4555428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96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8CCA-F1FC-331D-9AB6-478B3D88C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54" y="2103437"/>
            <a:ext cx="10496107" cy="2733606"/>
          </a:xfrm>
        </p:spPr>
        <p:txBody>
          <a:bodyPr>
            <a:normAutofit/>
          </a:bodyPr>
          <a:lstStyle/>
          <a:p>
            <a:pPr algn="ctr"/>
            <a:r>
              <a:rPr lang="en-KE" dirty="0"/>
              <a:t> Is our response balanced?</a:t>
            </a:r>
            <a:br>
              <a:rPr lang="en-KE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899258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B7909D-B87B-4C25-39BE-DC49EAD85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800101"/>
            <a:ext cx="11477626" cy="57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01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90D591-7E38-881B-1ABB-1952CA849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1039263"/>
            <a:ext cx="11044237" cy="529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69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F45A-E4B3-8171-FDBC-92116E20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KE" dirty="0"/>
              <a:t>The biomedical approach </a:t>
            </a:r>
          </a:p>
        </p:txBody>
      </p:sp>
    </p:spTree>
    <p:extLst>
      <p:ext uri="{BB962C8B-B14F-4D97-AF65-F5344CB8AC3E}">
        <p14:creationId xmlns:p14="http://schemas.microsoft.com/office/powerpoint/2010/main" val="3455406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580A9D-8E5F-EAA4-4D7A-66C32D4AE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3191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E992-19C9-CD16-EDC7-2A42FDE8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673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KE" sz="3200" dirty="0"/>
              <a:t>But could the answer be outside the health sector?</a:t>
            </a:r>
          </a:p>
        </p:txBody>
      </p:sp>
    </p:spTree>
    <p:extLst>
      <p:ext uri="{BB962C8B-B14F-4D97-AF65-F5344CB8AC3E}">
        <p14:creationId xmlns:p14="http://schemas.microsoft.com/office/powerpoint/2010/main" val="379029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C0F637-27D5-1657-1265-71E867D1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4338"/>
            <a:ext cx="108775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20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4500"/>
            <a:ext cx="12015788" cy="2571750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rgbClr val="000000"/>
                </a:solidFill>
                <a:latin typeface="Arial" charset="0"/>
              </a:rPr>
              <a:t>Overcoming poverty is not a gesture of charity, it is an act of justice.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Nelson Mandela </a:t>
            </a:r>
          </a:p>
        </p:txBody>
      </p:sp>
    </p:spTree>
    <p:extLst>
      <p:ext uri="{BB962C8B-B14F-4D97-AF65-F5344CB8AC3E}">
        <p14:creationId xmlns:p14="http://schemas.microsoft.com/office/powerpoint/2010/main" val="1453400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x-none" altLang="x-none">
              <a:latin typeface="Calibri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8A50D9-7F6D-8020-829C-76C8B5EC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2" y="1448029"/>
            <a:ext cx="4989032" cy="46014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2D6F45-DFEF-516C-A7A7-C909BD09A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700" y="1257299"/>
            <a:ext cx="5245099" cy="4752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27084C-926F-FB9B-2249-5D3A9B72513F}"/>
              </a:ext>
            </a:extLst>
          </p:cNvPr>
          <p:cNvSpPr txBox="1"/>
          <p:nvPr/>
        </p:nvSpPr>
        <p:spPr>
          <a:xfrm>
            <a:off x="482601" y="546111"/>
            <a:ext cx="10897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Tuberculosis incidence, mortality and notification in England and Wales, 1913 - 2018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DEEBE-EAF3-FD83-0744-7E4C9133DEE2}"/>
              </a:ext>
            </a:extLst>
          </p:cNvPr>
          <p:cNvSpPr txBox="1"/>
          <p:nvPr/>
        </p:nvSpPr>
        <p:spPr>
          <a:xfrm>
            <a:off x="400288" y="5987932"/>
            <a:ext cx="10490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/>
                <a:latin typeface="Helvetica" pitchFamily="2" charset="0"/>
              </a:rPr>
              <a:t>GOV.UK. Tuberculosis (TB): annual notification and mortality data (1913 onwards). https://www. gov.</a:t>
            </a:r>
          </a:p>
          <a:p>
            <a:r>
              <a:rPr lang="en-GB" dirty="0" err="1">
                <a:effectLst/>
                <a:latin typeface="Helvetica" pitchFamily="2" charset="0"/>
              </a:rPr>
              <a:t>uk</a:t>
            </a:r>
            <a:r>
              <a:rPr lang="en-GB" dirty="0">
                <a:effectLst/>
                <a:latin typeface="Helvetica" pitchFamily="2" charset="0"/>
              </a:rPr>
              <a:t>/ government/ publications/ tuberculosis- tb- annualnotifications-1913- onwards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9169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6800-59F6-ABB7-472C-61571B28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1100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en-GB" b="1" dirty="0"/>
              <a:t>What worked in England and Wales?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22761-6BA4-43CD-7C25-461BFE87A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63975"/>
          </a:xfrm>
          <a:ln>
            <a:solidFill>
              <a:srgbClr val="4472C4"/>
            </a:solidFill>
          </a:ln>
        </p:spPr>
        <p:txBody>
          <a:bodyPr/>
          <a:lstStyle/>
          <a:p>
            <a:endParaRPr lang="en-GB" dirty="0"/>
          </a:p>
          <a:p>
            <a:r>
              <a:rPr lang="en-GB" dirty="0"/>
              <a:t>Improvement in people’s living conditions </a:t>
            </a:r>
          </a:p>
          <a:p>
            <a:endParaRPr lang="en-GB" dirty="0"/>
          </a:p>
          <a:p>
            <a:r>
              <a:rPr lang="en-GB" dirty="0"/>
              <a:t>Universal access to TB services : the critical role of the TB dispensary</a:t>
            </a:r>
          </a:p>
          <a:p>
            <a:endParaRPr lang="en-GB" dirty="0"/>
          </a:p>
          <a:p>
            <a:r>
              <a:rPr lang="en-GB" dirty="0"/>
              <a:t>Social protection schemes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8D53A-E292-6A9A-507E-31DA84793E82}"/>
              </a:ext>
            </a:extLst>
          </p:cNvPr>
          <p:cNvSpPr txBox="1"/>
          <p:nvPr/>
        </p:nvSpPr>
        <p:spPr>
          <a:xfrm>
            <a:off x="1117600" y="5969000"/>
            <a:ext cx="6014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Glaziou</a:t>
            </a:r>
            <a:r>
              <a:rPr lang="en-GB" dirty="0"/>
              <a:t> P et al. Thorax  2018; 73(8): 702-703</a:t>
            </a:r>
          </a:p>
          <a:p>
            <a:r>
              <a:rPr lang="en-GB" dirty="0"/>
              <a:t>Sue Bowden  and Alex Sadler. Med Hist. 2015 ; 59 (1): 101-135</a:t>
            </a:r>
          </a:p>
        </p:txBody>
      </p:sp>
    </p:spTree>
    <p:extLst>
      <p:ext uri="{BB962C8B-B14F-4D97-AF65-F5344CB8AC3E}">
        <p14:creationId xmlns:p14="http://schemas.microsoft.com/office/powerpoint/2010/main" val="3219498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7D6A44-01C3-8D4B-AD74-74E11F0D6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65867"/>
            <a:ext cx="10905066" cy="272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35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1DE6-4324-144D-9A25-18642C197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done in Alaska?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0CED8-C807-0B4C-9FFC-493F2B2F2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Following demonstration of the efficacy of INH to prevent TB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Community wide screening  for TB</a:t>
            </a:r>
          </a:p>
          <a:p>
            <a:pPr lvl="1"/>
            <a:r>
              <a:rPr lang="en-US" dirty="0"/>
              <a:t>Treatment of active TB disease when identified </a:t>
            </a:r>
          </a:p>
          <a:p>
            <a:pPr lvl="1"/>
            <a:r>
              <a:rPr lang="en-US" dirty="0"/>
              <a:t>Widespread use of  INH for prophylaxis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Result: greater than 10%  decline in TB incidence per year</a:t>
            </a:r>
          </a:p>
        </p:txBody>
      </p:sp>
    </p:spTree>
    <p:extLst>
      <p:ext uri="{BB962C8B-B14F-4D97-AF65-F5344CB8AC3E}">
        <p14:creationId xmlns:p14="http://schemas.microsoft.com/office/powerpoint/2010/main" val="3306798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8E1DFA-FD5A-5874-8AC8-F46CB954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6597"/>
            <a:ext cx="10763793" cy="309240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26FF2B-02FF-0894-D4A6-9F45944BBE7F}"/>
              </a:ext>
            </a:extLst>
          </p:cNvPr>
          <p:cNvGraphicFramePr>
            <a:graphicFrameLocks noGrp="1"/>
          </p:cNvGraphicFramePr>
          <p:nvPr/>
        </p:nvGraphicFramePr>
        <p:xfrm>
          <a:off x="1110344" y="3635829"/>
          <a:ext cx="8697685" cy="2579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972">
                  <a:extLst>
                    <a:ext uri="{9D8B030D-6E8A-4147-A177-3AD203B41FA5}">
                      <a16:colId xmlns:a16="http://schemas.microsoft.com/office/drawing/2014/main" val="811779339"/>
                    </a:ext>
                  </a:extLst>
                </a:gridCol>
                <a:gridCol w="2160571">
                  <a:extLst>
                    <a:ext uri="{9D8B030D-6E8A-4147-A177-3AD203B41FA5}">
                      <a16:colId xmlns:a16="http://schemas.microsoft.com/office/drawing/2014/main" val="3639233012"/>
                    </a:ext>
                  </a:extLst>
                </a:gridCol>
                <a:gridCol w="2160571">
                  <a:extLst>
                    <a:ext uri="{9D8B030D-6E8A-4147-A177-3AD203B41FA5}">
                      <a16:colId xmlns:a16="http://schemas.microsoft.com/office/drawing/2014/main" val="1283510142"/>
                    </a:ext>
                  </a:extLst>
                </a:gridCol>
                <a:gridCol w="2160571">
                  <a:extLst>
                    <a:ext uri="{9D8B030D-6E8A-4147-A177-3AD203B41FA5}">
                      <a16:colId xmlns:a16="http://schemas.microsoft.com/office/drawing/2014/main" val="719334200"/>
                    </a:ext>
                  </a:extLst>
                </a:gridCol>
              </a:tblGrid>
              <a:tr h="859971">
                <a:tc>
                  <a:txBody>
                    <a:bodyPr/>
                    <a:lstStyle/>
                    <a:p>
                      <a:r>
                        <a:rPr lang="en-KE" dirty="0"/>
                        <a:t>Parameter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dirty="0"/>
                        <a:t>Baseline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KE" dirty="0"/>
                        <a:t>Year 4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385231"/>
                  </a:ext>
                </a:extLst>
              </a:tr>
              <a:tr h="859971">
                <a:tc rowSpan="2">
                  <a:txBody>
                    <a:bodyPr/>
                    <a:lstStyle/>
                    <a:p>
                      <a:r>
                        <a:rPr lang="en-KE" dirty="0"/>
                        <a:t>TB Prevalence in adults &gt;15 years  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KE" dirty="0"/>
                        <a:t>389/100,000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dirty="0"/>
                        <a:t>Intervention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dirty="0"/>
                        <a:t>Control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542825"/>
                  </a:ext>
                </a:extLst>
              </a:tr>
              <a:tr h="859971">
                <a:tc vMerge="1">
                  <a:txBody>
                    <a:bodyPr/>
                    <a:lstStyle/>
                    <a:p>
                      <a:endParaRPr lang="en-K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dirty="0"/>
                        <a:t>126/100,000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dirty="0"/>
                        <a:t>226/100,00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061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388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727CE4-E3E9-3E58-FCAE-839D40A08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293914"/>
            <a:ext cx="9459686" cy="2743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00D6F-D8F0-4188-9D35-0569871B772F}"/>
              </a:ext>
            </a:extLst>
          </p:cNvPr>
          <p:cNvSpPr txBox="1"/>
          <p:nvPr/>
        </p:nvSpPr>
        <p:spPr>
          <a:xfrm>
            <a:off x="522514" y="3820887"/>
            <a:ext cx="9220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sz="2800" dirty="0"/>
              <a:t>Single round of screening with MMR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sz="2800" dirty="0"/>
              <a:t>Doubling of CNR  in the intervention year compared to the previous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sz="2800" dirty="0"/>
              <a:t>35% decline in CNR in the year following  the intervention </a:t>
            </a:r>
          </a:p>
        </p:txBody>
      </p:sp>
    </p:spTree>
    <p:extLst>
      <p:ext uri="{BB962C8B-B14F-4D97-AF65-F5344CB8AC3E}">
        <p14:creationId xmlns:p14="http://schemas.microsoft.com/office/powerpoint/2010/main" val="1396365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E3077-6349-2AFF-EFDD-8C583EC7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AE833AC-B46D-EA8F-252C-FFCCC093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5" y="228435"/>
            <a:ext cx="11781313" cy="75111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+mn-lt"/>
              </a:rPr>
              <a:t>And food works: evidence on nutrition as a preventive tool for TB </a:t>
            </a:r>
            <a:endParaRPr lang="LID4096" sz="2800" b="1" dirty="0"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0667393-43AA-C0EF-125E-BE94AA1D1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8113" y="1785257"/>
            <a:ext cx="4671295" cy="416157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Randomized trial on the effect of nutritional support on tuberculosis incidence in </a:t>
            </a:r>
            <a:r>
              <a:rPr lang="en-US" sz="2400" b="1" dirty="0"/>
              <a:t>household contacts </a:t>
            </a:r>
            <a:r>
              <a:rPr lang="en-US" sz="2400" dirty="0"/>
              <a:t>in Jharkhand state of India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i="1" dirty="0"/>
              <a:t>“…the nutritional intervention was associated with substantial </a:t>
            </a:r>
            <a:r>
              <a:rPr lang="en-US" b="1" i="1" dirty="0"/>
              <a:t>(39–48%) reduction </a:t>
            </a:r>
            <a:r>
              <a:rPr lang="en-US" sz="2400" i="1" dirty="0"/>
              <a:t>in tuberculosis incidence in the household during 2 years of follow-up.”</a:t>
            </a:r>
            <a:endParaRPr lang="LID4096" sz="24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5C0EBBC-141C-74A1-6E62-68414EBC4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3083" y="6318648"/>
            <a:ext cx="1076326" cy="44969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9CD0091-4B55-0912-824F-090406A3BDA0}"/>
              </a:ext>
            </a:extLst>
          </p:cNvPr>
          <p:cNvGrpSpPr/>
          <p:nvPr/>
        </p:nvGrpSpPr>
        <p:grpSpPr>
          <a:xfrm>
            <a:off x="214743" y="1970317"/>
            <a:ext cx="6401789" cy="3008861"/>
            <a:chOff x="214744" y="1944689"/>
            <a:chExt cx="6401789" cy="300886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65D158-9689-FBCD-26A9-F8721425C564}"/>
                </a:ext>
              </a:extLst>
            </p:cNvPr>
            <p:cNvSpPr txBox="1"/>
            <p:nvPr/>
          </p:nvSpPr>
          <p:spPr>
            <a:xfrm>
              <a:off x="214744" y="4307219"/>
              <a:ext cx="6117770" cy="646331"/>
            </a:xfrm>
            <a:prstGeom prst="rect">
              <a:avLst/>
            </a:prstGeom>
            <a:noFill/>
            <a:ln w="12700" cap="flat">
              <a:solidFill>
                <a:schemeClr val="accent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b="1" dirty="0"/>
                <a:t>Lancet 2023</a:t>
              </a:r>
              <a:r>
                <a:rPr lang="en-US" dirty="0"/>
                <a:t>; 402: 627–40 Published Online August 8, 2023 https://doi.org/10.1016/ S0140-6736(23)01231-X </a:t>
              </a:r>
              <a:endParaRPr lang="LID4096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4F5EA2-F6D2-BA13-BA33-179FF481E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09"/>
            <a:stretch/>
          </p:blipFill>
          <p:spPr>
            <a:xfrm>
              <a:off x="214744" y="1944689"/>
              <a:ext cx="6401789" cy="236253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696638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62" y="185738"/>
            <a:ext cx="11237842" cy="808176"/>
          </a:xfrm>
        </p:spPr>
        <p:txBody>
          <a:bodyPr/>
          <a:lstStyle/>
          <a:p>
            <a:r>
              <a:rPr lang="en-US" b="1" dirty="0"/>
              <a:t>So, what needs to be done to overcome TB?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61" y="1144086"/>
            <a:ext cx="10982739" cy="5528177"/>
          </a:xfrm>
        </p:spPr>
        <p:txBody>
          <a:bodyPr>
            <a:normAutofit lnSpcReduction="10000"/>
          </a:bodyPr>
          <a:lstStyle/>
          <a:p>
            <a:r>
              <a:rPr lang="en-US" sz="3400" dirty="0">
                <a:solidFill>
                  <a:srgbClr val="C00000"/>
                </a:solidFill>
              </a:rPr>
              <a:t>Addressing social determinants of TB and alleviating poverty: the politics of TB </a:t>
            </a:r>
            <a:endParaRPr lang="en-US" sz="3200" dirty="0"/>
          </a:p>
          <a:p>
            <a:pPr lvl="1"/>
            <a:r>
              <a:rPr lang="en-US" sz="2800" dirty="0"/>
              <a:t>Can we have  every Kenyan live in a decent house?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Can we  ensure that no single Kenyan goes to bed hungry? 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Can we work to reduce inequality? 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Can we work to ensure very Kenyan child gets a chance to education? 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Do we have the right social protection schemes and are they working?</a:t>
            </a:r>
          </a:p>
          <a:p>
            <a:endParaRPr lang="en-US" sz="3200" dirty="0"/>
          </a:p>
          <a:p>
            <a:pPr lvl="1"/>
            <a:endParaRPr lang="en-US" sz="3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672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A3C6-ECF7-1502-5FCD-5945F9B15B1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CD0D2E"/>
            </a:solidFill>
          </a:ln>
        </p:spPr>
        <p:txBody>
          <a:bodyPr>
            <a:normAutofit/>
          </a:bodyPr>
          <a:lstStyle/>
          <a:p>
            <a:pPr algn="ctr"/>
            <a:r>
              <a:rPr lang="en-KE" sz="3600" dirty="0"/>
              <a:t>Can we be more aggressive with our biomedical appraches?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7A705-4E5D-27DF-9546-D33B9E4E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7210"/>
          </a:xfrm>
          <a:ln>
            <a:solidFill>
              <a:srgbClr val="0070C0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sz="3000" b="1" dirty="0"/>
              <a:t>Ensuring universal access to health services </a:t>
            </a:r>
            <a:r>
              <a:rPr lang="en-US" sz="3000" dirty="0"/>
              <a:t>including  TB services </a:t>
            </a:r>
          </a:p>
          <a:p>
            <a:endParaRPr lang="en-US" sz="3000" dirty="0"/>
          </a:p>
          <a:p>
            <a:r>
              <a:rPr lang="en-US" sz="3000" b="1" dirty="0"/>
              <a:t>Using existing tools effectively</a:t>
            </a:r>
            <a:r>
              <a:rPr lang="en-US" sz="3000" dirty="0"/>
              <a:t>: mass screen with AI enabled digital x-ray,  testing with rapid and sensitive tests, treating all </a:t>
            </a:r>
          </a:p>
          <a:p>
            <a:endParaRPr lang="en-US" sz="3000" dirty="0"/>
          </a:p>
          <a:p>
            <a:r>
              <a:rPr lang="en-US" sz="3000" b="1" dirty="0"/>
              <a:t>Addressing inequities</a:t>
            </a:r>
            <a:r>
              <a:rPr lang="en-US" sz="3000" dirty="0"/>
              <a:t> , including gender  related inequities</a:t>
            </a:r>
          </a:p>
          <a:p>
            <a:pPr marL="0" indent="0">
              <a:buNone/>
            </a:pPr>
            <a:r>
              <a:rPr lang="en-US" sz="3000" dirty="0"/>
              <a:t> </a:t>
            </a:r>
          </a:p>
          <a:p>
            <a:r>
              <a:rPr lang="en-US" sz="3000" dirty="0">
                <a:solidFill>
                  <a:srgbClr val="FF0000"/>
                </a:solidFill>
              </a:rPr>
              <a:t>Development and deployment of  new tools </a:t>
            </a:r>
          </a:p>
          <a:p>
            <a:endParaRPr lang="en-US" sz="3000" dirty="0"/>
          </a:p>
          <a:p>
            <a:r>
              <a:rPr lang="en-US" sz="3000" b="1" dirty="0"/>
              <a:t>Addressing climate change </a:t>
            </a:r>
            <a:r>
              <a:rPr lang="en-US" sz="3000" dirty="0"/>
              <a:t>– the greatest threat to human health 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08778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5499-EB58-E864-E3AF-D9A1A62C0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453" y="257893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KE" sz="3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24276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91cfa50-d71c-465b-a91a-1b36470ef2b7" xsi:nil="true"/>
    <lcf76f155ced4ddcb4097134ff3c332f xmlns="75121401-3d42-463d-a737-cb5ad43c4b9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F069C6ED0BFD459AB4F9D7DE015571" ma:contentTypeVersion="14" ma:contentTypeDescription="Create a new document." ma:contentTypeScope="" ma:versionID="f8e47392124eb5fe6d84b2646b6e33e2">
  <xsd:schema xmlns:xsd="http://www.w3.org/2001/XMLSchema" xmlns:xs="http://www.w3.org/2001/XMLSchema" xmlns:p="http://schemas.microsoft.com/office/2006/metadata/properties" xmlns:ns2="75121401-3d42-463d-a737-cb5ad43c4b97" xmlns:ns3="391cfa50-d71c-465b-a91a-1b36470ef2b7" targetNamespace="http://schemas.microsoft.com/office/2006/metadata/properties" ma:root="true" ma:fieldsID="ab8b636b18d155a3e2e43ac3a073a6ca" ns2:_="" ns3:_="">
    <xsd:import namespace="75121401-3d42-463d-a737-cb5ad43c4b97"/>
    <xsd:import namespace="391cfa50-d71c-465b-a91a-1b36470ef2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121401-3d42-463d-a737-cb5ad43c4b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e10342f-3527-4dcd-ac28-e59db492a8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1cfa50-d71c-465b-a91a-1b36470ef2b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8489f84-19ff-46b5-a9ac-154a8ee92ff4}" ma:internalName="TaxCatchAll" ma:showField="CatchAllData" ma:web="391cfa50-d71c-465b-a91a-1b36470ef2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95EEA7-63AB-4740-80FA-A853D369A1F4}">
  <ds:schemaRefs>
    <ds:schemaRef ds:uri="http://schemas.microsoft.com/office/2006/metadata/properties"/>
    <ds:schemaRef ds:uri="http://schemas.microsoft.com/office/infopath/2007/PartnerControls"/>
    <ds:schemaRef ds:uri="391cfa50-d71c-465b-a91a-1b36470ef2b7"/>
    <ds:schemaRef ds:uri="75121401-3d42-463d-a737-cb5ad43c4b97"/>
  </ds:schemaRefs>
</ds:datastoreItem>
</file>

<file path=customXml/itemProps2.xml><?xml version="1.0" encoding="utf-8"?>
<ds:datastoreItem xmlns:ds="http://schemas.openxmlformats.org/officeDocument/2006/customXml" ds:itemID="{F6134F67-9CCB-4B99-ABD5-B9AC19247F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121401-3d42-463d-a737-cb5ad43c4b97"/>
    <ds:schemaRef ds:uri="391cfa50-d71c-465b-a91a-1b36470ef2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D93192-7556-454C-9514-ECABAFD60F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849</Words>
  <Application>Microsoft Macintosh PowerPoint</Application>
  <PresentationFormat>Widescreen</PresentationFormat>
  <Paragraphs>126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Helvetica</vt:lpstr>
      <vt:lpstr>Office Theme</vt:lpstr>
      <vt:lpstr>Addressing social determinants  of TB to End TB  Chakaya JM  TB and Lung Health Symposium   Nairobi Hospital Convention Centre  September 29, 2025</vt:lpstr>
      <vt:lpstr>What is the problem that needs to be solved?</vt:lpstr>
      <vt:lpstr>PowerPoint Presentation</vt:lpstr>
      <vt:lpstr>PowerPoint Presentation</vt:lpstr>
      <vt:lpstr>PowerPoint Presentation</vt:lpstr>
      <vt:lpstr>PowerPoint Presentation</vt:lpstr>
      <vt:lpstr>What  is or could hold us back?</vt:lpstr>
      <vt:lpstr>Social determinants of TB </vt:lpstr>
      <vt:lpstr>The key social determinats of TB </vt:lpstr>
      <vt:lpstr>How are we doing with these social determinats?  </vt:lpstr>
      <vt:lpstr>PowerPoint Presentation</vt:lpstr>
      <vt:lpstr>Poverty, social deprivation and growth of urban slum populations: the source of all TB </vt:lpstr>
      <vt:lpstr>Poverty, deprivation and inequity –the core drivers of  the  persistence of the TB Pandemic </vt:lpstr>
      <vt:lpstr> Should we be concerned about climate change?  </vt:lpstr>
      <vt:lpstr>Climate change</vt:lpstr>
      <vt:lpstr> Is our response balanced? </vt:lpstr>
      <vt:lpstr>PowerPoint Presentation</vt:lpstr>
      <vt:lpstr>PowerPoint Presentation</vt:lpstr>
      <vt:lpstr>The biomedical approach </vt:lpstr>
      <vt:lpstr>PowerPoint Presentation</vt:lpstr>
      <vt:lpstr>But could the answer be outside the health sector?</vt:lpstr>
      <vt:lpstr>PowerPoint Presentation</vt:lpstr>
      <vt:lpstr>Overcoming poverty is not a gesture of charity, it is an act of justice.  Nelson Mandela </vt:lpstr>
      <vt:lpstr>PowerPoint Presentation</vt:lpstr>
      <vt:lpstr>What worked in England and Wales? </vt:lpstr>
      <vt:lpstr>PowerPoint Presentation</vt:lpstr>
      <vt:lpstr>What was done in Alaska?</vt:lpstr>
      <vt:lpstr>PowerPoint Presentation</vt:lpstr>
      <vt:lpstr>PowerPoint Presentation</vt:lpstr>
      <vt:lpstr>And food works: evidence on nutrition as a preventive tool for TB </vt:lpstr>
      <vt:lpstr>So, what needs to be done to overcome TB?</vt:lpstr>
      <vt:lpstr>Can we be more aggressive with our biomedical appraches?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Alejandra Cardona-Mayorga</dc:creator>
  <cp:lastModifiedBy>Jeremiah Muhwa</cp:lastModifiedBy>
  <cp:revision>8</cp:revision>
  <dcterms:created xsi:type="dcterms:W3CDTF">2024-09-20T12:18:36Z</dcterms:created>
  <dcterms:modified xsi:type="dcterms:W3CDTF">2025-09-29T05:43:13Z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0x01010039F069C6ED0BFD459AB4F9D7DE015571</vt:lpwstr>
  </property>
</Properties>
</file>