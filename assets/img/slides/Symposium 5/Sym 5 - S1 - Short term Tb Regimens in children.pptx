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147469493" r:id="rId3"/>
    <p:sldId id="2147469495" r:id="rId4"/>
    <p:sldId id="2147469494" r:id="rId5"/>
    <p:sldId id="3495" r:id="rId6"/>
    <p:sldId id="3516" r:id="rId7"/>
    <p:sldId id="3578" r:id="rId8"/>
    <p:sldId id="3597" r:id="rId9"/>
    <p:sldId id="3499" r:id="rId10"/>
    <p:sldId id="3586" r:id="rId11"/>
    <p:sldId id="3574" r:id="rId12"/>
    <p:sldId id="3581" r:id="rId13"/>
    <p:sldId id="3588" r:id="rId14"/>
    <p:sldId id="3589" r:id="rId15"/>
    <p:sldId id="3551" r:id="rId16"/>
    <p:sldId id="3590" r:id="rId17"/>
    <p:sldId id="3591" r:id="rId18"/>
    <p:sldId id="3575" r:id="rId19"/>
    <p:sldId id="3594" r:id="rId20"/>
    <p:sldId id="3513" r:id="rId21"/>
    <p:sldId id="279" r:id="rId22"/>
    <p:sldId id="282" r:id="rId23"/>
    <p:sldId id="260" r:id="rId24"/>
    <p:sldId id="262" r:id="rId25"/>
    <p:sldId id="286" r:id="rId26"/>
    <p:sldId id="290" r:id="rId27"/>
    <p:sldId id="288" r:id="rId28"/>
    <p:sldId id="289" r:id="rId29"/>
    <p:sldId id="2147469491" r:id="rId30"/>
    <p:sldId id="2147469492" r:id="rId31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6070"/>
  </p:normalViewPr>
  <p:slideViewPr>
    <p:cSldViewPr snapToGrid="0">
      <p:cViewPr varScale="1">
        <p:scale>
          <a:sx n="119" d="100"/>
          <a:sy n="119" d="100"/>
        </p:scale>
        <p:origin x="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OLLY\Downloads\District_TB_Register_New_WHO_Guidelines_Peds_20022024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578672090789034"/>
          <c:y val="2.5336683692636308E-2"/>
          <c:w val="0.74062930645476788"/>
          <c:h val="0.74952814078481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Sheet2!$D$1</c:f>
              <c:strCache>
                <c:ptCount val="1"/>
                <c:pt idx="0">
                  <c:v>Total cases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K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Sheet2!$C$2:$C$7</c:f>
              <c:numCache>
                <c:formatCode>General</c:formatCod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numCache>
            </c:numRef>
          </c:cat>
          <c:val>
            <c:numRef>
              <c:f>Sheet2!$D$2:$D$7</c:f>
              <c:numCache>
                <c:formatCode>General</c:formatCode>
                <c:ptCount val="6"/>
                <c:pt idx="0">
                  <c:v>96478</c:v>
                </c:pt>
                <c:pt idx="1">
                  <c:v>86504</c:v>
                </c:pt>
                <c:pt idx="2">
                  <c:v>72943</c:v>
                </c:pt>
                <c:pt idx="3">
                  <c:v>77854</c:v>
                </c:pt>
                <c:pt idx="4">
                  <c:v>90560</c:v>
                </c:pt>
                <c:pt idx="5">
                  <c:v>97126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26-4025-9597-7E8050E9322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86591407"/>
        <c:axId val="286594319"/>
      </c:barChart>
      <c:lineChart>
        <c:grouping val="standard"/>
        <c:varyColors val="0"/>
        <c:ser>
          <c:idx val="1"/>
          <c:order val="1"/>
          <c:tx>
            <c:strRef>
              <c:f>Sheet2!$E$1</c:f>
              <c:strCache>
                <c:ptCount val="1"/>
                <c:pt idx="0">
                  <c:v>Paeds %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K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Sheet2!$C$2:$C$7</c:f>
              <c:numCache>
                <c:formatCode>General</c:formatCod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numCache>
            </c:numRef>
          </c:cat>
          <c:val>
            <c:numRef>
              <c:f>Sheet2!$E$2:$E$7</c:f>
              <c:numCache>
                <c:formatCode>General</c:formatCode>
                <c:ptCount val="6"/>
                <c:pt idx="0">
                  <c:v>10</c:v>
                </c:pt>
                <c:pt idx="1">
                  <c:v>9</c:v>
                </c:pt>
                <c:pt idx="2">
                  <c:v>7</c:v>
                </c:pt>
                <c:pt idx="3">
                  <c:v>9</c:v>
                </c:pt>
                <c:pt idx="4">
                  <c:v>11</c:v>
                </c:pt>
                <c:pt idx="5">
                  <c:v>13.3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126-4025-9597-7E8050E9322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86590991"/>
        <c:axId val="286587663"/>
      </c:lineChart>
      <c:catAx>
        <c:axId val="2865914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K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KE"/>
          </a:p>
        </c:txPr>
        <c:crossAx val="286594319"/>
        <c:crosses val="autoZero"/>
        <c:auto val="1"/>
        <c:lblAlgn val="ctr"/>
        <c:lblOffset val="100"/>
        <c:noMultiLvlLbl val="0"/>
      </c:catAx>
      <c:valAx>
        <c:axId val="28659431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Cases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K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KE"/>
          </a:p>
        </c:txPr>
        <c:crossAx val="286591407"/>
        <c:crosses val="autoZero"/>
        <c:crossBetween val="between"/>
      </c:valAx>
      <c:valAx>
        <c:axId val="286587663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Paeds proportion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KE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KE"/>
          </a:p>
        </c:txPr>
        <c:crossAx val="286590991"/>
        <c:crosses val="max"/>
        <c:crossBetween val="between"/>
      </c:valAx>
      <c:catAx>
        <c:axId val="28659099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658766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3808912526454588"/>
          <c:y val="0.91921539865597379"/>
          <c:w val="0.32382174947090819"/>
          <c:h val="6.8818354827664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K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>
          <a:solidFill>
            <a:schemeClr val="tx1"/>
          </a:solidFill>
        </a:defRPr>
      </a:pPr>
      <a:endParaRPr lang="en-K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DB368E-3785-4104-8185-8E0A19447CEB}" type="doc">
      <dgm:prSet loTypeId="urn:microsoft.com/office/officeart/2005/8/layout/default" loCatId="list" qsTypeId="urn:microsoft.com/office/officeart/2005/8/quickstyle/3d1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F2A32ADE-8203-4A62-B803-2F422C2AF564}">
      <dgm:prSet custT="1"/>
      <dgm:spPr/>
      <dgm:t>
        <a:bodyPr anchor="t"/>
        <a:lstStyle/>
        <a:p>
          <a:pPr algn="l"/>
          <a:r>
            <a:rPr lang="en-US" sz="1800" b="0">
              <a:latin typeface="+mj-lt"/>
            </a:rPr>
            <a:t>Recommendation 2: </a:t>
          </a:r>
        </a:p>
        <a:p>
          <a:pPr algn="l"/>
          <a:r>
            <a:rPr lang="en-US" sz="1800" b="0">
              <a:latin typeface="+mj-lt"/>
            </a:rPr>
            <a:t>Wherever feasible, the optimal dosing frequency for new patients with pulmonary TB is daily throughout the course of therapy. </a:t>
          </a:r>
        </a:p>
        <a:p>
          <a:pPr algn="l"/>
          <a:r>
            <a:rPr lang="en-US" sz="1800" b="0">
              <a:latin typeface="+mj-lt"/>
            </a:rPr>
            <a:t>(strong recommendation, high certainty of evidence)</a:t>
          </a:r>
        </a:p>
        <a:p>
          <a:pPr algn="l"/>
          <a:endParaRPr lang="en-US" sz="1800" b="0">
            <a:latin typeface="+mj-lt"/>
          </a:endParaRPr>
        </a:p>
      </dgm:t>
    </dgm:pt>
    <dgm:pt modelId="{D4E101DB-C225-483D-B49C-559F5CE2EBD4}" type="parTrans" cxnId="{244EB988-6125-451E-B0B8-0AC7D0239467}">
      <dgm:prSet/>
      <dgm:spPr/>
      <dgm:t>
        <a:bodyPr/>
        <a:lstStyle/>
        <a:p>
          <a:pPr algn="l"/>
          <a:endParaRPr lang="en-US" sz="1600" b="0">
            <a:latin typeface="+mj-lt"/>
          </a:endParaRPr>
        </a:p>
      </dgm:t>
    </dgm:pt>
    <dgm:pt modelId="{F90C49F3-AAB1-44A5-97F9-D9A87D71B84A}" type="sibTrans" cxnId="{244EB988-6125-451E-B0B8-0AC7D0239467}">
      <dgm:prSet/>
      <dgm:spPr/>
      <dgm:t>
        <a:bodyPr/>
        <a:lstStyle/>
        <a:p>
          <a:pPr algn="l"/>
          <a:endParaRPr lang="en-US" sz="1600" b="0">
            <a:latin typeface="+mj-lt"/>
          </a:endParaRPr>
        </a:p>
      </dgm:t>
    </dgm:pt>
    <dgm:pt modelId="{6632A5E8-74C4-4672-98A8-0E984AF97A25}">
      <dgm:prSet custT="1"/>
      <dgm:spPr/>
      <dgm:t>
        <a:bodyPr spcFirstLastPara="0" vert="horz" wrap="square" lIns="45720" tIns="45720" rIns="45720" bIns="45720" numCol="1" spcCol="1270" anchor="t" anchorCtr="0"/>
        <a:lstStyle/>
        <a:p>
          <a:pPr algn="l"/>
          <a:r>
            <a:rPr lang="en-US" sz="1800" b="0" kern="1200">
              <a:latin typeface="+mj-lt"/>
            </a:rPr>
            <a:t>Recommendation 3: </a:t>
          </a:r>
        </a:p>
        <a:p>
          <a:pPr algn="l"/>
          <a:r>
            <a:rPr lang="en-US" sz="1800" b="0" kern="1200">
              <a:latin typeface="+mj-lt"/>
              <a:ea typeface="+mn-ea"/>
              <a:cs typeface="+mn-cs"/>
            </a:rPr>
            <a:t>In all patients with DS PTB, the use of 3x dosing is not recommended in both the intensive and continuation phases of therapy, and daily dosing remains the recommended dosing frequency</a:t>
          </a:r>
        </a:p>
        <a:p>
          <a:pPr algn="l"/>
          <a:r>
            <a:rPr lang="en-US" sz="1800" b="0" kern="1200">
              <a:latin typeface="+mj-lt"/>
            </a:rPr>
            <a:t>(conditional recommendation, very low certainty of evidence).</a:t>
          </a:r>
        </a:p>
      </dgm:t>
    </dgm:pt>
    <dgm:pt modelId="{BE22FF80-A0E9-4EDB-978A-8C7EA3CAE9BC}" type="parTrans" cxnId="{E5456EFF-7E6C-4471-934A-1A8206D01E41}">
      <dgm:prSet/>
      <dgm:spPr/>
      <dgm:t>
        <a:bodyPr/>
        <a:lstStyle/>
        <a:p>
          <a:pPr algn="l"/>
          <a:endParaRPr lang="en-US" sz="1600" b="0">
            <a:latin typeface="+mj-lt"/>
          </a:endParaRPr>
        </a:p>
      </dgm:t>
    </dgm:pt>
    <dgm:pt modelId="{D79BA738-581A-425F-975D-5C44AAA1C4A5}" type="sibTrans" cxnId="{E5456EFF-7E6C-4471-934A-1A8206D01E41}">
      <dgm:prSet/>
      <dgm:spPr/>
      <dgm:t>
        <a:bodyPr/>
        <a:lstStyle/>
        <a:p>
          <a:pPr algn="l"/>
          <a:endParaRPr lang="en-US" sz="1600" b="0">
            <a:latin typeface="+mj-lt"/>
          </a:endParaRPr>
        </a:p>
      </dgm:t>
    </dgm:pt>
    <dgm:pt modelId="{41056B13-309E-49AF-B96E-530ECF72C384}">
      <dgm:prSet custT="1"/>
      <dgm:spPr/>
      <dgm:t>
        <a:bodyPr spcFirstLastPara="0" vert="horz" wrap="square" lIns="45720" tIns="45720" rIns="45720" bIns="45720" numCol="1" spcCol="1270" anchor="t" anchorCtr="0"/>
        <a:lstStyle/>
        <a:p>
          <a:pPr algn="l">
            <a:buNone/>
          </a:pPr>
          <a:r>
            <a:rPr lang="en-US" sz="1800" b="0" kern="1200">
              <a:latin typeface="+mj-lt"/>
            </a:rPr>
            <a:t>Recommendation 4: </a:t>
          </a:r>
        </a:p>
        <a:p>
          <a:pPr algn="l">
            <a:buNone/>
          </a:pPr>
          <a:r>
            <a:rPr lang="en-US" sz="1800" b="0" kern="1200">
              <a:latin typeface="+mj-lt"/>
              <a:ea typeface="+mn-ea"/>
              <a:cs typeface="+mn-cs"/>
            </a:rPr>
            <a:t>The use of fix-dose combination (FDC)  is recommended over separate drug formulations in treatment of patients with DS-TB.</a:t>
          </a:r>
        </a:p>
        <a:p>
          <a:pPr algn="l">
            <a:buNone/>
          </a:pPr>
          <a:r>
            <a:rPr lang="en-US" sz="1800" b="0" kern="1200">
              <a:latin typeface="+mj-lt"/>
            </a:rPr>
            <a:t>(conditional recommendation,  low certainty of evidence)</a:t>
          </a:r>
        </a:p>
      </dgm:t>
    </dgm:pt>
    <dgm:pt modelId="{48FE3B42-0D1E-48B8-B42B-7FE1D59009E7}" type="parTrans" cxnId="{E30E2555-92CA-441A-A2FF-38A9C5847247}">
      <dgm:prSet/>
      <dgm:spPr/>
      <dgm:t>
        <a:bodyPr/>
        <a:lstStyle/>
        <a:p>
          <a:pPr algn="l"/>
          <a:endParaRPr lang="en-US" sz="1600" b="0">
            <a:latin typeface="+mj-lt"/>
          </a:endParaRPr>
        </a:p>
      </dgm:t>
    </dgm:pt>
    <dgm:pt modelId="{6AEBCF11-0834-4334-A60F-E26C2383A903}" type="sibTrans" cxnId="{E30E2555-92CA-441A-A2FF-38A9C5847247}">
      <dgm:prSet/>
      <dgm:spPr/>
      <dgm:t>
        <a:bodyPr/>
        <a:lstStyle/>
        <a:p>
          <a:pPr algn="l"/>
          <a:endParaRPr lang="en-US" sz="1600" b="0">
            <a:latin typeface="+mj-lt"/>
          </a:endParaRPr>
        </a:p>
      </dgm:t>
    </dgm:pt>
    <dgm:pt modelId="{A4EDC05B-A6FC-4CAB-9C5F-30F1688657AD}">
      <dgm:prSet custT="1"/>
      <dgm:spPr/>
      <dgm:t>
        <a:bodyPr spcFirstLastPara="0" vert="horz" wrap="square" lIns="45720" tIns="45720" rIns="45720" bIns="45720" numCol="1" spcCol="1270" anchor="t" anchorCtr="0"/>
        <a:lstStyle/>
        <a:p>
          <a:pPr algn="l">
            <a:buNone/>
          </a:pPr>
          <a:r>
            <a:rPr lang="en-US" sz="1600" b="0" kern="1200">
              <a:latin typeface="+mj-lt"/>
            </a:rPr>
            <a:t>Recommendation 5: </a:t>
          </a:r>
        </a:p>
        <a:p>
          <a:pPr algn="l">
            <a:buNone/>
          </a:pPr>
          <a:r>
            <a:rPr lang="en-US" sz="1600" b="0" kern="1200">
              <a:latin typeface="+mj-lt"/>
            </a:rPr>
            <a:t>In new PTB patients treated with the regimen containing rifampicin throughout treatment, if a positive sputum smear is found at completion of the intensive phase, the extension of the intensive phase is not recommended .</a:t>
          </a:r>
        </a:p>
        <a:p>
          <a:pPr algn="l"/>
          <a:r>
            <a:rPr lang="en-US" sz="1600" b="0" kern="1200">
              <a:latin typeface="+mj-lt"/>
            </a:rPr>
            <a:t>(strong recommendation, high certainty of evidence)</a:t>
          </a:r>
        </a:p>
      </dgm:t>
    </dgm:pt>
    <dgm:pt modelId="{3EC4971F-5382-462E-B5AF-93A9D4F03C53}" type="parTrans" cxnId="{A8AD98CC-84C5-450D-8D5B-A0730B454239}">
      <dgm:prSet/>
      <dgm:spPr/>
      <dgm:t>
        <a:bodyPr/>
        <a:lstStyle/>
        <a:p>
          <a:pPr algn="l"/>
          <a:endParaRPr lang="en-US" sz="1600" b="0">
            <a:latin typeface="+mj-lt"/>
          </a:endParaRPr>
        </a:p>
      </dgm:t>
    </dgm:pt>
    <dgm:pt modelId="{C5CA99C2-208B-41E6-93AC-7D4D42ED9497}" type="sibTrans" cxnId="{A8AD98CC-84C5-450D-8D5B-A0730B454239}">
      <dgm:prSet/>
      <dgm:spPr/>
      <dgm:t>
        <a:bodyPr/>
        <a:lstStyle/>
        <a:p>
          <a:pPr algn="l"/>
          <a:endParaRPr lang="en-US" sz="1600" b="0">
            <a:latin typeface="+mj-lt"/>
          </a:endParaRPr>
        </a:p>
      </dgm:t>
    </dgm:pt>
    <dgm:pt modelId="{7FB49735-43DE-418A-8E51-BEC8AE6C89F7}" type="pres">
      <dgm:prSet presAssocID="{4FDB368E-3785-4104-8185-8E0A19447CEB}" presName="diagram" presStyleCnt="0">
        <dgm:presLayoutVars>
          <dgm:dir/>
          <dgm:resizeHandles val="exact"/>
        </dgm:presLayoutVars>
      </dgm:prSet>
      <dgm:spPr/>
    </dgm:pt>
    <dgm:pt modelId="{A02A9F0E-2DE6-41DC-930D-7DAE509543C2}" type="pres">
      <dgm:prSet presAssocID="{F2A32ADE-8203-4A62-B803-2F422C2AF564}" presName="node" presStyleLbl="node1" presStyleIdx="0" presStyleCnt="4" custScaleX="119367">
        <dgm:presLayoutVars>
          <dgm:bulletEnabled val="1"/>
        </dgm:presLayoutVars>
      </dgm:prSet>
      <dgm:spPr/>
    </dgm:pt>
    <dgm:pt modelId="{D0342F43-88B1-41DD-8EFF-A6AAD2C4B449}" type="pres">
      <dgm:prSet presAssocID="{F90C49F3-AAB1-44A5-97F9-D9A87D71B84A}" presName="sibTrans" presStyleCnt="0"/>
      <dgm:spPr/>
    </dgm:pt>
    <dgm:pt modelId="{50184FE2-9EA6-4E8B-9BC8-DCEEB5C87BB8}" type="pres">
      <dgm:prSet presAssocID="{6632A5E8-74C4-4672-98A8-0E984AF97A25}" presName="node" presStyleLbl="node1" presStyleIdx="1" presStyleCnt="4" custScaleX="120873">
        <dgm:presLayoutVars>
          <dgm:bulletEnabled val="1"/>
        </dgm:presLayoutVars>
      </dgm:prSet>
      <dgm:spPr>
        <a:xfrm>
          <a:off x="5978447" y="2698"/>
          <a:ext cx="2498046" cy="1498827"/>
        </a:xfrm>
        <a:prstGeom prst="rect">
          <a:avLst/>
        </a:prstGeom>
      </dgm:spPr>
    </dgm:pt>
    <dgm:pt modelId="{445F0378-C20D-483E-A84E-679C7C97F17C}" type="pres">
      <dgm:prSet presAssocID="{D79BA738-581A-425F-975D-5C44AAA1C4A5}" presName="sibTrans" presStyleCnt="0"/>
      <dgm:spPr/>
    </dgm:pt>
    <dgm:pt modelId="{DF2F4A3A-9F8A-4F0B-9564-353D708F50FB}" type="pres">
      <dgm:prSet presAssocID="{41056B13-309E-49AF-B96E-530ECF72C384}" presName="node" presStyleLbl="node1" presStyleIdx="2" presStyleCnt="4" custScaleX="121616" custLinFactNeighborX="731" custLinFactNeighborY="-7249">
        <dgm:presLayoutVars>
          <dgm:bulletEnabled val="1"/>
        </dgm:presLayoutVars>
      </dgm:prSet>
      <dgm:spPr/>
    </dgm:pt>
    <dgm:pt modelId="{A0957A49-00D7-4611-84DB-0C8DDE6F27E8}" type="pres">
      <dgm:prSet presAssocID="{6AEBCF11-0834-4334-A60F-E26C2383A903}" presName="sibTrans" presStyleCnt="0"/>
      <dgm:spPr/>
    </dgm:pt>
    <dgm:pt modelId="{F9BABCAF-89F3-4279-85E6-08182831D623}" type="pres">
      <dgm:prSet presAssocID="{A4EDC05B-A6FC-4CAB-9C5F-30F1688657AD}" presName="node" presStyleLbl="node1" presStyleIdx="3" presStyleCnt="4" custScaleX="121098" custLinFactNeighborX="-1476" custLinFactNeighborY="-6757">
        <dgm:presLayoutVars>
          <dgm:bulletEnabled val="1"/>
        </dgm:presLayoutVars>
      </dgm:prSet>
      <dgm:spPr/>
    </dgm:pt>
  </dgm:ptLst>
  <dgm:cxnLst>
    <dgm:cxn modelId="{19E5FD18-A156-4684-8077-F013EFEC683B}" type="presOf" srcId="{4FDB368E-3785-4104-8185-8E0A19447CEB}" destId="{7FB49735-43DE-418A-8E51-BEC8AE6C89F7}" srcOrd="0" destOrd="0" presId="urn:microsoft.com/office/officeart/2005/8/layout/default"/>
    <dgm:cxn modelId="{31216E32-5041-4987-9C02-D7930DD57E92}" type="presOf" srcId="{A4EDC05B-A6FC-4CAB-9C5F-30F1688657AD}" destId="{F9BABCAF-89F3-4279-85E6-08182831D623}" srcOrd="0" destOrd="0" presId="urn:microsoft.com/office/officeart/2005/8/layout/default"/>
    <dgm:cxn modelId="{68FECE41-9B1B-4D8C-A5B6-8FABBFA42E55}" type="presOf" srcId="{6632A5E8-74C4-4672-98A8-0E984AF97A25}" destId="{50184FE2-9EA6-4E8B-9BC8-DCEEB5C87BB8}" srcOrd="0" destOrd="0" presId="urn:microsoft.com/office/officeart/2005/8/layout/default"/>
    <dgm:cxn modelId="{40546F44-5D52-4E3E-A373-B72893DE1FBE}" type="presOf" srcId="{F2A32ADE-8203-4A62-B803-2F422C2AF564}" destId="{A02A9F0E-2DE6-41DC-930D-7DAE509543C2}" srcOrd="0" destOrd="0" presId="urn:microsoft.com/office/officeart/2005/8/layout/default"/>
    <dgm:cxn modelId="{D08C0F4B-158B-4B0C-9B05-ED3634B9A75B}" type="presOf" srcId="{41056B13-309E-49AF-B96E-530ECF72C384}" destId="{DF2F4A3A-9F8A-4F0B-9564-353D708F50FB}" srcOrd="0" destOrd="0" presId="urn:microsoft.com/office/officeart/2005/8/layout/default"/>
    <dgm:cxn modelId="{E30E2555-92CA-441A-A2FF-38A9C5847247}" srcId="{4FDB368E-3785-4104-8185-8E0A19447CEB}" destId="{41056B13-309E-49AF-B96E-530ECF72C384}" srcOrd="2" destOrd="0" parTransId="{48FE3B42-0D1E-48B8-B42B-7FE1D59009E7}" sibTransId="{6AEBCF11-0834-4334-A60F-E26C2383A903}"/>
    <dgm:cxn modelId="{244EB988-6125-451E-B0B8-0AC7D0239467}" srcId="{4FDB368E-3785-4104-8185-8E0A19447CEB}" destId="{F2A32ADE-8203-4A62-B803-2F422C2AF564}" srcOrd="0" destOrd="0" parTransId="{D4E101DB-C225-483D-B49C-559F5CE2EBD4}" sibTransId="{F90C49F3-AAB1-44A5-97F9-D9A87D71B84A}"/>
    <dgm:cxn modelId="{A8AD98CC-84C5-450D-8D5B-A0730B454239}" srcId="{4FDB368E-3785-4104-8185-8E0A19447CEB}" destId="{A4EDC05B-A6FC-4CAB-9C5F-30F1688657AD}" srcOrd="3" destOrd="0" parTransId="{3EC4971F-5382-462E-B5AF-93A9D4F03C53}" sibTransId="{C5CA99C2-208B-41E6-93AC-7D4D42ED9497}"/>
    <dgm:cxn modelId="{E5456EFF-7E6C-4471-934A-1A8206D01E41}" srcId="{4FDB368E-3785-4104-8185-8E0A19447CEB}" destId="{6632A5E8-74C4-4672-98A8-0E984AF97A25}" srcOrd="1" destOrd="0" parTransId="{BE22FF80-A0E9-4EDB-978A-8C7EA3CAE9BC}" sibTransId="{D79BA738-581A-425F-975D-5C44AAA1C4A5}"/>
    <dgm:cxn modelId="{A3D81AFB-DAB8-483E-AD67-E30047BD28D3}" type="presParOf" srcId="{7FB49735-43DE-418A-8E51-BEC8AE6C89F7}" destId="{A02A9F0E-2DE6-41DC-930D-7DAE509543C2}" srcOrd="0" destOrd="0" presId="urn:microsoft.com/office/officeart/2005/8/layout/default"/>
    <dgm:cxn modelId="{99C740B2-0950-41B0-8E34-B7533D10F8D3}" type="presParOf" srcId="{7FB49735-43DE-418A-8E51-BEC8AE6C89F7}" destId="{D0342F43-88B1-41DD-8EFF-A6AAD2C4B449}" srcOrd="1" destOrd="0" presId="urn:microsoft.com/office/officeart/2005/8/layout/default"/>
    <dgm:cxn modelId="{24D01B52-E8E4-4C5E-A0A7-D8E77D48FE73}" type="presParOf" srcId="{7FB49735-43DE-418A-8E51-BEC8AE6C89F7}" destId="{50184FE2-9EA6-4E8B-9BC8-DCEEB5C87BB8}" srcOrd="2" destOrd="0" presId="urn:microsoft.com/office/officeart/2005/8/layout/default"/>
    <dgm:cxn modelId="{8EA55018-895E-41CA-B097-DF3172762221}" type="presParOf" srcId="{7FB49735-43DE-418A-8E51-BEC8AE6C89F7}" destId="{445F0378-C20D-483E-A84E-679C7C97F17C}" srcOrd="3" destOrd="0" presId="urn:microsoft.com/office/officeart/2005/8/layout/default"/>
    <dgm:cxn modelId="{F7055DAE-61B4-4DFC-B645-BEB0240C396C}" type="presParOf" srcId="{7FB49735-43DE-418A-8E51-BEC8AE6C89F7}" destId="{DF2F4A3A-9F8A-4F0B-9564-353D708F50FB}" srcOrd="4" destOrd="0" presId="urn:microsoft.com/office/officeart/2005/8/layout/default"/>
    <dgm:cxn modelId="{A4DC5CAA-2E6C-43B0-9743-31B59500C99A}" type="presParOf" srcId="{7FB49735-43DE-418A-8E51-BEC8AE6C89F7}" destId="{A0957A49-00D7-4611-84DB-0C8DDE6F27E8}" srcOrd="5" destOrd="0" presId="urn:microsoft.com/office/officeart/2005/8/layout/default"/>
    <dgm:cxn modelId="{66AEFB60-00BB-46EA-B9AC-B2F4C7248CD2}" type="presParOf" srcId="{7FB49735-43DE-418A-8E51-BEC8AE6C89F7}" destId="{F9BABCAF-89F3-4279-85E6-08182831D623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C336A8-C105-46DC-9E55-66BA58342615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9365C79-DFC3-44E1-8E5F-A366B43C7053}">
      <dgm:prSet phldrT="[Text]" custT="1"/>
      <dgm:spPr/>
      <dgm:t>
        <a:bodyPr/>
        <a:lstStyle/>
        <a:p>
          <a:pPr>
            <a:buNone/>
          </a:pPr>
          <a:r>
            <a:rPr lang="en-US" sz="2800" b="0">
              <a:solidFill>
                <a:schemeClr val="bg1"/>
              </a:solidFill>
            </a:rPr>
            <a:t>2</a:t>
          </a:r>
          <a:r>
            <a:rPr lang="en-US" sz="2800" b="0" baseline="0">
              <a:solidFill>
                <a:schemeClr val="bg1"/>
              </a:solidFill>
            </a:rPr>
            <a:t>HRZE/4HR</a:t>
          </a:r>
          <a:endParaRPr lang="en-US" sz="2800" b="0" dirty="0">
            <a:solidFill>
              <a:schemeClr val="bg1"/>
            </a:solidFill>
          </a:endParaRPr>
        </a:p>
      </dgm:t>
    </dgm:pt>
    <dgm:pt modelId="{B1E3AB8E-E491-4A5B-BFEB-4DDE2A3757FA}" type="parTrans" cxnId="{12693102-FA73-4A8F-98D1-53C9752D6E6B}">
      <dgm:prSet/>
      <dgm:spPr/>
      <dgm:t>
        <a:bodyPr/>
        <a:lstStyle/>
        <a:p>
          <a:endParaRPr lang="en-US"/>
        </a:p>
      </dgm:t>
    </dgm:pt>
    <dgm:pt modelId="{01A93733-C66C-4870-9967-4460AF9A88D4}" type="sibTrans" cxnId="{12693102-FA73-4A8F-98D1-53C9752D6E6B}">
      <dgm:prSet/>
      <dgm:spPr/>
      <dgm:t>
        <a:bodyPr/>
        <a:lstStyle/>
        <a:p>
          <a:endParaRPr lang="en-US"/>
        </a:p>
      </dgm:t>
    </dgm:pt>
    <dgm:pt modelId="{594E2C7E-9D62-478B-A7A4-973B1EE0B9AA}">
      <dgm:prSet phldrT="[Text]" custT="1"/>
      <dgm:spPr>
        <a:ln>
          <a:solidFill>
            <a:srgbClr val="00205C"/>
          </a:solidFill>
        </a:ln>
      </dgm:spPr>
      <dgm:t>
        <a:bodyPr/>
        <a:lstStyle/>
        <a:p>
          <a:pPr rtl="0"/>
          <a:r>
            <a:rPr lang="en-US" sz="1600"/>
            <a:t>Applicable for ages 12 years old and above</a:t>
          </a:r>
          <a:endParaRPr lang="en-US" sz="1600" dirty="0"/>
        </a:p>
      </dgm:t>
    </dgm:pt>
    <dgm:pt modelId="{6BABE55E-1DE2-4ABB-AC67-A049BDF99919}" type="parTrans" cxnId="{AA461E4E-4C6E-4AF0-ACE4-4A6FB57E32E9}">
      <dgm:prSet/>
      <dgm:spPr/>
      <dgm:t>
        <a:bodyPr/>
        <a:lstStyle/>
        <a:p>
          <a:endParaRPr lang="en-US"/>
        </a:p>
      </dgm:t>
    </dgm:pt>
    <dgm:pt modelId="{922DFEDC-9ACE-4443-9A8E-0B72130EB612}" type="sibTrans" cxnId="{AA461E4E-4C6E-4AF0-ACE4-4A6FB57E32E9}">
      <dgm:prSet/>
      <dgm:spPr/>
      <dgm:t>
        <a:bodyPr/>
        <a:lstStyle/>
        <a:p>
          <a:endParaRPr lang="en-US"/>
        </a:p>
      </dgm:t>
    </dgm:pt>
    <dgm:pt modelId="{5ECCA1A5-4E01-48ED-950A-99BCC5A4BE46}">
      <dgm:prSet phldrT="[Text]" custT="1"/>
      <dgm:spPr>
        <a:solidFill>
          <a:srgbClr val="80A6D5"/>
        </a:solidFill>
      </dgm:spPr>
      <dgm:t>
        <a:bodyPr/>
        <a:lstStyle/>
        <a:p>
          <a:r>
            <a:rPr lang="en-US" sz="2800" b="0">
              <a:solidFill>
                <a:schemeClr val="tx2"/>
              </a:solidFill>
            </a:rPr>
            <a:t>2HRZ(E)/2HR</a:t>
          </a:r>
          <a:endParaRPr lang="en-US" sz="2800" b="0" dirty="0">
            <a:solidFill>
              <a:schemeClr val="tx2"/>
            </a:solidFill>
          </a:endParaRPr>
        </a:p>
      </dgm:t>
    </dgm:pt>
    <dgm:pt modelId="{E89C61D2-3134-4A18-BE83-224EB31B449E}" type="parTrans" cxnId="{50C963B8-7C28-431E-A815-B521344EF877}">
      <dgm:prSet/>
      <dgm:spPr/>
      <dgm:t>
        <a:bodyPr/>
        <a:lstStyle/>
        <a:p>
          <a:endParaRPr lang="en-US"/>
        </a:p>
      </dgm:t>
    </dgm:pt>
    <dgm:pt modelId="{E2DA1140-9048-463B-AD1B-10D38EE1D1B8}" type="sibTrans" cxnId="{50C963B8-7C28-431E-A815-B521344EF877}">
      <dgm:prSet/>
      <dgm:spPr/>
      <dgm:t>
        <a:bodyPr/>
        <a:lstStyle/>
        <a:p>
          <a:endParaRPr lang="en-US"/>
        </a:p>
      </dgm:t>
    </dgm:pt>
    <dgm:pt modelId="{E0B07145-A1E6-4487-A81A-566D3D9A801B}">
      <dgm:prSet phldrT="[Text]" custT="1"/>
      <dgm:spPr>
        <a:ln>
          <a:solidFill>
            <a:schemeClr val="accent2"/>
          </a:solidFill>
        </a:ln>
      </dgm:spPr>
      <dgm:t>
        <a:bodyPr/>
        <a:lstStyle/>
        <a:p>
          <a:r>
            <a:rPr lang="en-US" sz="1600">
              <a:solidFill>
                <a:schemeClr val="bg1"/>
              </a:solidFill>
            </a:rPr>
            <a:t>For children and adolescents between 3 months and 16 years of age</a:t>
          </a:r>
          <a:endParaRPr lang="en-US" sz="1600" dirty="0">
            <a:solidFill>
              <a:schemeClr val="bg1"/>
            </a:solidFill>
          </a:endParaRPr>
        </a:p>
      </dgm:t>
    </dgm:pt>
    <dgm:pt modelId="{B6098C41-DB5F-45D9-8F28-D335F07B41EC}" type="parTrans" cxnId="{32A1CBCC-95FE-417A-B28E-1D61C10C55AB}">
      <dgm:prSet/>
      <dgm:spPr/>
      <dgm:t>
        <a:bodyPr/>
        <a:lstStyle/>
        <a:p>
          <a:endParaRPr lang="en-US"/>
        </a:p>
      </dgm:t>
    </dgm:pt>
    <dgm:pt modelId="{4728BDC3-7FA1-40EF-B70C-FA3B400820CC}" type="sibTrans" cxnId="{32A1CBCC-95FE-417A-B28E-1D61C10C55AB}">
      <dgm:prSet/>
      <dgm:spPr/>
      <dgm:t>
        <a:bodyPr/>
        <a:lstStyle/>
        <a:p>
          <a:endParaRPr lang="en-US"/>
        </a:p>
      </dgm:t>
    </dgm:pt>
    <dgm:pt modelId="{3CBB67BD-F5DA-4C8D-8C58-9DCFD9353110}">
      <dgm:prSet phldrT="[Text]" custT="1"/>
      <dgm:spPr>
        <a:solidFill>
          <a:srgbClr val="C9DDF3"/>
        </a:solidFill>
      </dgm:spPr>
      <dgm:t>
        <a:bodyPr/>
        <a:lstStyle/>
        <a:p>
          <a:r>
            <a:rPr lang="en-US" sz="2800" b="0">
              <a:solidFill>
                <a:schemeClr val="tx2"/>
              </a:solidFill>
            </a:rPr>
            <a:t>2HPMZ/2HPM</a:t>
          </a:r>
          <a:endParaRPr lang="en-US" sz="2800" b="0" dirty="0">
            <a:solidFill>
              <a:schemeClr val="tx2"/>
            </a:solidFill>
          </a:endParaRPr>
        </a:p>
      </dgm:t>
    </dgm:pt>
    <dgm:pt modelId="{F84C7F3E-1A81-4E7F-B298-7A29523D9412}" type="sibTrans" cxnId="{9171715A-8F80-4A55-9115-555E3335B2A3}">
      <dgm:prSet/>
      <dgm:spPr>
        <a:solidFill>
          <a:srgbClr val="80A6D5"/>
        </a:solidFill>
      </dgm:spPr>
      <dgm:t>
        <a:bodyPr/>
        <a:lstStyle/>
        <a:p>
          <a:endParaRPr lang="en-US"/>
        </a:p>
      </dgm:t>
    </dgm:pt>
    <dgm:pt modelId="{8111DFDD-C673-4A5C-9EF8-AC93E30BBE72}" type="parTrans" cxnId="{9171715A-8F80-4A55-9115-555E3335B2A3}">
      <dgm:prSet/>
      <dgm:spPr/>
      <dgm:t>
        <a:bodyPr/>
        <a:lstStyle/>
        <a:p>
          <a:endParaRPr lang="en-US"/>
        </a:p>
      </dgm:t>
    </dgm:pt>
    <dgm:pt modelId="{C7BCEEBE-AD99-428F-904F-3388709FFEBF}">
      <dgm:prSet custT="1"/>
      <dgm:spPr/>
      <dgm:t>
        <a:bodyPr/>
        <a:lstStyle/>
        <a:p>
          <a:pPr rtl="0"/>
          <a:r>
            <a:rPr lang="en-US" sz="1600" dirty="0"/>
            <a:t>Can be used with PLHIV</a:t>
          </a:r>
          <a:r>
            <a:rPr lang="en-US" sz="1600" dirty="0">
              <a:latin typeface="Arial"/>
            </a:rPr>
            <a:t> </a:t>
          </a:r>
          <a:r>
            <a:rPr lang="en-US" sz="1600" dirty="0"/>
            <a:t> with a CD4 count &gt; 100 cells/mm3;</a:t>
          </a:r>
        </a:p>
      </dgm:t>
    </dgm:pt>
    <dgm:pt modelId="{10D0DCCA-736A-4A8A-A69A-D2450F97246E}" type="parTrans" cxnId="{B9BC16AC-156F-4AE3-8E53-1ADB820D8077}">
      <dgm:prSet/>
      <dgm:spPr/>
      <dgm:t>
        <a:bodyPr/>
        <a:lstStyle/>
        <a:p>
          <a:endParaRPr lang="en-US"/>
        </a:p>
      </dgm:t>
    </dgm:pt>
    <dgm:pt modelId="{3F5B67AB-D2AB-403A-966F-8F3395F9EC5E}" type="sibTrans" cxnId="{B9BC16AC-156F-4AE3-8E53-1ADB820D8077}">
      <dgm:prSet/>
      <dgm:spPr/>
      <dgm:t>
        <a:bodyPr/>
        <a:lstStyle/>
        <a:p>
          <a:endParaRPr lang="en-US"/>
        </a:p>
      </dgm:t>
    </dgm:pt>
    <dgm:pt modelId="{F66A7C2E-D686-44B6-9E23-BF68EB1CCF4B}">
      <dgm:prSet phldr="0" custT="1"/>
      <dgm:spPr/>
      <dgm:t>
        <a:bodyPr/>
        <a:lstStyle/>
        <a:p>
          <a:pPr rtl="0">
            <a:buFont typeface="Arial" panose="020B0604020202020204" pitchFamily="34" charset="0"/>
            <a:buChar char="•"/>
          </a:pPr>
          <a:r>
            <a:rPr lang="en-US" sz="1600" dirty="0"/>
            <a:t>Can be used regardless of HIV status or disease severity</a:t>
          </a:r>
          <a:r>
            <a:rPr lang="en-US" sz="1600" dirty="0">
              <a:latin typeface="Arial"/>
            </a:rPr>
            <a:t>.</a:t>
          </a:r>
          <a:r>
            <a:rPr lang="en-GB" sz="1600" dirty="0"/>
            <a:t> </a:t>
          </a:r>
        </a:p>
      </dgm:t>
    </dgm:pt>
    <dgm:pt modelId="{6649F510-A5C6-4C10-BB46-9CE82883BF1B}" type="parTrans" cxnId="{0B8072EA-7C99-4FED-B6B0-255A3C9A7E32}">
      <dgm:prSet/>
      <dgm:spPr/>
      <dgm:t>
        <a:bodyPr/>
        <a:lstStyle/>
        <a:p>
          <a:endParaRPr lang="en-US"/>
        </a:p>
      </dgm:t>
    </dgm:pt>
    <dgm:pt modelId="{6BE1AF5B-9A2C-43A6-B35F-B4F60B367C76}" type="sibTrans" cxnId="{0B8072EA-7C99-4FED-B6B0-255A3C9A7E32}">
      <dgm:prSet/>
      <dgm:spPr/>
      <dgm:t>
        <a:bodyPr/>
        <a:lstStyle/>
        <a:p>
          <a:endParaRPr lang="en-US"/>
        </a:p>
      </dgm:t>
    </dgm:pt>
    <dgm:pt modelId="{B3226F5C-21BC-4AD0-B6EC-D5CAF6E15A40}">
      <dgm:prSet custT="1"/>
      <dgm:spPr/>
      <dgm:t>
        <a:bodyPr/>
        <a:lstStyle/>
        <a:p>
          <a:pPr rtl="0">
            <a:buFont typeface="Arial" panose="020B0604020202020204" pitchFamily="34" charset="0"/>
            <a:buChar char="•"/>
          </a:pPr>
          <a:r>
            <a:rPr lang="en-US" sz="1600"/>
            <a:t>Considered safe for pregnant woman;</a:t>
          </a:r>
          <a:r>
            <a:rPr lang="en-US" sz="1600">
              <a:latin typeface="Arial"/>
            </a:rPr>
            <a:t> </a:t>
          </a:r>
          <a:endParaRPr lang="en-US" sz="1600" dirty="0"/>
        </a:p>
      </dgm:t>
    </dgm:pt>
    <dgm:pt modelId="{C6D01030-F542-49F7-ADB3-DD3565336469}" type="sibTrans" cxnId="{570875B9-ACFE-4A53-889C-151612696542}">
      <dgm:prSet/>
      <dgm:spPr/>
      <dgm:t>
        <a:bodyPr/>
        <a:lstStyle/>
        <a:p>
          <a:endParaRPr lang="en-US"/>
        </a:p>
      </dgm:t>
    </dgm:pt>
    <dgm:pt modelId="{0A1D7BAB-C4E3-4AC0-A9AC-301F74CBD7AE}" type="parTrans" cxnId="{570875B9-ACFE-4A53-889C-151612696542}">
      <dgm:prSet/>
      <dgm:spPr/>
      <dgm:t>
        <a:bodyPr/>
        <a:lstStyle/>
        <a:p>
          <a:endParaRPr lang="en-US"/>
        </a:p>
      </dgm:t>
    </dgm:pt>
    <dgm:pt modelId="{D8DDB539-BE9D-42B2-ACC5-D31430893F80}">
      <dgm:prSet custT="1"/>
      <dgm:spPr/>
      <dgm:t>
        <a:bodyPr/>
        <a:lstStyle/>
        <a:p>
          <a:pPr rtl="0">
            <a:buFont typeface="Arial" panose="020B0604020202020204" pitchFamily="34" charset="0"/>
            <a:buChar char="•"/>
          </a:pPr>
          <a:r>
            <a:rPr lang="en-US" sz="1600"/>
            <a:t>Can be used in all age groups;</a:t>
          </a:r>
          <a:r>
            <a:rPr lang="en-US" sz="1600">
              <a:latin typeface="Arial"/>
            </a:rPr>
            <a:t> </a:t>
          </a:r>
          <a:endParaRPr lang="en-US" sz="1600" dirty="0"/>
        </a:p>
      </dgm:t>
    </dgm:pt>
    <dgm:pt modelId="{DB863EAB-2F13-49BE-ABDB-B646423F6E75}" type="parTrans" cxnId="{E57063DC-2E10-4783-8948-C209C4A6102B}">
      <dgm:prSet/>
      <dgm:spPr/>
      <dgm:t>
        <a:bodyPr/>
        <a:lstStyle/>
        <a:p>
          <a:endParaRPr lang="en-US"/>
        </a:p>
      </dgm:t>
    </dgm:pt>
    <dgm:pt modelId="{07267393-066E-4CD9-8DE5-265CC4E827E4}" type="sibTrans" cxnId="{E57063DC-2E10-4783-8948-C209C4A6102B}">
      <dgm:prSet/>
      <dgm:spPr/>
      <dgm:t>
        <a:bodyPr/>
        <a:lstStyle/>
        <a:p>
          <a:endParaRPr lang="en-US"/>
        </a:p>
      </dgm:t>
    </dgm:pt>
    <dgm:pt modelId="{F4A25D4B-3526-422C-9B91-41161331032A}">
      <dgm:prSet phldrT="[Text]" custT="1"/>
      <dgm:spPr>
        <a:ln>
          <a:solidFill>
            <a:srgbClr val="00205C"/>
          </a:solidFill>
        </a:ln>
      </dgm:spPr>
      <dgm:t>
        <a:bodyPr/>
        <a:lstStyle/>
        <a:p>
          <a:pPr rtl="0"/>
          <a:r>
            <a:rPr lang="en-US" sz="1600" dirty="0"/>
            <a:t>Without  severe extrapulmonary TB</a:t>
          </a:r>
        </a:p>
      </dgm:t>
    </dgm:pt>
    <dgm:pt modelId="{AFB5F347-9CAE-4DC7-BCF1-E00BAFDAF85F}" type="parTrans" cxnId="{B8DBFA15-D31E-4DC3-A434-23B4743C3330}">
      <dgm:prSet/>
      <dgm:spPr/>
      <dgm:t>
        <a:bodyPr/>
        <a:lstStyle/>
        <a:p>
          <a:endParaRPr lang="en-US"/>
        </a:p>
      </dgm:t>
    </dgm:pt>
    <dgm:pt modelId="{E4767138-B42B-4E02-8641-64E1006065A5}" type="sibTrans" cxnId="{B8DBFA15-D31E-4DC3-A434-23B4743C3330}">
      <dgm:prSet/>
      <dgm:spPr/>
      <dgm:t>
        <a:bodyPr/>
        <a:lstStyle/>
        <a:p>
          <a:endParaRPr lang="en-US"/>
        </a:p>
      </dgm:t>
    </dgm:pt>
    <dgm:pt modelId="{874BBA53-F691-4099-B60E-8690500FF8AE}">
      <dgm:prSet custT="1"/>
      <dgm:spPr/>
      <dgm:t>
        <a:bodyPr/>
        <a:lstStyle/>
        <a:p>
          <a:pPr rtl="0"/>
          <a:r>
            <a:rPr lang="en-US" sz="1600" dirty="0"/>
            <a:t>pregnant, breastfeeding and postpartum women cannot benefit from this regimen</a:t>
          </a:r>
        </a:p>
      </dgm:t>
    </dgm:pt>
    <dgm:pt modelId="{2E016029-C4CC-4268-8BD3-DF29A0FC5993}" type="parTrans" cxnId="{E414BEC7-4EDA-4A49-9929-A2921D27C96F}">
      <dgm:prSet/>
      <dgm:spPr/>
      <dgm:t>
        <a:bodyPr/>
        <a:lstStyle/>
        <a:p>
          <a:endParaRPr lang="en-US"/>
        </a:p>
      </dgm:t>
    </dgm:pt>
    <dgm:pt modelId="{F4524C85-599E-4A5C-B0AD-ADEA3522EA9B}" type="sibTrans" cxnId="{E414BEC7-4EDA-4A49-9929-A2921D27C96F}">
      <dgm:prSet/>
      <dgm:spPr/>
      <dgm:t>
        <a:bodyPr/>
        <a:lstStyle/>
        <a:p>
          <a:endParaRPr lang="en-US"/>
        </a:p>
      </dgm:t>
    </dgm:pt>
    <dgm:pt modelId="{5F2C65DA-0957-4FE3-9F28-C17006A8B9FB}">
      <dgm:prSet phldrT="[Text]" custT="1"/>
      <dgm:spPr>
        <a:ln>
          <a:solidFill>
            <a:schemeClr val="accent2"/>
          </a:solidFill>
        </a:ln>
      </dgm:spPr>
      <dgm:t>
        <a:bodyPr/>
        <a:lstStyle/>
        <a:p>
          <a:r>
            <a:rPr lang="en-US" sz="1600" dirty="0">
              <a:solidFill>
                <a:schemeClr val="bg1"/>
              </a:solidFill>
            </a:rPr>
            <a:t>with non-severe TB</a:t>
          </a:r>
        </a:p>
      </dgm:t>
    </dgm:pt>
    <dgm:pt modelId="{25B7792E-3CE8-46AA-8F46-00D45640EF5D}" type="parTrans" cxnId="{53F5777D-4817-4480-A6D5-CD40B9BB8691}">
      <dgm:prSet/>
      <dgm:spPr/>
      <dgm:t>
        <a:bodyPr/>
        <a:lstStyle/>
        <a:p>
          <a:endParaRPr lang="en-US"/>
        </a:p>
      </dgm:t>
    </dgm:pt>
    <dgm:pt modelId="{B777A30F-F31D-46E3-9E56-C79B30C43134}" type="sibTrans" cxnId="{53F5777D-4817-4480-A6D5-CD40B9BB8691}">
      <dgm:prSet/>
      <dgm:spPr/>
      <dgm:t>
        <a:bodyPr/>
        <a:lstStyle/>
        <a:p>
          <a:endParaRPr lang="en-US"/>
        </a:p>
      </dgm:t>
    </dgm:pt>
    <dgm:pt modelId="{5A3B3D0E-FCD4-4802-8C90-BF7A7F99A9B6}">
      <dgm:prSet phldrT="[Text]" custT="1"/>
      <dgm:spPr>
        <a:ln>
          <a:solidFill>
            <a:schemeClr val="accent2"/>
          </a:solidFill>
        </a:ln>
      </dgm:spPr>
      <dgm:t>
        <a:bodyPr/>
        <a:lstStyle/>
        <a:p>
          <a:r>
            <a:rPr lang="en-US" sz="1600" dirty="0">
              <a:solidFill>
                <a:schemeClr val="bg1"/>
              </a:solidFill>
            </a:rPr>
            <a:t>without suspicion or evidence of MDR/RR-TB</a:t>
          </a:r>
        </a:p>
      </dgm:t>
    </dgm:pt>
    <dgm:pt modelId="{B2ACE5B3-319D-4A08-A75A-7F1E98430CF3}" type="parTrans" cxnId="{32050554-1627-490F-A095-FFA9E22799DB}">
      <dgm:prSet/>
      <dgm:spPr/>
      <dgm:t>
        <a:bodyPr/>
        <a:lstStyle/>
        <a:p>
          <a:endParaRPr lang="en-US"/>
        </a:p>
      </dgm:t>
    </dgm:pt>
    <dgm:pt modelId="{890F4679-ABC5-4128-8B2D-6155D864BAAC}" type="sibTrans" cxnId="{32050554-1627-490F-A095-FFA9E22799DB}">
      <dgm:prSet/>
      <dgm:spPr/>
      <dgm:t>
        <a:bodyPr/>
        <a:lstStyle/>
        <a:p>
          <a:endParaRPr lang="en-US"/>
        </a:p>
      </dgm:t>
    </dgm:pt>
    <dgm:pt modelId="{252A6335-8C2B-41A2-9473-0A73B5A22891}" type="pres">
      <dgm:prSet presAssocID="{5CC336A8-C105-46DC-9E55-66BA58342615}" presName="Name0" presStyleCnt="0">
        <dgm:presLayoutVars>
          <dgm:dir/>
          <dgm:resizeHandles val="exact"/>
        </dgm:presLayoutVars>
      </dgm:prSet>
      <dgm:spPr/>
    </dgm:pt>
    <dgm:pt modelId="{9FE2A24C-9130-437A-A1AB-1E071E5E83D6}" type="pres">
      <dgm:prSet presAssocID="{E9365C79-DFC3-44E1-8E5F-A366B43C7053}" presName="node" presStyleLbl="node1" presStyleIdx="0" presStyleCnt="3">
        <dgm:presLayoutVars>
          <dgm:bulletEnabled val="1"/>
        </dgm:presLayoutVars>
      </dgm:prSet>
      <dgm:spPr/>
    </dgm:pt>
    <dgm:pt modelId="{AAC75F2E-2C59-43A0-B4D6-45A2BA0A925E}" type="pres">
      <dgm:prSet presAssocID="{01A93733-C66C-4870-9967-4460AF9A88D4}" presName="sibTrans" presStyleLbl="sibTrans2D1" presStyleIdx="0" presStyleCnt="2" custScaleX="155249" custLinFactNeighborX="-5859" custLinFactNeighborY="-8389"/>
      <dgm:spPr>
        <a:prstGeom prst="ellipse">
          <a:avLst/>
        </a:prstGeom>
      </dgm:spPr>
    </dgm:pt>
    <dgm:pt modelId="{9EC5BE56-0748-429A-8F1C-FC26C6F1C169}" type="pres">
      <dgm:prSet presAssocID="{01A93733-C66C-4870-9967-4460AF9A88D4}" presName="connectorText" presStyleLbl="sibTrans2D1" presStyleIdx="0" presStyleCnt="2"/>
      <dgm:spPr/>
    </dgm:pt>
    <dgm:pt modelId="{EBCC5A6C-2FA3-4193-BFFC-4D5E5330D6B3}" type="pres">
      <dgm:prSet presAssocID="{3CBB67BD-F5DA-4C8D-8C58-9DCFD9353110}" presName="node" presStyleLbl="node1" presStyleIdx="1" presStyleCnt="3" custLinFactNeighborX="-31020" custLinFactNeighborY="-112">
        <dgm:presLayoutVars>
          <dgm:bulletEnabled val="1"/>
        </dgm:presLayoutVars>
      </dgm:prSet>
      <dgm:spPr/>
    </dgm:pt>
    <dgm:pt modelId="{5A34BDE9-E6AC-401A-AB7C-928912063DD6}" type="pres">
      <dgm:prSet presAssocID="{F84C7F3E-1A81-4E7F-B298-7A29523D9412}" presName="sibTrans" presStyleLbl="sibTrans2D1" presStyleIdx="1" presStyleCnt="2" custScaleX="135671" custLinFactNeighborX="-890" custLinFactNeighborY="-8147"/>
      <dgm:spPr>
        <a:prstGeom prst="ellipse">
          <a:avLst/>
        </a:prstGeom>
      </dgm:spPr>
    </dgm:pt>
    <dgm:pt modelId="{F5E0C4B4-E88C-45F0-8B5F-5CFAC8B91A17}" type="pres">
      <dgm:prSet presAssocID="{F84C7F3E-1A81-4E7F-B298-7A29523D9412}" presName="connectorText" presStyleLbl="sibTrans2D1" presStyleIdx="1" presStyleCnt="2"/>
      <dgm:spPr/>
    </dgm:pt>
    <dgm:pt modelId="{79C9FF33-7248-432D-8ACE-154EC3D4E835}" type="pres">
      <dgm:prSet presAssocID="{5ECCA1A5-4E01-48ED-950A-99BCC5A4BE46}" presName="node" presStyleLbl="node1" presStyleIdx="2" presStyleCnt="3" custLinFactNeighborX="-49114" custLinFactNeighborY="-112">
        <dgm:presLayoutVars>
          <dgm:bulletEnabled val="1"/>
        </dgm:presLayoutVars>
      </dgm:prSet>
      <dgm:spPr/>
    </dgm:pt>
  </dgm:ptLst>
  <dgm:cxnLst>
    <dgm:cxn modelId="{12693102-FA73-4A8F-98D1-53C9752D6E6B}" srcId="{5CC336A8-C105-46DC-9E55-66BA58342615}" destId="{E9365C79-DFC3-44E1-8E5F-A366B43C7053}" srcOrd="0" destOrd="0" parTransId="{B1E3AB8E-E491-4A5B-BFEB-4DDE2A3757FA}" sibTransId="{01A93733-C66C-4870-9967-4460AF9A88D4}"/>
    <dgm:cxn modelId="{B8DBFA15-D31E-4DC3-A434-23B4743C3330}" srcId="{3CBB67BD-F5DA-4C8D-8C58-9DCFD9353110}" destId="{F4A25D4B-3526-422C-9B91-41161331032A}" srcOrd="1" destOrd="0" parTransId="{AFB5F347-9CAE-4DC7-BCF1-E00BAFDAF85F}" sibTransId="{E4767138-B42B-4E02-8641-64E1006065A5}"/>
    <dgm:cxn modelId="{D6B8D41A-7BCD-4CF1-8C98-C068CA1AE626}" type="presOf" srcId="{874BBA53-F691-4099-B60E-8690500FF8AE}" destId="{EBCC5A6C-2FA3-4193-BFFC-4D5E5330D6B3}" srcOrd="0" destOrd="4" presId="urn:microsoft.com/office/officeart/2005/8/layout/process1"/>
    <dgm:cxn modelId="{5DA2BA20-F0DC-47AE-AB2A-D0C7BDE9EEF3}" type="presOf" srcId="{3CBB67BD-F5DA-4C8D-8C58-9DCFD9353110}" destId="{EBCC5A6C-2FA3-4193-BFFC-4D5E5330D6B3}" srcOrd="0" destOrd="0" presId="urn:microsoft.com/office/officeart/2005/8/layout/process1"/>
    <dgm:cxn modelId="{7E617E23-1AD8-4882-89FE-5FE0E98C7DEC}" type="presOf" srcId="{F4A25D4B-3526-422C-9B91-41161331032A}" destId="{EBCC5A6C-2FA3-4193-BFFC-4D5E5330D6B3}" srcOrd="0" destOrd="2" presId="urn:microsoft.com/office/officeart/2005/8/layout/process1"/>
    <dgm:cxn modelId="{AD63432F-B983-4127-AC7B-E84CD150EDED}" type="presOf" srcId="{F84C7F3E-1A81-4E7F-B298-7A29523D9412}" destId="{5A34BDE9-E6AC-401A-AB7C-928912063DD6}" srcOrd="0" destOrd="0" presId="urn:microsoft.com/office/officeart/2005/8/layout/process1"/>
    <dgm:cxn modelId="{F7C95E39-C7A3-4A2A-870F-07C62E29A89C}" type="presOf" srcId="{594E2C7E-9D62-478B-A7A4-973B1EE0B9AA}" destId="{EBCC5A6C-2FA3-4193-BFFC-4D5E5330D6B3}" srcOrd="0" destOrd="1" presId="urn:microsoft.com/office/officeart/2005/8/layout/process1"/>
    <dgm:cxn modelId="{825EEC46-759D-4614-991C-D71FFF006BB9}" type="presOf" srcId="{F66A7C2E-D686-44B6-9E23-BF68EB1CCF4B}" destId="{9FE2A24C-9130-437A-A1AB-1E071E5E83D6}" srcOrd="0" destOrd="3" presId="urn:microsoft.com/office/officeart/2005/8/layout/process1"/>
    <dgm:cxn modelId="{20ABB34C-5F20-43D7-86F9-117C5F208701}" type="presOf" srcId="{D8DDB539-BE9D-42B2-ACC5-D31430893F80}" destId="{9FE2A24C-9130-437A-A1AB-1E071E5E83D6}" srcOrd="0" destOrd="2" presId="urn:microsoft.com/office/officeart/2005/8/layout/process1"/>
    <dgm:cxn modelId="{AA461E4E-4C6E-4AF0-ACE4-4A6FB57E32E9}" srcId="{3CBB67BD-F5DA-4C8D-8C58-9DCFD9353110}" destId="{594E2C7E-9D62-478B-A7A4-973B1EE0B9AA}" srcOrd="0" destOrd="0" parTransId="{6BABE55E-1DE2-4ABB-AC67-A049BDF99919}" sibTransId="{922DFEDC-9ACE-4443-9A8E-0B72130EB612}"/>
    <dgm:cxn modelId="{BBF9C14F-11DD-45BC-97B5-36893A1D9DED}" type="presOf" srcId="{F84C7F3E-1A81-4E7F-B298-7A29523D9412}" destId="{F5E0C4B4-E88C-45F0-8B5F-5CFAC8B91A17}" srcOrd="1" destOrd="0" presId="urn:microsoft.com/office/officeart/2005/8/layout/process1"/>
    <dgm:cxn modelId="{32050554-1627-490F-A095-FFA9E22799DB}" srcId="{5ECCA1A5-4E01-48ED-950A-99BCC5A4BE46}" destId="{5A3B3D0E-FCD4-4802-8C90-BF7A7F99A9B6}" srcOrd="2" destOrd="0" parTransId="{B2ACE5B3-319D-4A08-A75A-7F1E98430CF3}" sibTransId="{890F4679-ABC5-4128-8B2D-6155D864BAAC}"/>
    <dgm:cxn modelId="{433B6A58-A701-479D-A115-BCD4D1826474}" type="presOf" srcId="{01A93733-C66C-4870-9967-4460AF9A88D4}" destId="{9EC5BE56-0748-429A-8F1C-FC26C6F1C169}" srcOrd="1" destOrd="0" presId="urn:microsoft.com/office/officeart/2005/8/layout/process1"/>
    <dgm:cxn modelId="{9171715A-8F80-4A55-9115-555E3335B2A3}" srcId="{5CC336A8-C105-46DC-9E55-66BA58342615}" destId="{3CBB67BD-F5DA-4C8D-8C58-9DCFD9353110}" srcOrd="1" destOrd="0" parTransId="{8111DFDD-C673-4A5C-9EF8-AC93E30BBE72}" sibTransId="{F84C7F3E-1A81-4E7F-B298-7A29523D9412}"/>
    <dgm:cxn modelId="{B5B9A277-010C-401E-8FAF-52978449CC3E}" type="presOf" srcId="{5CC336A8-C105-46DC-9E55-66BA58342615}" destId="{252A6335-8C2B-41A2-9473-0A73B5A22891}" srcOrd="0" destOrd="0" presId="urn:microsoft.com/office/officeart/2005/8/layout/process1"/>
    <dgm:cxn modelId="{53F5777D-4817-4480-A6D5-CD40B9BB8691}" srcId="{5ECCA1A5-4E01-48ED-950A-99BCC5A4BE46}" destId="{5F2C65DA-0957-4FE3-9F28-C17006A8B9FB}" srcOrd="1" destOrd="0" parTransId="{25B7792E-3CE8-46AA-8F46-00D45640EF5D}" sibTransId="{B777A30F-F31D-46E3-9E56-C79B30C43134}"/>
    <dgm:cxn modelId="{F4A99282-C1EB-47E4-93A4-D186FE3CF268}" type="presOf" srcId="{5A3B3D0E-FCD4-4802-8C90-BF7A7F99A9B6}" destId="{79C9FF33-7248-432D-8ACE-154EC3D4E835}" srcOrd="0" destOrd="3" presId="urn:microsoft.com/office/officeart/2005/8/layout/process1"/>
    <dgm:cxn modelId="{388A3B91-05ED-43B3-BBFD-6492A18EF541}" type="presOf" srcId="{E0B07145-A1E6-4487-A81A-566D3D9A801B}" destId="{79C9FF33-7248-432D-8ACE-154EC3D4E835}" srcOrd="0" destOrd="1" presId="urn:microsoft.com/office/officeart/2005/8/layout/process1"/>
    <dgm:cxn modelId="{8A35C39D-2F09-488C-816B-09B9AA28124E}" type="presOf" srcId="{E9365C79-DFC3-44E1-8E5F-A366B43C7053}" destId="{9FE2A24C-9130-437A-A1AB-1E071E5E83D6}" srcOrd="0" destOrd="0" presId="urn:microsoft.com/office/officeart/2005/8/layout/process1"/>
    <dgm:cxn modelId="{B9BC16AC-156F-4AE3-8E53-1ADB820D8077}" srcId="{3CBB67BD-F5DA-4C8D-8C58-9DCFD9353110}" destId="{C7BCEEBE-AD99-428F-904F-3388709FFEBF}" srcOrd="2" destOrd="0" parTransId="{10D0DCCA-736A-4A8A-A69A-D2450F97246E}" sibTransId="{3F5B67AB-D2AB-403A-966F-8F3395F9EC5E}"/>
    <dgm:cxn modelId="{D6512DB1-0014-49EC-9D80-793F73A4ECF5}" type="presOf" srcId="{5ECCA1A5-4E01-48ED-950A-99BCC5A4BE46}" destId="{79C9FF33-7248-432D-8ACE-154EC3D4E835}" srcOrd="0" destOrd="0" presId="urn:microsoft.com/office/officeart/2005/8/layout/process1"/>
    <dgm:cxn modelId="{50C963B8-7C28-431E-A815-B521344EF877}" srcId="{5CC336A8-C105-46DC-9E55-66BA58342615}" destId="{5ECCA1A5-4E01-48ED-950A-99BCC5A4BE46}" srcOrd="2" destOrd="0" parTransId="{E89C61D2-3134-4A18-BE83-224EB31B449E}" sibTransId="{E2DA1140-9048-463B-AD1B-10D38EE1D1B8}"/>
    <dgm:cxn modelId="{570875B9-ACFE-4A53-889C-151612696542}" srcId="{E9365C79-DFC3-44E1-8E5F-A366B43C7053}" destId="{B3226F5C-21BC-4AD0-B6EC-D5CAF6E15A40}" srcOrd="0" destOrd="0" parTransId="{0A1D7BAB-C4E3-4AC0-A9AC-301F74CBD7AE}" sibTransId="{C6D01030-F542-49F7-ADB3-DD3565336469}"/>
    <dgm:cxn modelId="{E414BEC7-4EDA-4A49-9929-A2921D27C96F}" srcId="{3CBB67BD-F5DA-4C8D-8C58-9DCFD9353110}" destId="{874BBA53-F691-4099-B60E-8690500FF8AE}" srcOrd="3" destOrd="0" parTransId="{2E016029-C4CC-4268-8BD3-DF29A0FC5993}" sibTransId="{F4524C85-599E-4A5C-B0AD-ADEA3522EA9B}"/>
    <dgm:cxn modelId="{32A1CBCC-95FE-417A-B28E-1D61C10C55AB}" srcId="{5ECCA1A5-4E01-48ED-950A-99BCC5A4BE46}" destId="{E0B07145-A1E6-4487-A81A-566D3D9A801B}" srcOrd="0" destOrd="0" parTransId="{B6098C41-DB5F-45D9-8F28-D335F07B41EC}" sibTransId="{4728BDC3-7FA1-40EF-B70C-FA3B400820CC}"/>
    <dgm:cxn modelId="{1C1BD7D0-E2F0-4454-A19A-8A0D56F96D1D}" type="presOf" srcId="{B3226F5C-21BC-4AD0-B6EC-D5CAF6E15A40}" destId="{9FE2A24C-9130-437A-A1AB-1E071E5E83D6}" srcOrd="0" destOrd="1" presId="urn:microsoft.com/office/officeart/2005/8/layout/process1"/>
    <dgm:cxn modelId="{C90A8CD1-F7D8-4684-909F-CC0323DE9144}" type="presOf" srcId="{5F2C65DA-0957-4FE3-9F28-C17006A8B9FB}" destId="{79C9FF33-7248-432D-8ACE-154EC3D4E835}" srcOrd="0" destOrd="2" presId="urn:microsoft.com/office/officeart/2005/8/layout/process1"/>
    <dgm:cxn modelId="{E57063DC-2E10-4783-8948-C209C4A6102B}" srcId="{E9365C79-DFC3-44E1-8E5F-A366B43C7053}" destId="{D8DDB539-BE9D-42B2-ACC5-D31430893F80}" srcOrd="1" destOrd="0" parTransId="{DB863EAB-2F13-49BE-ABDB-B646423F6E75}" sibTransId="{07267393-066E-4CD9-8DE5-265CC4E827E4}"/>
    <dgm:cxn modelId="{02E53DE4-0527-4260-9C2C-F78D03EB2AB5}" type="presOf" srcId="{C7BCEEBE-AD99-428F-904F-3388709FFEBF}" destId="{EBCC5A6C-2FA3-4193-BFFC-4D5E5330D6B3}" srcOrd="0" destOrd="3" presId="urn:microsoft.com/office/officeart/2005/8/layout/process1"/>
    <dgm:cxn modelId="{0B8072EA-7C99-4FED-B6B0-255A3C9A7E32}" srcId="{E9365C79-DFC3-44E1-8E5F-A366B43C7053}" destId="{F66A7C2E-D686-44B6-9E23-BF68EB1CCF4B}" srcOrd="2" destOrd="0" parTransId="{6649F510-A5C6-4C10-BB46-9CE82883BF1B}" sibTransId="{6BE1AF5B-9A2C-43A6-B35F-B4F60B367C76}"/>
    <dgm:cxn modelId="{D0812FF2-3F67-4376-B141-430E460DE1F1}" type="presOf" srcId="{01A93733-C66C-4870-9967-4460AF9A88D4}" destId="{AAC75F2E-2C59-43A0-B4D6-45A2BA0A925E}" srcOrd="0" destOrd="0" presId="urn:microsoft.com/office/officeart/2005/8/layout/process1"/>
    <dgm:cxn modelId="{8C91F664-45D0-4351-8F55-8FE5A7E23C28}" type="presParOf" srcId="{252A6335-8C2B-41A2-9473-0A73B5A22891}" destId="{9FE2A24C-9130-437A-A1AB-1E071E5E83D6}" srcOrd="0" destOrd="0" presId="urn:microsoft.com/office/officeart/2005/8/layout/process1"/>
    <dgm:cxn modelId="{ACD52657-48A7-4CFE-9A1C-6477CAB70C2B}" type="presParOf" srcId="{252A6335-8C2B-41A2-9473-0A73B5A22891}" destId="{AAC75F2E-2C59-43A0-B4D6-45A2BA0A925E}" srcOrd="1" destOrd="0" presId="urn:microsoft.com/office/officeart/2005/8/layout/process1"/>
    <dgm:cxn modelId="{3A54E20B-4E20-40DA-8DC9-7B9625A911F4}" type="presParOf" srcId="{AAC75F2E-2C59-43A0-B4D6-45A2BA0A925E}" destId="{9EC5BE56-0748-429A-8F1C-FC26C6F1C169}" srcOrd="0" destOrd="0" presId="urn:microsoft.com/office/officeart/2005/8/layout/process1"/>
    <dgm:cxn modelId="{D0BDF5CC-F4DD-4B5F-AAFA-B81C094CFFBD}" type="presParOf" srcId="{252A6335-8C2B-41A2-9473-0A73B5A22891}" destId="{EBCC5A6C-2FA3-4193-BFFC-4D5E5330D6B3}" srcOrd="2" destOrd="0" presId="urn:microsoft.com/office/officeart/2005/8/layout/process1"/>
    <dgm:cxn modelId="{EB31BAA5-F14F-4B9B-8F45-2C48257D12CD}" type="presParOf" srcId="{252A6335-8C2B-41A2-9473-0A73B5A22891}" destId="{5A34BDE9-E6AC-401A-AB7C-928912063DD6}" srcOrd="3" destOrd="0" presId="urn:microsoft.com/office/officeart/2005/8/layout/process1"/>
    <dgm:cxn modelId="{08BE8724-FA14-4E7A-A59A-6AE1E873B441}" type="presParOf" srcId="{5A34BDE9-E6AC-401A-AB7C-928912063DD6}" destId="{F5E0C4B4-E88C-45F0-8B5F-5CFAC8B91A17}" srcOrd="0" destOrd="0" presId="urn:microsoft.com/office/officeart/2005/8/layout/process1"/>
    <dgm:cxn modelId="{F532A7EB-1B95-4AE5-BD9D-AF8AB272FBB2}" type="presParOf" srcId="{252A6335-8C2B-41A2-9473-0A73B5A22891}" destId="{79C9FF33-7248-432D-8ACE-154EC3D4E83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9E0C895-C921-4467-88B2-2AD90E984A57}" type="doc">
      <dgm:prSet loTypeId="urn:microsoft.com/office/officeart/2005/8/layout/vList2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219B343-A830-4261-8AC9-C9E38395542D}">
      <dgm:prSet phldrT="[Text]" custT="1"/>
      <dgm:spPr>
        <a:solidFill>
          <a:srgbClr val="0070C0"/>
        </a:solidFill>
      </dgm:spPr>
      <dgm:t>
        <a:bodyPr/>
        <a:lstStyle/>
        <a:p>
          <a:pPr algn="l"/>
          <a:r>
            <a:rPr lang="en-US" sz="2800" b="1"/>
            <a:t>4-month regimen: </a:t>
          </a:r>
          <a:r>
            <a:rPr lang="en-US" sz="2800"/>
            <a:t>2 H-P-M-Z / 2 H-P-M </a:t>
          </a:r>
        </a:p>
      </dgm:t>
    </dgm:pt>
    <dgm:pt modelId="{39692C64-7DF0-40D6-8578-E8AB18F27B57}" type="parTrans" cxnId="{0A7329F0-3A8F-40DA-8234-ACE255C4D90C}">
      <dgm:prSet/>
      <dgm:spPr/>
      <dgm:t>
        <a:bodyPr/>
        <a:lstStyle/>
        <a:p>
          <a:endParaRPr lang="en-US"/>
        </a:p>
      </dgm:t>
    </dgm:pt>
    <dgm:pt modelId="{2DA7ABEA-319F-4F3F-8F09-E2AB15ED88FC}" type="sibTrans" cxnId="{0A7329F0-3A8F-40DA-8234-ACE255C4D90C}">
      <dgm:prSet/>
      <dgm:spPr/>
      <dgm:t>
        <a:bodyPr/>
        <a:lstStyle/>
        <a:p>
          <a:endParaRPr lang="en-US"/>
        </a:p>
      </dgm:t>
    </dgm:pt>
    <dgm:pt modelId="{F5B9BEB3-94CF-4CE8-91F0-2BE47FADE09F}">
      <dgm:prSet phldrT="[Text]" custT="1"/>
      <dgm:spPr/>
      <dgm:t>
        <a:bodyPr/>
        <a:lstStyle/>
        <a:p>
          <a:pPr>
            <a:lnSpc>
              <a:spcPct val="150000"/>
            </a:lnSpc>
          </a:pPr>
          <a:r>
            <a:rPr lang="en-US" sz="2400" b="1" kern="1200">
              <a:solidFill>
                <a:srgbClr val="265A9A"/>
              </a:solidFill>
            </a:rPr>
            <a:t>Initial phase: </a:t>
          </a:r>
          <a:r>
            <a:rPr lang="en-US" sz="2400" kern="1200"/>
            <a:t>2 H-P-M-Z</a:t>
          </a:r>
          <a:endParaRPr lang="en-US" sz="2400" b="1" kern="1200">
            <a:solidFill>
              <a:srgbClr val="265A9A"/>
            </a:solidFill>
          </a:endParaRPr>
        </a:p>
      </dgm:t>
    </dgm:pt>
    <dgm:pt modelId="{38B8807B-9B58-421C-B57F-F9682AE84515}" type="parTrans" cxnId="{32B7DFBA-D210-4B53-A12A-98EC0F479B89}">
      <dgm:prSet/>
      <dgm:spPr/>
      <dgm:t>
        <a:bodyPr/>
        <a:lstStyle/>
        <a:p>
          <a:endParaRPr lang="en-US"/>
        </a:p>
      </dgm:t>
    </dgm:pt>
    <dgm:pt modelId="{7CC7E90B-5314-405E-A241-C076A48A48C7}" type="sibTrans" cxnId="{32B7DFBA-D210-4B53-A12A-98EC0F479B89}">
      <dgm:prSet/>
      <dgm:spPr/>
      <dgm:t>
        <a:bodyPr/>
        <a:lstStyle/>
        <a:p>
          <a:endParaRPr lang="en-US"/>
        </a:p>
      </dgm:t>
    </dgm:pt>
    <dgm:pt modelId="{9C1B0A33-2F87-41F2-AA57-F4D4DB869CEC}">
      <dgm:prSet phldrT="[Text]" custT="1"/>
      <dgm:spPr/>
      <dgm:t>
        <a:bodyPr/>
        <a:lstStyle/>
        <a:p>
          <a:pPr>
            <a:lnSpc>
              <a:spcPct val="150000"/>
            </a:lnSpc>
          </a:pPr>
          <a:r>
            <a:rPr lang="en-US" sz="2400" b="1" kern="1200">
              <a:solidFill>
                <a:srgbClr val="265A9A"/>
              </a:solidFill>
            </a:rPr>
            <a:t>Continuation phase: </a:t>
          </a:r>
          <a:r>
            <a:rPr lang="en-US" sz="2400" kern="1200"/>
            <a:t>2 H-P-M</a:t>
          </a:r>
          <a:endParaRPr lang="en-US" sz="2400" b="1" kern="1200" dirty="0">
            <a:solidFill>
              <a:srgbClr val="265A9A"/>
            </a:solidFill>
          </a:endParaRPr>
        </a:p>
      </dgm:t>
    </dgm:pt>
    <dgm:pt modelId="{92056C26-6384-4951-9F89-3C0A0D9906FD}" type="parTrans" cxnId="{2C75047D-FD69-4E1F-ADA8-E72515DB2C7E}">
      <dgm:prSet/>
      <dgm:spPr/>
      <dgm:t>
        <a:bodyPr/>
        <a:lstStyle/>
        <a:p>
          <a:endParaRPr lang="en-US"/>
        </a:p>
      </dgm:t>
    </dgm:pt>
    <dgm:pt modelId="{18BAFE2D-6D2B-4AEB-9024-A8DD76710E53}" type="sibTrans" cxnId="{2C75047D-FD69-4E1F-ADA8-E72515DB2C7E}">
      <dgm:prSet/>
      <dgm:spPr/>
      <dgm:t>
        <a:bodyPr/>
        <a:lstStyle/>
        <a:p>
          <a:endParaRPr lang="en-US"/>
        </a:p>
      </dgm:t>
    </dgm:pt>
    <dgm:pt modelId="{3C71EFFB-A487-4E2C-A3DB-02AF30261F69}">
      <dgm:prSet phldrT="[Text]" custT="1"/>
      <dgm:spPr/>
      <dgm:t>
        <a:bodyPr/>
        <a:lstStyle/>
        <a:p>
          <a:pPr>
            <a:lnSpc>
              <a:spcPct val="150000"/>
            </a:lnSpc>
          </a:pPr>
          <a:r>
            <a:rPr lang="en-US" sz="2000" kern="1200"/>
            <a:t>Continuation phase involves 2 months of daily isoniazid, rifapentine and moxifloxacin.</a:t>
          </a:r>
          <a:endParaRPr lang="en-US" sz="2000" i="1" kern="1200"/>
        </a:p>
      </dgm:t>
    </dgm:pt>
    <dgm:pt modelId="{82DE043C-D847-432C-B5A9-B73724D30FE7}" type="parTrans" cxnId="{2ED16885-3EB5-4BA6-A20B-9986475CA053}">
      <dgm:prSet/>
      <dgm:spPr/>
      <dgm:t>
        <a:bodyPr/>
        <a:lstStyle/>
        <a:p>
          <a:endParaRPr lang="en-US"/>
        </a:p>
      </dgm:t>
    </dgm:pt>
    <dgm:pt modelId="{DD89F7A9-39D2-4396-8431-0D2B07B13269}" type="sibTrans" cxnId="{2ED16885-3EB5-4BA6-A20B-9986475CA053}">
      <dgm:prSet/>
      <dgm:spPr/>
      <dgm:t>
        <a:bodyPr/>
        <a:lstStyle/>
        <a:p>
          <a:endParaRPr lang="en-US"/>
        </a:p>
      </dgm:t>
    </dgm:pt>
    <dgm:pt modelId="{1D0C666C-1202-4147-A63D-30DA2F12DFC8}">
      <dgm:prSet phldrT="[Text]" custT="1"/>
      <dgm:spPr/>
      <dgm:t>
        <a:bodyPr/>
        <a:lstStyle/>
        <a:p>
          <a:pPr>
            <a:lnSpc>
              <a:spcPct val="150000"/>
            </a:lnSpc>
            <a:buFont typeface="Wingdings" panose="05000000000000000000" pitchFamily="2" charset="2"/>
            <a:buChar char="ü"/>
          </a:pPr>
          <a:r>
            <a:rPr lang="en-US" sz="2000" kern="1200"/>
            <a:t>Initial phase comprises of 2 months of daily isoniazid, rifapentine, moxifloxacin &amp; pyrazinamide.</a:t>
          </a:r>
          <a:endParaRPr lang="en-US" sz="2000" i="1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+mn-ea"/>
            <a:cs typeface="+mn-cs"/>
          </a:endParaRPr>
        </a:p>
      </dgm:t>
    </dgm:pt>
    <dgm:pt modelId="{57AB3B3D-414E-4CE2-93B0-D1D2CEF174A7}" type="parTrans" cxnId="{DC7B55EE-264E-4B1A-96EA-3E434E22A786}">
      <dgm:prSet/>
      <dgm:spPr/>
      <dgm:t>
        <a:bodyPr/>
        <a:lstStyle/>
        <a:p>
          <a:endParaRPr lang="en-US"/>
        </a:p>
      </dgm:t>
    </dgm:pt>
    <dgm:pt modelId="{7C05724D-260A-40F7-9BA6-8FF5F1BE77AF}" type="sibTrans" cxnId="{DC7B55EE-264E-4B1A-96EA-3E434E22A786}">
      <dgm:prSet/>
      <dgm:spPr/>
      <dgm:t>
        <a:bodyPr/>
        <a:lstStyle/>
        <a:p>
          <a:endParaRPr lang="en-US"/>
        </a:p>
      </dgm:t>
    </dgm:pt>
    <dgm:pt modelId="{1C33BA43-61B8-4EBF-8033-D4240370CA8A}">
      <dgm:prSet phldrT="[Text]" custT="1"/>
      <dgm:spPr/>
      <dgm:t>
        <a:bodyPr/>
        <a:lstStyle/>
        <a:p>
          <a:pPr>
            <a:lnSpc>
              <a:spcPct val="150000"/>
            </a:lnSpc>
            <a:buFont typeface="Wingdings" panose="05000000000000000000" pitchFamily="2" charset="2"/>
            <a:buChar char="Ø"/>
          </a:pPr>
          <a:r>
            <a:rPr lang="en-US" sz="2000" b="0" u="sng" kern="1200">
              <a:solidFill>
                <a:schemeClr val="tx1"/>
              </a:solidFill>
            </a:rPr>
            <a:t>Daily dosing</a:t>
          </a:r>
          <a:r>
            <a:rPr lang="en-US" sz="2000" b="0" u="none" kern="1200">
              <a:solidFill>
                <a:schemeClr val="tx1"/>
              </a:solidFill>
            </a:rPr>
            <a:t> (7 days per week) is suggested; treatment supporters and video-supported treatment (VST) are means to enhance medication adherence and administration</a:t>
          </a:r>
          <a:r>
            <a:rPr lang="en-US" sz="2000" b="0" i="1" u="none" kern="1200">
              <a:solidFill>
                <a:schemeClr val="tx1"/>
              </a:solidFill>
              <a:latin typeface="Arial"/>
              <a:ea typeface="+mn-ea"/>
              <a:cs typeface="+mn-cs"/>
            </a:rPr>
            <a:t>.</a:t>
          </a:r>
          <a:endParaRPr lang="en-US" sz="2000" i="1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+mn-ea"/>
            <a:cs typeface="+mn-cs"/>
          </a:endParaRPr>
        </a:p>
      </dgm:t>
    </dgm:pt>
    <dgm:pt modelId="{3769169A-4B31-48FE-8355-7CACB26B3262}" type="parTrans" cxnId="{4A3387E9-E54A-4B58-AA5A-B642AD420D74}">
      <dgm:prSet/>
      <dgm:spPr/>
      <dgm:t>
        <a:bodyPr/>
        <a:lstStyle/>
        <a:p>
          <a:endParaRPr lang="en-US"/>
        </a:p>
      </dgm:t>
    </dgm:pt>
    <dgm:pt modelId="{5FA658B4-D468-4B2C-A99A-A2BBEF785581}" type="sibTrans" cxnId="{4A3387E9-E54A-4B58-AA5A-B642AD420D74}">
      <dgm:prSet/>
      <dgm:spPr/>
      <dgm:t>
        <a:bodyPr/>
        <a:lstStyle/>
        <a:p>
          <a:endParaRPr lang="en-US"/>
        </a:p>
      </dgm:t>
    </dgm:pt>
    <dgm:pt modelId="{751396DF-9012-4E2D-8339-AC147D92B251}">
      <dgm:prSet phldrT="[Text]" custT="1"/>
      <dgm:spPr/>
      <dgm:t>
        <a:bodyPr/>
        <a:lstStyle/>
        <a:p>
          <a:pPr>
            <a:lnSpc>
              <a:spcPct val="150000"/>
            </a:lnSpc>
          </a:pPr>
          <a:r>
            <a:rPr lang="en-US" sz="2000" u="sng" kern="1200">
              <a:solidFill>
                <a:schemeClr val="tx1"/>
              </a:solidFill>
            </a:rPr>
            <a:t>Duration</a:t>
          </a:r>
          <a:r>
            <a:rPr lang="en-US" sz="2000" kern="1200">
              <a:solidFill>
                <a:schemeClr val="tx1"/>
              </a:solidFill>
            </a:rPr>
            <a:t> is fixed at 4 month; </a:t>
          </a:r>
          <a:r>
            <a:rPr lang="en-US" sz="2000" b="0" kern="1200">
              <a:solidFill>
                <a:schemeClr val="tx1"/>
              </a:solidFill>
            </a:rPr>
            <a:t>prolonging beyond 4 months is not recommended</a:t>
          </a:r>
          <a:r>
            <a:rPr lang="en-US" sz="2000" kern="1200"/>
            <a:t> </a:t>
          </a:r>
          <a:endParaRPr lang="en-US" sz="2000" i="1" kern="1200"/>
        </a:p>
      </dgm:t>
    </dgm:pt>
    <dgm:pt modelId="{E73B9439-C170-445B-A732-2316B87ACC2E}" type="parTrans" cxnId="{203D6877-53A3-4AE9-963F-C0028A956B36}">
      <dgm:prSet/>
      <dgm:spPr/>
      <dgm:t>
        <a:bodyPr/>
        <a:lstStyle/>
        <a:p>
          <a:endParaRPr lang="en-US"/>
        </a:p>
      </dgm:t>
    </dgm:pt>
    <dgm:pt modelId="{EE04D85B-EE3D-4EB3-9529-E3EC9A89292F}" type="sibTrans" cxnId="{203D6877-53A3-4AE9-963F-C0028A956B36}">
      <dgm:prSet/>
      <dgm:spPr/>
      <dgm:t>
        <a:bodyPr/>
        <a:lstStyle/>
        <a:p>
          <a:endParaRPr lang="en-US"/>
        </a:p>
      </dgm:t>
    </dgm:pt>
    <dgm:pt modelId="{3CB0F73B-48B0-4A45-8FE5-558F50FCAA43}" type="pres">
      <dgm:prSet presAssocID="{D9E0C895-C921-4467-88B2-2AD90E984A57}" presName="linear" presStyleCnt="0">
        <dgm:presLayoutVars>
          <dgm:animLvl val="lvl"/>
          <dgm:resizeHandles val="exact"/>
        </dgm:presLayoutVars>
      </dgm:prSet>
      <dgm:spPr/>
    </dgm:pt>
    <dgm:pt modelId="{B52D18CF-CFB9-4C67-9AA5-6B8F886C91DC}" type="pres">
      <dgm:prSet presAssocID="{C219B343-A830-4261-8AC9-C9E38395542D}" presName="parentText" presStyleLbl="node1" presStyleIdx="0" presStyleCnt="1" custScaleY="223335" custLinFactNeighborY="-8889">
        <dgm:presLayoutVars>
          <dgm:chMax val="0"/>
          <dgm:bulletEnabled val="1"/>
        </dgm:presLayoutVars>
      </dgm:prSet>
      <dgm:spPr/>
    </dgm:pt>
    <dgm:pt modelId="{8ACDC1C5-46DD-4901-9163-2A2D167EF0FB}" type="pres">
      <dgm:prSet presAssocID="{C219B343-A830-4261-8AC9-C9E38395542D}" presName="childText" presStyleLbl="revTx" presStyleIdx="0" presStyleCnt="1" custScaleY="172388">
        <dgm:presLayoutVars>
          <dgm:bulletEnabled val="1"/>
        </dgm:presLayoutVars>
      </dgm:prSet>
      <dgm:spPr/>
    </dgm:pt>
  </dgm:ptLst>
  <dgm:cxnLst>
    <dgm:cxn modelId="{D8CCAA0E-31FB-46AB-8DAB-EE6ABF83088A}" type="presOf" srcId="{1D0C666C-1202-4147-A63D-30DA2F12DFC8}" destId="{8ACDC1C5-46DD-4901-9163-2A2D167EF0FB}" srcOrd="0" destOrd="1" presId="urn:microsoft.com/office/officeart/2005/8/layout/vList2"/>
    <dgm:cxn modelId="{6479FA19-79DD-497F-8AB6-0C26BCB5D5E3}" type="presOf" srcId="{751396DF-9012-4E2D-8339-AC147D92B251}" destId="{8ACDC1C5-46DD-4901-9163-2A2D167EF0FB}" srcOrd="0" destOrd="5" presId="urn:microsoft.com/office/officeart/2005/8/layout/vList2"/>
    <dgm:cxn modelId="{F5964020-FD04-4905-A0C3-3EA09D3D110D}" type="presOf" srcId="{1C33BA43-61B8-4EBF-8033-D4240370CA8A}" destId="{8ACDC1C5-46DD-4901-9163-2A2D167EF0FB}" srcOrd="0" destOrd="2" presId="urn:microsoft.com/office/officeart/2005/8/layout/vList2"/>
    <dgm:cxn modelId="{3089982D-EE50-4815-A214-5C70ACA55073}" type="presOf" srcId="{F5B9BEB3-94CF-4CE8-91F0-2BE47FADE09F}" destId="{8ACDC1C5-46DD-4901-9163-2A2D167EF0FB}" srcOrd="0" destOrd="0" presId="urn:microsoft.com/office/officeart/2005/8/layout/vList2"/>
    <dgm:cxn modelId="{8ACC4C41-3CD2-4558-A2B8-36DEAAD11E27}" type="presOf" srcId="{C219B343-A830-4261-8AC9-C9E38395542D}" destId="{B52D18CF-CFB9-4C67-9AA5-6B8F886C91DC}" srcOrd="0" destOrd="0" presId="urn:microsoft.com/office/officeart/2005/8/layout/vList2"/>
    <dgm:cxn modelId="{46F09941-1450-479C-BDF5-E536AC3A1DE3}" type="presOf" srcId="{3C71EFFB-A487-4E2C-A3DB-02AF30261F69}" destId="{8ACDC1C5-46DD-4901-9163-2A2D167EF0FB}" srcOrd="0" destOrd="4" presId="urn:microsoft.com/office/officeart/2005/8/layout/vList2"/>
    <dgm:cxn modelId="{203D6877-53A3-4AE9-963F-C0028A956B36}" srcId="{C219B343-A830-4261-8AC9-C9E38395542D}" destId="{751396DF-9012-4E2D-8339-AC147D92B251}" srcOrd="5" destOrd="0" parTransId="{E73B9439-C170-445B-A732-2316B87ACC2E}" sibTransId="{EE04D85B-EE3D-4EB3-9529-E3EC9A89292F}"/>
    <dgm:cxn modelId="{2C75047D-FD69-4E1F-ADA8-E72515DB2C7E}" srcId="{C219B343-A830-4261-8AC9-C9E38395542D}" destId="{9C1B0A33-2F87-41F2-AA57-F4D4DB869CEC}" srcOrd="3" destOrd="0" parTransId="{92056C26-6384-4951-9F89-3C0A0D9906FD}" sibTransId="{18BAFE2D-6D2B-4AEB-9024-A8DD76710E53}"/>
    <dgm:cxn modelId="{2ED16885-3EB5-4BA6-A20B-9986475CA053}" srcId="{C219B343-A830-4261-8AC9-C9E38395542D}" destId="{3C71EFFB-A487-4E2C-A3DB-02AF30261F69}" srcOrd="4" destOrd="0" parTransId="{82DE043C-D847-432C-B5A9-B73724D30FE7}" sibTransId="{DD89F7A9-39D2-4396-8431-0D2B07B13269}"/>
    <dgm:cxn modelId="{96AAB8B5-4BD2-419E-8B93-85B9CFD3D38C}" type="presOf" srcId="{9C1B0A33-2F87-41F2-AA57-F4D4DB869CEC}" destId="{8ACDC1C5-46DD-4901-9163-2A2D167EF0FB}" srcOrd="0" destOrd="3" presId="urn:microsoft.com/office/officeart/2005/8/layout/vList2"/>
    <dgm:cxn modelId="{32B7DFBA-D210-4B53-A12A-98EC0F479B89}" srcId="{C219B343-A830-4261-8AC9-C9E38395542D}" destId="{F5B9BEB3-94CF-4CE8-91F0-2BE47FADE09F}" srcOrd="0" destOrd="0" parTransId="{38B8807B-9B58-421C-B57F-F9682AE84515}" sibTransId="{7CC7E90B-5314-405E-A241-C076A48A48C7}"/>
    <dgm:cxn modelId="{962E53C4-D306-4B37-804E-9C77753CF92D}" type="presOf" srcId="{D9E0C895-C921-4467-88B2-2AD90E984A57}" destId="{3CB0F73B-48B0-4A45-8FE5-558F50FCAA43}" srcOrd="0" destOrd="0" presId="urn:microsoft.com/office/officeart/2005/8/layout/vList2"/>
    <dgm:cxn modelId="{4A3387E9-E54A-4B58-AA5A-B642AD420D74}" srcId="{C219B343-A830-4261-8AC9-C9E38395542D}" destId="{1C33BA43-61B8-4EBF-8033-D4240370CA8A}" srcOrd="2" destOrd="0" parTransId="{3769169A-4B31-48FE-8355-7CACB26B3262}" sibTransId="{5FA658B4-D468-4B2C-A99A-A2BBEF785581}"/>
    <dgm:cxn modelId="{DC7B55EE-264E-4B1A-96EA-3E434E22A786}" srcId="{C219B343-A830-4261-8AC9-C9E38395542D}" destId="{1D0C666C-1202-4147-A63D-30DA2F12DFC8}" srcOrd="1" destOrd="0" parTransId="{57AB3B3D-414E-4CE2-93B0-D1D2CEF174A7}" sibTransId="{7C05724D-260A-40F7-9BA6-8FF5F1BE77AF}"/>
    <dgm:cxn modelId="{0A7329F0-3A8F-40DA-8234-ACE255C4D90C}" srcId="{D9E0C895-C921-4467-88B2-2AD90E984A57}" destId="{C219B343-A830-4261-8AC9-C9E38395542D}" srcOrd="0" destOrd="0" parTransId="{39692C64-7DF0-40D6-8578-E8AB18F27B57}" sibTransId="{2DA7ABEA-319F-4F3F-8F09-E2AB15ED88FC}"/>
    <dgm:cxn modelId="{C500E4AD-455F-4604-B872-06636229A066}" type="presParOf" srcId="{3CB0F73B-48B0-4A45-8FE5-558F50FCAA43}" destId="{B52D18CF-CFB9-4C67-9AA5-6B8F886C91DC}" srcOrd="0" destOrd="0" presId="urn:microsoft.com/office/officeart/2005/8/layout/vList2"/>
    <dgm:cxn modelId="{70CA198C-C3BB-4434-BD00-962628D43137}" type="presParOf" srcId="{3CB0F73B-48B0-4A45-8FE5-558F50FCAA43}" destId="{8ACDC1C5-46DD-4901-9163-2A2D167EF0F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9E0C895-C921-4467-88B2-2AD90E984A57}" type="doc">
      <dgm:prSet loTypeId="urn:microsoft.com/office/officeart/2005/8/layout/vList2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219B343-A830-4261-8AC9-C9E38395542D}">
      <dgm:prSet phldrT="[Text]" custT="1"/>
      <dgm:spPr>
        <a:solidFill>
          <a:srgbClr val="0070C0"/>
        </a:solidFill>
      </dgm:spPr>
      <dgm:t>
        <a:bodyPr/>
        <a:lstStyle/>
        <a:p>
          <a:pPr algn="l">
            <a:lnSpc>
              <a:spcPct val="100000"/>
            </a:lnSpc>
          </a:pPr>
          <a:r>
            <a:rPr lang="en-US" sz="2000" b="1"/>
            <a:t>Adults and children aged 12 years or older with a body weight of more than 40 kg with pulmonary DS-TB are eligible for this regimen</a:t>
          </a:r>
          <a:r>
            <a:rPr lang="en-US" sz="2000"/>
            <a:t>.</a:t>
          </a:r>
        </a:p>
      </dgm:t>
    </dgm:pt>
    <dgm:pt modelId="{39692C64-7DF0-40D6-8578-E8AB18F27B57}" type="parTrans" cxnId="{0A7329F0-3A8F-40DA-8234-ACE255C4D90C}">
      <dgm:prSet/>
      <dgm:spPr/>
      <dgm:t>
        <a:bodyPr/>
        <a:lstStyle/>
        <a:p>
          <a:endParaRPr lang="en-US"/>
        </a:p>
      </dgm:t>
    </dgm:pt>
    <dgm:pt modelId="{2DA7ABEA-319F-4F3F-8F09-E2AB15ED88FC}" type="sibTrans" cxnId="{0A7329F0-3A8F-40DA-8234-ACE255C4D90C}">
      <dgm:prSet/>
      <dgm:spPr/>
      <dgm:t>
        <a:bodyPr/>
        <a:lstStyle/>
        <a:p>
          <a:endParaRPr lang="en-US"/>
        </a:p>
      </dgm:t>
    </dgm:pt>
    <dgm:pt modelId="{F5B9BEB3-94CF-4CE8-91F0-2BE47FADE09F}">
      <dgm:prSet phldrT="[Text]"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b="1" kern="1200"/>
            <a:t>Except the following</a:t>
          </a:r>
          <a:r>
            <a:rPr lang="en-US" sz="1800" kern="1200"/>
            <a:t>:</a:t>
          </a:r>
          <a:endParaRPr lang="en-US" sz="1800" b="1" kern="1200">
            <a:solidFill>
              <a:srgbClr val="265A9A"/>
            </a:solidFill>
          </a:endParaRPr>
        </a:p>
      </dgm:t>
    </dgm:pt>
    <dgm:pt modelId="{38B8807B-9B58-421C-B57F-F9682AE84515}" type="parTrans" cxnId="{32B7DFBA-D210-4B53-A12A-98EC0F479B89}">
      <dgm:prSet/>
      <dgm:spPr/>
      <dgm:t>
        <a:bodyPr/>
        <a:lstStyle/>
        <a:p>
          <a:endParaRPr lang="en-US"/>
        </a:p>
      </dgm:t>
    </dgm:pt>
    <dgm:pt modelId="{7CC7E90B-5314-405E-A241-C076A48A48C7}" type="sibTrans" cxnId="{32B7DFBA-D210-4B53-A12A-98EC0F479B89}">
      <dgm:prSet/>
      <dgm:spPr/>
      <dgm:t>
        <a:bodyPr/>
        <a:lstStyle/>
        <a:p>
          <a:endParaRPr lang="en-US"/>
        </a:p>
      </dgm:t>
    </dgm:pt>
    <dgm:pt modelId="{E9F46B17-A67F-4827-BAD1-82D1ACBFF98E}">
      <dgm:prSet custT="1"/>
      <dgm:spPr/>
      <dgm:t>
        <a:bodyPr/>
        <a:lstStyle/>
        <a:p>
          <a:pPr>
            <a:lnSpc>
              <a:spcPct val="150000"/>
            </a:lnSpc>
            <a:buFont typeface="Wingdings" panose="05000000000000000000" pitchFamily="2" charset="2"/>
            <a:buChar char="ü"/>
          </a:pPr>
          <a:r>
            <a:rPr lang="en-US" sz="1800"/>
            <a:t>patients weighing less than 40 kg; </a:t>
          </a:r>
        </a:p>
      </dgm:t>
    </dgm:pt>
    <dgm:pt modelId="{DB442C18-3F0F-418D-907F-5007FA1AD96B}" type="parTrans" cxnId="{C12245BC-A568-4A41-8DC4-84A160866444}">
      <dgm:prSet/>
      <dgm:spPr/>
      <dgm:t>
        <a:bodyPr/>
        <a:lstStyle/>
        <a:p>
          <a:endParaRPr lang="en-US"/>
        </a:p>
      </dgm:t>
    </dgm:pt>
    <dgm:pt modelId="{7850BCA6-143C-497F-BC6F-FDD7C47E23F4}" type="sibTrans" cxnId="{C12245BC-A568-4A41-8DC4-84A160866444}">
      <dgm:prSet/>
      <dgm:spPr/>
      <dgm:t>
        <a:bodyPr/>
        <a:lstStyle/>
        <a:p>
          <a:endParaRPr lang="en-US"/>
        </a:p>
      </dgm:t>
    </dgm:pt>
    <dgm:pt modelId="{21A32DCF-A1AE-42BE-9314-498FC3FAB59E}">
      <dgm:prSet custT="1"/>
      <dgm:spPr/>
      <dgm:t>
        <a:bodyPr/>
        <a:lstStyle/>
        <a:p>
          <a:pPr>
            <a:lnSpc>
              <a:spcPct val="150000"/>
            </a:lnSpc>
            <a:buFont typeface="Wingdings" panose="05000000000000000000" pitchFamily="2" charset="2"/>
            <a:buChar char="ü"/>
          </a:pPr>
          <a:r>
            <a:rPr lang="en-US" sz="1800"/>
            <a:t>people with HIV with a CD4 count of less than 100 cells/mm3; </a:t>
          </a:r>
        </a:p>
      </dgm:t>
    </dgm:pt>
    <dgm:pt modelId="{ADDE79C8-0D43-425A-8521-A6CA036406CE}" type="parTrans" cxnId="{ED7115B3-F6DB-49E8-A5FD-625DD12C93F5}">
      <dgm:prSet/>
      <dgm:spPr/>
      <dgm:t>
        <a:bodyPr/>
        <a:lstStyle/>
        <a:p>
          <a:endParaRPr lang="en-US"/>
        </a:p>
      </dgm:t>
    </dgm:pt>
    <dgm:pt modelId="{AB64B88E-3F59-4CE1-A708-B6BB2C68F737}" type="sibTrans" cxnId="{ED7115B3-F6DB-49E8-A5FD-625DD12C93F5}">
      <dgm:prSet/>
      <dgm:spPr/>
      <dgm:t>
        <a:bodyPr/>
        <a:lstStyle/>
        <a:p>
          <a:endParaRPr lang="en-US"/>
        </a:p>
      </dgm:t>
    </dgm:pt>
    <dgm:pt modelId="{A27A8415-D1EF-4C50-9A15-66903FBC2263}">
      <dgm:prSet custT="1"/>
      <dgm:spPr/>
      <dgm:t>
        <a:bodyPr/>
        <a:lstStyle/>
        <a:p>
          <a:pPr>
            <a:lnSpc>
              <a:spcPct val="150000"/>
            </a:lnSpc>
            <a:buFont typeface="Wingdings" panose="05000000000000000000" pitchFamily="2" charset="2"/>
            <a:buChar char="ü"/>
          </a:pPr>
          <a:r>
            <a:rPr lang="en-US" sz="1800"/>
            <a:t>pregnant, breastfeeding and postpartum women</a:t>
          </a:r>
        </a:p>
      </dgm:t>
    </dgm:pt>
    <dgm:pt modelId="{526EF14A-6894-4ED9-B842-0B54C4A30233}" type="parTrans" cxnId="{73B35600-5DA1-453C-8D48-01F9C1C0AF7B}">
      <dgm:prSet/>
      <dgm:spPr/>
      <dgm:t>
        <a:bodyPr/>
        <a:lstStyle/>
        <a:p>
          <a:endParaRPr lang="en-US"/>
        </a:p>
      </dgm:t>
    </dgm:pt>
    <dgm:pt modelId="{E6A17664-5BD5-495F-B808-9A5960363482}" type="sibTrans" cxnId="{73B35600-5DA1-453C-8D48-01F9C1C0AF7B}">
      <dgm:prSet/>
      <dgm:spPr/>
      <dgm:t>
        <a:bodyPr/>
        <a:lstStyle/>
        <a:p>
          <a:endParaRPr lang="en-US"/>
        </a:p>
      </dgm:t>
    </dgm:pt>
    <dgm:pt modelId="{37973E17-A13D-4DF8-95E6-C15887B5D782}">
      <dgm:prSet custT="1"/>
      <dgm:spPr/>
      <dgm:t>
        <a:bodyPr/>
        <a:lstStyle/>
        <a:p>
          <a:pPr>
            <a:lnSpc>
              <a:spcPct val="150000"/>
            </a:lnSpc>
            <a:buFont typeface="Wingdings" panose="05000000000000000000" pitchFamily="2" charset="2"/>
            <a:buChar char="ü"/>
          </a:pPr>
          <a:r>
            <a:rPr lang="en-US" sz="1800"/>
            <a:t>children and adolescents aged under 12 years; </a:t>
          </a:r>
        </a:p>
      </dgm:t>
    </dgm:pt>
    <dgm:pt modelId="{FA71AA7F-CA83-4A3B-85DD-10179F8A9430}" type="parTrans" cxnId="{C47A9926-902F-492B-938E-739F5088CD35}">
      <dgm:prSet/>
      <dgm:spPr/>
      <dgm:t>
        <a:bodyPr/>
        <a:lstStyle/>
        <a:p>
          <a:endParaRPr lang="en-GB"/>
        </a:p>
      </dgm:t>
    </dgm:pt>
    <dgm:pt modelId="{50B774AA-AC6F-41C4-B719-6AD88EC3DDD6}" type="sibTrans" cxnId="{C47A9926-902F-492B-938E-739F5088CD35}">
      <dgm:prSet/>
      <dgm:spPr/>
      <dgm:t>
        <a:bodyPr/>
        <a:lstStyle/>
        <a:p>
          <a:endParaRPr lang="en-GB"/>
        </a:p>
      </dgm:t>
    </dgm:pt>
    <dgm:pt modelId="{FC791B96-3ECF-4CBC-A479-096AB6437F85}">
      <dgm:prSet custT="1"/>
      <dgm:spPr/>
      <dgm:t>
        <a:bodyPr/>
        <a:lstStyle/>
        <a:p>
          <a:pPr>
            <a:lnSpc>
              <a:spcPct val="150000"/>
            </a:lnSpc>
            <a:buFont typeface="Wingdings" panose="05000000000000000000" pitchFamily="2" charset="2"/>
            <a:buChar char="ü"/>
          </a:pPr>
          <a:r>
            <a:rPr lang="en-US" sz="1800"/>
            <a:t>patients with severe extrapulmonary TB (e.g. tuberculous meningitis, disseminated TB, osteoarticular TB or abdominal TB);</a:t>
          </a:r>
        </a:p>
      </dgm:t>
    </dgm:pt>
    <dgm:pt modelId="{A9D98AC4-9E81-42D7-B881-76BC3B56B581}" type="parTrans" cxnId="{EBD26169-EE4A-4CB1-9C2E-FD333F598675}">
      <dgm:prSet/>
      <dgm:spPr/>
      <dgm:t>
        <a:bodyPr/>
        <a:lstStyle/>
        <a:p>
          <a:endParaRPr lang="en-GB"/>
        </a:p>
      </dgm:t>
    </dgm:pt>
    <dgm:pt modelId="{B0FF73CC-1638-482A-86D1-A73FF734AF2B}" type="sibTrans" cxnId="{EBD26169-EE4A-4CB1-9C2E-FD333F598675}">
      <dgm:prSet/>
      <dgm:spPr/>
      <dgm:t>
        <a:bodyPr/>
        <a:lstStyle/>
        <a:p>
          <a:endParaRPr lang="en-GB"/>
        </a:p>
      </dgm:t>
    </dgm:pt>
    <dgm:pt modelId="{3CB0F73B-48B0-4A45-8FE5-558F50FCAA43}" type="pres">
      <dgm:prSet presAssocID="{D9E0C895-C921-4467-88B2-2AD90E984A57}" presName="linear" presStyleCnt="0">
        <dgm:presLayoutVars>
          <dgm:animLvl val="lvl"/>
          <dgm:resizeHandles val="exact"/>
        </dgm:presLayoutVars>
      </dgm:prSet>
      <dgm:spPr/>
    </dgm:pt>
    <dgm:pt modelId="{B52D18CF-CFB9-4C67-9AA5-6B8F886C91DC}" type="pres">
      <dgm:prSet presAssocID="{C219B343-A830-4261-8AC9-C9E38395542D}" presName="parentText" presStyleLbl="node1" presStyleIdx="0" presStyleCnt="1" custScaleY="79344" custLinFactNeighborY="-8889">
        <dgm:presLayoutVars>
          <dgm:chMax val="0"/>
          <dgm:bulletEnabled val="1"/>
        </dgm:presLayoutVars>
      </dgm:prSet>
      <dgm:spPr/>
    </dgm:pt>
    <dgm:pt modelId="{8ACDC1C5-46DD-4901-9163-2A2D167EF0FB}" type="pres">
      <dgm:prSet presAssocID="{C219B343-A830-4261-8AC9-C9E38395542D}" presName="childText" presStyleLbl="revTx" presStyleIdx="0" presStyleCnt="1" custScaleY="101197" custLinFactNeighborX="-94">
        <dgm:presLayoutVars>
          <dgm:bulletEnabled val="1"/>
        </dgm:presLayoutVars>
      </dgm:prSet>
      <dgm:spPr/>
    </dgm:pt>
  </dgm:ptLst>
  <dgm:cxnLst>
    <dgm:cxn modelId="{73B35600-5DA1-453C-8D48-01F9C1C0AF7B}" srcId="{F5B9BEB3-94CF-4CE8-91F0-2BE47FADE09F}" destId="{A27A8415-D1EF-4C50-9A15-66903FBC2263}" srcOrd="4" destOrd="0" parTransId="{526EF14A-6894-4ED9-B842-0B54C4A30233}" sibTransId="{E6A17664-5BD5-495F-B808-9A5960363482}"/>
    <dgm:cxn modelId="{C47A9926-902F-492B-938E-739F5088CD35}" srcId="{F5B9BEB3-94CF-4CE8-91F0-2BE47FADE09F}" destId="{37973E17-A13D-4DF8-95E6-C15887B5D782}" srcOrd="1" destOrd="0" parTransId="{FA71AA7F-CA83-4A3B-85DD-10179F8A9430}" sibTransId="{50B774AA-AC6F-41C4-B719-6AD88EC3DDD6}"/>
    <dgm:cxn modelId="{3089982D-EE50-4815-A214-5C70ACA55073}" type="presOf" srcId="{F5B9BEB3-94CF-4CE8-91F0-2BE47FADE09F}" destId="{8ACDC1C5-46DD-4901-9163-2A2D167EF0FB}" srcOrd="0" destOrd="0" presId="urn:microsoft.com/office/officeart/2005/8/layout/vList2"/>
    <dgm:cxn modelId="{8ACC4C41-3CD2-4558-A2B8-36DEAAD11E27}" type="presOf" srcId="{C219B343-A830-4261-8AC9-C9E38395542D}" destId="{B52D18CF-CFB9-4C67-9AA5-6B8F886C91DC}" srcOrd="0" destOrd="0" presId="urn:microsoft.com/office/officeart/2005/8/layout/vList2"/>
    <dgm:cxn modelId="{173A3B45-C940-4811-B3FE-93DC34ECAA41}" type="presOf" srcId="{37973E17-A13D-4DF8-95E6-C15887B5D782}" destId="{8ACDC1C5-46DD-4901-9163-2A2D167EF0FB}" srcOrd="0" destOrd="2" presId="urn:microsoft.com/office/officeart/2005/8/layout/vList2"/>
    <dgm:cxn modelId="{DCF83456-236F-4D6D-82E1-1A844EE335E3}" type="presOf" srcId="{A27A8415-D1EF-4C50-9A15-66903FBC2263}" destId="{8ACDC1C5-46DD-4901-9163-2A2D167EF0FB}" srcOrd="0" destOrd="5" presId="urn:microsoft.com/office/officeart/2005/8/layout/vList2"/>
    <dgm:cxn modelId="{EBD26169-EE4A-4CB1-9C2E-FD333F598675}" srcId="{F5B9BEB3-94CF-4CE8-91F0-2BE47FADE09F}" destId="{FC791B96-3ECF-4CBC-A479-096AB6437F85}" srcOrd="2" destOrd="0" parTransId="{A9D98AC4-9E81-42D7-B881-76BC3B56B581}" sibTransId="{B0FF73CC-1638-482A-86D1-A73FF734AF2B}"/>
    <dgm:cxn modelId="{E8E193A9-1A52-4D4C-9747-DDD3C601BF25}" type="presOf" srcId="{E9F46B17-A67F-4827-BAD1-82D1ACBFF98E}" destId="{8ACDC1C5-46DD-4901-9163-2A2D167EF0FB}" srcOrd="0" destOrd="1" presId="urn:microsoft.com/office/officeart/2005/8/layout/vList2"/>
    <dgm:cxn modelId="{ED7115B3-F6DB-49E8-A5FD-625DD12C93F5}" srcId="{F5B9BEB3-94CF-4CE8-91F0-2BE47FADE09F}" destId="{21A32DCF-A1AE-42BE-9314-498FC3FAB59E}" srcOrd="3" destOrd="0" parTransId="{ADDE79C8-0D43-425A-8521-A6CA036406CE}" sibTransId="{AB64B88E-3F59-4CE1-A708-B6BB2C68F737}"/>
    <dgm:cxn modelId="{32B7DFBA-D210-4B53-A12A-98EC0F479B89}" srcId="{C219B343-A830-4261-8AC9-C9E38395542D}" destId="{F5B9BEB3-94CF-4CE8-91F0-2BE47FADE09F}" srcOrd="0" destOrd="0" parTransId="{38B8807B-9B58-421C-B57F-F9682AE84515}" sibTransId="{7CC7E90B-5314-405E-A241-C076A48A48C7}"/>
    <dgm:cxn modelId="{C12245BC-A568-4A41-8DC4-84A160866444}" srcId="{F5B9BEB3-94CF-4CE8-91F0-2BE47FADE09F}" destId="{E9F46B17-A67F-4827-BAD1-82D1ACBFF98E}" srcOrd="0" destOrd="0" parTransId="{DB442C18-3F0F-418D-907F-5007FA1AD96B}" sibTransId="{7850BCA6-143C-497F-BC6F-FDD7C47E23F4}"/>
    <dgm:cxn modelId="{962E53C4-D306-4B37-804E-9C77753CF92D}" type="presOf" srcId="{D9E0C895-C921-4467-88B2-2AD90E984A57}" destId="{3CB0F73B-48B0-4A45-8FE5-558F50FCAA43}" srcOrd="0" destOrd="0" presId="urn:microsoft.com/office/officeart/2005/8/layout/vList2"/>
    <dgm:cxn modelId="{203C21D8-E28E-4557-BFD7-5560336256BA}" type="presOf" srcId="{FC791B96-3ECF-4CBC-A479-096AB6437F85}" destId="{8ACDC1C5-46DD-4901-9163-2A2D167EF0FB}" srcOrd="0" destOrd="3" presId="urn:microsoft.com/office/officeart/2005/8/layout/vList2"/>
    <dgm:cxn modelId="{0A7329F0-3A8F-40DA-8234-ACE255C4D90C}" srcId="{D9E0C895-C921-4467-88B2-2AD90E984A57}" destId="{C219B343-A830-4261-8AC9-C9E38395542D}" srcOrd="0" destOrd="0" parTransId="{39692C64-7DF0-40D6-8578-E8AB18F27B57}" sibTransId="{2DA7ABEA-319F-4F3F-8F09-E2AB15ED88FC}"/>
    <dgm:cxn modelId="{666212F9-C7AD-44EA-83A2-F2F121760285}" type="presOf" srcId="{21A32DCF-A1AE-42BE-9314-498FC3FAB59E}" destId="{8ACDC1C5-46DD-4901-9163-2A2D167EF0FB}" srcOrd="0" destOrd="4" presId="urn:microsoft.com/office/officeart/2005/8/layout/vList2"/>
    <dgm:cxn modelId="{C500E4AD-455F-4604-B872-06636229A066}" type="presParOf" srcId="{3CB0F73B-48B0-4A45-8FE5-558F50FCAA43}" destId="{B52D18CF-CFB9-4C67-9AA5-6B8F886C91DC}" srcOrd="0" destOrd="0" presId="urn:microsoft.com/office/officeart/2005/8/layout/vList2"/>
    <dgm:cxn modelId="{70CA198C-C3BB-4434-BD00-962628D43137}" type="presParOf" srcId="{3CB0F73B-48B0-4A45-8FE5-558F50FCAA43}" destId="{8ACDC1C5-46DD-4901-9163-2A2D167EF0F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9E0C895-C921-4467-88B2-2AD90E984A57}" type="doc">
      <dgm:prSet loTypeId="urn:microsoft.com/office/officeart/2005/8/layout/vList2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219B343-A830-4261-8AC9-C9E38395542D}">
      <dgm:prSet phldrT="[Text]" custT="1"/>
      <dgm:spPr>
        <a:solidFill>
          <a:srgbClr val="0070C0"/>
        </a:solidFill>
      </dgm:spPr>
      <dgm:t>
        <a:bodyPr/>
        <a:lstStyle/>
        <a:p>
          <a:pPr algn="l"/>
          <a:r>
            <a:rPr lang="en-US" sz="2400" b="1"/>
            <a:t>4-month regimen: </a:t>
          </a:r>
          <a:r>
            <a:rPr lang="en-US" sz="2400"/>
            <a:t>2 H-R-Z- (E) / 2 H-R </a:t>
          </a:r>
        </a:p>
      </dgm:t>
    </dgm:pt>
    <dgm:pt modelId="{39692C64-7DF0-40D6-8578-E8AB18F27B57}" type="parTrans" cxnId="{0A7329F0-3A8F-40DA-8234-ACE255C4D90C}">
      <dgm:prSet/>
      <dgm:spPr/>
      <dgm:t>
        <a:bodyPr/>
        <a:lstStyle/>
        <a:p>
          <a:endParaRPr lang="en-US"/>
        </a:p>
      </dgm:t>
    </dgm:pt>
    <dgm:pt modelId="{2DA7ABEA-319F-4F3F-8F09-E2AB15ED88FC}" type="sibTrans" cxnId="{0A7329F0-3A8F-40DA-8234-ACE255C4D90C}">
      <dgm:prSet/>
      <dgm:spPr/>
      <dgm:t>
        <a:bodyPr/>
        <a:lstStyle/>
        <a:p>
          <a:endParaRPr lang="en-US"/>
        </a:p>
      </dgm:t>
    </dgm:pt>
    <dgm:pt modelId="{F5B9BEB3-94CF-4CE8-91F0-2BE47FADE09F}">
      <dgm:prSet phldrT="[Text]" custT="1"/>
      <dgm:spPr/>
      <dgm:t>
        <a:bodyPr/>
        <a:lstStyle/>
        <a:p>
          <a:pPr>
            <a:lnSpc>
              <a:spcPct val="150000"/>
            </a:lnSpc>
            <a:buFontTx/>
            <a:buNone/>
          </a:pPr>
          <a:r>
            <a:rPr lang="en-US" sz="2000" b="1" kern="1200">
              <a:solidFill>
                <a:srgbClr val="265A9A"/>
              </a:solidFill>
            </a:rPr>
            <a:t>Initial phase: </a:t>
          </a:r>
          <a:r>
            <a:rPr lang="en-US" sz="2000" kern="1200"/>
            <a:t>2 H-R-Z- (E)</a:t>
          </a:r>
          <a:endParaRPr lang="en-US" sz="2000" b="1" kern="1200">
            <a:solidFill>
              <a:srgbClr val="265A9A"/>
            </a:solidFill>
          </a:endParaRPr>
        </a:p>
      </dgm:t>
    </dgm:pt>
    <dgm:pt modelId="{38B8807B-9B58-421C-B57F-F9682AE84515}" type="parTrans" cxnId="{32B7DFBA-D210-4B53-A12A-98EC0F479B89}">
      <dgm:prSet/>
      <dgm:spPr/>
      <dgm:t>
        <a:bodyPr/>
        <a:lstStyle/>
        <a:p>
          <a:endParaRPr lang="en-US"/>
        </a:p>
      </dgm:t>
    </dgm:pt>
    <dgm:pt modelId="{7CC7E90B-5314-405E-A241-C076A48A48C7}" type="sibTrans" cxnId="{32B7DFBA-D210-4B53-A12A-98EC0F479B89}">
      <dgm:prSet/>
      <dgm:spPr/>
      <dgm:t>
        <a:bodyPr/>
        <a:lstStyle/>
        <a:p>
          <a:endParaRPr lang="en-US"/>
        </a:p>
      </dgm:t>
    </dgm:pt>
    <dgm:pt modelId="{3C71EFFB-A487-4E2C-A3DB-02AF30261F69}">
      <dgm:prSet phldrT="[Text]"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kern="1200"/>
            <a:t>Continuation phase includes 2 months of daily isoniazid and rifampicin.</a:t>
          </a:r>
          <a:endParaRPr lang="en-US" sz="1800" i="1" kern="1200"/>
        </a:p>
      </dgm:t>
    </dgm:pt>
    <dgm:pt modelId="{82DE043C-D847-432C-B5A9-B73724D30FE7}" type="parTrans" cxnId="{2ED16885-3EB5-4BA6-A20B-9986475CA053}">
      <dgm:prSet/>
      <dgm:spPr/>
      <dgm:t>
        <a:bodyPr/>
        <a:lstStyle/>
        <a:p>
          <a:endParaRPr lang="en-US"/>
        </a:p>
      </dgm:t>
    </dgm:pt>
    <dgm:pt modelId="{DD89F7A9-39D2-4396-8431-0D2B07B13269}" type="sibTrans" cxnId="{2ED16885-3EB5-4BA6-A20B-9986475CA053}">
      <dgm:prSet/>
      <dgm:spPr/>
      <dgm:t>
        <a:bodyPr/>
        <a:lstStyle/>
        <a:p>
          <a:endParaRPr lang="en-US"/>
        </a:p>
      </dgm:t>
    </dgm:pt>
    <dgm:pt modelId="{1D0C666C-1202-4147-A63D-30DA2F12DFC8}">
      <dgm:prSet phldrT="[Text]" custT="1"/>
      <dgm:spPr/>
      <dgm:t>
        <a:bodyPr/>
        <a:lstStyle/>
        <a:p>
          <a:pPr>
            <a:lnSpc>
              <a:spcPct val="150000"/>
            </a:lnSpc>
            <a:buFont typeface="Wingdings" panose="05000000000000000000" pitchFamily="2" charset="2"/>
            <a:buChar char="ü"/>
          </a:pPr>
          <a:r>
            <a:rPr lang="en-US" sz="1800" kern="1200"/>
            <a:t>Initial phase comprises of 2 months of daily isoniazid, rifampicin and pyrazinamide, with or without ethambutol.</a:t>
          </a:r>
          <a:endParaRPr lang="en-US" sz="1800" i="1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+mn-ea"/>
            <a:cs typeface="+mn-cs"/>
          </a:endParaRPr>
        </a:p>
      </dgm:t>
    </dgm:pt>
    <dgm:pt modelId="{57AB3B3D-414E-4CE2-93B0-D1D2CEF174A7}" type="parTrans" cxnId="{DC7B55EE-264E-4B1A-96EA-3E434E22A786}">
      <dgm:prSet/>
      <dgm:spPr/>
      <dgm:t>
        <a:bodyPr/>
        <a:lstStyle/>
        <a:p>
          <a:endParaRPr lang="en-US"/>
        </a:p>
      </dgm:t>
    </dgm:pt>
    <dgm:pt modelId="{7C05724D-260A-40F7-9BA6-8FF5F1BE77AF}" type="sibTrans" cxnId="{DC7B55EE-264E-4B1A-96EA-3E434E22A786}">
      <dgm:prSet/>
      <dgm:spPr/>
      <dgm:t>
        <a:bodyPr/>
        <a:lstStyle/>
        <a:p>
          <a:endParaRPr lang="en-US"/>
        </a:p>
      </dgm:t>
    </dgm:pt>
    <dgm:pt modelId="{1C33BA43-61B8-4EBF-8033-D4240370CA8A}">
      <dgm:prSet phldrT="[Text]" custT="1"/>
      <dgm:spPr/>
      <dgm:t>
        <a:bodyPr/>
        <a:lstStyle/>
        <a:p>
          <a:pPr>
            <a:lnSpc>
              <a:spcPct val="150000"/>
            </a:lnSpc>
            <a:buFont typeface="Wingdings" panose="05000000000000000000" pitchFamily="2" charset="2"/>
            <a:buChar char="Ø"/>
          </a:pPr>
          <a:r>
            <a:rPr lang="en-US" sz="1800" b="0" u="sng" kern="1200">
              <a:solidFill>
                <a:schemeClr val="tx1"/>
              </a:solidFill>
            </a:rPr>
            <a:t>Daily dosing</a:t>
          </a:r>
          <a:r>
            <a:rPr lang="en-US" sz="1800" b="0" u="none" kern="1200">
              <a:solidFill>
                <a:schemeClr val="tx1"/>
              </a:solidFill>
            </a:rPr>
            <a:t> (7 days per week) is suggested; treatment supporters or VST can improve adherence</a:t>
          </a:r>
          <a:r>
            <a:rPr lang="en-US" sz="1800" b="0" i="1" u="none" kern="1200">
              <a:solidFill>
                <a:schemeClr val="tx1"/>
              </a:solidFill>
              <a:latin typeface="Arial"/>
              <a:ea typeface="+mn-ea"/>
              <a:cs typeface="+mn-cs"/>
            </a:rPr>
            <a:t>.</a:t>
          </a:r>
          <a:endParaRPr lang="en-US" sz="1800" i="1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+mn-ea"/>
            <a:cs typeface="+mn-cs"/>
          </a:endParaRPr>
        </a:p>
      </dgm:t>
    </dgm:pt>
    <dgm:pt modelId="{3769169A-4B31-48FE-8355-7CACB26B3262}" type="parTrans" cxnId="{4A3387E9-E54A-4B58-AA5A-B642AD420D74}">
      <dgm:prSet/>
      <dgm:spPr/>
      <dgm:t>
        <a:bodyPr/>
        <a:lstStyle/>
        <a:p>
          <a:endParaRPr lang="en-US"/>
        </a:p>
      </dgm:t>
    </dgm:pt>
    <dgm:pt modelId="{5FA658B4-D468-4B2C-A99A-A2BBEF785581}" type="sibTrans" cxnId="{4A3387E9-E54A-4B58-AA5A-B642AD420D74}">
      <dgm:prSet/>
      <dgm:spPr/>
      <dgm:t>
        <a:bodyPr/>
        <a:lstStyle/>
        <a:p>
          <a:endParaRPr lang="en-US"/>
        </a:p>
      </dgm:t>
    </dgm:pt>
    <dgm:pt modelId="{751396DF-9012-4E2D-8339-AC147D92B251}">
      <dgm:prSet phldrT="[Text]"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u="sng" kern="1200">
              <a:solidFill>
                <a:schemeClr val="tx1"/>
              </a:solidFill>
            </a:rPr>
            <a:t>Treatment should be</a:t>
          </a:r>
          <a:r>
            <a:rPr lang="en-US" sz="1800" u="none" kern="1200">
              <a:solidFill>
                <a:schemeClr val="tx1"/>
              </a:solidFill>
            </a:rPr>
            <a:t> </a:t>
          </a:r>
          <a:r>
            <a:rPr lang="en-US" sz="1800" kern="1200"/>
            <a:t>continued for 6 months amongst those who have not responded clinically (i.e. haven’t demonstrated weight gain or resolution of TB symptoms). </a:t>
          </a:r>
          <a:endParaRPr lang="en-US" sz="1800" i="1" kern="1200"/>
        </a:p>
      </dgm:t>
    </dgm:pt>
    <dgm:pt modelId="{E73B9439-C170-445B-A732-2316B87ACC2E}" type="parTrans" cxnId="{203D6877-53A3-4AE9-963F-C0028A956B36}">
      <dgm:prSet/>
      <dgm:spPr/>
      <dgm:t>
        <a:bodyPr/>
        <a:lstStyle/>
        <a:p>
          <a:endParaRPr lang="en-US"/>
        </a:p>
      </dgm:t>
    </dgm:pt>
    <dgm:pt modelId="{EE04D85B-EE3D-4EB3-9529-E3EC9A89292F}" type="sibTrans" cxnId="{203D6877-53A3-4AE9-963F-C0028A956B36}">
      <dgm:prSet/>
      <dgm:spPr/>
      <dgm:t>
        <a:bodyPr/>
        <a:lstStyle/>
        <a:p>
          <a:endParaRPr lang="en-US"/>
        </a:p>
      </dgm:t>
    </dgm:pt>
    <dgm:pt modelId="{EF1E0903-5B0A-4FDD-93AA-830D78C7FCE1}">
      <dgm:prSet phldrT="[Text]" custT="1"/>
      <dgm:spPr/>
      <dgm:t>
        <a:bodyPr/>
        <a:lstStyle/>
        <a:p>
          <a:pPr>
            <a:lnSpc>
              <a:spcPct val="150000"/>
            </a:lnSpc>
            <a:buFont typeface="Arial" panose="020B0604020202020204" pitchFamily="34" charset="0"/>
            <a:buNone/>
          </a:pPr>
          <a:r>
            <a:rPr lang="en-US" sz="2000" b="1" kern="1200">
              <a:solidFill>
                <a:srgbClr val="265A9A"/>
              </a:solidFill>
            </a:rPr>
            <a:t>Continuation phase: </a:t>
          </a:r>
          <a:r>
            <a:rPr lang="en-US" sz="2000" kern="1200"/>
            <a:t>2 H-R</a:t>
          </a:r>
          <a:endParaRPr lang="en-US" sz="1800" i="1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+mn-ea"/>
            <a:cs typeface="+mn-cs"/>
          </a:endParaRPr>
        </a:p>
      </dgm:t>
    </dgm:pt>
    <dgm:pt modelId="{92BA7987-EA9A-44C8-984F-66A3B84B47E1}" type="parTrans" cxnId="{61D194B7-DC52-41B3-A436-D4F670A6FFD3}">
      <dgm:prSet/>
      <dgm:spPr/>
      <dgm:t>
        <a:bodyPr/>
        <a:lstStyle/>
        <a:p>
          <a:endParaRPr lang="en-US"/>
        </a:p>
      </dgm:t>
    </dgm:pt>
    <dgm:pt modelId="{BA70CA15-74F3-49BD-9E48-94B5CB8A7EC2}" type="sibTrans" cxnId="{61D194B7-DC52-41B3-A436-D4F670A6FFD3}">
      <dgm:prSet/>
      <dgm:spPr/>
      <dgm:t>
        <a:bodyPr/>
        <a:lstStyle/>
        <a:p>
          <a:endParaRPr lang="en-US"/>
        </a:p>
      </dgm:t>
    </dgm:pt>
    <dgm:pt modelId="{3CB0F73B-48B0-4A45-8FE5-558F50FCAA43}" type="pres">
      <dgm:prSet presAssocID="{D9E0C895-C921-4467-88B2-2AD90E984A57}" presName="linear" presStyleCnt="0">
        <dgm:presLayoutVars>
          <dgm:animLvl val="lvl"/>
          <dgm:resizeHandles val="exact"/>
        </dgm:presLayoutVars>
      </dgm:prSet>
      <dgm:spPr/>
    </dgm:pt>
    <dgm:pt modelId="{B52D18CF-CFB9-4C67-9AA5-6B8F886C91DC}" type="pres">
      <dgm:prSet presAssocID="{C219B343-A830-4261-8AC9-C9E38395542D}" presName="parentText" presStyleLbl="node1" presStyleIdx="0" presStyleCnt="1" custScaleY="223335" custLinFactNeighborX="-94" custLinFactNeighborY="-173">
        <dgm:presLayoutVars>
          <dgm:chMax val="0"/>
          <dgm:bulletEnabled val="1"/>
        </dgm:presLayoutVars>
      </dgm:prSet>
      <dgm:spPr/>
    </dgm:pt>
    <dgm:pt modelId="{8ACDC1C5-46DD-4901-9163-2A2D167EF0FB}" type="pres">
      <dgm:prSet presAssocID="{C219B343-A830-4261-8AC9-C9E38395542D}" presName="childText" presStyleLbl="revTx" presStyleIdx="0" presStyleCnt="1" custScaleY="134460">
        <dgm:presLayoutVars>
          <dgm:bulletEnabled val="1"/>
        </dgm:presLayoutVars>
      </dgm:prSet>
      <dgm:spPr/>
    </dgm:pt>
  </dgm:ptLst>
  <dgm:cxnLst>
    <dgm:cxn modelId="{D8CCAA0E-31FB-46AB-8DAB-EE6ABF83088A}" type="presOf" srcId="{1D0C666C-1202-4147-A63D-30DA2F12DFC8}" destId="{8ACDC1C5-46DD-4901-9163-2A2D167EF0FB}" srcOrd="0" destOrd="1" presId="urn:microsoft.com/office/officeart/2005/8/layout/vList2"/>
    <dgm:cxn modelId="{6479FA19-79DD-497F-8AB6-0C26BCB5D5E3}" type="presOf" srcId="{751396DF-9012-4E2D-8339-AC147D92B251}" destId="{8ACDC1C5-46DD-4901-9163-2A2D167EF0FB}" srcOrd="0" destOrd="5" presId="urn:microsoft.com/office/officeart/2005/8/layout/vList2"/>
    <dgm:cxn modelId="{F5964020-FD04-4905-A0C3-3EA09D3D110D}" type="presOf" srcId="{1C33BA43-61B8-4EBF-8033-D4240370CA8A}" destId="{8ACDC1C5-46DD-4901-9163-2A2D167EF0FB}" srcOrd="0" destOrd="2" presId="urn:microsoft.com/office/officeart/2005/8/layout/vList2"/>
    <dgm:cxn modelId="{3089982D-EE50-4815-A214-5C70ACA55073}" type="presOf" srcId="{F5B9BEB3-94CF-4CE8-91F0-2BE47FADE09F}" destId="{8ACDC1C5-46DD-4901-9163-2A2D167EF0FB}" srcOrd="0" destOrd="0" presId="urn:microsoft.com/office/officeart/2005/8/layout/vList2"/>
    <dgm:cxn modelId="{8ACC4C41-3CD2-4558-A2B8-36DEAAD11E27}" type="presOf" srcId="{C219B343-A830-4261-8AC9-C9E38395542D}" destId="{B52D18CF-CFB9-4C67-9AA5-6B8F886C91DC}" srcOrd="0" destOrd="0" presId="urn:microsoft.com/office/officeart/2005/8/layout/vList2"/>
    <dgm:cxn modelId="{46F09941-1450-479C-BDF5-E536AC3A1DE3}" type="presOf" srcId="{3C71EFFB-A487-4E2C-A3DB-02AF30261F69}" destId="{8ACDC1C5-46DD-4901-9163-2A2D167EF0FB}" srcOrd="0" destOrd="4" presId="urn:microsoft.com/office/officeart/2005/8/layout/vList2"/>
    <dgm:cxn modelId="{203D6877-53A3-4AE9-963F-C0028A956B36}" srcId="{C219B343-A830-4261-8AC9-C9E38395542D}" destId="{751396DF-9012-4E2D-8339-AC147D92B251}" srcOrd="5" destOrd="0" parTransId="{E73B9439-C170-445B-A732-2316B87ACC2E}" sibTransId="{EE04D85B-EE3D-4EB3-9529-E3EC9A89292F}"/>
    <dgm:cxn modelId="{2ED16885-3EB5-4BA6-A20B-9986475CA053}" srcId="{C219B343-A830-4261-8AC9-C9E38395542D}" destId="{3C71EFFB-A487-4E2C-A3DB-02AF30261F69}" srcOrd="4" destOrd="0" parTransId="{82DE043C-D847-432C-B5A9-B73724D30FE7}" sibTransId="{DD89F7A9-39D2-4396-8431-0D2B07B13269}"/>
    <dgm:cxn modelId="{61D194B7-DC52-41B3-A436-D4F670A6FFD3}" srcId="{C219B343-A830-4261-8AC9-C9E38395542D}" destId="{EF1E0903-5B0A-4FDD-93AA-830D78C7FCE1}" srcOrd="3" destOrd="0" parTransId="{92BA7987-EA9A-44C8-984F-66A3B84B47E1}" sibTransId="{BA70CA15-74F3-49BD-9E48-94B5CB8A7EC2}"/>
    <dgm:cxn modelId="{32B7DFBA-D210-4B53-A12A-98EC0F479B89}" srcId="{C219B343-A830-4261-8AC9-C9E38395542D}" destId="{F5B9BEB3-94CF-4CE8-91F0-2BE47FADE09F}" srcOrd="0" destOrd="0" parTransId="{38B8807B-9B58-421C-B57F-F9682AE84515}" sibTransId="{7CC7E90B-5314-405E-A241-C076A48A48C7}"/>
    <dgm:cxn modelId="{962E53C4-D306-4B37-804E-9C77753CF92D}" type="presOf" srcId="{D9E0C895-C921-4467-88B2-2AD90E984A57}" destId="{3CB0F73B-48B0-4A45-8FE5-558F50FCAA43}" srcOrd="0" destOrd="0" presId="urn:microsoft.com/office/officeart/2005/8/layout/vList2"/>
    <dgm:cxn modelId="{F708C6D4-722C-4D75-8B3C-18B3241D4269}" type="presOf" srcId="{EF1E0903-5B0A-4FDD-93AA-830D78C7FCE1}" destId="{8ACDC1C5-46DD-4901-9163-2A2D167EF0FB}" srcOrd="0" destOrd="3" presId="urn:microsoft.com/office/officeart/2005/8/layout/vList2"/>
    <dgm:cxn modelId="{4A3387E9-E54A-4B58-AA5A-B642AD420D74}" srcId="{C219B343-A830-4261-8AC9-C9E38395542D}" destId="{1C33BA43-61B8-4EBF-8033-D4240370CA8A}" srcOrd="2" destOrd="0" parTransId="{3769169A-4B31-48FE-8355-7CACB26B3262}" sibTransId="{5FA658B4-D468-4B2C-A99A-A2BBEF785581}"/>
    <dgm:cxn modelId="{DC7B55EE-264E-4B1A-96EA-3E434E22A786}" srcId="{C219B343-A830-4261-8AC9-C9E38395542D}" destId="{1D0C666C-1202-4147-A63D-30DA2F12DFC8}" srcOrd="1" destOrd="0" parTransId="{57AB3B3D-414E-4CE2-93B0-D1D2CEF174A7}" sibTransId="{7C05724D-260A-40F7-9BA6-8FF5F1BE77AF}"/>
    <dgm:cxn modelId="{0A7329F0-3A8F-40DA-8234-ACE255C4D90C}" srcId="{D9E0C895-C921-4467-88B2-2AD90E984A57}" destId="{C219B343-A830-4261-8AC9-C9E38395542D}" srcOrd="0" destOrd="0" parTransId="{39692C64-7DF0-40D6-8578-E8AB18F27B57}" sibTransId="{2DA7ABEA-319F-4F3F-8F09-E2AB15ED88FC}"/>
    <dgm:cxn modelId="{C500E4AD-455F-4604-B872-06636229A066}" type="presParOf" srcId="{3CB0F73B-48B0-4A45-8FE5-558F50FCAA43}" destId="{B52D18CF-CFB9-4C67-9AA5-6B8F886C91DC}" srcOrd="0" destOrd="0" presId="urn:microsoft.com/office/officeart/2005/8/layout/vList2"/>
    <dgm:cxn modelId="{70CA198C-C3BB-4434-BD00-962628D43137}" type="presParOf" srcId="{3CB0F73B-48B0-4A45-8FE5-558F50FCAA43}" destId="{8ACDC1C5-46DD-4901-9163-2A2D167EF0F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362A8AB-D84E-442A-B3FF-0CEE7906FC78}" type="doc">
      <dgm:prSet loTypeId="urn:microsoft.com/office/officeart/2005/8/layout/list1" loCatId="list" qsTypeId="urn:microsoft.com/office/officeart/2005/8/quickstyle/simple2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42AADCAF-784D-4993-B08C-23DC3E822949}">
      <dgm:prSet phldrT="[Text]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b="1"/>
            <a:t>The optimal dosing frequency for DS TB patients is daily throughout the course of therapy</a:t>
          </a:r>
        </a:p>
      </dgm:t>
    </dgm:pt>
    <dgm:pt modelId="{6AE673CB-BA8C-4E57-9617-15BF5BB1E77F}" type="parTrans" cxnId="{DE290FB8-EFDE-4E69-BAC4-9C605EC15F10}">
      <dgm:prSet/>
      <dgm:spPr/>
      <dgm:t>
        <a:bodyPr/>
        <a:lstStyle/>
        <a:p>
          <a:endParaRPr lang="en-US"/>
        </a:p>
      </dgm:t>
    </dgm:pt>
    <dgm:pt modelId="{8BC1B93C-F11D-4602-8C1D-2D586F5F1DDA}" type="sibTrans" cxnId="{DE290FB8-EFDE-4E69-BAC4-9C605EC15F10}">
      <dgm:prSet/>
      <dgm:spPr/>
      <dgm:t>
        <a:bodyPr/>
        <a:lstStyle/>
        <a:p>
          <a:endParaRPr lang="en-US"/>
        </a:p>
      </dgm:t>
    </dgm:pt>
    <dgm:pt modelId="{32280263-6B0C-41DD-8FA5-5A2EF8A11BE7}">
      <dgm:prSet phldrT="[Text]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b="1"/>
            <a:t>Daily dosing </a:t>
          </a:r>
          <a:r>
            <a:rPr lang="en-US" b="0"/>
            <a:t>remains the recommended dosing frequency for both HIV-negative people and people living with HIV </a:t>
          </a:r>
          <a:endParaRPr lang="en-US"/>
        </a:p>
      </dgm:t>
    </dgm:pt>
    <dgm:pt modelId="{A97E607B-0BC2-4624-8163-41714B0862B1}" type="parTrans" cxnId="{64C9A2B7-59DE-4251-B6C7-FD0E861A0E73}">
      <dgm:prSet/>
      <dgm:spPr/>
      <dgm:t>
        <a:bodyPr/>
        <a:lstStyle/>
        <a:p>
          <a:endParaRPr lang="en-US"/>
        </a:p>
      </dgm:t>
    </dgm:pt>
    <dgm:pt modelId="{68ADEA20-6950-41FA-997C-E0659EA543C3}" type="sibTrans" cxnId="{64C9A2B7-59DE-4251-B6C7-FD0E861A0E73}">
      <dgm:prSet/>
      <dgm:spPr/>
      <dgm:t>
        <a:bodyPr/>
        <a:lstStyle/>
        <a:p>
          <a:endParaRPr lang="en-US"/>
        </a:p>
      </dgm:t>
    </dgm:pt>
    <dgm:pt modelId="{124E9F11-516F-46D7-8F27-C40564214306}">
      <dgm:prSet phldrT="[Text]"/>
      <dgm:spPr/>
      <dgm:t>
        <a:bodyPr/>
        <a:lstStyle/>
        <a:p>
          <a:r>
            <a:rPr lang="en-US" b="0"/>
            <a:t>The term </a:t>
          </a:r>
          <a:r>
            <a:rPr lang="en-US" b="1"/>
            <a:t>‘daily’ </a:t>
          </a:r>
          <a:r>
            <a:rPr lang="en-US" b="0"/>
            <a:t>indicates an intake of TB drugs for 7 days per week </a:t>
          </a:r>
          <a:endParaRPr lang="en-US"/>
        </a:p>
      </dgm:t>
    </dgm:pt>
    <dgm:pt modelId="{B6AC83B4-1729-4039-9023-A8DB093BCA62}" type="parTrans" cxnId="{449C08F6-1B3B-48BB-BD2C-D1107C1168E1}">
      <dgm:prSet/>
      <dgm:spPr/>
      <dgm:t>
        <a:bodyPr/>
        <a:lstStyle/>
        <a:p>
          <a:endParaRPr lang="en-US"/>
        </a:p>
      </dgm:t>
    </dgm:pt>
    <dgm:pt modelId="{262E8BB3-F72E-48D9-8FCF-D31E4BE773CF}" type="sibTrans" cxnId="{449C08F6-1B3B-48BB-BD2C-D1107C1168E1}">
      <dgm:prSet/>
      <dgm:spPr/>
      <dgm:t>
        <a:bodyPr/>
        <a:lstStyle/>
        <a:p>
          <a:endParaRPr lang="en-US"/>
        </a:p>
      </dgm:t>
    </dgm:pt>
    <dgm:pt modelId="{5DE666AD-50FF-433B-B390-75D2E110D6B0}">
      <dgm:prSet phldrT="[Text]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b="1"/>
            <a:t>Daily administration </a:t>
          </a:r>
          <a:r>
            <a:rPr lang="en-US" b="0"/>
            <a:t>reduces the rate of acquired drug-resistance by up to 3 times when compared with intermittent dosage  </a:t>
          </a:r>
        </a:p>
      </dgm:t>
    </dgm:pt>
    <dgm:pt modelId="{8DFE14B7-C1FD-46DE-B244-519D5FA07652}" type="parTrans" cxnId="{5AC9E38F-0C96-4123-96A1-FCAED545B2EF}">
      <dgm:prSet/>
      <dgm:spPr/>
      <dgm:t>
        <a:bodyPr/>
        <a:lstStyle/>
        <a:p>
          <a:endParaRPr lang="en-US"/>
        </a:p>
      </dgm:t>
    </dgm:pt>
    <dgm:pt modelId="{94E47074-3364-4D54-BFD9-033144F9B79E}" type="sibTrans" cxnId="{5AC9E38F-0C96-4123-96A1-FCAED545B2EF}">
      <dgm:prSet/>
      <dgm:spPr/>
      <dgm:t>
        <a:bodyPr/>
        <a:lstStyle/>
        <a:p>
          <a:endParaRPr lang="en-US"/>
        </a:p>
      </dgm:t>
    </dgm:pt>
    <dgm:pt modelId="{EBED5576-1477-46FC-9A8A-3DFC4D91BA0E}" type="pres">
      <dgm:prSet presAssocID="{F362A8AB-D84E-442A-B3FF-0CEE7906FC78}" presName="linear" presStyleCnt="0">
        <dgm:presLayoutVars>
          <dgm:dir/>
          <dgm:animLvl val="lvl"/>
          <dgm:resizeHandles val="exact"/>
        </dgm:presLayoutVars>
      </dgm:prSet>
      <dgm:spPr/>
    </dgm:pt>
    <dgm:pt modelId="{53C345FC-DF8D-4B7A-B040-31AFB9898366}" type="pres">
      <dgm:prSet presAssocID="{42AADCAF-784D-4993-B08C-23DC3E822949}" presName="parentLin" presStyleCnt="0"/>
      <dgm:spPr/>
    </dgm:pt>
    <dgm:pt modelId="{C442622C-6B22-4D31-84C0-7686E0DFEC7A}" type="pres">
      <dgm:prSet presAssocID="{42AADCAF-784D-4993-B08C-23DC3E822949}" presName="parentLeftMargin" presStyleLbl="node1" presStyleIdx="0" presStyleCnt="4"/>
      <dgm:spPr/>
    </dgm:pt>
    <dgm:pt modelId="{EDCE501D-4370-42C1-BBFB-F59B2BFBE034}" type="pres">
      <dgm:prSet presAssocID="{42AADCAF-784D-4993-B08C-23DC3E82294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95BF0C3-DDDA-468F-93B4-E4D8074A4A95}" type="pres">
      <dgm:prSet presAssocID="{42AADCAF-784D-4993-B08C-23DC3E822949}" presName="negativeSpace" presStyleCnt="0"/>
      <dgm:spPr/>
    </dgm:pt>
    <dgm:pt modelId="{AD93D57D-AB2A-407E-8398-926D93A2ACCA}" type="pres">
      <dgm:prSet presAssocID="{42AADCAF-784D-4993-B08C-23DC3E822949}" presName="childText" presStyleLbl="conFgAcc1" presStyleIdx="0" presStyleCnt="4">
        <dgm:presLayoutVars>
          <dgm:bulletEnabled val="1"/>
        </dgm:presLayoutVars>
      </dgm:prSet>
      <dgm:spPr/>
    </dgm:pt>
    <dgm:pt modelId="{E2CFA8BA-23B9-4EFC-BA2F-6D041EBFDD34}" type="pres">
      <dgm:prSet presAssocID="{8BC1B93C-F11D-4602-8C1D-2D586F5F1DDA}" presName="spaceBetweenRectangles" presStyleCnt="0"/>
      <dgm:spPr/>
    </dgm:pt>
    <dgm:pt modelId="{87BEEF16-98A8-4107-8E6F-135CCA74DC7D}" type="pres">
      <dgm:prSet presAssocID="{5DE666AD-50FF-433B-B390-75D2E110D6B0}" presName="parentLin" presStyleCnt="0"/>
      <dgm:spPr/>
    </dgm:pt>
    <dgm:pt modelId="{B309EA46-B85E-47C5-9325-783CF25012B8}" type="pres">
      <dgm:prSet presAssocID="{5DE666AD-50FF-433B-B390-75D2E110D6B0}" presName="parentLeftMargin" presStyleLbl="node1" presStyleIdx="0" presStyleCnt="4"/>
      <dgm:spPr/>
    </dgm:pt>
    <dgm:pt modelId="{65C0CEE4-FE58-47F4-8F8C-DD5EE35519E7}" type="pres">
      <dgm:prSet presAssocID="{5DE666AD-50FF-433B-B390-75D2E110D6B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34E25E1-F2A7-4B54-8933-88ECE96FD4B1}" type="pres">
      <dgm:prSet presAssocID="{5DE666AD-50FF-433B-B390-75D2E110D6B0}" presName="negativeSpace" presStyleCnt="0"/>
      <dgm:spPr/>
    </dgm:pt>
    <dgm:pt modelId="{B5FF99A6-4D46-4BA6-A714-649695F7B526}" type="pres">
      <dgm:prSet presAssocID="{5DE666AD-50FF-433B-B390-75D2E110D6B0}" presName="childText" presStyleLbl="conFgAcc1" presStyleIdx="1" presStyleCnt="4">
        <dgm:presLayoutVars>
          <dgm:bulletEnabled val="1"/>
        </dgm:presLayoutVars>
      </dgm:prSet>
      <dgm:spPr/>
    </dgm:pt>
    <dgm:pt modelId="{BF1E7520-3832-47C4-B73D-1758189FEFE2}" type="pres">
      <dgm:prSet presAssocID="{94E47074-3364-4D54-BFD9-033144F9B79E}" presName="spaceBetweenRectangles" presStyleCnt="0"/>
      <dgm:spPr/>
    </dgm:pt>
    <dgm:pt modelId="{86A885C7-6E16-418B-AEEC-7F500CD2A078}" type="pres">
      <dgm:prSet presAssocID="{32280263-6B0C-41DD-8FA5-5A2EF8A11BE7}" presName="parentLin" presStyleCnt="0"/>
      <dgm:spPr/>
    </dgm:pt>
    <dgm:pt modelId="{B3778DD9-C4DC-4118-B899-80E288F732BF}" type="pres">
      <dgm:prSet presAssocID="{32280263-6B0C-41DD-8FA5-5A2EF8A11BE7}" presName="parentLeftMargin" presStyleLbl="node1" presStyleIdx="1" presStyleCnt="4"/>
      <dgm:spPr/>
    </dgm:pt>
    <dgm:pt modelId="{D3392F9F-46D0-452D-BD35-14DB3694E2D2}" type="pres">
      <dgm:prSet presAssocID="{32280263-6B0C-41DD-8FA5-5A2EF8A11BE7}" presName="parentText" presStyleLbl="node1" presStyleIdx="2" presStyleCnt="4" custLinFactNeighborX="-5815" custLinFactNeighborY="4255">
        <dgm:presLayoutVars>
          <dgm:chMax val="0"/>
          <dgm:bulletEnabled val="1"/>
        </dgm:presLayoutVars>
      </dgm:prSet>
      <dgm:spPr/>
    </dgm:pt>
    <dgm:pt modelId="{A14AE429-5535-4DA7-A521-581B0632046F}" type="pres">
      <dgm:prSet presAssocID="{32280263-6B0C-41DD-8FA5-5A2EF8A11BE7}" presName="negativeSpace" presStyleCnt="0"/>
      <dgm:spPr/>
    </dgm:pt>
    <dgm:pt modelId="{35A3B44F-631F-4394-9BF3-63CF70837483}" type="pres">
      <dgm:prSet presAssocID="{32280263-6B0C-41DD-8FA5-5A2EF8A11BE7}" presName="childText" presStyleLbl="conFgAcc1" presStyleIdx="2" presStyleCnt="4">
        <dgm:presLayoutVars>
          <dgm:bulletEnabled val="1"/>
        </dgm:presLayoutVars>
      </dgm:prSet>
      <dgm:spPr/>
    </dgm:pt>
    <dgm:pt modelId="{8B4CF817-3A05-42D9-BB26-1B2E3134DBE0}" type="pres">
      <dgm:prSet presAssocID="{68ADEA20-6950-41FA-997C-E0659EA543C3}" presName="spaceBetweenRectangles" presStyleCnt="0"/>
      <dgm:spPr/>
    </dgm:pt>
    <dgm:pt modelId="{CD8C9C60-6395-4B91-A148-122FE4780E65}" type="pres">
      <dgm:prSet presAssocID="{124E9F11-516F-46D7-8F27-C40564214306}" presName="parentLin" presStyleCnt="0"/>
      <dgm:spPr/>
    </dgm:pt>
    <dgm:pt modelId="{1B471265-F1FE-493B-B790-2BD84EC3A51C}" type="pres">
      <dgm:prSet presAssocID="{124E9F11-516F-46D7-8F27-C40564214306}" presName="parentLeftMargin" presStyleLbl="node1" presStyleIdx="2" presStyleCnt="4"/>
      <dgm:spPr/>
    </dgm:pt>
    <dgm:pt modelId="{3AA40FB3-0323-4C98-851C-7802038EC7DA}" type="pres">
      <dgm:prSet presAssocID="{124E9F11-516F-46D7-8F27-C40564214306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C006B2E6-7A32-4337-96A2-0DC227A00910}" type="pres">
      <dgm:prSet presAssocID="{124E9F11-516F-46D7-8F27-C40564214306}" presName="negativeSpace" presStyleCnt="0"/>
      <dgm:spPr/>
    </dgm:pt>
    <dgm:pt modelId="{B8432E99-7B2F-443C-8143-FD5746C68D68}" type="pres">
      <dgm:prSet presAssocID="{124E9F11-516F-46D7-8F27-C40564214306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0E0CF05-40B2-4EAD-9C3A-45A96B6AC222}" type="presOf" srcId="{32280263-6B0C-41DD-8FA5-5A2EF8A11BE7}" destId="{B3778DD9-C4DC-4118-B899-80E288F732BF}" srcOrd="0" destOrd="0" presId="urn:microsoft.com/office/officeart/2005/8/layout/list1"/>
    <dgm:cxn modelId="{0D6B2946-853D-4E45-8D9D-45371D84065F}" type="presOf" srcId="{124E9F11-516F-46D7-8F27-C40564214306}" destId="{3AA40FB3-0323-4C98-851C-7802038EC7DA}" srcOrd="1" destOrd="0" presId="urn:microsoft.com/office/officeart/2005/8/layout/list1"/>
    <dgm:cxn modelId="{56F4B44F-2272-450B-96AC-B7FF8301B6B3}" type="presOf" srcId="{124E9F11-516F-46D7-8F27-C40564214306}" destId="{1B471265-F1FE-493B-B790-2BD84EC3A51C}" srcOrd="0" destOrd="0" presId="urn:microsoft.com/office/officeart/2005/8/layout/list1"/>
    <dgm:cxn modelId="{1F8EF459-4203-4D63-B1CD-A0F8C9472DC4}" type="presOf" srcId="{32280263-6B0C-41DD-8FA5-5A2EF8A11BE7}" destId="{D3392F9F-46D0-452D-BD35-14DB3694E2D2}" srcOrd="1" destOrd="0" presId="urn:microsoft.com/office/officeart/2005/8/layout/list1"/>
    <dgm:cxn modelId="{F546876C-36B2-43EF-AFE3-1A45D0F39865}" type="presOf" srcId="{F362A8AB-D84E-442A-B3FF-0CEE7906FC78}" destId="{EBED5576-1477-46FC-9A8A-3DFC4D91BA0E}" srcOrd="0" destOrd="0" presId="urn:microsoft.com/office/officeart/2005/8/layout/list1"/>
    <dgm:cxn modelId="{5AC9E38F-0C96-4123-96A1-FCAED545B2EF}" srcId="{F362A8AB-D84E-442A-B3FF-0CEE7906FC78}" destId="{5DE666AD-50FF-433B-B390-75D2E110D6B0}" srcOrd="1" destOrd="0" parTransId="{8DFE14B7-C1FD-46DE-B244-519D5FA07652}" sibTransId="{94E47074-3364-4D54-BFD9-033144F9B79E}"/>
    <dgm:cxn modelId="{9952FB93-0931-466B-BA3A-C1E8BCDD8BC6}" type="presOf" srcId="{5DE666AD-50FF-433B-B390-75D2E110D6B0}" destId="{65C0CEE4-FE58-47F4-8F8C-DD5EE35519E7}" srcOrd="1" destOrd="0" presId="urn:microsoft.com/office/officeart/2005/8/layout/list1"/>
    <dgm:cxn modelId="{B1E9D795-88B7-4D61-8A62-D2AD9BD1A362}" type="presOf" srcId="{42AADCAF-784D-4993-B08C-23DC3E822949}" destId="{C442622C-6B22-4D31-84C0-7686E0DFEC7A}" srcOrd="0" destOrd="0" presId="urn:microsoft.com/office/officeart/2005/8/layout/list1"/>
    <dgm:cxn modelId="{B7690F98-F571-4741-A102-C33AD7C188CA}" type="presOf" srcId="{5DE666AD-50FF-433B-B390-75D2E110D6B0}" destId="{B309EA46-B85E-47C5-9325-783CF25012B8}" srcOrd="0" destOrd="0" presId="urn:microsoft.com/office/officeart/2005/8/layout/list1"/>
    <dgm:cxn modelId="{64C9A2B7-59DE-4251-B6C7-FD0E861A0E73}" srcId="{F362A8AB-D84E-442A-B3FF-0CEE7906FC78}" destId="{32280263-6B0C-41DD-8FA5-5A2EF8A11BE7}" srcOrd="2" destOrd="0" parTransId="{A97E607B-0BC2-4624-8163-41714B0862B1}" sibTransId="{68ADEA20-6950-41FA-997C-E0659EA543C3}"/>
    <dgm:cxn modelId="{DE290FB8-EFDE-4E69-BAC4-9C605EC15F10}" srcId="{F362A8AB-D84E-442A-B3FF-0CEE7906FC78}" destId="{42AADCAF-784D-4993-B08C-23DC3E822949}" srcOrd="0" destOrd="0" parTransId="{6AE673CB-BA8C-4E57-9617-15BF5BB1E77F}" sibTransId="{8BC1B93C-F11D-4602-8C1D-2D586F5F1DDA}"/>
    <dgm:cxn modelId="{305BCAEB-877A-478A-AE00-8E27AF147AA6}" type="presOf" srcId="{42AADCAF-784D-4993-B08C-23DC3E822949}" destId="{EDCE501D-4370-42C1-BBFB-F59B2BFBE034}" srcOrd="1" destOrd="0" presId="urn:microsoft.com/office/officeart/2005/8/layout/list1"/>
    <dgm:cxn modelId="{449C08F6-1B3B-48BB-BD2C-D1107C1168E1}" srcId="{F362A8AB-D84E-442A-B3FF-0CEE7906FC78}" destId="{124E9F11-516F-46D7-8F27-C40564214306}" srcOrd="3" destOrd="0" parTransId="{B6AC83B4-1729-4039-9023-A8DB093BCA62}" sibTransId="{262E8BB3-F72E-48D9-8FCF-D31E4BE773CF}"/>
    <dgm:cxn modelId="{53F92E6D-5735-4782-8E58-C806AD283CE3}" type="presParOf" srcId="{EBED5576-1477-46FC-9A8A-3DFC4D91BA0E}" destId="{53C345FC-DF8D-4B7A-B040-31AFB9898366}" srcOrd="0" destOrd="0" presId="urn:microsoft.com/office/officeart/2005/8/layout/list1"/>
    <dgm:cxn modelId="{0EF648E4-DD4B-431D-837D-88BD81DE8558}" type="presParOf" srcId="{53C345FC-DF8D-4B7A-B040-31AFB9898366}" destId="{C442622C-6B22-4D31-84C0-7686E0DFEC7A}" srcOrd="0" destOrd="0" presId="urn:microsoft.com/office/officeart/2005/8/layout/list1"/>
    <dgm:cxn modelId="{5A5105A3-943F-4E0B-A3B1-70B704BDB5F2}" type="presParOf" srcId="{53C345FC-DF8D-4B7A-B040-31AFB9898366}" destId="{EDCE501D-4370-42C1-BBFB-F59B2BFBE034}" srcOrd="1" destOrd="0" presId="urn:microsoft.com/office/officeart/2005/8/layout/list1"/>
    <dgm:cxn modelId="{430E89D3-BB76-4FB5-B984-B8B7BB100D06}" type="presParOf" srcId="{EBED5576-1477-46FC-9A8A-3DFC4D91BA0E}" destId="{B95BF0C3-DDDA-468F-93B4-E4D8074A4A95}" srcOrd="1" destOrd="0" presId="urn:microsoft.com/office/officeart/2005/8/layout/list1"/>
    <dgm:cxn modelId="{94EB24E7-A02F-4166-A482-381BB54709C7}" type="presParOf" srcId="{EBED5576-1477-46FC-9A8A-3DFC4D91BA0E}" destId="{AD93D57D-AB2A-407E-8398-926D93A2ACCA}" srcOrd="2" destOrd="0" presId="urn:microsoft.com/office/officeart/2005/8/layout/list1"/>
    <dgm:cxn modelId="{F607A3DA-FF6F-477D-B752-667FD95F9A33}" type="presParOf" srcId="{EBED5576-1477-46FC-9A8A-3DFC4D91BA0E}" destId="{E2CFA8BA-23B9-4EFC-BA2F-6D041EBFDD34}" srcOrd="3" destOrd="0" presId="urn:microsoft.com/office/officeart/2005/8/layout/list1"/>
    <dgm:cxn modelId="{A7E1739A-E746-4100-B9DE-9C39613B6573}" type="presParOf" srcId="{EBED5576-1477-46FC-9A8A-3DFC4D91BA0E}" destId="{87BEEF16-98A8-4107-8E6F-135CCA74DC7D}" srcOrd="4" destOrd="0" presId="urn:microsoft.com/office/officeart/2005/8/layout/list1"/>
    <dgm:cxn modelId="{5C8C2E25-9C3E-4B63-80D1-D3A8557A88C6}" type="presParOf" srcId="{87BEEF16-98A8-4107-8E6F-135CCA74DC7D}" destId="{B309EA46-B85E-47C5-9325-783CF25012B8}" srcOrd="0" destOrd="0" presId="urn:microsoft.com/office/officeart/2005/8/layout/list1"/>
    <dgm:cxn modelId="{5C4856C6-562E-4491-92BC-7A331ED6CF29}" type="presParOf" srcId="{87BEEF16-98A8-4107-8E6F-135CCA74DC7D}" destId="{65C0CEE4-FE58-47F4-8F8C-DD5EE35519E7}" srcOrd="1" destOrd="0" presId="urn:microsoft.com/office/officeart/2005/8/layout/list1"/>
    <dgm:cxn modelId="{03775A7C-D628-488F-AC0A-2A3E03A5E6F3}" type="presParOf" srcId="{EBED5576-1477-46FC-9A8A-3DFC4D91BA0E}" destId="{834E25E1-F2A7-4B54-8933-88ECE96FD4B1}" srcOrd="5" destOrd="0" presId="urn:microsoft.com/office/officeart/2005/8/layout/list1"/>
    <dgm:cxn modelId="{767B50C0-5223-4D25-AF4F-B63ED161C9E2}" type="presParOf" srcId="{EBED5576-1477-46FC-9A8A-3DFC4D91BA0E}" destId="{B5FF99A6-4D46-4BA6-A714-649695F7B526}" srcOrd="6" destOrd="0" presId="urn:microsoft.com/office/officeart/2005/8/layout/list1"/>
    <dgm:cxn modelId="{70806526-C961-412B-B4E6-0B62DB9AED06}" type="presParOf" srcId="{EBED5576-1477-46FC-9A8A-3DFC4D91BA0E}" destId="{BF1E7520-3832-47C4-B73D-1758189FEFE2}" srcOrd="7" destOrd="0" presId="urn:microsoft.com/office/officeart/2005/8/layout/list1"/>
    <dgm:cxn modelId="{9AC62B13-5C22-4A02-BE6D-01910B6FEB75}" type="presParOf" srcId="{EBED5576-1477-46FC-9A8A-3DFC4D91BA0E}" destId="{86A885C7-6E16-418B-AEEC-7F500CD2A078}" srcOrd="8" destOrd="0" presId="urn:microsoft.com/office/officeart/2005/8/layout/list1"/>
    <dgm:cxn modelId="{0A985623-5D8A-4335-8667-092A8A41487C}" type="presParOf" srcId="{86A885C7-6E16-418B-AEEC-7F500CD2A078}" destId="{B3778DD9-C4DC-4118-B899-80E288F732BF}" srcOrd="0" destOrd="0" presId="urn:microsoft.com/office/officeart/2005/8/layout/list1"/>
    <dgm:cxn modelId="{DD8746BA-432C-499B-9997-F446220CC369}" type="presParOf" srcId="{86A885C7-6E16-418B-AEEC-7F500CD2A078}" destId="{D3392F9F-46D0-452D-BD35-14DB3694E2D2}" srcOrd="1" destOrd="0" presId="urn:microsoft.com/office/officeart/2005/8/layout/list1"/>
    <dgm:cxn modelId="{FD840C73-7F64-4C77-A9F3-8311F37FE346}" type="presParOf" srcId="{EBED5576-1477-46FC-9A8A-3DFC4D91BA0E}" destId="{A14AE429-5535-4DA7-A521-581B0632046F}" srcOrd="9" destOrd="0" presId="urn:microsoft.com/office/officeart/2005/8/layout/list1"/>
    <dgm:cxn modelId="{A1F03A1E-034A-42F0-A54A-786ABDD14B6A}" type="presParOf" srcId="{EBED5576-1477-46FC-9A8A-3DFC4D91BA0E}" destId="{35A3B44F-631F-4394-9BF3-63CF70837483}" srcOrd="10" destOrd="0" presId="urn:microsoft.com/office/officeart/2005/8/layout/list1"/>
    <dgm:cxn modelId="{B1DFF97F-3D3C-4E97-AE00-209CB75D3DF9}" type="presParOf" srcId="{EBED5576-1477-46FC-9A8A-3DFC4D91BA0E}" destId="{8B4CF817-3A05-42D9-BB26-1B2E3134DBE0}" srcOrd="11" destOrd="0" presId="urn:microsoft.com/office/officeart/2005/8/layout/list1"/>
    <dgm:cxn modelId="{0AA7622A-0C97-4DEF-A686-8A0C764DB0B6}" type="presParOf" srcId="{EBED5576-1477-46FC-9A8A-3DFC4D91BA0E}" destId="{CD8C9C60-6395-4B91-A148-122FE4780E65}" srcOrd="12" destOrd="0" presId="urn:microsoft.com/office/officeart/2005/8/layout/list1"/>
    <dgm:cxn modelId="{9D10A435-206F-473C-9215-E50A20315299}" type="presParOf" srcId="{CD8C9C60-6395-4B91-A148-122FE4780E65}" destId="{1B471265-F1FE-493B-B790-2BD84EC3A51C}" srcOrd="0" destOrd="0" presId="urn:microsoft.com/office/officeart/2005/8/layout/list1"/>
    <dgm:cxn modelId="{C26C2836-A370-4443-A954-D6B35D866480}" type="presParOf" srcId="{CD8C9C60-6395-4B91-A148-122FE4780E65}" destId="{3AA40FB3-0323-4C98-851C-7802038EC7DA}" srcOrd="1" destOrd="0" presId="urn:microsoft.com/office/officeart/2005/8/layout/list1"/>
    <dgm:cxn modelId="{359222EA-10D1-4471-BFB4-BDAFB280631E}" type="presParOf" srcId="{EBED5576-1477-46FC-9A8A-3DFC4D91BA0E}" destId="{C006B2E6-7A32-4337-96A2-0DC227A00910}" srcOrd="13" destOrd="0" presId="urn:microsoft.com/office/officeart/2005/8/layout/list1"/>
    <dgm:cxn modelId="{A6824B4F-ACA8-4BCC-984F-C5A068AD54B6}" type="presParOf" srcId="{EBED5576-1477-46FC-9A8A-3DFC4D91BA0E}" destId="{B8432E99-7B2F-443C-8143-FD5746C68D6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2A9F0E-2DE6-41DC-930D-7DAE509543C2}">
      <dsp:nvSpPr>
        <dsp:cNvPr id="0" name=""/>
        <dsp:cNvSpPr/>
      </dsp:nvSpPr>
      <dsp:spPr>
        <a:xfrm>
          <a:off x="328658" y="2874"/>
          <a:ext cx="4402328" cy="2212837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>
              <a:latin typeface="+mj-lt"/>
            </a:rPr>
            <a:t>Recommendation 2: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>
              <a:latin typeface="+mj-lt"/>
            </a:rPr>
            <a:t>Wherever feasible, the optimal dosing frequency for new patients with pulmonary TB is daily throughout the course of therapy.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>
              <a:latin typeface="+mj-lt"/>
            </a:rPr>
            <a:t>(strong recommendation, high certainty of evidence)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0" kern="1200">
            <a:latin typeface="+mj-lt"/>
          </a:endParaRPr>
        </a:p>
      </dsp:txBody>
      <dsp:txXfrm>
        <a:off x="328658" y="2874"/>
        <a:ext cx="4402328" cy="2212837"/>
      </dsp:txXfrm>
    </dsp:sp>
    <dsp:sp modelId="{50184FE2-9EA6-4E8B-9BC8-DCEEB5C87BB8}">
      <dsp:nvSpPr>
        <dsp:cNvPr id="0" name=""/>
        <dsp:cNvSpPr/>
      </dsp:nvSpPr>
      <dsp:spPr>
        <a:xfrm>
          <a:off x="5099793" y="2874"/>
          <a:ext cx="4457871" cy="2212837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>
              <a:latin typeface="+mj-lt"/>
            </a:rPr>
            <a:t>Recommendation 3: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>
              <a:latin typeface="+mj-lt"/>
              <a:ea typeface="+mn-ea"/>
              <a:cs typeface="+mn-cs"/>
            </a:rPr>
            <a:t>In all patients with DS PTB, the use of 3x dosing is not recommended in both the intensive and continuation phases of therapy, and daily dosing remains the recommended dosing frequency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>
              <a:latin typeface="+mj-lt"/>
            </a:rPr>
            <a:t>(conditional recommendation, very low certainty of evidence).</a:t>
          </a:r>
        </a:p>
      </dsp:txBody>
      <dsp:txXfrm>
        <a:off x="5099793" y="2874"/>
        <a:ext cx="4457871" cy="2212837"/>
      </dsp:txXfrm>
    </dsp:sp>
    <dsp:sp modelId="{DF2F4A3A-9F8A-4F0B-9564-353D708F50FB}">
      <dsp:nvSpPr>
        <dsp:cNvPr id="0" name=""/>
        <dsp:cNvSpPr/>
      </dsp:nvSpPr>
      <dsp:spPr>
        <a:xfrm>
          <a:off x="309996" y="2424109"/>
          <a:ext cx="4485273" cy="2212837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>
              <a:latin typeface="+mj-lt"/>
            </a:rPr>
            <a:t>Recommendation 4: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>
              <a:latin typeface="+mj-lt"/>
              <a:ea typeface="+mn-ea"/>
              <a:cs typeface="+mn-cs"/>
            </a:rPr>
            <a:t>The use of fix-dose combination (FDC)  is recommended over separate drug formulations in treatment of patients with DS-TB.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>
              <a:latin typeface="+mj-lt"/>
            </a:rPr>
            <a:t>(conditional recommendation,  low certainty of evidence)</a:t>
          </a:r>
        </a:p>
      </dsp:txBody>
      <dsp:txXfrm>
        <a:off x="309996" y="2424109"/>
        <a:ext cx="4485273" cy="2212837"/>
      </dsp:txXfrm>
    </dsp:sp>
    <dsp:sp modelId="{F9BABCAF-89F3-4279-85E6-08182831D623}">
      <dsp:nvSpPr>
        <dsp:cNvPr id="0" name=""/>
        <dsp:cNvSpPr/>
      </dsp:nvSpPr>
      <dsp:spPr>
        <a:xfrm>
          <a:off x="5082680" y="2434996"/>
          <a:ext cx="4466169" cy="2212837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>
              <a:latin typeface="+mj-lt"/>
            </a:rPr>
            <a:t>Recommendation 5: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>
              <a:latin typeface="+mj-lt"/>
            </a:rPr>
            <a:t>In new PTB patients treated with the regimen containing rifampicin throughout treatment, if a positive sputum smear is found at completion of the intensive phase, the extension of the intensive phase is not recommended 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>
              <a:latin typeface="+mj-lt"/>
            </a:rPr>
            <a:t>(strong recommendation, high certainty of evidence)</a:t>
          </a:r>
        </a:p>
      </dsp:txBody>
      <dsp:txXfrm>
        <a:off x="5082680" y="2434996"/>
        <a:ext cx="4466169" cy="22128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E2A24C-9130-437A-A1AB-1E071E5E83D6}">
      <dsp:nvSpPr>
        <dsp:cNvPr id="0" name=""/>
        <dsp:cNvSpPr/>
      </dsp:nvSpPr>
      <dsp:spPr>
        <a:xfrm>
          <a:off x="8965" y="643108"/>
          <a:ext cx="2679828" cy="348272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>
              <a:solidFill>
                <a:schemeClr val="bg1"/>
              </a:solidFill>
            </a:rPr>
            <a:t>2</a:t>
          </a:r>
          <a:r>
            <a:rPr lang="en-US" sz="2800" b="0" kern="1200" baseline="0">
              <a:solidFill>
                <a:schemeClr val="bg1"/>
              </a:solidFill>
            </a:rPr>
            <a:t>HRZE/4HR</a:t>
          </a:r>
          <a:endParaRPr lang="en-US" sz="2800" b="0" kern="1200" dirty="0">
            <a:solidFill>
              <a:schemeClr val="bg1"/>
            </a:solidFill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/>
            <a:t>Considered safe for pregnant woman;</a:t>
          </a:r>
          <a:r>
            <a:rPr lang="en-US" sz="1600" kern="1200">
              <a:latin typeface="Arial"/>
            </a:rPr>
            <a:t> </a:t>
          </a:r>
          <a:endParaRPr lang="en-US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/>
            <a:t>Can be used in all age groups;</a:t>
          </a:r>
          <a:r>
            <a:rPr lang="en-US" sz="1600" kern="1200">
              <a:latin typeface="Arial"/>
            </a:rPr>
            <a:t> </a:t>
          </a:r>
          <a:endParaRPr lang="en-US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Can be used regardless of HIV status or disease severity</a:t>
          </a:r>
          <a:r>
            <a:rPr lang="en-US" sz="1600" kern="1200" dirty="0">
              <a:latin typeface="Arial"/>
            </a:rPr>
            <a:t>.</a:t>
          </a:r>
          <a:r>
            <a:rPr lang="en-GB" sz="1600" kern="1200" dirty="0"/>
            <a:t> </a:t>
          </a:r>
        </a:p>
      </dsp:txBody>
      <dsp:txXfrm>
        <a:off x="87454" y="721597"/>
        <a:ext cx="2522850" cy="3325751"/>
      </dsp:txXfrm>
    </dsp:sp>
    <dsp:sp modelId="{AAC75F2E-2C59-43A0-B4D6-45A2BA0A925E}">
      <dsp:nvSpPr>
        <dsp:cNvPr id="0" name=""/>
        <dsp:cNvSpPr/>
      </dsp:nvSpPr>
      <dsp:spPr>
        <a:xfrm rot="21596176">
          <a:off x="2748771" y="1994457"/>
          <a:ext cx="680343" cy="66459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748771" y="2127487"/>
        <a:ext cx="480964" cy="398759"/>
      </dsp:txXfrm>
    </dsp:sp>
    <dsp:sp modelId="{EBCC5A6C-2FA3-4193-BFFC-4D5E5330D6B3}">
      <dsp:nvSpPr>
        <dsp:cNvPr id="0" name=""/>
        <dsp:cNvSpPr/>
      </dsp:nvSpPr>
      <dsp:spPr>
        <a:xfrm>
          <a:off x="3515637" y="639207"/>
          <a:ext cx="2679828" cy="3482729"/>
        </a:xfrm>
        <a:prstGeom prst="roundRect">
          <a:avLst>
            <a:gd name="adj" fmla="val 10000"/>
          </a:avLst>
        </a:prstGeom>
        <a:solidFill>
          <a:srgbClr val="C9DDF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>
              <a:solidFill>
                <a:schemeClr val="tx2"/>
              </a:solidFill>
            </a:rPr>
            <a:t>2HPMZ/2HPM</a:t>
          </a:r>
          <a:endParaRPr lang="en-US" sz="2800" b="0" kern="1200" dirty="0">
            <a:solidFill>
              <a:schemeClr val="tx2"/>
            </a:solidFill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Applicable for ages 12 years old and above</a:t>
          </a:r>
          <a:endParaRPr lang="en-US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Without  severe extrapulmonary TB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Can be used with PLHIV</a:t>
          </a:r>
          <a:r>
            <a:rPr lang="en-US" sz="1600" kern="1200" dirty="0">
              <a:latin typeface="Arial"/>
            </a:rPr>
            <a:t> </a:t>
          </a:r>
          <a:r>
            <a:rPr lang="en-US" sz="1600" kern="1200" dirty="0"/>
            <a:t> with a CD4 count &gt; 100 cells/mm3;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pregnant, breastfeeding and postpartum women cannot benefit from this regimen</a:t>
          </a:r>
        </a:p>
      </dsp:txBody>
      <dsp:txXfrm>
        <a:off x="3594126" y="717696"/>
        <a:ext cx="2522850" cy="3325751"/>
      </dsp:txXfrm>
    </dsp:sp>
    <dsp:sp modelId="{5A34BDE9-E6AC-401A-AB7C-928912063DD6}">
      <dsp:nvSpPr>
        <dsp:cNvPr id="0" name=""/>
        <dsp:cNvSpPr/>
      </dsp:nvSpPr>
      <dsp:spPr>
        <a:xfrm>
          <a:off x="6335512" y="1994129"/>
          <a:ext cx="667982" cy="664597"/>
        </a:xfrm>
        <a:prstGeom prst="ellipse">
          <a:avLst/>
        </a:prstGeom>
        <a:solidFill>
          <a:srgbClr val="80A6D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335512" y="2127048"/>
        <a:ext cx="468603" cy="398759"/>
      </dsp:txXfrm>
    </dsp:sp>
    <dsp:sp modelId="{79C9FF33-7248-432D-8ACE-154EC3D4E835}">
      <dsp:nvSpPr>
        <dsp:cNvPr id="0" name=""/>
        <dsp:cNvSpPr/>
      </dsp:nvSpPr>
      <dsp:spPr>
        <a:xfrm>
          <a:off x="7124437" y="639207"/>
          <a:ext cx="2679828" cy="3482729"/>
        </a:xfrm>
        <a:prstGeom prst="roundRect">
          <a:avLst>
            <a:gd name="adj" fmla="val 10000"/>
          </a:avLst>
        </a:prstGeom>
        <a:solidFill>
          <a:srgbClr val="80A6D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>
              <a:solidFill>
                <a:schemeClr val="tx2"/>
              </a:solidFill>
            </a:rPr>
            <a:t>2HRZ(E)/2HR</a:t>
          </a:r>
          <a:endParaRPr lang="en-US" sz="2800" b="0" kern="1200" dirty="0">
            <a:solidFill>
              <a:schemeClr val="tx2"/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bg1"/>
              </a:solidFill>
            </a:rPr>
            <a:t>For children and adolescents between 3 months and 16 years of age</a:t>
          </a:r>
          <a:endParaRPr lang="en-US" sz="1600" kern="1200" dirty="0">
            <a:solidFill>
              <a:schemeClr val="bg1"/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bg1"/>
              </a:solidFill>
            </a:rPr>
            <a:t>with non-severe TB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bg1"/>
              </a:solidFill>
            </a:rPr>
            <a:t>without suspicion or evidence of MDR/RR-TB</a:t>
          </a:r>
        </a:p>
      </dsp:txBody>
      <dsp:txXfrm>
        <a:off x="7202926" y="717696"/>
        <a:ext cx="2522850" cy="33257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2D18CF-CFB9-4C67-9AA5-6B8F886C91DC}">
      <dsp:nvSpPr>
        <dsp:cNvPr id="0" name=""/>
        <dsp:cNvSpPr/>
      </dsp:nvSpPr>
      <dsp:spPr>
        <a:xfrm>
          <a:off x="0" y="0"/>
          <a:ext cx="11642275" cy="1147382"/>
        </a:xfrm>
        <a:prstGeom prst="round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4-month regimen: </a:t>
          </a:r>
          <a:r>
            <a:rPr lang="en-US" sz="2800" kern="1200"/>
            <a:t>2 H-P-M-Z / 2 H-P-M </a:t>
          </a:r>
        </a:p>
      </dsp:txBody>
      <dsp:txXfrm>
        <a:off x="56011" y="56011"/>
        <a:ext cx="11530253" cy="1035360"/>
      </dsp:txXfrm>
    </dsp:sp>
    <dsp:sp modelId="{8ACDC1C5-46DD-4901-9163-2A2D167EF0FB}">
      <dsp:nvSpPr>
        <dsp:cNvPr id="0" name=""/>
        <dsp:cNvSpPr/>
      </dsp:nvSpPr>
      <dsp:spPr>
        <a:xfrm>
          <a:off x="0" y="1152396"/>
          <a:ext cx="11642275" cy="3607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9642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15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1" kern="1200">
              <a:solidFill>
                <a:srgbClr val="265A9A"/>
              </a:solidFill>
            </a:rPr>
            <a:t>Initial phase: </a:t>
          </a:r>
          <a:r>
            <a:rPr lang="en-US" sz="2400" kern="1200"/>
            <a:t>2 H-P-M-Z</a:t>
          </a:r>
          <a:endParaRPr lang="en-US" sz="2400" b="1" kern="1200">
            <a:solidFill>
              <a:srgbClr val="265A9A"/>
            </a:solidFill>
          </a:endParaRPr>
        </a:p>
        <a:p>
          <a:pPr marL="228600" lvl="1" indent="-228600" algn="l" defTabSz="889000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ü"/>
          </a:pPr>
          <a:r>
            <a:rPr lang="en-US" sz="2000" kern="1200"/>
            <a:t>Initial phase comprises of 2 months of daily isoniazid, rifapentine, moxifloxacin &amp; pyrazinamide.</a:t>
          </a:r>
          <a:endParaRPr lang="en-US" sz="2000" i="1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+mn-ea"/>
            <a:cs typeface="+mn-cs"/>
          </a:endParaRPr>
        </a:p>
        <a:p>
          <a:pPr marL="228600" lvl="1" indent="-228600" algn="l" defTabSz="889000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2000" b="0" u="sng" kern="1200">
              <a:solidFill>
                <a:schemeClr val="tx1"/>
              </a:solidFill>
            </a:rPr>
            <a:t>Daily dosing</a:t>
          </a:r>
          <a:r>
            <a:rPr lang="en-US" sz="2000" b="0" u="none" kern="1200">
              <a:solidFill>
                <a:schemeClr val="tx1"/>
              </a:solidFill>
            </a:rPr>
            <a:t> (7 days per week) is suggested; treatment supporters and video-supported treatment (VST) are means to enhance medication adherence and administration</a:t>
          </a:r>
          <a:r>
            <a:rPr lang="en-US" sz="2000" b="0" i="1" u="none" kern="1200">
              <a:solidFill>
                <a:schemeClr val="tx1"/>
              </a:solidFill>
              <a:latin typeface="Arial"/>
              <a:ea typeface="+mn-ea"/>
              <a:cs typeface="+mn-cs"/>
            </a:rPr>
            <a:t>.</a:t>
          </a:r>
          <a:endParaRPr lang="en-US" sz="2000" i="1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+mn-ea"/>
            <a:cs typeface="+mn-cs"/>
          </a:endParaRPr>
        </a:p>
        <a:p>
          <a:pPr marL="228600" lvl="1" indent="-228600" algn="l" defTabSz="1066800">
            <a:lnSpc>
              <a:spcPct val="15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1" kern="1200">
              <a:solidFill>
                <a:srgbClr val="265A9A"/>
              </a:solidFill>
            </a:rPr>
            <a:t>Continuation phase: </a:t>
          </a:r>
          <a:r>
            <a:rPr lang="en-US" sz="2400" kern="1200"/>
            <a:t>2 H-P-M</a:t>
          </a:r>
          <a:endParaRPr lang="en-US" sz="2400" b="1" kern="1200" dirty="0">
            <a:solidFill>
              <a:srgbClr val="265A9A"/>
            </a:solidFill>
          </a:endParaRPr>
        </a:p>
        <a:p>
          <a:pPr marL="228600" lvl="1" indent="-228600" algn="l" defTabSz="889000">
            <a:lnSpc>
              <a:spcPct val="15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Continuation phase involves 2 months of daily isoniazid, rifapentine and moxifloxacin.</a:t>
          </a:r>
          <a:endParaRPr lang="en-US" sz="2000" i="1" kern="1200"/>
        </a:p>
        <a:p>
          <a:pPr marL="228600" lvl="1" indent="-228600" algn="l" defTabSz="889000">
            <a:lnSpc>
              <a:spcPct val="15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u="sng" kern="1200">
              <a:solidFill>
                <a:schemeClr val="tx1"/>
              </a:solidFill>
            </a:rPr>
            <a:t>Duration</a:t>
          </a:r>
          <a:r>
            <a:rPr lang="en-US" sz="2000" kern="1200">
              <a:solidFill>
                <a:schemeClr val="tx1"/>
              </a:solidFill>
            </a:rPr>
            <a:t> is fixed at 4 month; </a:t>
          </a:r>
          <a:r>
            <a:rPr lang="en-US" sz="2000" b="0" kern="1200">
              <a:solidFill>
                <a:schemeClr val="tx1"/>
              </a:solidFill>
            </a:rPr>
            <a:t>prolonging beyond 4 months is not recommended</a:t>
          </a:r>
          <a:r>
            <a:rPr lang="en-US" sz="2000" kern="1200"/>
            <a:t> </a:t>
          </a:r>
          <a:endParaRPr lang="en-US" sz="2000" i="1" kern="1200"/>
        </a:p>
      </dsp:txBody>
      <dsp:txXfrm>
        <a:off x="0" y="1152396"/>
        <a:ext cx="11642275" cy="36070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2D18CF-CFB9-4C67-9AA5-6B8F886C91DC}">
      <dsp:nvSpPr>
        <dsp:cNvPr id="0" name=""/>
        <dsp:cNvSpPr/>
      </dsp:nvSpPr>
      <dsp:spPr>
        <a:xfrm>
          <a:off x="0" y="15746"/>
          <a:ext cx="10746299" cy="965457"/>
        </a:xfrm>
        <a:prstGeom prst="round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Adults and children aged 12 years or older with a body weight of more than 40 kg with pulmonary DS-TB are eligible for this regimen</a:t>
          </a:r>
          <a:r>
            <a:rPr lang="en-US" sz="2000" kern="1200"/>
            <a:t>.</a:t>
          </a:r>
        </a:p>
      </dsp:txBody>
      <dsp:txXfrm>
        <a:off x="47130" y="62876"/>
        <a:ext cx="10652039" cy="871197"/>
      </dsp:txXfrm>
    </dsp:sp>
    <dsp:sp modelId="{8ACDC1C5-46DD-4901-9163-2A2D167EF0FB}">
      <dsp:nvSpPr>
        <dsp:cNvPr id="0" name=""/>
        <dsp:cNvSpPr/>
      </dsp:nvSpPr>
      <dsp:spPr>
        <a:xfrm>
          <a:off x="0" y="1268248"/>
          <a:ext cx="10746299" cy="3267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1195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/>
            <a:t>Except the following</a:t>
          </a:r>
          <a:r>
            <a:rPr lang="en-US" sz="1800" kern="1200"/>
            <a:t>:</a:t>
          </a:r>
          <a:endParaRPr lang="en-US" sz="1800" b="1" kern="1200">
            <a:solidFill>
              <a:srgbClr val="265A9A"/>
            </a:solidFill>
          </a:endParaRPr>
        </a:p>
        <a:p>
          <a:pPr marL="342900" lvl="2" indent="-171450" algn="l" defTabSz="800100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ü"/>
          </a:pPr>
          <a:r>
            <a:rPr lang="en-US" sz="1800" kern="1200"/>
            <a:t>patients weighing less than 40 kg; </a:t>
          </a:r>
        </a:p>
        <a:p>
          <a:pPr marL="342900" lvl="2" indent="-171450" algn="l" defTabSz="800100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ü"/>
          </a:pPr>
          <a:r>
            <a:rPr lang="en-US" sz="1800" kern="1200"/>
            <a:t>children and adolescents aged under 12 years; </a:t>
          </a:r>
        </a:p>
        <a:p>
          <a:pPr marL="342900" lvl="2" indent="-171450" algn="l" defTabSz="800100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ü"/>
          </a:pPr>
          <a:r>
            <a:rPr lang="en-US" sz="1800" kern="1200"/>
            <a:t>patients with severe extrapulmonary TB (e.g. tuberculous meningitis, disseminated TB, osteoarticular TB or abdominal TB);</a:t>
          </a:r>
        </a:p>
        <a:p>
          <a:pPr marL="342900" lvl="2" indent="-171450" algn="l" defTabSz="800100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ü"/>
          </a:pPr>
          <a:r>
            <a:rPr lang="en-US" sz="1800" kern="1200"/>
            <a:t>people with HIV with a CD4 count of less than 100 cells/mm3; </a:t>
          </a:r>
        </a:p>
        <a:p>
          <a:pPr marL="342900" lvl="2" indent="-171450" algn="l" defTabSz="800100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ü"/>
          </a:pPr>
          <a:r>
            <a:rPr lang="en-US" sz="1800" kern="1200"/>
            <a:t>pregnant, breastfeeding and postpartum women</a:t>
          </a:r>
        </a:p>
      </dsp:txBody>
      <dsp:txXfrm>
        <a:off x="0" y="1268248"/>
        <a:ext cx="10746299" cy="326785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2D18CF-CFB9-4C67-9AA5-6B8F886C91DC}">
      <dsp:nvSpPr>
        <dsp:cNvPr id="0" name=""/>
        <dsp:cNvSpPr/>
      </dsp:nvSpPr>
      <dsp:spPr>
        <a:xfrm>
          <a:off x="0" y="0"/>
          <a:ext cx="11642275" cy="1005400"/>
        </a:xfrm>
        <a:prstGeom prst="round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4-month regimen: </a:t>
          </a:r>
          <a:r>
            <a:rPr lang="en-US" sz="2400" kern="1200"/>
            <a:t>2 H-R-Z- (E) / 2 H-R </a:t>
          </a:r>
        </a:p>
      </dsp:txBody>
      <dsp:txXfrm>
        <a:off x="49080" y="49080"/>
        <a:ext cx="11544115" cy="907240"/>
      </dsp:txXfrm>
    </dsp:sp>
    <dsp:sp modelId="{8ACDC1C5-46DD-4901-9163-2A2D167EF0FB}">
      <dsp:nvSpPr>
        <dsp:cNvPr id="0" name=""/>
        <dsp:cNvSpPr/>
      </dsp:nvSpPr>
      <dsp:spPr>
        <a:xfrm>
          <a:off x="0" y="1007110"/>
          <a:ext cx="11642275" cy="3368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9642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150000"/>
            </a:lnSpc>
            <a:spcBef>
              <a:spcPct val="0"/>
            </a:spcBef>
            <a:spcAft>
              <a:spcPct val="20000"/>
            </a:spcAft>
            <a:buFontTx/>
            <a:buNone/>
          </a:pPr>
          <a:r>
            <a:rPr lang="en-US" sz="2000" b="1" kern="1200">
              <a:solidFill>
                <a:srgbClr val="265A9A"/>
              </a:solidFill>
            </a:rPr>
            <a:t>Initial phase: </a:t>
          </a:r>
          <a:r>
            <a:rPr lang="en-US" sz="2000" kern="1200"/>
            <a:t>2 H-R-Z- (E)</a:t>
          </a:r>
          <a:endParaRPr lang="en-US" sz="2000" b="1" kern="1200">
            <a:solidFill>
              <a:srgbClr val="265A9A"/>
            </a:solidFill>
          </a:endParaRPr>
        </a:p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ü"/>
          </a:pPr>
          <a:r>
            <a:rPr lang="en-US" sz="1800" kern="1200"/>
            <a:t>Initial phase comprises of 2 months of daily isoniazid, rifampicin and pyrazinamide, with or without ethambutol.</a:t>
          </a:r>
          <a:endParaRPr lang="en-US" sz="1800" i="1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+mn-ea"/>
            <a:cs typeface="+mn-cs"/>
          </a:endParaRPr>
        </a:p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1800" b="0" u="sng" kern="1200">
              <a:solidFill>
                <a:schemeClr val="tx1"/>
              </a:solidFill>
            </a:rPr>
            <a:t>Daily dosing</a:t>
          </a:r>
          <a:r>
            <a:rPr lang="en-US" sz="1800" b="0" u="none" kern="1200">
              <a:solidFill>
                <a:schemeClr val="tx1"/>
              </a:solidFill>
            </a:rPr>
            <a:t> (7 days per week) is suggested; treatment supporters or VST can improve adherence</a:t>
          </a:r>
          <a:r>
            <a:rPr lang="en-US" sz="1800" b="0" i="1" u="none" kern="1200">
              <a:solidFill>
                <a:schemeClr val="tx1"/>
              </a:solidFill>
              <a:latin typeface="Arial"/>
              <a:ea typeface="+mn-ea"/>
              <a:cs typeface="+mn-cs"/>
            </a:rPr>
            <a:t>.</a:t>
          </a:r>
          <a:endParaRPr lang="en-US" sz="1800" i="1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+mn-ea"/>
            <a:cs typeface="+mn-cs"/>
          </a:endParaRPr>
        </a:p>
        <a:p>
          <a:pPr marL="228600" lvl="1" indent="-228600" algn="l" defTabSz="889000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n-US" sz="2000" b="1" kern="1200">
              <a:solidFill>
                <a:srgbClr val="265A9A"/>
              </a:solidFill>
            </a:rPr>
            <a:t>Continuation phase: </a:t>
          </a:r>
          <a:r>
            <a:rPr lang="en-US" sz="2000" kern="1200"/>
            <a:t>2 H-R</a:t>
          </a:r>
          <a:endParaRPr lang="en-US" sz="1800" i="1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+mn-ea"/>
            <a:cs typeface="+mn-cs"/>
          </a:endParaRPr>
        </a:p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Continuation phase includes 2 months of daily isoniazid and rifampicin.</a:t>
          </a:r>
          <a:endParaRPr lang="en-US" sz="1800" i="1" kern="1200"/>
        </a:p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u="sng" kern="1200">
              <a:solidFill>
                <a:schemeClr val="tx1"/>
              </a:solidFill>
            </a:rPr>
            <a:t>Treatment should be</a:t>
          </a:r>
          <a:r>
            <a:rPr lang="en-US" sz="1800" u="none" kern="1200">
              <a:solidFill>
                <a:schemeClr val="tx1"/>
              </a:solidFill>
            </a:rPr>
            <a:t> </a:t>
          </a:r>
          <a:r>
            <a:rPr lang="en-US" sz="1800" kern="1200"/>
            <a:t>continued for 6 months amongst those who have not responded clinically (i.e. haven’t demonstrated weight gain or resolution of TB symptoms). </a:t>
          </a:r>
          <a:endParaRPr lang="en-US" sz="1800" i="1" kern="1200"/>
        </a:p>
      </dsp:txBody>
      <dsp:txXfrm>
        <a:off x="0" y="1007110"/>
        <a:ext cx="11642275" cy="336843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93D57D-AB2A-407E-8398-926D93A2ACCA}">
      <dsp:nvSpPr>
        <dsp:cNvPr id="0" name=""/>
        <dsp:cNvSpPr/>
      </dsp:nvSpPr>
      <dsp:spPr>
        <a:xfrm>
          <a:off x="0" y="1241426"/>
          <a:ext cx="11642275" cy="27719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CE501D-4370-42C1-BBFB-F59B2BFBE034}">
      <dsp:nvSpPr>
        <dsp:cNvPr id="0" name=""/>
        <dsp:cNvSpPr/>
      </dsp:nvSpPr>
      <dsp:spPr>
        <a:xfrm>
          <a:off x="582113" y="1079066"/>
          <a:ext cx="8149592" cy="324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8035" tIns="0" rIns="308035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100" b="1" kern="1200"/>
            <a:t>The optimal dosing frequency for DS TB patients is daily throughout the course of therapy</a:t>
          </a:r>
        </a:p>
      </dsp:txBody>
      <dsp:txXfrm>
        <a:off x="597965" y="1094918"/>
        <a:ext cx="8117888" cy="293016"/>
      </dsp:txXfrm>
    </dsp:sp>
    <dsp:sp modelId="{B5FF99A6-4D46-4BA6-A714-649695F7B526}">
      <dsp:nvSpPr>
        <dsp:cNvPr id="0" name=""/>
        <dsp:cNvSpPr/>
      </dsp:nvSpPr>
      <dsp:spPr>
        <a:xfrm>
          <a:off x="0" y="1740386"/>
          <a:ext cx="11642275" cy="27719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C0CEE4-FE58-47F4-8F8C-DD5EE35519E7}">
      <dsp:nvSpPr>
        <dsp:cNvPr id="0" name=""/>
        <dsp:cNvSpPr/>
      </dsp:nvSpPr>
      <dsp:spPr>
        <a:xfrm>
          <a:off x="582113" y="1578026"/>
          <a:ext cx="8149592" cy="324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8035" tIns="0" rIns="308035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100" b="1" kern="1200"/>
            <a:t>Daily administration </a:t>
          </a:r>
          <a:r>
            <a:rPr lang="en-US" sz="1100" b="0" kern="1200"/>
            <a:t>reduces the rate of acquired drug-resistance by up to 3 times when compared with intermittent dosage  </a:t>
          </a:r>
        </a:p>
      </dsp:txBody>
      <dsp:txXfrm>
        <a:off x="597965" y="1593878"/>
        <a:ext cx="8117888" cy="293016"/>
      </dsp:txXfrm>
    </dsp:sp>
    <dsp:sp modelId="{35A3B44F-631F-4394-9BF3-63CF70837483}">
      <dsp:nvSpPr>
        <dsp:cNvPr id="0" name=""/>
        <dsp:cNvSpPr/>
      </dsp:nvSpPr>
      <dsp:spPr>
        <a:xfrm>
          <a:off x="0" y="2239346"/>
          <a:ext cx="11642275" cy="27719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392F9F-46D0-452D-BD35-14DB3694E2D2}">
      <dsp:nvSpPr>
        <dsp:cNvPr id="0" name=""/>
        <dsp:cNvSpPr/>
      </dsp:nvSpPr>
      <dsp:spPr>
        <a:xfrm>
          <a:off x="548263" y="2090802"/>
          <a:ext cx="8149592" cy="324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8035" tIns="0" rIns="308035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100" b="1" kern="1200"/>
            <a:t>Daily dosing </a:t>
          </a:r>
          <a:r>
            <a:rPr lang="en-US" sz="1100" b="0" kern="1200"/>
            <a:t>remains the recommended dosing frequency for both HIV-negative people and people living with HIV </a:t>
          </a:r>
          <a:endParaRPr lang="en-US" sz="1100" kern="1200"/>
        </a:p>
      </dsp:txBody>
      <dsp:txXfrm>
        <a:off x="564115" y="2106654"/>
        <a:ext cx="8117888" cy="293016"/>
      </dsp:txXfrm>
    </dsp:sp>
    <dsp:sp modelId="{B8432E99-7B2F-443C-8143-FD5746C68D68}">
      <dsp:nvSpPr>
        <dsp:cNvPr id="0" name=""/>
        <dsp:cNvSpPr/>
      </dsp:nvSpPr>
      <dsp:spPr>
        <a:xfrm>
          <a:off x="0" y="2738306"/>
          <a:ext cx="11642275" cy="27719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A40FB3-0323-4C98-851C-7802038EC7DA}">
      <dsp:nvSpPr>
        <dsp:cNvPr id="0" name=""/>
        <dsp:cNvSpPr/>
      </dsp:nvSpPr>
      <dsp:spPr>
        <a:xfrm>
          <a:off x="582113" y="2575945"/>
          <a:ext cx="8149592" cy="324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8035" tIns="0" rIns="308035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The term </a:t>
          </a:r>
          <a:r>
            <a:rPr lang="en-US" sz="1100" b="1" kern="1200"/>
            <a:t>‘daily’ </a:t>
          </a:r>
          <a:r>
            <a:rPr lang="en-US" sz="1100" b="0" kern="1200"/>
            <a:t>indicates an intake of TB drugs for 7 days per week </a:t>
          </a:r>
          <a:endParaRPr lang="en-US" sz="1100" kern="1200"/>
        </a:p>
      </dsp:txBody>
      <dsp:txXfrm>
        <a:off x="597965" y="2591797"/>
        <a:ext cx="8117888" cy="2930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31AB58-56EB-1B43-9010-8D653A75D200}" type="datetimeFigureOut">
              <a:rPr lang="en-KE" smtClean="0"/>
              <a:t>28/09/2025</a:t>
            </a:fld>
            <a:endParaRPr lang="en-K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EF4E6F-C3DF-374C-8C3A-4B989F36AD7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153730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DS and DR TB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36% missing cases</a:t>
            </a:r>
            <a:endParaRPr/>
          </a:p>
        </p:txBody>
      </p:sp>
      <p:sp>
        <p:nvSpPr>
          <p:cNvPr id="159" name="Google Shape;15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2A00AB-CD15-433A-A355-4988AFD5172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183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96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644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221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121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293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7982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5226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75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3352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640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8411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277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5062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3076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617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54" name="Google Shape;35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Guidelines: reviewed weekly during the intensive phase and two weekly during the continuation </a:t>
            </a:r>
            <a:endParaRPr/>
          </a:p>
        </p:txBody>
      </p:sp>
      <p:sp>
        <p:nvSpPr>
          <p:cNvPr id="435" name="Google Shape;435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6" name="Google Shape;416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TB 5- patient record card</a:t>
            </a:r>
            <a:endParaRPr/>
          </a:p>
        </p:txBody>
      </p:sp>
      <p:sp>
        <p:nvSpPr>
          <p:cNvPr id="417" name="Google Shape;417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TB4 register</a:t>
            </a:r>
            <a:endParaRPr/>
          </a:p>
        </p:txBody>
      </p:sp>
      <p:sp>
        <p:nvSpPr>
          <p:cNvPr id="426" name="Google Shape;426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3731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2A00AB-CD15-433A-A355-4988AFD5172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13731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3968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ED037-A818-C08B-0BB6-A4FAF4D96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DFFCA-9639-CC70-678E-D59A23DD8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E06A9-6461-DD38-9525-098F7B807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5897-5256-D441-B96F-378971A47ECA}" type="datetimeFigureOut">
              <a:rPr lang="en-KE" smtClean="0"/>
              <a:t>28/09/2025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5B0BF-169E-C436-8616-4B79B7223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68D29-A17B-E76B-F7F1-748C47CC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39D87-F15B-F245-A5C9-84781F8D1E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444851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34F3E-A273-F65B-BBDD-1720D6D7B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D2515-ACA4-A5A2-B6CF-A9EF7797A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B338D-49C9-A65B-6253-B8EDF1843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5897-5256-D441-B96F-378971A47ECA}" type="datetimeFigureOut">
              <a:rPr lang="en-KE" smtClean="0"/>
              <a:t>28/09/2025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A78EC-7B3F-487A-BFDD-71DA6FC22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79615-B58C-58D2-9D08-62488DD3C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39D87-F15B-F245-A5C9-84781F8D1E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260786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B0C04-6715-DF05-2D8B-86F8C5909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102D6-32B3-A934-55B1-F5309B456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B42F8-8465-1CE8-FA65-A25C77DB1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5897-5256-D441-B96F-378971A47ECA}" type="datetimeFigureOut">
              <a:rPr lang="en-KE" smtClean="0"/>
              <a:t>28/09/2025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E2BC5-0BDC-B4AC-3074-2BDB839F4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697BB-8DE7-747C-C669-A79A60AF5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39D87-F15B-F245-A5C9-84781F8D1E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972117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DE69D-26FA-CB19-3BE9-513E33384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1A059-84DB-0019-4E6F-10E025195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0865AE-528C-84A8-B9E3-1AD80963B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C3424-47F8-3817-64C7-C45F2ECD0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5897-5256-D441-B96F-378971A47ECA}" type="datetimeFigureOut">
              <a:rPr lang="en-KE" smtClean="0"/>
              <a:t>28/09/2025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C5E2F-2E32-B1E5-5053-BBA7E49C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0C2FA-1937-EE1D-3927-123BB46A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39D87-F15B-F245-A5C9-84781F8D1E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620589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2D162-C59A-8B8D-C45C-9594F14E1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DC6D3-1DF9-3D63-65C5-7DBD6645E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A51EB-5501-78E0-DAE4-52C757189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EA8158-072A-8D33-2213-D17AB42991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33F967-497B-B577-0CCE-45B13E4F52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882B93-1187-D76C-979C-268AD2799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5897-5256-D441-B96F-378971A47ECA}" type="datetimeFigureOut">
              <a:rPr lang="en-KE" smtClean="0"/>
              <a:t>28/09/2025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C8702-42DE-AC8D-AF2C-293D6CB2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FF56DC-DDFB-85F3-27BB-58D8134B0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39D87-F15B-F245-A5C9-84781F8D1E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625245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53811-E8E8-6509-AC08-88E1828C6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C7B896-8FD5-4460-FCDB-4E8F1C42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5897-5256-D441-B96F-378971A47ECA}" type="datetimeFigureOut">
              <a:rPr lang="en-KE" smtClean="0"/>
              <a:t>28/09/2025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17EC15-2466-3F40-D1D4-6138B764F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3AFC02-20B6-C073-8ADB-92208F4D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39D87-F15B-F245-A5C9-84781F8D1E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357115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4D44D1-0E16-1987-1E05-ECF00166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5897-5256-D441-B96F-378971A47ECA}" type="datetimeFigureOut">
              <a:rPr lang="en-KE" smtClean="0"/>
              <a:t>28/09/2025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92EDA4-500C-982B-E589-11C9DD806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FA8D9-10CC-808C-E9DA-6501BD599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39D87-F15B-F245-A5C9-84781F8D1E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197305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7683D-8281-F139-0522-ECEA6EA2A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35F9C-CA21-8D9E-8A92-FECFCC92F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76C74-B237-159A-1A8B-825B548D6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A55F9-2F1F-7C6D-17CA-6EC34024A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5897-5256-D441-B96F-378971A47ECA}" type="datetimeFigureOut">
              <a:rPr lang="en-KE" smtClean="0"/>
              <a:t>28/09/2025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5D16D-D4E5-29F3-B234-562D523EB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2D568-6D7D-07DE-0D75-36D8C966C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39D87-F15B-F245-A5C9-84781F8D1E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99059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D134B-3EA7-EA84-0851-3943F8636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1CB101-0916-2233-2110-2552BA9665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19C19A-86AD-B8E1-1D9D-664D61A4A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7A905-8184-1BF7-6918-EAED67D4A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5897-5256-D441-B96F-378971A47ECA}" type="datetimeFigureOut">
              <a:rPr lang="en-KE" smtClean="0"/>
              <a:t>28/09/2025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4D938-8968-B329-2667-2CC7CDF88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BDFFE-040C-3943-7885-87B72CAD6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39D87-F15B-F245-A5C9-84781F8D1E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94660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E5AA9-4E7B-0E3B-6F4B-0A0581170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47532-7884-DBBE-A278-90D490D8F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A41C8-2B6E-E9BA-237E-D0EE7C7E5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5897-5256-D441-B96F-378971A47ECA}" type="datetimeFigureOut">
              <a:rPr lang="en-KE" smtClean="0"/>
              <a:t>28/09/2025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89B62-9E98-4C60-090F-6BAE49E93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570EF-42E4-57AC-ADE6-B0B38E510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39D87-F15B-F245-A5C9-84781F8D1E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69997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A4A0B8-04A8-770F-256D-B41CD2ABFC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6F6A35-397A-D1CB-4B5A-270B9328F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69E00-9107-483E-957A-8722E2EBD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5897-5256-D441-B96F-378971A47ECA}" type="datetimeFigureOut">
              <a:rPr lang="en-KE" smtClean="0"/>
              <a:t>28/09/2025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8B181-839B-06FA-EEAB-EFE3BA849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C5ED4-9715-A025-C36C-609972611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39D87-F15B-F245-A5C9-84781F8D1E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632022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orma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62;p5">
            <a:extLst>
              <a:ext uri="{FF2B5EF4-FFF2-40B4-BE49-F238E27FC236}">
                <a16:creationId xmlns:a16="http://schemas.microsoft.com/office/drawing/2014/main" id="{C440A045-121A-4D5C-BE3C-2BBDE106FAD8}"/>
              </a:ext>
            </a:extLst>
          </p:cNvPr>
          <p:cNvGrpSpPr/>
          <p:nvPr userDrawn="1"/>
        </p:nvGrpSpPr>
        <p:grpSpPr>
          <a:xfrm>
            <a:off x="0" y="-7354"/>
            <a:ext cx="9696400" cy="795572"/>
            <a:chOff x="-4" y="39"/>
            <a:chExt cx="7072430" cy="1152718"/>
          </a:xfrm>
          <a:solidFill>
            <a:srgbClr val="0093D5"/>
          </a:solidFill>
        </p:grpSpPr>
        <p:sp>
          <p:nvSpPr>
            <p:cNvPr id="16" name="Google Shape;63;p5">
              <a:extLst>
                <a:ext uri="{FF2B5EF4-FFF2-40B4-BE49-F238E27FC236}">
                  <a16:creationId xmlns:a16="http://schemas.microsoft.com/office/drawing/2014/main" id="{BEB445F0-58BC-408F-892F-FB1686114DE3}"/>
                </a:ext>
              </a:extLst>
            </p:cNvPr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80A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defRPr/>
              </a:pPr>
              <a:endParaRPr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7" name="Google Shape;64;p5">
              <a:extLst>
                <a:ext uri="{FF2B5EF4-FFF2-40B4-BE49-F238E27FC236}">
                  <a16:creationId xmlns:a16="http://schemas.microsoft.com/office/drawing/2014/main" id="{295E6139-C61A-4236-916C-DCF09E2CAC07}"/>
                </a:ext>
              </a:extLst>
            </p:cNvPr>
            <p:cNvGrpSpPr/>
            <p:nvPr/>
          </p:nvGrpSpPr>
          <p:grpSpPr>
            <a:xfrm rot="10800000" flipH="1">
              <a:off x="3" y="39"/>
              <a:ext cx="6756167" cy="1152718"/>
              <a:chOff x="-2168138" y="553632"/>
              <a:chExt cx="8650662" cy="1475953"/>
            </a:xfrm>
            <a:grpFill/>
          </p:grpSpPr>
          <p:sp>
            <p:nvSpPr>
              <p:cNvPr id="21" name="Google Shape;65;p5">
                <a:extLst>
                  <a:ext uri="{FF2B5EF4-FFF2-40B4-BE49-F238E27FC236}">
                    <a16:creationId xmlns:a16="http://schemas.microsoft.com/office/drawing/2014/main" id="{185D05F4-72BB-4394-8D6D-38D6EE92D3E4}"/>
                  </a:ext>
                </a:extLst>
              </p:cNvPr>
              <p:cNvSpPr/>
              <p:nvPr/>
            </p:nvSpPr>
            <p:spPr>
              <a:xfrm>
                <a:off x="-2168138" y="553639"/>
                <a:ext cx="6958200" cy="1475946"/>
              </a:xfrm>
              <a:prstGeom prst="rect">
                <a:avLst/>
              </a:prstGeom>
              <a:solidFill>
                <a:srgbClr val="C9DD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defRPr/>
                </a:pPr>
                <a:endParaRPr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22" name="Google Shape;66;p5">
                <a:extLst>
                  <a:ext uri="{FF2B5EF4-FFF2-40B4-BE49-F238E27FC236}">
                    <a16:creationId xmlns:a16="http://schemas.microsoft.com/office/drawing/2014/main" id="{3F5AA1A5-71B9-4F26-8544-48657CFAB55C}"/>
                  </a:ext>
                </a:extLst>
              </p:cNvPr>
              <p:cNvSpPr/>
              <p:nvPr/>
            </p:nvSpPr>
            <p:spPr>
              <a:xfrm>
                <a:off x="4783024" y="553632"/>
                <a:ext cx="1699500" cy="1475946"/>
              </a:xfrm>
              <a:prstGeom prst="rtTriangle">
                <a:avLst/>
              </a:prstGeom>
              <a:solidFill>
                <a:srgbClr val="C9DD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defRPr/>
                </a:pPr>
                <a:endParaRPr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8" name="Google Shape;67;p5">
              <a:extLst>
                <a:ext uri="{FF2B5EF4-FFF2-40B4-BE49-F238E27FC236}">
                  <a16:creationId xmlns:a16="http://schemas.microsoft.com/office/drawing/2014/main" id="{5601ABEA-5676-4E14-AF2F-8332F0A12DCA}"/>
                </a:ext>
              </a:extLst>
            </p:cNvPr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  <a:grpFill/>
          </p:grpSpPr>
          <p:sp>
            <p:nvSpPr>
              <p:cNvPr id="19" name="Google Shape;68;p5">
                <a:extLst>
                  <a:ext uri="{FF2B5EF4-FFF2-40B4-BE49-F238E27FC236}">
                    <a16:creationId xmlns:a16="http://schemas.microsoft.com/office/drawing/2014/main" id="{61A830C0-E87F-48FC-9BED-F58FC52A37A0}"/>
                  </a:ext>
                </a:extLst>
              </p:cNvPr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gradFill>
                <a:gsLst>
                  <a:gs pos="0">
                    <a:srgbClr val="738EC5"/>
                  </a:gs>
                  <a:gs pos="50000">
                    <a:srgbClr val="80A6D5"/>
                  </a:gs>
                  <a:gs pos="100000">
                    <a:srgbClr val="8DBEE6"/>
                  </a:gs>
                </a:gsLst>
                <a:lin ang="5400000" scaled="1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defRPr/>
                </a:pPr>
                <a:endParaRPr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20" name="Google Shape;69;p5">
                <a:extLst>
                  <a:ext uri="{FF2B5EF4-FFF2-40B4-BE49-F238E27FC236}">
                    <a16:creationId xmlns:a16="http://schemas.microsoft.com/office/drawing/2014/main" id="{AE0BF170-107B-4D5E-80EA-5EE25E6BE04A}"/>
                  </a:ext>
                </a:extLst>
              </p:cNvPr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gradFill>
                <a:gsLst>
                  <a:gs pos="0">
                    <a:srgbClr val="738EC5"/>
                  </a:gs>
                  <a:gs pos="50000">
                    <a:srgbClr val="80A6D5"/>
                  </a:gs>
                  <a:gs pos="100000">
                    <a:srgbClr val="8DBEE6"/>
                  </a:gs>
                </a:gsLst>
                <a:lin ang="5400000" scaled="1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defRPr/>
                </a:pPr>
                <a:endParaRPr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57F654C7-B6C7-4F17-8FE5-34F3FDE36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4294" y="6442610"/>
            <a:ext cx="7333673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solidFill>
                  <a:srgbClr val="8DBEE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Module 4: Treatment and Care,  Chapter 1: Drug-susceptible tuberculosis treatment</a:t>
            </a:r>
            <a:endParaRPr lang="en-GB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14AB9616-A476-4AA7-A0A0-CA2338F5D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2810" y="6442610"/>
            <a:ext cx="1309214" cy="365125"/>
          </a:xfrm>
          <a:prstGeom prst="rect">
            <a:avLst/>
          </a:prstGeom>
        </p:spPr>
        <p:txBody>
          <a:bodyPr/>
          <a:lstStyle>
            <a:lvl1pPr algn="r">
              <a:defRPr sz="1800" b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92E002D6-D190-45E2-A289-FEFF1EC166F2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2" name="Google Shape;62;p5">
            <a:extLst>
              <a:ext uri="{FF2B5EF4-FFF2-40B4-BE49-F238E27FC236}">
                <a16:creationId xmlns:a16="http://schemas.microsoft.com/office/drawing/2014/main" id="{D36B8A6B-9505-9B68-6844-74DD6BEE3A71}"/>
              </a:ext>
            </a:extLst>
          </p:cNvPr>
          <p:cNvGrpSpPr/>
          <p:nvPr userDrawn="1"/>
        </p:nvGrpSpPr>
        <p:grpSpPr>
          <a:xfrm flipH="1" flipV="1">
            <a:off x="10671148" y="6492874"/>
            <a:ext cx="1520852" cy="365126"/>
            <a:chOff x="-4" y="40"/>
            <a:chExt cx="7072430" cy="1327315"/>
          </a:xfrm>
          <a:solidFill>
            <a:srgbClr val="0093D5"/>
          </a:solidFill>
        </p:grpSpPr>
        <p:sp>
          <p:nvSpPr>
            <p:cNvPr id="3" name="Google Shape;63;p5">
              <a:extLst>
                <a:ext uri="{FF2B5EF4-FFF2-40B4-BE49-F238E27FC236}">
                  <a16:creationId xmlns:a16="http://schemas.microsoft.com/office/drawing/2014/main" id="{DD09EF7C-4C62-F97A-D7FB-814318C1EF02}"/>
                </a:ext>
              </a:extLst>
            </p:cNvPr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80A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defRPr/>
              </a:pPr>
              <a:endParaRPr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4" name="Google Shape;64;p5">
              <a:extLst>
                <a:ext uri="{FF2B5EF4-FFF2-40B4-BE49-F238E27FC236}">
                  <a16:creationId xmlns:a16="http://schemas.microsoft.com/office/drawing/2014/main" id="{9D719A00-47D7-1597-59DA-CE6138BA2CF3}"/>
                </a:ext>
              </a:extLst>
            </p:cNvPr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  <a:grpFill/>
          </p:grpSpPr>
          <p:sp>
            <p:nvSpPr>
              <p:cNvPr id="8" name="Google Shape;65;p5">
                <a:extLst>
                  <a:ext uri="{FF2B5EF4-FFF2-40B4-BE49-F238E27FC236}">
                    <a16:creationId xmlns:a16="http://schemas.microsoft.com/office/drawing/2014/main" id="{BAA90CD7-6535-F72B-C6A9-3C7907E1DEAF}"/>
                  </a:ext>
                </a:extLst>
              </p:cNvPr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9DD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defRPr/>
                </a:pPr>
                <a:endParaRPr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9" name="Google Shape;66;p5">
                <a:extLst>
                  <a:ext uri="{FF2B5EF4-FFF2-40B4-BE49-F238E27FC236}">
                    <a16:creationId xmlns:a16="http://schemas.microsoft.com/office/drawing/2014/main" id="{0DB3EA49-E69B-8316-FE2D-B1755B550B23}"/>
                  </a:ext>
                </a:extLst>
              </p:cNvPr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9DD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defRPr/>
                </a:pPr>
                <a:endParaRPr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5" name="Google Shape;67;p5">
              <a:extLst>
                <a:ext uri="{FF2B5EF4-FFF2-40B4-BE49-F238E27FC236}">
                  <a16:creationId xmlns:a16="http://schemas.microsoft.com/office/drawing/2014/main" id="{CD749D6D-E7C9-D780-37F3-77A9D94D1617}"/>
                </a:ext>
              </a:extLst>
            </p:cNvPr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  <a:grpFill/>
          </p:grpSpPr>
          <p:sp>
            <p:nvSpPr>
              <p:cNvPr id="6" name="Google Shape;68;p5">
                <a:extLst>
                  <a:ext uri="{FF2B5EF4-FFF2-40B4-BE49-F238E27FC236}">
                    <a16:creationId xmlns:a16="http://schemas.microsoft.com/office/drawing/2014/main" id="{66FC76B2-E229-E34B-311B-8CEA31F920DA}"/>
                  </a:ext>
                </a:extLst>
              </p:cNvPr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gradFill>
                <a:gsLst>
                  <a:gs pos="0">
                    <a:srgbClr val="738EC5"/>
                  </a:gs>
                  <a:gs pos="50000">
                    <a:srgbClr val="80A6D5"/>
                  </a:gs>
                  <a:gs pos="100000">
                    <a:srgbClr val="8DBEE6"/>
                  </a:gs>
                </a:gsLst>
                <a:lin ang="5400000" scaled="1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defRPr/>
                </a:pPr>
                <a:endParaRPr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" name="Google Shape;69;p5">
                <a:extLst>
                  <a:ext uri="{FF2B5EF4-FFF2-40B4-BE49-F238E27FC236}">
                    <a16:creationId xmlns:a16="http://schemas.microsoft.com/office/drawing/2014/main" id="{A1CC68E4-91DE-A2BC-8499-44DB63D3AB10}"/>
                  </a:ext>
                </a:extLst>
              </p:cNvPr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gradFill>
                <a:gsLst>
                  <a:gs pos="0">
                    <a:srgbClr val="738EC5"/>
                  </a:gs>
                  <a:gs pos="50000">
                    <a:srgbClr val="80A6D5"/>
                  </a:gs>
                  <a:gs pos="100000">
                    <a:srgbClr val="8DBEE6"/>
                  </a:gs>
                </a:gsLst>
                <a:lin ang="5400000" scaled="1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defRPr/>
                </a:pPr>
                <a:endParaRPr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pic>
        <p:nvPicPr>
          <p:cNvPr id="25" name="Picture 24" descr="A close up of a sign&#10;&#10;Description generated with high confidence">
            <a:extLst>
              <a:ext uri="{FF2B5EF4-FFF2-40B4-BE49-F238E27FC236}">
                <a16:creationId xmlns:a16="http://schemas.microsoft.com/office/drawing/2014/main" id="{6209F9F8-882D-4F04-9946-EE763DF143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2136" y="6163457"/>
            <a:ext cx="659909" cy="6588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041DFC-AF8F-6560-6598-05945F959E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836" y="6370488"/>
            <a:ext cx="1260672" cy="38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38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2802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9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9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1" name="Google Shape;41;p4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867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9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867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3810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2"/>
          <p:cNvSpPr/>
          <p:nvPr/>
        </p:nvSpPr>
        <p:spPr>
          <a:xfrm>
            <a:off x="0" y="5992237"/>
            <a:ext cx="12192000" cy="68095"/>
          </a:xfrm>
          <a:prstGeom prst="rect">
            <a:avLst/>
          </a:prstGeom>
          <a:solidFill>
            <a:srgbClr val="7AB7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82054" y="6044556"/>
            <a:ext cx="780516" cy="780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7164" y="5939918"/>
            <a:ext cx="780516" cy="11036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14100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139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7DC55-7245-15F4-A205-7298D71E9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1FE60-0723-3CBC-A6CD-E6B99DD9A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3306F-6C91-D005-C269-29C04055E1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25897-5256-D441-B96F-378971A47ECA}" type="datetimeFigureOut">
              <a:rPr lang="en-KE" smtClean="0"/>
              <a:t>28/09/2025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EB4ED-541A-809B-8C01-77B634535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FAE80-3B6A-78E1-AA04-B31D269A5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39D87-F15B-F245-A5C9-84781F8D1E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898263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5" Type="http://schemas.openxmlformats.org/officeDocument/2006/relationships/chart" Target="../charts/char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9CB60-7C8E-E9C2-05FB-45045EFA7D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3487"/>
            <a:ext cx="9144000" cy="3176476"/>
          </a:xfrm>
        </p:spPr>
        <p:txBody>
          <a:bodyPr>
            <a:normAutofit fontScale="90000"/>
          </a:bodyPr>
          <a:lstStyle/>
          <a:p>
            <a:r>
              <a:rPr lang="en-KE" b="1" dirty="0"/>
              <a:t>IMPLEMENTATION OF SHORTER TERM REGIMEN FOR DRUG SENSITIVE TB IN CHILDREN:UPDATES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5621B5-11E2-557F-E771-44E01D0767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KE" sz="1800" dirty="0"/>
              <a:t>DR EVERLYNE AGISA KEGODE</a:t>
            </a:r>
          </a:p>
          <a:p>
            <a:r>
              <a:rPr lang="en-KE" sz="1800" dirty="0"/>
              <a:t>CONSULTANT PAEDIATRICIAN AND PULMONOLOGIST</a:t>
            </a:r>
          </a:p>
          <a:p>
            <a:r>
              <a:rPr lang="en-KE" sz="1800" dirty="0"/>
              <a:t>TB AND LUNG HEALTH SYMPOSIUNM </a:t>
            </a:r>
          </a:p>
          <a:p>
            <a:r>
              <a:rPr lang="en-KE" sz="1800" dirty="0"/>
              <a:t>29TH SEP 2025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24499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E88DB-43F7-08AF-6D57-0C129219A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093D3-3F1A-F860-EB68-3CD46A97D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E" dirty="0"/>
              <a:t>INTRODUCTION</a:t>
            </a:r>
          </a:p>
          <a:p>
            <a:r>
              <a:rPr lang="en-KE" dirty="0"/>
              <a:t>EVIDENCE FOR SHORT TERM TB REGIMENS</a:t>
            </a:r>
          </a:p>
          <a:p>
            <a:r>
              <a:rPr lang="en-KE" dirty="0"/>
              <a:t>SHORT TERM TB REGIMENS AVAILABLE FOR CHILDREN</a:t>
            </a:r>
          </a:p>
          <a:p>
            <a:r>
              <a:rPr lang="en-KE" dirty="0"/>
              <a:t>MONITORING AND EVALUATION</a:t>
            </a:r>
          </a:p>
          <a:p>
            <a:r>
              <a:rPr lang="en-KE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262409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/>
          <p:nvPr/>
        </p:nvSpPr>
        <p:spPr>
          <a:xfrm>
            <a:off x="1045030" y="30478"/>
            <a:ext cx="105156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alatino Linotype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Burden of TB in children and adolescents in Kenya, 2018-2023</a:t>
            </a:r>
            <a:endParaRPr/>
          </a:p>
        </p:txBody>
      </p:sp>
      <p:pic>
        <p:nvPicPr>
          <p:cNvPr id="162" name="Google Shape;162;p5" descr="Picture 32"/>
          <p:cNvPicPr preferRelativeResize="0"/>
          <p:nvPr/>
        </p:nvPicPr>
        <p:blipFill rotWithShape="1">
          <a:blip r:embed="rId3">
            <a:alphaModFix/>
          </a:blip>
          <a:srcRect l="57468" t="21094" r="25547" b="51041"/>
          <a:stretch/>
        </p:blipFill>
        <p:spPr>
          <a:xfrm>
            <a:off x="11449050" y="6170613"/>
            <a:ext cx="742950" cy="6873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Google Shape;163;p5"/>
          <p:cNvCxnSpPr/>
          <p:nvPr/>
        </p:nvCxnSpPr>
        <p:spPr>
          <a:xfrm>
            <a:off x="1694861" y="754435"/>
            <a:ext cx="9656762" cy="0"/>
          </a:xfrm>
          <a:prstGeom prst="straightConnector1">
            <a:avLst/>
          </a:prstGeom>
          <a:noFill/>
          <a:ln w="762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4" name="Google Shape;16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285" y="9764"/>
            <a:ext cx="1149228" cy="7480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5" name="Google Shape;165;p5"/>
          <p:cNvGraphicFramePr/>
          <p:nvPr/>
        </p:nvGraphicFramePr>
        <p:xfrm>
          <a:off x="3312161" y="1348207"/>
          <a:ext cx="8879839" cy="5507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6" name="Google Shape;166;p5"/>
          <p:cNvSpPr txBox="1"/>
          <p:nvPr/>
        </p:nvSpPr>
        <p:spPr>
          <a:xfrm>
            <a:off x="272716" y="1111901"/>
            <a:ext cx="3208421" cy="5402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Kenya had an estimated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17,000- 24,000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children between 0-14 years with TB (WHO 2022)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2023,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12,884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were notified representing approx.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64%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estimated cases 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was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13.3%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total 97,126 notified TB cases</a:t>
            </a:r>
            <a:endParaRPr/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B95FB-52B9-4E88-65FB-CA2A72D30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DC0AE-DB01-6F87-5271-8112A1ED2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l">
              <a:buNone/>
            </a:pPr>
            <a:r>
              <a:rPr lang="en-GB" b="1" i="0" dirty="0">
                <a:solidFill>
                  <a:srgbClr val="000000"/>
                </a:solidFill>
                <a:effectLst/>
                <a:latin typeface="Barlow Condensed Bold"/>
              </a:rPr>
              <a:t>Drug-susceptible tuberculosis (DS-TB) case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HelveticaNeue regular"/>
              </a:rPr>
              <a:t>Patient with TB caused by a strain susceptible to first-line TB drugs.</a:t>
            </a:r>
            <a:br>
              <a:rPr lang="en-GB" b="0" i="0" dirty="0">
                <a:solidFill>
                  <a:srgbClr val="000000"/>
                </a:solidFill>
                <a:effectLst/>
                <a:latin typeface="HelveticaNeue regular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HelveticaNeue regular"/>
              </a:rPr>
              <a:t>In practice, patients with a strain not resistant to rifampicin and isoniazid are recorded (and treated) as patients with DS-TB.</a:t>
            </a:r>
          </a:p>
          <a:p>
            <a:pPr marL="0" indent="0" algn="l">
              <a:buNone/>
            </a:pPr>
            <a:r>
              <a:rPr lang="en-GB" b="1" i="0" dirty="0">
                <a:solidFill>
                  <a:srgbClr val="000000"/>
                </a:solidFill>
                <a:effectLst/>
                <a:latin typeface="Barlow Condensed Bold"/>
              </a:rPr>
              <a:t>Drug-resistant tuberculosis (DR-TB) case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HelveticaNeue regular"/>
              </a:rPr>
              <a:t>Patients with DR-TB should be classified into one of the following categories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HelveticaNeue regular"/>
              </a:rPr>
              <a:t>Isoniazid-resistant TB (Hr-TB): susceptibility to rifampicin and resistance to isoniazid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HelveticaNeue regular"/>
              </a:rPr>
              <a:t>Multidrug-resistant TB (MDR-TB) : resistance to at least rifampicin and isoniazid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HelveticaNeue regular"/>
              </a:rPr>
              <a:t>Rifampicin-resistant TB (RR-TB) : resistance to rifampicin, with or without resistance to other TB drugs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HelveticaNeue regular"/>
              </a:rPr>
              <a:t>Pre-extensively drug-resistant TB (pre-XDR-TB): MDR/RR-TB with additional resistance to any fluoroquinolone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HelveticaNeue regular"/>
              </a:rPr>
              <a:t>Extensively drug-resistant TB (XDR-TB): MDR/RR-TB with additional resistance to any fluoroquinolone, and at least either 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HelveticaNeue regular"/>
              </a:rPr>
              <a:t>bedaquiline</a:t>
            </a:r>
            <a:r>
              <a:rPr lang="en-GB" b="0" i="0" dirty="0">
                <a:solidFill>
                  <a:srgbClr val="000000"/>
                </a:solidFill>
                <a:effectLst/>
                <a:latin typeface="HelveticaNeue regular"/>
              </a:rPr>
              <a:t> or linezolid.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011454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3354A7-F786-4718-AE98-86E264011A34}"/>
              </a:ext>
            </a:extLst>
          </p:cNvPr>
          <p:cNvSpPr/>
          <p:nvPr/>
        </p:nvSpPr>
        <p:spPr>
          <a:xfrm>
            <a:off x="235494" y="806879"/>
            <a:ext cx="8864605" cy="563231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Source Sans Pro" panose="020B0503030403020204" pitchFamily="34" charset="0"/>
                <a:cs typeface="Calibri" panose="020F0502020204030204" pitchFamily="34" charset="0"/>
              </a:rPr>
              <a:t>There are 11 DS-TB treatment recommendations </a:t>
            </a:r>
          </a:p>
          <a:p>
            <a:pPr algn="just"/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" panose="020F0502020204030204" pitchFamily="34" charset="0"/>
              </a:rPr>
              <a:t>in the 2025 update</a:t>
            </a:r>
            <a:r>
              <a:rPr lang="en-US" sz="2400" b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" panose="020F0502020204030204" pitchFamily="34" charset="0"/>
              </a:rPr>
              <a:t>:</a:t>
            </a:r>
          </a:p>
          <a:p>
            <a:pPr algn="just"/>
            <a:endParaRPr lang="en-US" sz="2400" b="0">
              <a:solidFill>
                <a:schemeClr val="tx1">
                  <a:lumMod val="95000"/>
                  <a:lumOff val="5000"/>
                </a:schemeClr>
              </a:solidFill>
              <a:latin typeface="+mj-lt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" panose="020F0502020204030204" pitchFamily="34" charset="0"/>
              </a:rPr>
              <a:t> The 4-month regimen for people aged 12 years or older with drug-susceptible pulmonary TB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" panose="020F0502020204030204" pitchFamily="34" charset="0"/>
              </a:rPr>
              <a:t> The 4-month regimen for children and adolescents between 3 months and 16 years of age with non-severe TB</a:t>
            </a:r>
          </a:p>
          <a:p>
            <a:pPr algn="just"/>
            <a:endParaRPr lang="en-US" sz="2400" b="0">
              <a:solidFill>
                <a:schemeClr val="tx1">
                  <a:lumMod val="95000"/>
                  <a:lumOff val="5000"/>
                </a:schemeClr>
              </a:solidFill>
              <a:latin typeface="+mj-lt"/>
              <a:cs typeface="Calibri" panose="020F050202020403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u="sng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" panose="020F0502020204030204" pitchFamily="34" charset="0"/>
              </a:rPr>
              <a:t>5 recommendations</a:t>
            </a:r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en-US" sz="2400" b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" panose="020F0502020204030204" pitchFamily="34" charset="0"/>
              </a:rPr>
              <a:t>for treatment of drug-susceptible TB using 6-month regimen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u="sng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" panose="020F0502020204030204" pitchFamily="34" charset="0"/>
              </a:rPr>
              <a:t>2 recommendations</a:t>
            </a:r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en-US" sz="2400" b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" panose="020F0502020204030204" pitchFamily="34" charset="0"/>
              </a:rPr>
              <a:t>for drug-susceptible TB treatment and antiretroviral therapy (ART) in people living with HIV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u="sng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" panose="020F0502020204030204" pitchFamily="34" charset="0"/>
              </a:rPr>
              <a:t>2 recommendations</a:t>
            </a:r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en-US" sz="2400" b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" panose="020F0502020204030204" pitchFamily="34" charset="0"/>
              </a:rPr>
              <a:t>on the use of adjuvant steroids for the treatment of TB pericarditis and meningitis</a:t>
            </a:r>
          </a:p>
          <a:p>
            <a:pPr marL="466725" algn="just"/>
            <a:endParaRPr lang="en-US" sz="2400" b="0" kern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Source Sans Pro" panose="020B0503030403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A0EFA-A508-4B95-8431-65EFDDBF7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02D6-D190-45E2-A289-FEFF1EC166F2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757C75-FC33-A709-7606-E43F8AD28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4294" y="6442610"/>
            <a:ext cx="7333673" cy="365125"/>
          </a:xfrm>
        </p:spPr>
        <p:txBody>
          <a:bodyPr/>
          <a:lstStyle/>
          <a:p>
            <a:r>
              <a:rPr lang="en-US"/>
              <a:t>Module 4: Treatment and Care,  Chapter 1: Drug-susceptible tuberculosis treatment</a:t>
            </a:r>
            <a:endParaRPr lang="en-GB"/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65DCBC51-A06B-B2AD-18CE-2302777AFDF6}"/>
              </a:ext>
            </a:extLst>
          </p:cNvPr>
          <p:cNvSpPr txBox="1">
            <a:spLocks/>
          </p:cNvSpPr>
          <p:nvPr/>
        </p:nvSpPr>
        <p:spPr>
          <a:xfrm>
            <a:off x="288286" y="101869"/>
            <a:ext cx="7333673" cy="815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kern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Overview of 2025 guidelines DS-TB chapter (2)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B4C1BB-B68E-9707-C0C0-E54E85EA65A6}"/>
              </a:ext>
            </a:extLst>
          </p:cNvPr>
          <p:cNvSpPr txBox="1"/>
          <p:nvPr/>
        </p:nvSpPr>
        <p:spPr>
          <a:xfrm>
            <a:off x="10221545" y="1090539"/>
            <a:ext cx="9412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2025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96F6EB-1630-3FC7-7246-8A058396D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392" y="1686964"/>
            <a:ext cx="2240679" cy="3159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629CA8E-A00C-5136-89E3-C4C23E0D39D1}"/>
              </a:ext>
            </a:extLst>
          </p:cNvPr>
          <p:cNvSpPr/>
          <p:nvPr/>
        </p:nvSpPr>
        <p:spPr>
          <a:xfrm>
            <a:off x="9582113" y="4993100"/>
            <a:ext cx="2284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chemeClr val="tx1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https://tbksp.who.int/en/node/2951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0D6ECE-8480-23AD-6CEA-65D85756A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2484" y="10167"/>
            <a:ext cx="1099516" cy="109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311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4FB6BA-898E-059A-B298-0218FC0A7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02D6-D190-45E2-A289-FEFF1EC166F2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2" name="Title 20">
            <a:extLst>
              <a:ext uri="{FF2B5EF4-FFF2-40B4-BE49-F238E27FC236}">
                <a16:creationId xmlns:a16="http://schemas.microsoft.com/office/drawing/2014/main" id="{D2CE25C5-E1FB-A7E9-DBB4-07722271E149}"/>
              </a:ext>
            </a:extLst>
          </p:cNvPr>
          <p:cNvSpPr txBox="1">
            <a:spLocks/>
          </p:cNvSpPr>
          <p:nvPr/>
        </p:nvSpPr>
        <p:spPr>
          <a:xfrm>
            <a:off x="288286" y="101869"/>
            <a:ext cx="7333673" cy="815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kern="0">
                <a:solidFill>
                  <a:schemeClr val="bg1"/>
                </a:solidFill>
                <a:latin typeface="Source Sans Pro"/>
                <a:ea typeface="Source Sans Pro"/>
                <a:cs typeface="Calibri"/>
              </a:rPr>
              <a:t>Background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38A9E4D-43EF-1F1A-5243-1DB11B5E71D6}"/>
              </a:ext>
            </a:extLst>
          </p:cNvPr>
          <p:cNvSpPr txBox="1">
            <a:spLocks/>
          </p:cNvSpPr>
          <p:nvPr/>
        </p:nvSpPr>
        <p:spPr>
          <a:xfrm>
            <a:off x="522513" y="864783"/>
            <a:ext cx="9787095" cy="42419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defTabSz="913712">
              <a:buNone/>
              <a:defRPr/>
            </a:pPr>
            <a:r>
              <a:rPr lang="en-US" sz="2800">
                <a:solidFill>
                  <a:srgbClr val="FF0000"/>
                </a:solidFill>
                <a:ea typeface="+mj-ea"/>
                <a:cs typeface="+mj-cs"/>
              </a:rPr>
              <a:t>New</a:t>
            </a:r>
            <a:r>
              <a:rPr lang="en-US" sz="2800" b="1" cap="all">
                <a:solidFill>
                  <a:srgbClr val="FF0000"/>
                </a:solidFill>
                <a:ea typeface="Arial Narrow" charset="0"/>
                <a:cs typeface="Arial Narrow" charset="0"/>
              </a:rPr>
              <a:t> </a:t>
            </a:r>
            <a:r>
              <a:rPr lang="en-US" sz="2800">
                <a:solidFill>
                  <a:srgbClr val="FF0000"/>
                </a:solidFill>
                <a:ea typeface="+mj-ea"/>
                <a:cs typeface="+mj-cs"/>
              </a:rPr>
              <a:t>developments </a:t>
            </a:r>
            <a:r>
              <a:rPr lang="en-US" sz="2800">
                <a:solidFill>
                  <a:schemeClr val="tx2"/>
                </a:solidFill>
                <a:ea typeface="+mj-ea"/>
                <a:cs typeface="+mj-cs"/>
              </a:rPr>
              <a:t>in 2022: Guidelines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4CC8E6-2B85-C893-E6FE-2C0E3654C378}"/>
              </a:ext>
            </a:extLst>
          </p:cNvPr>
          <p:cNvSpPr txBox="1"/>
          <p:nvPr/>
        </p:nvSpPr>
        <p:spPr>
          <a:xfrm>
            <a:off x="805507" y="2744467"/>
            <a:ext cx="1219189" cy="419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29" b="1">
                <a:solidFill>
                  <a:srgbClr val="FF0000"/>
                </a:solidFill>
                <a:latin typeface="Arial"/>
              </a:rPr>
              <a:t>DS-TB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1175BC-83DD-C8FE-AE59-0BC27FF146F2}"/>
              </a:ext>
            </a:extLst>
          </p:cNvPr>
          <p:cNvSpPr/>
          <p:nvPr/>
        </p:nvSpPr>
        <p:spPr>
          <a:xfrm>
            <a:off x="2344834" y="2147586"/>
            <a:ext cx="1857889" cy="1703446"/>
          </a:xfrm>
          <a:prstGeom prst="roundRect">
            <a:avLst/>
          </a:prstGeom>
          <a:noFill/>
          <a:ln w="508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algn="ctr" defTabSz="608350">
              <a:defRPr/>
            </a:pPr>
            <a:r>
              <a:rPr lang="en-US" sz="1597" kern="0">
                <a:solidFill>
                  <a:srgbClr val="000000"/>
                </a:solidFill>
                <a:latin typeface="Arial"/>
              </a:rPr>
              <a:t>DS-TB guidelines 2021 (update)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BEAC0734-6495-D70B-48D6-AFF587FA65ED}"/>
              </a:ext>
            </a:extLst>
          </p:cNvPr>
          <p:cNvSpPr/>
          <p:nvPr/>
        </p:nvSpPr>
        <p:spPr>
          <a:xfrm>
            <a:off x="6128239" y="1662413"/>
            <a:ext cx="5117123" cy="2751325"/>
          </a:xfrm>
          <a:prstGeom prst="wedgeRoundRectCallout">
            <a:avLst>
              <a:gd name="adj1" fmla="val -86009"/>
              <a:gd name="adj2" fmla="val -3240"/>
              <a:gd name="adj3" fmla="val 16667"/>
            </a:avLst>
          </a:prstGeom>
          <a:noFill/>
          <a:ln w="41275" cap="flat" cmpd="sng" algn="ctr">
            <a:solidFill>
              <a:srgbClr val="FFC000"/>
            </a:solidFill>
            <a:prstDash val="solid"/>
          </a:ln>
          <a:effectLst/>
        </p:spPr>
        <p:txBody>
          <a:bodyPr rtlCol="0" anchor="ctr"/>
          <a:lstStyle/>
          <a:p>
            <a:pPr marL="190109" indent="-190109" defTabSz="6083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597" kern="0">
                <a:solidFill>
                  <a:srgbClr val="000000"/>
                </a:solidFill>
              </a:rPr>
              <a:t>4-month 2HPMZ/2HPM regimen </a:t>
            </a:r>
          </a:p>
          <a:p>
            <a:pPr marL="190109" indent="-190109" defTabSz="6083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597" kern="0">
                <a:solidFill>
                  <a:srgbClr val="000000"/>
                </a:solidFill>
              </a:rPr>
              <a:t>4-month 2HRZE/2HR regimen for children</a:t>
            </a:r>
          </a:p>
          <a:p>
            <a:pPr marL="190109" indent="-190109" defTabSz="6083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597" kern="0">
                <a:solidFill>
                  <a:srgbClr val="000000"/>
                </a:solidFill>
              </a:rPr>
              <a:t>Consolidating all recommendations on DS-TB (2021)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EEA16441-F130-78B8-4A92-597224045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4294" y="6442610"/>
            <a:ext cx="7333673" cy="365125"/>
          </a:xfrm>
        </p:spPr>
        <p:txBody>
          <a:bodyPr/>
          <a:lstStyle/>
          <a:p>
            <a:r>
              <a:rPr lang="en-US"/>
              <a:t>Module 4: Treatment and Care,  Chapter 1: Drug-susceptible tuberculosis treatment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535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0">
            <a:extLst>
              <a:ext uri="{FF2B5EF4-FFF2-40B4-BE49-F238E27FC236}">
                <a16:creationId xmlns:a16="http://schemas.microsoft.com/office/drawing/2014/main" id="{D2CE25C5-E1FB-A7E9-DBB4-07722271E149}"/>
              </a:ext>
            </a:extLst>
          </p:cNvPr>
          <p:cNvSpPr txBox="1">
            <a:spLocks/>
          </p:cNvSpPr>
          <p:nvPr/>
        </p:nvSpPr>
        <p:spPr>
          <a:xfrm>
            <a:off x="140676" y="162809"/>
            <a:ext cx="9574824" cy="976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kern="0">
                <a:solidFill>
                  <a:schemeClr val="bg1"/>
                </a:solidFill>
                <a:latin typeface="Source Sans Pro"/>
                <a:ea typeface="Source Sans Pro"/>
                <a:cs typeface="Calibri"/>
              </a:rPr>
              <a:t>Evidence: 4-month  2HPMZ/2 HPM</a:t>
            </a:r>
            <a:r>
              <a:rPr lang="en-US" sz="2400" kern="0">
                <a:solidFill>
                  <a:schemeClr val="bg1"/>
                </a:solidFill>
                <a:latin typeface="Source Sans Pro"/>
                <a:cs typeface="Calibri"/>
              </a:rPr>
              <a:t>: Data and studies considered</a:t>
            </a:r>
          </a:p>
          <a:p>
            <a:pPr algn="l"/>
            <a:endParaRPr lang="en-US" sz="24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38F24E1-82A7-61B9-9E97-673399390AA9}"/>
              </a:ext>
            </a:extLst>
          </p:cNvPr>
          <p:cNvSpPr txBox="1">
            <a:spLocks/>
          </p:cNvSpPr>
          <p:nvPr/>
        </p:nvSpPr>
        <p:spPr>
          <a:xfrm>
            <a:off x="1" y="1018149"/>
            <a:ext cx="11957538" cy="690076"/>
          </a:xfr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514350" indent="-514350">
              <a:spcBef>
                <a:spcPts val="0"/>
              </a:spcBef>
              <a:buFontTx/>
              <a:buAutoNum type="arabicPeriod"/>
            </a:pPr>
            <a:r>
              <a:rPr lang="en-AU" sz="2800" kern="0">
                <a:solidFill>
                  <a:srgbClr val="FF0000"/>
                </a:solidFill>
              </a:rPr>
              <a:t>Study31/A5349 : </a:t>
            </a:r>
            <a:r>
              <a:rPr lang="en-US" sz="2800" kern="0">
                <a:solidFill>
                  <a:srgbClr val="FF0000"/>
                </a:solidFill>
              </a:rPr>
              <a:t>A randomized, open-label, controlled phase 3 clinical trial</a:t>
            </a:r>
            <a:endParaRPr lang="en-AU" sz="2800" kern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C55259-658B-9356-23E3-520CE5816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2810" y="6442610"/>
            <a:ext cx="1309214" cy="365125"/>
          </a:xfrm>
        </p:spPr>
        <p:txBody>
          <a:bodyPr/>
          <a:lstStyle/>
          <a:p>
            <a:fld id="{92E002D6-D190-45E2-A289-FEFF1EC166F2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903B8F-B00D-0C6A-9326-2CCFED194FD5}"/>
              </a:ext>
            </a:extLst>
          </p:cNvPr>
          <p:cNvSpPr/>
          <p:nvPr/>
        </p:nvSpPr>
        <p:spPr>
          <a:xfrm>
            <a:off x="225287" y="1611038"/>
            <a:ext cx="11820176" cy="442114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recent phase III trial ‘’Study 31’’ (TBTC study 31/ACTG A5349, or S31/A5349)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assessed the safety and efficacy of two 4-month regimens for the treatment of DS-TB.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lt"/>
                <a:cs typeface="Calibri" panose="020F0502020204030204"/>
              </a:rPr>
              <a:t>A total of 2 516 patients from 13 countries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lt"/>
                <a:cs typeface="Calibri" panose="020F0502020204030204"/>
              </a:rPr>
              <a:t>(in Brazil, China, Haiti, India, Kenya, Malawi, Peru, South Africa, Thailand, Uganda, USA, Viet Nam and Zimbabwe) were randomly assigned to the treatment regimen.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Study 31 is the first and only phase III trial demonstrated the noninferiority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 the 4-month regimen for treatment of DS-TB when compared to the standard of care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There was little or no difference in all-cause mortality and adverse events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during treatment – a slight increase in retention on treatment was noted in the rifapentine-moxifloxacin arm.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Calibri"/>
            </a:endParaRPr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A0902DF2-425C-2DDD-5FF9-E676A70C1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4294" y="6442610"/>
            <a:ext cx="7333673" cy="365125"/>
          </a:xfrm>
        </p:spPr>
        <p:txBody>
          <a:bodyPr/>
          <a:lstStyle/>
          <a:p>
            <a:r>
              <a:rPr lang="en-US"/>
              <a:t>Module 4: Treatment and Care,  Chapter 1: Drug-susceptible tuberculosis treatment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639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0">
            <a:extLst>
              <a:ext uri="{FF2B5EF4-FFF2-40B4-BE49-F238E27FC236}">
                <a16:creationId xmlns:a16="http://schemas.microsoft.com/office/drawing/2014/main" id="{D2CE25C5-E1FB-A7E9-DBB4-07722271E149}"/>
              </a:ext>
            </a:extLst>
          </p:cNvPr>
          <p:cNvSpPr txBox="1">
            <a:spLocks/>
          </p:cNvSpPr>
          <p:nvPr/>
        </p:nvSpPr>
        <p:spPr>
          <a:xfrm>
            <a:off x="140676" y="162809"/>
            <a:ext cx="9574824" cy="976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kern="0">
                <a:solidFill>
                  <a:schemeClr val="bg1"/>
                </a:solidFill>
                <a:latin typeface="Source Sans Pro"/>
                <a:ea typeface="Source Sans Pro"/>
                <a:cs typeface="Calibri"/>
              </a:rPr>
              <a:t>Evidence: 4-month  2HRZ(E)/2 HR</a:t>
            </a:r>
            <a:r>
              <a:rPr lang="en-US" sz="2400" kern="0">
                <a:solidFill>
                  <a:schemeClr val="bg1"/>
                </a:solidFill>
                <a:latin typeface="Source Sans Pro"/>
                <a:cs typeface="Calibri"/>
              </a:rPr>
              <a:t>: Data and studies considered</a:t>
            </a:r>
          </a:p>
          <a:p>
            <a:pPr algn="l"/>
            <a:endParaRPr lang="en-US" sz="24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38F24E1-82A7-61B9-9E97-673399390AA9}"/>
              </a:ext>
            </a:extLst>
          </p:cNvPr>
          <p:cNvSpPr txBox="1">
            <a:spLocks/>
          </p:cNvSpPr>
          <p:nvPr/>
        </p:nvSpPr>
        <p:spPr>
          <a:xfrm>
            <a:off x="1" y="1018149"/>
            <a:ext cx="11957538" cy="690076"/>
          </a:xfrm>
        </p:spPr>
        <p:txBody>
          <a:bodyPr lIns="91440" tIns="45720" rIns="91440" bIns="45720" anchor="t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AU" sz="2800" kern="0">
                <a:solidFill>
                  <a:srgbClr val="FF0000"/>
                </a:solidFill>
              </a:rPr>
              <a:t>2. SHINE trial : </a:t>
            </a:r>
            <a:r>
              <a:rPr lang="en-US" sz="2800" kern="0">
                <a:solidFill>
                  <a:srgbClr val="FF0000"/>
                </a:solidFill>
              </a:rPr>
              <a:t>Shorter treatment for non-severe tuberculosis</a:t>
            </a:r>
            <a:endParaRPr lang="en-AU" sz="2800" kern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C55259-658B-9356-23E3-520CE5816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2810" y="6442610"/>
            <a:ext cx="1309214" cy="365125"/>
          </a:xfrm>
        </p:spPr>
        <p:txBody>
          <a:bodyPr/>
          <a:lstStyle/>
          <a:p>
            <a:fld id="{92E002D6-D190-45E2-A289-FEFF1EC166F2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903B8F-B00D-0C6A-9326-2CCFED194FD5}"/>
              </a:ext>
            </a:extLst>
          </p:cNvPr>
          <p:cNvSpPr/>
          <p:nvPr/>
        </p:nvSpPr>
        <p:spPr>
          <a:xfrm>
            <a:off x="273000" y="1621137"/>
            <a:ext cx="11820176" cy="453656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000" b="0" i="0">
                <a:solidFill>
                  <a:srgbClr val="FF0000"/>
                </a:solidFill>
                <a:effectLst/>
                <a:latin typeface="+mn-lt"/>
                <a:cs typeface="+mn-cs"/>
              </a:rPr>
              <a:t>S</a:t>
            </a:r>
            <a:r>
              <a:rPr lang="en-US" sz="2000" b="0">
                <a:solidFill>
                  <a:srgbClr val="FF0000"/>
                </a:solidFill>
                <a:latin typeface="+mn-lt"/>
                <a:cs typeface="+mn-cs"/>
              </a:rPr>
              <a:t>horter treatment for non-severe tuberculosis in African and Indian children </a:t>
            </a:r>
            <a:r>
              <a:rPr lang="en-US" sz="2000" b="0">
                <a:solidFill>
                  <a:prstClr val="black"/>
                </a:solidFill>
                <a:latin typeface="+mn-lt"/>
                <a:cs typeface="+mn-cs"/>
              </a:rPr>
              <a:t>(SHINE),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phase 3 randomized trial evaluated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duration of </a:t>
            </a:r>
            <a:r>
              <a:rPr lang="en-US" sz="2000" b="0">
                <a:solidFill>
                  <a:schemeClr val="tx1"/>
                </a:solidFill>
                <a:latin typeface="+mn-lt"/>
              </a:rPr>
              <a:t>TB treatment in children with non-severe DS-TB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000" b="0">
                <a:solidFill>
                  <a:prstClr val="black"/>
                </a:solidFill>
                <a:latin typeface="+mn-lt"/>
                <a:ea typeface="+mn-lt"/>
                <a:cs typeface="Calibri" panose="020F0502020204030204"/>
              </a:rPr>
              <a:t>The trial showed that a </a:t>
            </a:r>
            <a:r>
              <a:rPr lang="en-US" sz="2000" b="0">
                <a:solidFill>
                  <a:srgbClr val="FF0000"/>
                </a:solidFill>
                <a:latin typeface="+mn-lt"/>
                <a:ea typeface="+mn-lt"/>
                <a:cs typeface="Calibri" panose="020F0502020204030204"/>
              </a:rPr>
              <a:t>4-month treatment regimen</a:t>
            </a:r>
            <a:r>
              <a:rPr lang="en-US" sz="2000" b="0">
                <a:solidFill>
                  <a:prstClr val="black"/>
                </a:solidFill>
                <a:latin typeface="+mn-lt"/>
                <a:ea typeface="+mn-lt"/>
                <a:cs typeface="Calibri" panose="020F0502020204030204"/>
              </a:rPr>
              <a:t>, </a:t>
            </a:r>
            <a:r>
              <a:rPr lang="en-US" sz="2000" b="0">
                <a:solidFill>
                  <a:srgbClr val="FF0000"/>
                </a:solidFill>
                <a:latin typeface="+mn-lt"/>
                <a:ea typeface="+mn-lt"/>
                <a:cs typeface="Calibri" panose="020F0502020204030204"/>
              </a:rPr>
              <a:t>2HRZ(E)/2HR, was non-inferior </a:t>
            </a:r>
            <a:r>
              <a:rPr lang="en-US" sz="2000" b="0">
                <a:solidFill>
                  <a:prstClr val="black"/>
                </a:solidFill>
                <a:latin typeface="+mn-lt"/>
                <a:ea typeface="+mn-lt"/>
                <a:cs typeface="Calibri" panose="020F0502020204030204"/>
              </a:rPr>
              <a:t>to the standard 6-month regimen (2HRZ(E)/4HR).</a:t>
            </a: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2000" b="0">
                <a:solidFill>
                  <a:srgbClr val="FF0000"/>
                </a:solidFill>
                <a:latin typeface="+mn-lt"/>
                <a:ea typeface="+mn-lt"/>
                <a:cs typeface="Calibri" panose="020F0502020204030204"/>
              </a:rPr>
              <a:t>Experimental regimen</a:t>
            </a:r>
            <a:r>
              <a:rPr lang="en-US" sz="2000" b="0">
                <a:solidFill>
                  <a:prstClr val="black"/>
                </a:solidFill>
                <a:latin typeface="+mn-lt"/>
                <a:ea typeface="+mn-lt"/>
                <a:cs typeface="Calibri" panose="020F0502020204030204"/>
              </a:rPr>
              <a:t>: 4-months (16 weeks) of TB treatment using WHO-recommended pediatric doses. </a:t>
            </a: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2000" b="0">
                <a:solidFill>
                  <a:srgbClr val="FF0000"/>
                </a:solidFill>
                <a:latin typeface="+mn-lt"/>
                <a:ea typeface="+mn-lt"/>
                <a:cs typeface="Calibri" panose="020F0502020204030204"/>
              </a:rPr>
              <a:t>Comparator</a:t>
            </a:r>
            <a:r>
              <a:rPr lang="en-US" sz="2000" b="0">
                <a:solidFill>
                  <a:prstClr val="black"/>
                </a:solidFill>
                <a:latin typeface="+mn-lt"/>
                <a:ea typeface="+mn-lt"/>
                <a:cs typeface="Calibri" panose="020F0502020204030204"/>
              </a:rPr>
              <a:t>: 6 months (24 weeks) of treatment using WHO-recommended pediatric doses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Calibri"/>
            </a:endParaRPr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456EECC3-5FB4-B8D1-9950-380CA8E7F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4294" y="6442610"/>
            <a:ext cx="7333673" cy="365125"/>
          </a:xfrm>
        </p:spPr>
        <p:txBody>
          <a:bodyPr/>
          <a:lstStyle/>
          <a:p>
            <a:r>
              <a:rPr lang="en-US"/>
              <a:t>Module 4: Treatment and Care,  Chapter 1: Drug-susceptible tuberculosis treatment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49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DF9AD1-FD26-B6D0-7BD1-AD0DAE80E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02D6-D190-45E2-A289-FEFF1EC166F2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1C8F84-3A8A-1C42-0873-B5022972D01B}"/>
              </a:ext>
            </a:extLst>
          </p:cNvPr>
          <p:cNvSpPr txBox="1"/>
          <p:nvPr/>
        </p:nvSpPr>
        <p:spPr>
          <a:xfrm>
            <a:off x="191344" y="1500785"/>
            <a:ext cx="1188132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kern="0">
                <a:solidFill>
                  <a:srgbClr val="FF0000"/>
                </a:solidFill>
              </a:rPr>
              <a:t>Recommendation 1: </a:t>
            </a:r>
            <a:r>
              <a:rPr lang="en-US" sz="2400" b="1">
                <a:solidFill>
                  <a:schemeClr val="tx1"/>
                </a:solidFill>
              </a:rPr>
              <a:t>New patients with pulmonary TB should receive a regimen containing 6 months of rifampicin: 2HRZE/4HR</a:t>
            </a:r>
          </a:p>
          <a:p>
            <a:pPr algn="just"/>
            <a:endParaRPr lang="en-US" sz="2000" b="1">
              <a:solidFill>
                <a:schemeClr val="tx2"/>
              </a:solidFill>
            </a:endParaRPr>
          </a:p>
          <a:p>
            <a:r>
              <a:rPr lang="en-US" sz="2400" b="1">
                <a:solidFill>
                  <a:schemeClr val="tx2"/>
                </a:solidFill>
              </a:rPr>
              <a:t> </a:t>
            </a:r>
            <a:r>
              <a:rPr lang="en-US" sz="2400" b="0">
                <a:solidFill>
                  <a:schemeClr val="tx2"/>
                </a:solidFill>
              </a:rPr>
              <a:t>(</a:t>
            </a:r>
            <a:r>
              <a:rPr lang="en-US" sz="2400" b="0" i="1">
                <a:solidFill>
                  <a:schemeClr val="tx2"/>
                </a:solidFill>
              </a:rPr>
              <a:t>strong recommendation, high certainty of evidence)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DA81ED8-412C-6ABC-BC58-9C7C0E3CD8E7}"/>
              </a:ext>
            </a:extLst>
          </p:cNvPr>
          <p:cNvSpPr txBox="1">
            <a:spLocks/>
          </p:cNvSpPr>
          <p:nvPr/>
        </p:nvSpPr>
        <p:spPr>
          <a:xfrm>
            <a:off x="586854" y="926461"/>
            <a:ext cx="9985170" cy="42419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100000"/>
              </a:lnSpc>
              <a:buClrTx/>
              <a:buFontTx/>
              <a:buNone/>
            </a:pPr>
            <a:r>
              <a:rPr lang="en-US" sz="2400" b="1" kern="0">
                <a:solidFill>
                  <a:srgbClr val="FF0000"/>
                </a:solidFill>
              </a:rPr>
              <a:t>Treatment of DS-TB using 6-month regimen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F20F9CC-F09D-722D-8E69-39497E30573F}"/>
              </a:ext>
            </a:extLst>
          </p:cNvPr>
          <p:cNvSpPr txBox="1">
            <a:spLocks/>
          </p:cNvSpPr>
          <p:nvPr/>
        </p:nvSpPr>
        <p:spPr>
          <a:xfrm>
            <a:off x="3036000" y="3124874"/>
            <a:ext cx="6120000" cy="42419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100000"/>
              </a:lnSpc>
              <a:buClrTx/>
              <a:buFontTx/>
              <a:buNone/>
            </a:pPr>
            <a:r>
              <a:rPr lang="en-US" sz="2800" i="1" kern="0">
                <a:solidFill>
                  <a:srgbClr val="FF0000"/>
                </a:solidFill>
              </a:rPr>
              <a:t>Remarks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2B6E27-4E1B-5FD9-C73F-FD002E98EAFE}"/>
              </a:ext>
            </a:extLst>
          </p:cNvPr>
          <p:cNvSpPr txBox="1"/>
          <p:nvPr/>
        </p:nvSpPr>
        <p:spPr>
          <a:xfrm>
            <a:off x="335360" y="3575134"/>
            <a:ext cx="11737304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b="0">
                <a:solidFill>
                  <a:schemeClr val="tx1"/>
                </a:solidFill>
              </a:rPr>
              <a:t>A: The recommendation also applies to extrapulmonary TB – except TB of the central nervous system, bone or joint for which some expert groups suggest longer therapy.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b="0">
                <a:solidFill>
                  <a:schemeClr val="tx1"/>
                </a:solidFill>
              </a:rPr>
              <a:t>B: WHO recommends that national TB control </a:t>
            </a:r>
            <a:r>
              <a:rPr lang="en-US" sz="1800" b="0" err="1">
                <a:solidFill>
                  <a:schemeClr val="tx1"/>
                </a:solidFill>
              </a:rPr>
              <a:t>programmes</a:t>
            </a:r>
            <a:r>
              <a:rPr lang="en-US" sz="1800" b="0">
                <a:solidFill>
                  <a:schemeClr val="tx1"/>
                </a:solidFill>
              </a:rPr>
              <a:t> provide supervision and support for all TB patients in order to ensure completion of the full course of therapy.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b="0">
                <a:solidFill>
                  <a:schemeClr val="tx1"/>
                </a:solidFill>
              </a:rPr>
              <a:t>C: WHO recommends drug resistance surveys (or surveillance) for monitoring the impact of the treatment </a:t>
            </a:r>
            <a:r>
              <a:rPr lang="en-US" sz="1800" b="0" err="1">
                <a:solidFill>
                  <a:schemeClr val="tx1"/>
                </a:solidFill>
              </a:rPr>
              <a:t>programme</a:t>
            </a:r>
            <a:r>
              <a:rPr lang="en-US" sz="1800" b="0">
                <a:solidFill>
                  <a:schemeClr val="tx1"/>
                </a:solidFill>
              </a:rPr>
              <a:t>, as well as for designing standard regimens.</a:t>
            </a:r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1D4298D8-F597-943E-9158-60D9CAF7577F}"/>
              </a:ext>
            </a:extLst>
          </p:cNvPr>
          <p:cNvSpPr txBox="1">
            <a:spLocks/>
          </p:cNvSpPr>
          <p:nvPr/>
        </p:nvSpPr>
        <p:spPr>
          <a:xfrm>
            <a:off x="288286" y="101869"/>
            <a:ext cx="7333673" cy="815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kern="0">
                <a:solidFill>
                  <a:schemeClr val="bg1"/>
                </a:solidFill>
                <a:latin typeface="Source Sans Pro"/>
                <a:ea typeface="Source Sans Pro"/>
                <a:cs typeface="Calibri"/>
              </a:rPr>
              <a:t>Recommendations</a:t>
            </a:r>
            <a:endParaRPr lang="en-US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C28EADB9-9741-7C56-BE7F-0503E2E51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4294" y="6442610"/>
            <a:ext cx="7333673" cy="365125"/>
          </a:xfrm>
        </p:spPr>
        <p:txBody>
          <a:bodyPr/>
          <a:lstStyle/>
          <a:p>
            <a:r>
              <a:rPr lang="en-US"/>
              <a:t>Module 4: Treatment and Care,  Chapter 1: Drug-susceptible tuberculosis treatment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440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DA81ED8-412C-6ABC-BC58-9C7C0E3CD8E7}"/>
              </a:ext>
            </a:extLst>
          </p:cNvPr>
          <p:cNvSpPr txBox="1">
            <a:spLocks/>
          </p:cNvSpPr>
          <p:nvPr/>
        </p:nvSpPr>
        <p:spPr>
          <a:xfrm>
            <a:off x="586854" y="1067979"/>
            <a:ext cx="9985170" cy="42419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100000"/>
              </a:lnSpc>
              <a:buClrTx/>
              <a:buFontTx/>
              <a:buNone/>
            </a:pPr>
            <a:r>
              <a:rPr lang="en-US" sz="2400" b="1" kern="0">
                <a:solidFill>
                  <a:srgbClr val="FF0000"/>
                </a:solidFill>
              </a:rPr>
              <a:t>Treatment of DS-TB using 6-month regimen</a:t>
            </a:r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1D4298D8-F597-943E-9158-60D9CAF7577F}"/>
              </a:ext>
            </a:extLst>
          </p:cNvPr>
          <p:cNvSpPr txBox="1">
            <a:spLocks/>
          </p:cNvSpPr>
          <p:nvPr/>
        </p:nvSpPr>
        <p:spPr>
          <a:xfrm>
            <a:off x="288286" y="101869"/>
            <a:ext cx="7333673" cy="815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kern="0">
                <a:solidFill>
                  <a:schemeClr val="bg1"/>
                </a:solidFill>
                <a:latin typeface="Source Sans Pro"/>
                <a:ea typeface="Source Sans Pro"/>
                <a:cs typeface="Calibri"/>
              </a:rPr>
              <a:t>Recommendations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9926A0-CFB6-C952-BFE0-0E6293844CF2}"/>
              </a:ext>
            </a:extLst>
          </p:cNvPr>
          <p:cNvGraphicFramePr>
            <a:graphicFrameLocks/>
          </p:cNvGraphicFramePr>
          <p:nvPr/>
        </p:nvGraphicFramePr>
        <p:xfrm>
          <a:off x="923191" y="1642381"/>
          <a:ext cx="9886323" cy="4800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FADB93-AE30-D22A-8013-F041AD3F4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4294" y="6442610"/>
            <a:ext cx="7333673" cy="365125"/>
          </a:xfrm>
        </p:spPr>
        <p:txBody>
          <a:bodyPr/>
          <a:lstStyle/>
          <a:p>
            <a:r>
              <a:rPr lang="en-US"/>
              <a:t>Module 4: Treatment and Care,  Chapter 1: Drug-susceptible tuberculosis treatment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679231-7420-A384-D027-CA0307C9E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02D6-D190-45E2-A289-FEFF1EC166F2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440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0">
            <a:extLst>
              <a:ext uri="{FF2B5EF4-FFF2-40B4-BE49-F238E27FC236}">
                <a16:creationId xmlns:a16="http://schemas.microsoft.com/office/drawing/2014/main" id="{D2CE25C5-E1FB-A7E9-DBB4-07722271E149}"/>
              </a:ext>
            </a:extLst>
          </p:cNvPr>
          <p:cNvSpPr txBox="1">
            <a:spLocks/>
          </p:cNvSpPr>
          <p:nvPr/>
        </p:nvSpPr>
        <p:spPr>
          <a:xfrm>
            <a:off x="288286" y="101869"/>
            <a:ext cx="7333673" cy="815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kern="0">
                <a:solidFill>
                  <a:schemeClr val="bg1"/>
                </a:solidFill>
                <a:latin typeface="Source Sans Pro"/>
                <a:ea typeface="Source Sans Pro"/>
                <a:cs typeface="Calibri"/>
              </a:rPr>
              <a:t>Operational Handbook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6F701E-B09A-43FC-9248-D431F6CA968A}"/>
              </a:ext>
            </a:extLst>
          </p:cNvPr>
          <p:cNvSpPr/>
          <p:nvPr/>
        </p:nvSpPr>
        <p:spPr>
          <a:xfrm>
            <a:off x="299356" y="1432467"/>
            <a:ext cx="11593287" cy="3993067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A2AF0-7F17-5FF6-B666-6A52E19CF073}"/>
              </a:ext>
            </a:extLst>
          </p:cNvPr>
          <p:cNvSpPr txBox="1">
            <a:spLocks/>
          </p:cNvSpPr>
          <p:nvPr/>
        </p:nvSpPr>
        <p:spPr>
          <a:xfrm>
            <a:off x="335359" y="955215"/>
            <a:ext cx="11642275" cy="42419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00000"/>
              </a:lnSpc>
              <a:buClrTx/>
              <a:buFontTx/>
              <a:buNone/>
            </a:pPr>
            <a:r>
              <a:rPr lang="en-US" sz="2400" b="1" kern="0">
                <a:solidFill>
                  <a:srgbClr val="FF0000"/>
                </a:solidFill>
              </a:rPr>
              <a:t>What are the treatment options for DS-TB patients?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4FE0B95-EF0E-E6FA-6009-1C26CC19050D}"/>
              </a:ext>
            </a:extLst>
          </p:cNvPr>
          <p:cNvGraphicFramePr/>
          <p:nvPr/>
        </p:nvGraphicFramePr>
        <p:xfrm>
          <a:off x="256446" y="1483022"/>
          <a:ext cx="10201279" cy="4768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A232FEC7-574E-45E5-C4F1-D7F46543D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2810" y="6442610"/>
            <a:ext cx="1309214" cy="365125"/>
          </a:xfrm>
        </p:spPr>
        <p:txBody>
          <a:bodyPr/>
          <a:lstStyle/>
          <a:p>
            <a:fld id="{92E002D6-D190-45E2-A289-FEFF1EC166F2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AB4D91BC-C781-A4BB-C5EE-B5F37512E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4294" y="6442610"/>
            <a:ext cx="7333673" cy="365125"/>
          </a:xfrm>
        </p:spPr>
        <p:txBody>
          <a:bodyPr/>
          <a:lstStyle/>
          <a:p>
            <a:r>
              <a:rPr lang="en-US"/>
              <a:t>Module 4: Treatment and Care,  Chapter 1: Drug-susceptible tuberculosis treatment</a:t>
            </a:r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53B80-CB58-F4B9-F133-CCC2221AC4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0635" y="1542442"/>
            <a:ext cx="1606526" cy="2273011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69EB8C-AB44-15A2-27AF-AB78581009CC}"/>
              </a:ext>
            </a:extLst>
          </p:cNvPr>
          <p:cNvSpPr txBox="1"/>
          <p:nvPr/>
        </p:nvSpPr>
        <p:spPr>
          <a:xfrm>
            <a:off x="10833256" y="1074055"/>
            <a:ext cx="9412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2025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60C60C-A07E-5E06-9811-79A8CAC2AD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67739" y="0"/>
            <a:ext cx="1165099" cy="116509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864C47E-627C-2E92-AA26-19614020C525}"/>
              </a:ext>
            </a:extLst>
          </p:cNvPr>
          <p:cNvSpPr/>
          <p:nvPr/>
        </p:nvSpPr>
        <p:spPr>
          <a:xfrm>
            <a:off x="8629232" y="741517"/>
            <a:ext cx="2284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chemeClr val="tx1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https://tbksp.who.int/en/node/3011</a:t>
            </a:r>
          </a:p>
        </p:txBody>
      </p:sp>
    </p:spTree>
    <p:extLst>
      <p:ext uri="{BB962C8B-B14F-4D97-AF65-F5344CB8AC3E}">
        <p14:creationId xmlns:p14="http://schemas.microsoft.com/office/powerpoint/2010/main" val="744009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DF9AD1-FD26-B6D0-7BD1-AD0DAE80E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02D6-D190-45E2-A289-FEFF1EC166F2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1C8F84-3A8A-1C42-0873-B5022972D01B}"/>
              </a:ext>
            </a:extLst>
          </p:cNvPr>
          <p:cNvSpPr txBox="1"/>
          <p:nvPr/>
        </p:nvSpPr>
        <p:spPr>
          <a:xfrm>
            <a:off x="191344" y="2832327"/>
            <a:ext cx="118813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b="1" kern="0">
                <a:solidFill>
                  <a:srgbClr val="FF0000"/>
                </a:solidFill>
              </a:rPr>
              <a:t>Recommendation 7: </a:t>
            </a:r>
            <a:r>
              <a:rPr lang="en-US" sz="2200">
                <a:solidFill>
                  <a:schemeClr val="tx1"/>
                </a:solidFill>
              </a:rPr>
              <a:t>In children and adolescents between 3 months and 16 years of age with non-severe TB (without suspicion or evidence of MDR/RR-TB), a 4-month treatment regimen (2HRZ(E)/2HR) should be used.</a:t>
            </a:r>
            <a:endParaRPr lang="en-US" sz="2200" b="1">
              <a:solidFill>
                <a:schemeClr val="tx2"/>
              </a:solidFill>
            </a:endParaRPr>
          </a:p>
          <a:p>
            <a:r>
              <a:rPr lang="en-US" sz="2200" b="1">
                <a:solidFill>
                  <a:schemeClr val="tx2"/>
                </a:solidFill>
              </a:rPr>
              <a:t> </a:t>
            </a:r>
            <a:r>
              <a:rPr lang="en-US" sz="2200" b="0">
                <a:solidFill>
                  <a:schemeClr val="tx2"/>
                </a:solidFill>
              </a:rPr>
              <a:t>(</a:t>
            </a:r>
            <a:r>
              <a:rPr lang="en-US" sz="2200" b="0" i="1">
                <a:solidFill>
                  <a:schemeClr val="tx2"/>
                </a:solidFill>
              </a:rPr>
              <a:t>strong recommendation, moderate certainty of evidence)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DA81ED8-412C-6ABC-BC58-9C7C0E3CD8E7}"/>
              </a:ext>
            </a:extLst>
          </p:cNvPr>
          <p:cNvSpPr txBox="1">
            <a:spLocks/>
          </p:cNvSpPr>
          <p:nvPr/>
        </p:nvSpPr>
        <p:spPr>
          <a:xfrm>
            <a:off x="586854" y="794939"/>
            <a:ext cx="9880979" cy="57440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100000"/>
              </a:lnSpc>
              <a:buClrTx/>
              <a:buFontTx/>
              <a:buNone/>
            </a:pPr>
            <a:r>
              <a:rPr lang="en-US" sz="2400" b="1" kern="0">
                <a:solidFill>
                  <a:srgbClr val="FF0000"/>
                </a:solidFill>
              </a:rPr>
              <a:t>Treatment of DS-TB using 4-month regimens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F20F9CC-F09D-722D-8E69-39497E30573F}"/>
              </a:ext>
            </a:extLst>
          </p:cNvPr>
          <p:cNvSpPr txBox="1">
            <a:spLocks/>
          </p:cNvSpPr>
          <p:nvPr/>
        </p:nvSpPr>
        <p:spPr>
          <a:xfrm>
            <a:off x="3036000" y="4334427"/>
            <a:ext cx="6120000" cy="42419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100000"/>
              </a:lnSpc>
              <a:buClrTx/>
              <a:buFontTx/>
              <a:buNone/>
            </a:pPr>
            <a:r>
              <a:rPr lang="en-US" sz="2000" i="1" kern="0">
                <a:solidFill>
                  <a:srgbClr val="FF0000"/>
                </a:solidFill>
              </a:rPr>
              <a:t>Remarks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2B6E27-4E1B-5FD9-C73F-FD002E98EAFE}"/>
              </a:ext>
            </a:extLst>
          </p:cNvPr>
          <p:cNvSpPr txBox="1"/>
          <p:nvPr/>
        </p:nvSpPr>
        <p:spPr>
          <a:xfrm>
            <a:off x="191344" y="4643764"/>
            <a:ext cx="11881320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400" b="0">
                <a:solidFill>
                  <a:schemeClr val="tx1"/>
                </a:solidFill>
              </a:rPr>
              <a:t>Non-severe TB is defined as: Peripheral lymph node TB; intrathoracic lymph node TB without airway obstruction; uncomplicated TB pleural effusion or paucibacillary, non-cavitary disease, confined to one lobe of the lungs, and without a miliary pattern;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400" b="0">
                <a:solidFill>
                  <a:schemeClr val="tx1"/>
                </a:solidFill>
              </a:rPr>
              <a:t>Children and adolescents who do not meet the criteria for non-severe TB should receive the standard six-month regimen (2HRZE/4HR), or recommended treatment regimens for severe forms of extrapulmonary TB.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400" b="0">
                <a:solidFill>
                  <a:schemeClr val="tx1"/>
                </a:solidFill>
              </a:rPr>
              <a:t>The use of ethambutol in the first two months is recommended in settings with a high prevalence of HIV, or of INH resistance</a:t>
            </a:r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1D4298D8-F597-943E-9158-60D9CAF7577F}"/>
              </a:ext>
            </a:extLst>
          </p:cNvPr>
          <p:cNvSpPr txBox="1">
            <a:spLocks/>
          </p:cNvSpPr>
          <p:nvPr/>
        </p:nvSpPr>
        <p:spPr>
          <a:xfrm>
            <a:off x="288286" y="101869"/>
            <a:ext cx="7333673" cy="815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kern="0">
                <a:solidFill>
                  <a:schemeClr val="bg1"/>
                </a:solidFill>
                <a:latin typeface="Source Sans Pro"/>
                <a:ea typeface="Source Sans Pro"/>
                <a:cs typeface="Calibri"/>
              </a:rPr>
              <a:t>Recommendations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70998E-67B2-9B6D-4F2C-B51649B37006}"/>
              </a:ext>
            </a:extLst>
          </p:cNvPr>
          <p:cNvSpPr txBox="1"/>
          <p:nvPr/>
        </p:nvSpPr>
        <p:spPr>
          <a:xfrm>
            <a:off x="191344" y="1316031"/>
            <a:ext cx="118813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b="1" kern="0">
                <a:solidFill>
                  <a:srgbClr val="FF0000"/>
                </a:solidFill>
              </a:rPr>
              <a:t>Recommendation 6: </a:t>
            </a:r>
            <a:r>
              <a:rPr lang="en-US" sz="2200">
                <a:solidFill>
                  <a:schemeClr val="tx1"/>
                </a:solidFill>
              </a:rPr>
              <a:t>People aged 12 years or older with drug-susceptible pulmonary TB, may receive a 4-month regimen of isoniazid, rifapentine, moxifloxacin and pyrazinamide.</a:t>
            </a:r>
            <a:endParaRPr lang="en-US" sz="2200" b="1">
              <a:solidFill>
                <a:schemeClr val="tx1"/>
              </a:solidFill>
            </a:endParaRPr>
          </a:p>
          <a:p>
            <a:r>
              <a:rPr lang="en-US" sz="2200" b="0">
                <a:solidFill>
                  <a:schemeClr val="tx1"/>
                </a:solidFill>
              </a:rPr>
              <a:t>(</a:t>
            </a:r>
            <a:r>
              <a:rPr lang="en-US" sz="2200" b="0" i="1">
                <a:solidFill>
                  <a:schemeClr val="tx1"/>
                </a:solidFill>
              </a:rPr>
              <a:t>conditional recommendation, moderate certainty of evidence)</a:t>
            </a:r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7F1F236B-9CA3-5F65-6E14-A4D62527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4294" y="6442610"/>
            <a:ext cx="7333673" cy="365125"/>
          </a:xfrm>
        </p:spPr>
        <p:txBody>
          <a:bodyPr/>
          <a:lstStyle/>
          <a:p>
            <a:r>
              <a:rPr lang="en-US"/>
              <a:t>Module 4: Treatment and Care,  Chapter 1: Drug-susceptible tuberculosis treatment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3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0">
            <a:extLst>
              <a:ext uri="{FF2B5EF4-FFF2-40B4-BE49-F238E27FC236}">
                <a16:creationId xmlns:a16="http://schemas.microsoft.com/office/drawing/2014/main" id="{D2CE25C5-E1FB-A7E9-DBB4-07722271E149}"/>
              </a:ext>
            </a:extLst>
          </p:cNvPr>
          <p:cNvSpPr txBox="1">
            <a:spLocks/>
          </p:cNvSpPr>
          <p:nvPr/>
        </p:nvSpPr>
        <p:spPr>
          <a:xfrm>
            <a:off x="288286" y="101869"/>
            <a:ext cx="7333673" cy="815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kern="0">
                <a:solidFill>
                  <a:schemeClr val="bg1"/>
                </a:solidFill>
                <a:latin typeface="Source Sans Pro"/>
                <a:ea typeface="Source Sans Pro"/>
                <a:cs typeface="Calibri"/>
              </a:rPr>
              <a:t>Operational Handbook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38A9E4D-43EF-1F1A-5243-1DB11B5E71D6}"/>
              </a:ext>
            </a:extLst>
          </p:cNvPr>
          <p:cNvSpPr txBox="1">
            <a:spLocks/>
          </p:cNvSpPr>
          <p:nvPr/>
        </p:nvSpPr>
        <p:spPr>
          <a:xfrm>
            <a:off x="335359" y="955215"/>
            <a:ext cx="11642275" cy="42419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00000"/>
              </a:lnSpc>
              <a:buClrTx/>
              <a:buFontTx/>
              <a:buNone/>
            </a:pPr>
            <a:r>
              <a:rPr lang="en-US" sz="2400" kern="0">
                <a:solidFill>
                  <a:srgbClr val="FF0000"/>
                </a:solidFill>
              </a:rPr>
              <a:t>T</a:t>
            </a:r>
            <a:r>
              <a:rPr lang="en-US" sz="2400" b="1" kern="0">
                <a:solidFill>
                  <a:srgbClr val="FF0000"/>
                </a:solidFill>
              </a:rPr>
              <a:t>he composition and duration of 4-month (</a:t>
            </a:r>
            <a:r>
              <a:rPr lang="en-US" sz="2400" kern="0">
                <a:solidFill>
                  <a:srgbClr val="FF0000"/>
                </a:solidFill>
              </a:rPr>
              <a:t>2HPMZ/2HPM) regimen</a:t>
            </a:r>
            <a:endParaRPr lang="en-US" sz="2400" b="1" kern="0">
              <a:solidFill>
                <a:srgbClr val="FF0000"/>
              </a:solidFill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FDD0EFD4-66E4-2442-7A38-A44740FFDD5C}"/>
              </a:ext>
            </a:extLst>
          </p:cNvPr>
          <p:cNvGraphicFramePr/>
          <p:nvPr/>
        </p:nvGraphicFramePr>
        <p:xfrm>
          <a:off x="335358" y="1516631"/>
          <a:ext cx="11642275" cy="476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EC2CF0-7C84-B4AB-C349-B79BCFC7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2810" y="6442610"/>
            <a:ext cx="1309214" cy="365125"/>
          </a:xfrm>
        </p:spPr>
        <p:txBody>
          <a:bodyPr/>
          <a:lstStyle/>
          <a:p>
            <a:fld id="{92E002D6-D190-45E2-A289-FEFF1EC166F2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E22BCD82-DCB3-F0E3-04ED-D53480AB5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4294" y="6442610"/>
            <a:ext cx="7333673" cy="365125"/>
          </a:xfrm>
        </p:spPr>
        <p:txBody>
          <a:bodyPr/>
          <a:lstStyle/>
          <a:p>
            <a:r>
              <a:rPr lang="en-US"/>
              <a:t>Module 4: Treatment and Care,  Chapter 1: Drug-susceptible tuberculosis treatment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329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0">
            <a:extLst>
              <a:ext uri="{FF2B5EF4-FFF2-40B4-BE49-F238E27FC236}">
                <a16:creationId xmlns:a16="http://schemas.microsoft.com/office/drawing/2014/main" id="{D2CE25C5-E1FB-A7E9-DBB4-07722271E149}"/>
              </a:ext>
            </a:extLst>
          </p:cNvPr>
          <p:cNvSpPr txBox="1">
            <a:spLocks/>
          </p:cNvSpPr>
          <p:nvPr/>
        </p:nvSpPr>
        <p:spPr>
          <a:xfrm>
            <a:off x="288286" y="101869"/>
            <a:ext cx="7333673" cy="815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kern="0">
                <a:solidFill>
                  <a:schemeClr val="bg1"/>
                </a:solidFill>
                <a:latin typeface="Source Sans Pro"/>
                <a:ea typeface="Source Sans Pro"/>
                <a:cs typeface="Calibri"/>
              </a:rPr>
              <a:t>Operational Handbook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38A9E4D-43EF-1F1A-5243-1DB11B5E71D6}"/>
              </a:ext>
            </a:extLst>
          </p:cNvPr>
          <p:cNvSpPr txBox="1">
            <a:spLocks/>
          </p:cNvSpPr>
          <p:nvPr/>
        </p:nvSpPr>
        <p:spPr>
          <a:xfrm>
            <a:off x="335359" y="955215"/>
            <a:ext cx="11642275" cy="42419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00000"/>
              </a:lnSpc>
              <a:buClrTx/>
              <a:buFontTx/>
              <a:buNone/>
            </a:pPr>
            <a:r>
              <a:rPr lang="en-US" sz="2400" b="1" kern="0">
                <a:solidFill>
                  <a:srgbClr val="FF0000"/>
                </a:solidFill>
              </a:rPr>
              <a:t>Who is eligible for a 4-month (</a:t>
            </a:r>
            <a:r>
              <a:rPr lang="en-US" sz="2400" kern="0">
                <a:solidFill>
                  <a:srgbClr val="FF0000"/>
                </a:solidFill>
              </a:rPr>
              <a:t>2HPMZ/2HPM) regimen</a:t>
            </a:r>
            <a:r>
              <a:rPr lang="en-US" sz="2400" b="1" kern="0">
                <a:solidFill>
                  <a:srgbClr val="FF0000"/>
                </a:solidFill>
              </a:rPr>
              <a:t>?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FDD0EFD4-66E4-2442-7A38-A44740FFDD5C}"/>
              </a:ext>
            </a:extLst>
          </p:cNvPr>
          <p:cNvGraphicFramePr/>
          <p:nvPr/>
        </p:nvGraphicFramePr>
        <p:xfrm>
          <a:off x="640158" y="1491563"/>
          <a:ext cx="10746299" cy="4838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EC2CF0-7C84-B4AB-C349-B79BCFC7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2810" y="6442610"/>
            <a:ext cx="1309214" cy="365125"/>
          </a:xfrm>
        </p:spPr>
        <p:txBody>
          <a:bodyPr/>
          <a:lstStyle/>
          <a:p>
            <a:fld id="{92E002D6-D190-45E2-A289-FEFF1EC166F2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DFAA1FB0-0AE1-05DA-B74C-10E5F5D38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4294" y="6442610"/>
            <a:ext cx="7333673" cy="365125"/>
          </a:xfrm>
        </p:spPr>
        <p:txBody>
          <a:bodyPr/>
          <a:lstStyle/>
          <a:p>
            <a:r>
              <a:rPr lang="en-US"/>
              <a:t>Module 4: Treatment and Care,  Chapter 1: Drug-susceptible tuberculosis treatment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151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0">
            <a:extLst>
              <a:ext uri="{FF2B5EF4-FFF2-40B4-BE49-F238E27FC236}">
                <a16:creationId xmlns:a16="http://schemas.microsoft.com/office/drawing/2014/main" id="{D2CE25C5-E1FB-A7E9-DBB4-07722271E149}"/>
              </a:ext>
            </a:extLst>
          </p:cNvPr>
          <p:cNvSpPr txBox="1">
            <a:spLocks/>
          </p:cNvSpPr>
          <p:nvPr/>
        </p:nvSpPr>
        <p:spPr>
          <a:xfrm>
            <a:off x="288286" y="101869"/>
            <a:ext cx="7333673" cy="815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kern="0">
                <a:solidFill>
                  <a:schemeClr val="bg1"/>
                </a:solidFill>
                <a:latin typeface="Source Sans Pro"/>
                <a:ea typeface="Source Sans Pro"/>
                <a:cs typeface="Calibri"/>
              </a:rPr>
              <a:t>Operational Handbook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38A9E4D-43EF-1F1A-5243-1DB11B5E71D6}"/>
              </a:ext>
            </a:extLst>
          </p:cNvPr>
          <p:cNvSpPr txBox="1">
            <a:spLocks/>
          </p:cNvSpPr>
          <p:nvPr/>
        </p:nvSpPr>
        <p:spPr>
          <a:xfrm>
            <a:off x="83331" y="834639"/>
            <a:ext cx="11809312" cy="42419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400">
                <a:solidFill>
                  <a:srgbClr val="FF0000"/>
                </a:solidFill>
              </a:rPr>
              <a:t>What criteria guide treatment choice in adolescents and adults?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6F701E-B09A-43FC-9248-D431F6CA968A}"/>
              </a:ext>
            </a:extLst>
          </p:cNvPr>
          <p:cNvSpPr/>
          <p:nvPr/>
        </p:nvSpPr>
        <p:spPr>
          <a:xfrm>
            <a:off x="299356" y="1432467"/>
            <a:ext cx="11593287" cy="3993067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C3C7BF-8989-EE4B-4CDC-C97CB2EE95D9}"/>
              </a:ext>
            </a:extLst>
          </p:cNvPr>
          <p:cNvGraphicFramePr>
            <a:graphicFrameLocks noGrp="1"/>
          </p:cNvGraphicFramePr>
          <p:nvPr/>
        </p:nvGraphicFramePr>
        <p:xfrm>
          <a:off x="83331" y="1351503"/>
          <a:ext cx="11917325" cy="482714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207126">
                  <a:extLst>
                    <a:ext uri="{9D8B030D-6E8A-4147-A177-3AD203B41FA5}">
                      <a16:colId xmlns:a16="http://schemas.microsoft.com/office/drawing/2014/main" val="1147647736"/>
                    </a:ext>
                  </a:extLst>
                </a:gridCol>
                <a:gridCol w="3254829">
                  <a:extLst>
                    <a:ext uri="{9D8B030D-6E8A-4147-A177-3AD203B41FA5}">
                      <a16:colId xmlns:a16="http://schemas.microsoft.com/office/drawing/2014/main" val="1602017809"/>
                    </a:ext>
                  </a:extLst>
                </a:gridCol>
                <a:gridCol w="3455370">
                  <a:extLst>
                    <a:ext uri="{9D8B030D-6E8A-4147-A177-3AD203B41FA5}">
                      <a16:colId xmlns:a16="http://schemas.microsoft.com/office/drawing/2014/main" val="339238556"/>
                    </a:ext>
                  </a:extLst>
                </a:gridCol>
              </a:tblGrid>
              <a:tr h="450673">
                <a:tc>
                  <a:txBody>
                    <a:bodyPr/>
                    <a:lstStyle/>
                    <a:p>
                      <a:r>
                        <a:rPr lang="en-US"/>
                        <a:t>Factors/conditions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 HRZE/4HR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2HPMZ/2HPM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449215"/>
                  </a:ext>
                </a:extLst>
              </a:tr>
              <a:tr h="316770">
                <a:tc>
                  <a:txBody>
                    <a:bodyPr/>
                    <a:lstStyle/>
                    <a:p>
                      <a:r>
                        <a:rPr lang="en-US" b="1"/>
                        <a:t>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 age restriction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Yes (12 years and above)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561730"/>
                  </a:ext>
                </a:extLst>
              </a:tr>
              <a:tr h="354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/>
                        <a:t>Weight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&gt; 40kg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541850"/>
                  </a:ext>
                </a:extLst>
              </a:tr>
              <a:tr h="4293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/>
                        <a:t>Severe </a:t>
                      </a:r>
                      <a:r>
                        <a:rPr lang="en-US" sz="1800" b="1"/>
                        <a:t>EPTB</a:t>
                      </a:r>
                      <a:r>
                        <a:rPr lang="en-US" sz="1800"/>
                        <a:t> </a:t>
                      </a:r>
                      <a:r>
                        <a:rPr lang="en-US" sz="1200"/>
                        <a:t>(meningitis, disseminated TB, osteoarticular TB or abdominal TB)</a:t>
                      </a:r>
                      <a:endParaRPr lang="en-US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031157"/>
                  </a:ext>
                </a:extLst>
              </a:tr>
              <a:tr h="5890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/>
                        <a:t>HIV infection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Regardless of CD4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CD4 count &gt;100 cells/mm3 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963946"/>
                  </a:ext>
                </a:extLst>
              </a:tr>
              <a:tr h="3490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/>
                        <a:t>Pill burden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Fixed dose combination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rgbClr val="FF0000"/>
                          </a:solidFill>
                        </a:rPr>
                        <a:t>Loose formulation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545983"/>
                  </a:ext>
                </a:extLst>
              </a:tr>
              <a:tr h="3525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/>
                        <a:t>Duration of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rgbClr val="FF0000"/>
                          </a:solidFill>
                        </a:rPr>
                        <a:t>4 months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791479"/>
                  </a:ext>
                </a:extLst>
              </a:tr>
              <a:tr h="347277">
                <a:tc>
                  <a:txBody>
                    <a:bodyPr/>
                    <a:lstStyle/>
                    <a:p>
                      <a:r>
                        <a:rPr lang="en-US" b="1"/>
                        <a:t>Pregnancy and breastfeeding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899039"/>
                  </a:ext>
                </a:extLst>
              </a:tr>
              <a:tr h="4506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accent2"/>
                          </a:solidFill>
                        </a:rPr>
                        <a:t>Other factors to be considered: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702457"/>
                  </a:ext>
                </a:extLst>
              </a:tr>
              <a:tr h="959276">
                <a:tc gridSpan="3"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>
                          <a:solidFill>
                            <a:schemeClr val="accent2"/>
                          </a:solidFill>
                        </a:rPr>
                        <a:t>preferences of patients and clinicians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>
                          <a:solidFill>
                            <a:schemeClr val="accent2"/>
                          </a:solidFill>
                        </a:rPr>
                        <a:t>feasibility of monitoring for drug adverse effects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>
                          <a:solidFill>
                            <a:schemeClr val="accent2"/>
                          </a:solidFill>
                        </a:rPr>
                        <a:t>availability and cost of medicines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647041"/>
                  </a:ext>
                </a:extLst>
              </a:tr>
            </a:tbl>
          </a:graphicData>
        </a:graphic>
      </p:graphicFrame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5F05D020-C5D6-ED31-1973-ABAB60AA7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4294" y="6442610"/>
            <a:ext cx="7333673" cy="365125"/>
          </a:xfrm>
        </p:spPr>
        <p:txBody>
          <a:bodyPr/>
          <a:lstStyle/>
          <a:p>
            <a:r>
              <a:rPr lang="en-US"/>
              <a:t>Module 4: Treatment and Care,  Chapter 1: Drug-susceptible tuberculosis treatment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D0A6D3-0063-0533-01E3-DA2BCB06A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02D6-D190-45E2-A289-FEFF1EC166F2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17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0">
            <a:extLst>
              <a:ext uri="{FF2B5EF4-FFF2-40B4-BE49-F238E27FC236}">
                <a16:creationId xmlns:a16="http://schemas.microsoft.com/office/drawing/2014/main" id="{D2CE25C5-E1FB-A7E9-DBB4-07722271E149}"/>
              </a:ext>
            </a:extLst>
          </p:cNvPr>
          <p:cNvSpPr txBox="1">
            <a:spLocks/>
          </p:cNvSpPr>
          <p:nvPr/>
        </p:nvSpPr>
        <p:spPr>
          <a:xfrm>
            <a:off x="288286" y="101869"/>
            <a:ext cx="7333673" cy="815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kern="0">
                <a:solidFill>
                  <a:schemeClr val="bg1"/>
                </a:solidFill>
                <a:latin typeface="Source Sans Pro"/>
                <a:ea typeface="Source Sans Pro"/>
                <a:cs typeface="Calibri"/>
              </a:rPr>
              <a:t>Operational Handbook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38A9E4D-43EF-1F1A-5243-1DB11B5E71D6}"/>
              </a:ext>
            </a:extLst>
          </p:cNvPr>
          <p:cNvSpPr txBox="1">
            <a:spLocks/>
          </p:cNvSpPr>
          <p:nvPr/>
        </p:nvSpPr>
        <p:spPr>
          <a:xfrm>
            <a:off x="335359" y="832127"/>
            <a:ext cx="11642275" cy="42419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00000"/>
              </a:lnSpc>
              <a:buClrTx/>
              <a:buFontTx/>
              <a:buNone/>
            </a:pPr>
            <a:r>
              <a:rPr lang="en-US" sz="2400" kern="0">
                <a:solidFill>
                  <a:srgbClr val="FF0000"/>
                </a:solidFill>
              </a:rPr>
              <a:t>T</a:t>
            </a:r>
            <a:r>
              <a:rPr lang="en-US" sz="2400" b="1" kern="0">
                <a:solidFill>
                  <a:srgbClr val="FF0000"/>
                </a:solidFill>
              </a:rPr>
              <a:t>he composition and duration of 4-month (</a:t>
            </a:r>
            <a:r>
              <a:rPr lang="en-US" sz="2400" kern="0">
                <a:solidFill>
                  <a:srgbClr val="FF0000"/>
                </a:solidFill>
              </a:rPr>
              <a:t>2HRZ(E)/2HR) regimen in children and adolescents</a:t>
            </a:r>
            <a:endParaRPr lang="en-US" sz="2400" b="1" kern="0">
              <a:solidFill>
                <a:srgbClr val="FF0000"/>
              </a:solidFill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FDD0EFD4-66E4-2442-7A38-A44740FFDD5C}"/>
              </a:ext>
            </a:extLst>
          </p:cNvPr>
          <p:cNvGraphicFramePr/>
          <p:nvPr/>
        </p:nvGraphicFramePr>
        <p:xfrm>
          <a:off x="335358" y="1603720"/>
          <a:ext cx="11642275" cy="4377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EC2CF0-7C84-B4AB-C349-B79BCFC7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2810" y="6442610"/>
            <a:ext cx="1309214" cy="365125"/>
          </a:xfrm>
        </p:spPr>
        <p:txBody>
          <a:bodyPr/>
          <a:lstStyle/>
          <a:p>
            <a:fld id="{92E002D6-D190-45E2-A289-FEFF1EC166F2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FF2229D1-F88D-5AA4-C8F2-E875D45BF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4294" y="6442610"/>
            <a:ext cx="7333673" cy="365125"/>
          </a:xfrm>
        </p:spPr>
        <p:txBody>
          <a:bodyPr/>
          <a:lstStyle/>
          <a:p>
            <a:r>
              <a:rPr lang="en-US"/>
              <a:t>Module 4: Treatment and Care,  Chapter 1: Drug-susceptible tuberculosis treatment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904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0">
            <a:extLst>
              <a:ext uri="{FF2B5EF4-FFF2-40B4-BE49-F238E27FC236}">
                <a16:creationId xmlns:a16="http://schemas.microsoft.com/office/drawing/2014/main" id="{D2CE25C5-E1FB-A7E9-DBB4-07722271E149}"/>
              </a:ext>
            </a:extLst>
          </p:cNvPr>
          <p:cNvSpPr txBox="1">
            <a:spLocks/>
          </p:cNvSpPr>
          <p:nvPr/>
        </p:nvSpPr>
        <p:spPr>
          <a:xfrm>
            <a:off x="288286" y="101869"/>
            <a:ext cx="7333673" cy="815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kern="0">
                <a:solidFill>
                  <a:schemeClr val="bg1"/>
                </a:solidFill>
                <a:latin typeface="Source Sans Pro"/>
                <a:ea typeface="Source Sans Pro"/>
                <a:cs typeface="Calibri"/>
              </a:rPr>
              <a:t>Operational Handbook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38A9E4D-43EF-1F1A-5243-1DB11B5E71D6}"/>
              </a:ext>
            </a:extLst>
          </p:cNvPr>
          <p:cNvSpPr txBox="1">
            <a:spLocks/>
          </p:cNvSpPr>
          <p:nvPr/>
        </p:nvSpPr>
        <p:spPr>
          <a:xfrm>
            <a:off x="335359" y="955215"/>
            <a:ext cx="11642275" cy="42419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00000"/>
              </a:lnSpc>
              <a:buClrTx/>
              <a:buFontTx/>
              <a:buNone/>
            </a:pPr>
            <a:r>
              <a:rPr lang="en-US" sz="2400" b="1" kern="0">
                <a:solidFill>
                  <a:srgbClr val="FF0000"/>
                </a:solidFill>
              </a:rPr>
              <a:t>Who is eligible for a 4-month (</a:t>
            </a:r>
            <a:r>
              <a:rPr lang="en-US" sz="2400" kern="0">
                <a:solidFill>
                  <a:srgbClr val="FF0000"/>
                </a:solidFill>
              </a:rPr>
              <a:t>2HRZ (E)/2 HR) regimen</a:t>
            </a:r>
            <a:r>
              <a:rPr lang="en-US" sz="2400" b="1" kern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EC2CF0-7C84-B4AB-C349-B79BCFC7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2810" y="6442610"/>
            <a:ext cx="1309214" cy="365125"/>
          </a:xfrm>
        </p:spPr>
        <p:txBody>
          <a:bodyPr/>
          <a:lstStyle/>
          <a:p>
            <a:fld id="{92E002D6-D190-45E2-A289-FEFF1EC166F2}" type="slidenum">
              <a:rPr lang="en-GB" smtClean="0"/>
              <a:pPr/>
              <a:t>17</a:t>
            </a:fld>
            <a:endParaRPr lang="en-GB"/>
          </a:p>
        </p:txBody>
      </p:sp>
      <p:pic>
        <p:nvPicPr>
          <p:cNvPr id="4" name="Picture 3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3099D902-0503-9FA1-5A57-01003951C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29" y="1571682"/>
            <a:ext cx="6474534" cy="47420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7C9463-EE42-D4C2-19F5-212FBFE0C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063" y="1734177"/>
            <a:ext cx="5197480" cy="4302220"/>
          </a:xfrm>
          <a:prstGeom prst="rect">
            <a:avLst/>
          </a:prstGeom>
        </p:spPr>
      </p:pic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B7AC3D5F-1325-6A05-2D70-FB6C33213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4294" y="6442610"/>
            <a:ext cx="7333673" cy="365125"/>
          </a:xfrm>
        </p:spPr>
        <p:txBody>
          <a:bodyPr/>
          <a:lstStyle/>
          <a:p>
            <a:r>
              <a:rPr lang="en-US"/>
              <a:t>Module 4: Treatment and Care,  Chapter 1: Drug-susceptible tuberculosis treatment</a:t>
            </a:r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55A63F-4AED-4931-3D74-BB6FD5DE8A3A}"/>
              </a:ext>
            </a:extLst>
          </p:cNvPr>
          <p:cNvSpPr txBox="1"/>
          <p:nvPr/>
        </p:nvSpPr>
        <p:spPr>
          <a:xfrm>
            <a:off x="6567678" y="6073278"/>
            <a:ext cx="3746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/>
              <a:t>https://tbksp.who.int/en/node/2127</a:t>
            </a:r>
          </a:p>
        </p:txBody>
      </p:sp>
    </p:spTree>
    <p:extLst>
      <p:ext uri="{BB962C8B-B14F-4D97-AF65-F5344CB8AC3E}">
        <p14:creationId xmlns:p14="http://schemas.microsoft.com/office/powerpoint/2010/main" val="1853061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0">
            <a:extLst>
              <a:ext uri="{FF2B5EF4-FFF2-40B4-BE49-F238E27FC236}">
                <a16:creationId xmlns:a16="http://schemas.microsoft.com/office/drawing/2014/main" id="{D2CE25C5-E1FB-A7E9-DBB4-07722271E149}"/>
              </a:ext>
            </a:extLst>
          </p:cNvPr>
          <p:cNvSpPr txBox="1">
            <a:spLocks/>
          </p:cNvSpPr>
          <p:nvPr/>
        </p:nvSpPr>
        <p:spPr>
          <a:xfrm>
            <a:off x="288286" y="101869"/>
            <a:ext cx="7333673" cy="815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kern="0">
                <a:solidFill>
                  <a:schemeClr val="bg1"/>
                </a:solidFill>
                <a:latin typeface="Source Sans Pro"/>
                <a:ea typeface="Source Sans Pro"/>
                <a:cs typeface="Calibri"/>
              </a:rPr>
              <a:t>Operational Handbook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6F701E-B09A-43FC-9248-D431F6CA968A}"/>
              </a:ext>
            </a:extLst>
          </p:cNvPr>
          <p:cNvSpPr/>
          <p:nvPr/>
        </p:nvSpPr>
        <p:spPr>
          <a:xfrm>
            <a:off x="299356" y="1432467"/>
            <a:ext cx="11593287" cy="3993067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A2AF0-7F17-5FF6-B666-6A52E19CF073}"/>
              </a:ext>
            </a:extLst>
          </p:cNvPr>
          <p:cNvSpPr txBox="1">
            <a:spLocks/>
          </p:cNvSpPr>
          <p:nvPr/>
        </p:nvSpPr>
        <p:spPr>
          <a:xfrm>
            <a:off x="293913" y="816986"/>
            <a:ext cx="11176279" cy="97963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00000"/>
              </a:lnSpc>
              <a:buClrTx/>
              <a:buFontTx/>
              <a:buNone/>
            </a:pPr>
            <a:r>
              <a:rPr lang="en-US" sz="2400" kern="0">
                <a:solidFill>
                  <a:srgbClr val="FF0000"/>
                </a:solidFill>
              </a:rPr>
              <a:t>What key factors should be taken into consideration when making decisions about selecting the available treatment regimens?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82E2C077-E81E-5E32-08C0-D73517265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2810" y="6442610"/>
            <a:ext cx="1309214" cy="365125"/>
          </a:xfrm>
        </p:spPr>
        <p:txBody>
          <a:bodyPr/>
          <a:lstStyle/>
          <a:p>
            <a:fld id="{92E002D6-D190-45E2-A289-FEFF1EC166F2}" type="slidenum">
              <a:rPr lang="en-GB" smtClean="0"/>
              <a:pPr/>
              <a:t>18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868B11-C99A-BDB7-594C-38F2FBD8E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139" y="1685925"/>
            <a:ext cx="8506672" cy="4518985"/>
          </a:xfrm>
          <a:prstGeom prst="rect">
            <a:avLst/>
          </a:prstGeom>
        </p:spPr>
      </p:pic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4DC4F603-5FF7-FE2E-E252-A577650B2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4294" y="6442610"/>
            <a:ext cx="7333673" cy="365125"/>
          </a:xfrm>
        </p:spPr>
        <p:txBody>
          <a:bodyPr/>
          <a:lstStyle/>
          <a:p>
            <a:r>
              <a:rPr lang="en-US"/>
              <a:t>Module 4: Treatment and Care,  Chapter 1: Drug-susceptible tuberculosis treatment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07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0">
            <a:extLst>
              <a:ext uri="{FF2B5EF4-FFF2-40B4-BE49-F238E27FC236}">
                <a16:creationId xmlns:a16="http://schemas.microsoft.com/office/drawing/2014/main" id="{D2CE25C5-E1FB-A7E9-DBB4-07722271E149}"/>
              </a:ext>
            </a:extLst>
          </p:cNvPr>
          <p:cNvSpPr txBox="1">
            <a:spLocks/>
          </p:cNvSpPr>
          <p:nvPr/>
        </p:nvSpPr>
        <p:spPr>
          <a:xfrm>
            <a:off x="288286" y="101869"/>
            <a:ext cx="7333673" cy="815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kern="0">
                <a:solidFill>
                  <a:schemeClr val="bg1"/>
                </a:solidFill>
                <a:latin typeface="Source Sans Pro"/>
                <a:ea typeface="Source Sans Pro"/>
                <a:cs typeface="Calibri"/>
              </a:rPr>
              <a:t>Operational Handbook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38A9E4D-43EF-1F1A-5243-1DB11B5E71D6}"/>
              </a:ext>
            </a:extLst>
          </p:cNvPr>
          <p:cNvSpPr txBox="1">
            <a:spLocks/>
          </p:cNvSpPr>
          <p:nvPr/>
        </p:nvSpPr>
        <p:spPr>
          <a:xfrm>
            <a:off x="335359" y="955215"/>
            <a:ext cx="11642275" cy="81590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100000"/>
              </a:lnSpc>
              <a:buClrTx/>
              <a:buFontTx/>
              <a:buNone/>
            </a:pPr>
            <a:r>
              <a:rPr lang="en-US" sz="2400" b="1" kern="0">
                <a:solidFill>
                  <a:srgbClr val="FF0000"/>
                </a:solidFill>
              </a:rPr>
              <a:t>What is the recommended dosing frequency for DS-TB in all patients?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EC2CF0-7C84-B4AB-C349-B79BCFC7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2810" y="6442610"/>
            <a:ext cx="1309214" cy="365125"/>
          </a:xfrm>
        </p:spPr>
        <p:txBody>
          <a:bodyPr/>
          <a:lstStyle/>
          <a:p>
            <a:fld id="{92E002D6-D190-45E2-A289-FEFF1EC166F2}" type="slidenum">
              <a:rPr lang="en-GB" smtClean="0"/>
              <a:pPr/>
              <a:t>19</a:t>
            </a:fld>
            <a:endParaRPr lang="en-GB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D40FEA42-D23F-B0A8-F63F-19D6CA9A62D9}"/>
              </a:ext>
            </a:extLst>
          </p:cNvPr>
          <p:cNvGraphicFramePr/>
          <p:nvPr/>
        </p:nvGraphicFramePr>
        <p:xfrm>
          <a:off x="335358" y="1494693"/>
          <a:ext cx="11642275" cy="40945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44021D04-6F28-0379-5C8C-A626F7B9F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4294" y="6442610"/>
            <a:ext cx="7333673" cy="365125"/>
          </a:xfrm>
        </p:spPr>
        <p:txBody>
          <a:bodyPr/>
          <a:lstStyle/>
          <a:p>
            <a:r>
              <a:rPr lang="en-US"/>
              <a:t>Module 4: Treatment and Care,  Chapter 1: Drug-susceptible tuberculosis treatment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237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4FB6BA-898E-059A-B298-0218FC0A7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02D6-D190-45E2-A289-FEFF1EC166F2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2" name="Title 20">
            <a:extLst>
              <a:ext uri="{FF2B5EF4-FFF2-40B4-BE49-F238E27FC236}">
                <a16:creationId xmlns:a16="http://schemas.microsoft.com/office/drawing/2014/main" id="{D2CE25C5-E1FB-A7E9-DBB4-07722271E149}"/>
              </a:ext>
            </a:extLst>
          </p:cNvPr>
          <p:cNvSpPr txBox="1">
            <a:spLocks/>
          </p:cNvSpPr>
          <p:nvPr/>
        </p:nvSpPr>
        <p:spPr>
          <a:xfrm>
            <a:off x="288286" y="101869"/>
            <a:ext cx="7333673" cy="815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kern="0">
                <a:solidFill>
                  <a:schemeClr val="bg1"/>
                </a:solidFill>
                <a:latin typeface="Source Sans Pro"/>
                <a:ea typeface="Source Sans Pro"/>
                <a:cs typeface="Calibri"/>
              </a:rPr>
              <a:t>Main messages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D5F8D7-4BAE-CF51-BE26-248A39889BAD}"/>
              </a:ext>
            </a:extLst>
          </p:cNvPr>
          <p:cNvSpPr txBox="1"/>
          <p:nvPr/>
        </p:nvSpPr>
        <p:spPr>
          <a:xfrm>
            <a:off x="479375" y="1264547"/>
            <a:ext cx="11535415" cy="443198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l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800">
                <a:solidFill>
                  <a:schemeClr val="tx1"/>
                </a:solidFill>
              </a:rPr>
              <a:t>The 6-month regimen </a:t>
            </a:r>
            <a:r>
              <a:rPr lang="en-US" sz="2800" b="0">
                <a:solidFill>
                  <a:schemeClr val="tx1"/>
                </a:solidFill>
              </a:rPr>
              <a:t>is applicable for all DS-TB patients regardless of age, including children, adolescents and adults.</a:t>
            </a:r>
          </a:p>
          <a:p>
            <a:pPr marL="457200" indent="-457200" algn="l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800" b="0">
                <a:solidFill>
                  <a:schemeClr val="tx1"/>
                </a:solidFill>
              </a:rPr>
              <a:t>While </a:t>
            </a:r>
            <a:r>
              <a:rPr lang="en-US" sz="2800">
                <a:solidFill>
                  <a:schemeClr val="tx1"/>
                </a:solidFill>
              </a:rPr>
              <a:t>4-month regimens </a:t>
            </a:r>
            <a:r>
              <a:rPr lang="en-US" sz="2800" b="0">
                <a:solidFill>
                  <a:schemeClr val="tx1"/>
                </a:solidFill>
              </a:rPr>
              <a:t>represent a significant advancement in DS-TB treatment, they have certain limitations</a:t>
            </a:r>
          </a:p>
          <a:p>
            <a:pPr marL="457200" indent="-457200" algn="l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800">
                <a:solidFill>
                  <a:schemeClr val="tx1"/>
                </a:solidFill>
              </a:rPr>
              <a:t>For patients aged between 12 and 16 years</a:t>
            </a:r>
            <a:r>
              <a:rPr lang="en-US" sz="2800" b="0">
                <a:solidFill>
                  <a:schemeClr val="tx1"/>
                </a:solidFill>
              </a:rPr>
              <a:t>, it is essential to follow specific criteria when selecting the appropriate treatment regimen. </a:t>
            </a:r>
          </a:p>
          <a:p>
            <a:pPr marL="457200" indent="-457200" algn="l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800">
                <a:solidFill>
                  <a:schemeClr val="tx1"/>
                </a:solidFill>
                <a:latin typeface="Arial"/>
              </a:rPr>
              <a:t>Age, weight, duration, pill burden, severity of EPTB </a:t>
            </a:r>
            <a:r>
              <a:rPr lang="en-US" sz="2800" b="0">
                <a:solidFill>
                  <a:schemeClr val="tx1"/>
                </a:solidFill>
                <a:latin typeface="Arial"/>
              </a:rPr>
              <a:t>and other  considerations should guide the decision when opting for 4-months regimens.</a:t>
            </a:r>
            <a:endParaRPr lang="en-US" sz="2800" b="0">
              <a:solidFill>
                <a:schemeClr val="tx1"/>
              </a:solidFill>
            </a:endParaRP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4F3EE9D3-DF27-FA12-3113-13E12A40F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4294" y="6442610"/>
            <a:ext cx="7333673" cy="365125"/>
          </a:xfrm>
        </p:spPr>
        <p:txBody>
          <a:bodyPr/>
          <a:lstStyle/>
          <a:p>
            <a:r>
              <a:rPr lang="en-US"/>
              <a:t>Module 4: Treatment and Care,  Chapter 1: Drug-susceptible tuberculosis treatment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4403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6" name="Google Shape;356;p24"/>
          <p:cNvGraphicFramePr/>
          <p:nvPr/>
        </p:nvGraphicFramePr>
        <p:xfrm>
          <a:off x="0" y="550201"/>
          <a:ext cx="12192000" cy="636567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8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6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959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Eligibility for 4 month regimen (</a:t>
                      </a: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Non-severe TB)</a:t>
                      </a:r>
                      <a:r>
                        <a:rPr lang="en-US" sz="1600" u="none" strike="noStrike" cap="none">
                          <a:solidFill>
                            <a:srgbClr val="FEFEFE"/>
                          </a:solidFill>
                        </a:rPr>
                        <a:t> </a:t>
                      </a: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</a:rPr>
                        <a:t>(2RHZ(E)/2RH) </a:t>
                      </a:r>
                      <a:endParaRPr sz="1600" b="1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959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Eligibility for 6 month regimen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(Severe TB) </a:t>
                      </a: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</a:rPr>
                        <a:t>(2RHZ(E)/4RH) </a:t>
                      </a:r>
                      <a:endParaRPr sz="1600" b="1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959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Eligibility for 12 months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959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</a:t>
                      </a:r>
                      <a:endParaRPr sz="1800" u="none" strike="noStrike" cap="none"/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≥1 year to 10 years (Non-severe TB)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&lt;1yr or 11 - 15 yrs </a:t>
                      </a:r>
                      <a:endParaRPr/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1yr to 10 yrs (severe TB)</a:t>
                      </a:r>
                      <a:endParaRPr sz="1800" u="none" strike="noStrike" cap="none"/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ages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of TB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Pulmonary TB</a:t>
                      </a:r>
                      <a:endParaRPr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Uncomplicated TB cervical lymphadenitis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Stable enough to be managed as an outpatient at the point of diagnosis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danger signs 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Severe Pulmonary TB</a:t>
                      </a:r>
                      <a:endParaRPr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Extra Pulmonary TB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hospitalized patients at the point of diagnosis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Severely ill at diagnosis with any danger signs such as;  </a:t>
                      </a:r>
                      <a:endParaRPr/>
                    </a:p>
                    <a:p>
                      <a:pPr marL="742950" marR="0" lvl="1" indent="-28575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Char char="•"/>
                      </a:pPr>
                      <a:r>
                        <a:rPr lang="en-US" sz="1600" u="none" strike="noStrike" cap="none"/>
                        <a:t>Difficulty in breathing with associated central cyanosis, Grunting, Oxygen saturation &lt;90%, Increased respiratory rate (age 0-2 months &gt;60/min; 2-12 months &gt;50/min; 1-5yr &gt;40/min; 6-10yr &gt;30/min); unable to drink/breastfeed; Weak or absent pulse; Coma/convulsing/confusion; Not responding to pain or unresponsive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TB Meningitis &amp; Osteoarticular TB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Nutritional status</a:t>
                      </a:r>
                      <a:endParaRPr sz="16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Normal/MAM/Overweight/Obese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Severe acute malnutrition (SAM) 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Immune status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HIV negative</a:t>
                      </a:r>
                      <a:endParaRPr/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other immunosuppressive condition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HIV positive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Any immunosuppressive condition (cancer, Diabetes, etc)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Bacteriologic status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Bacteriologically negative</a:t>
                      </a:r>
                      <a:endParaRPr sz="1800"/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Clinically diagnosed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Bacteriologically confirmed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Treatment regimen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months - 2RHZE / 2RH</a:t>
                      </a:r>
                      <a:endParaRPr sz="16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months - 2RHZE / 4RH</a:t>
                      </a:r>
                      <a:endParaRPr sz="16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months- 2RHZE / 10RH</a:t>
                      </a:r>
                      <a:endParaRPr sz="16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82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*If the child has known contact with a person with DRTB, this table does not apply, start the child on treatment as per the DRTB guidelines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B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7" name="Google Shape;357;p24"/>
          <p:cNvSpPr/>
          <p:nvPr/>
        </p:nvSpPr>
        <p:spPr>
          <a:xfrm>
            <a:off x="0" y="0"/>
            <a:ext cx="12191999" cy="550200"/>
          </a:xfrm>
          <a:prstGeom prst="rect">
            <a:avLst/>
          </a:prstGeom>
          <a:solidFill>
            <a:srgbClr val="7AB7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Tuberculosis treatment regimens for Kenya for children 1-10 years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FD8B9-F5EE-F4F4-3170-BDF9A5DB7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 dirty="0"/>
              <a:t>SUMMARY OF TB TREATMENT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F1C3EAB-35EC-5606-740E-EC8E59E305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014" y="1825625"/>
            <a:ext cx="574197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5709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F11A6-3974-CB75-E8DD-9A48A569F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dirty="0">
                <a:solidFill>
                  <a:srgbClr val="001D35"/>
                </a:solidFill>
                <a:effectLst/>
                <a:latin typeface="Google Sans"/>
              </a:rPr>
              <a:t>Standard Practice:</a:t>
            </a:r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 </a:t>
            </a:r>
            <a:b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</a:b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5ADE2-A1F7-B858-98FF-9F62DC2B8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Kenya has adopted this shorter 4-month regimen as the new standard for treating non-severe TB in children, replacing the 6-month regimen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8364120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F41B7-11CB-C9EB-8A15-A01E85B0A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Why the Change Matters:</a:t>
            </a:r>
            <a:b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</a:b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07FA0-E2E0-6A5C-D312-5609823DE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1D35"/>
                </a:solidFill>
                <a:effectLst/>
                <a:latin typeface="Google Sans"/>
              </a:rPr>
              <a:t>Improved Treatment:</a:t>
            </a:r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 </a:t>
            </a:r>
          </a:p>
          <a:p>
            <a:pPr marL="0" indent="0" algn="l" fontAlgn="ctr">
              <a:buNone/>
            </a:pPr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A shorter regimen means improved adherence and less toxicity for children, making treatment more feasible and effective. </a:t>
            </a:r>
            <a:endParaRPr lang="en-GB" b="0" i="0" dirty="0">
              <a:solidFill>
                <a:srgbClr val="0B57D0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1D35"/>
                </a:solidFill>
                <a:effectLst/>
                <a:latin typeface="Google Sans"/>
              </a:rPr>
              <a:t>Child-Friendly Formulations:</a:t>
            </a:r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 </a:t>
            </a:r>
          </a:p>
          <a:p>
            <a:pPr marL="0" indent="0" algn="l">
              <a:buNone/>
            </a:pPr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The use of child-friendly, fixed-dose combination (FDC) medicines makes it easier to administer the drugs correctly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620372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855" y="5349451"/>
            <a:ext cx="1264596" cy="163653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1"/>
          <p:cNvSpPr/>
          <p:nvPr/>
        </p:nvSpPr>
        <p:spPr>
          <a:xfrm>
            <a:off x="2334637" y="6011694"/>
            <a:ext cx="10285471" cy="9765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1"/>
          <p:cNvSpPr/>
          <p:nvPr/>
        </p:nvSpPr>
        <p:spPr>
          <a:xfrm>
            <a:off x="-2470024" y="4816737"/>
            <a:ext cx="5571242" cy="5571242"/>
          </a:xfrm>
          <a:prstGeom prst="ellipse">
            <a:avLst/>
          </a:prstGeom>
          <a:solidFill>
            <a:srgbClr val="7AB7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1"/>
          <p:cNvSpPr/>
          <p:nvPr/>
        </p:nvSpPr>
        <p:spPr>
          <a:xfrm>
            <a:off x="-2394433" y="5115060"/>
            <a:ext cx="5645084" cy="557124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64975" y="6093259"/>
            <a:ext cx="806551" cy="80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1026" y="5204912"/>
            <a:ext cx="1361872" cy="1925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1"/>
          <p:cNvSpPr/>
          <p:nvPr/>
        </p:nvSpPr>
        <p:spPr>
          <a:xfrm>
            <a:off x="6284207" y="6011729"/>
            <a:ext cx="6459119" cy="976596"/>
          </a:xfrm>
          <a:prstGeom prst="rect">
            <a:avLst/>
          </a:prstGeom>
          <a:solidFill>
            <a:srgbClr val="7AB7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1"/>
          <p:cNvSpPr/>
          <p:nvPr/>
        </p:nvSpPr>
        <p:spPr>
          <a:xfrm>
            <a:off x="6284207" y="6007086"/>
            <a:ext cx="1849213" cy="978899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1"/>
          <p:cNvSpPr/>
          <p:nvPr/>
        </p:nvSpPr>
        <p:spPr>
          <a:xfrm>
            <a:off x="2858703" y="487605"/>
            <a:ext cx="5948413" cy="3880815"/>
          </a:xfrm>
          <a:prstGeom prst="rect">
            <a:avLst/>
          </a:prstGeom>
          <a:solidFill>
            <a:srgbClr val="7AB746">
              <a:alpha val="42745"/>
            </a:srgbClr>
          </a:solidFill>
          <a:ln w="1270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1"/>
          <p:cNvSpPr txBox="1"/>
          <p:nvPr/>
        </p:nvSpPr>
        <p:spPr>
          <a:xfrm>
            <a:off x="2098307" y="1448974"/>
            <a:ext cx="7786838" cy="3900477"/>
          </a:xfrm>
          <a:prstGeom prst="rect">
            <a:avLst/>
          </a:prstGeom>
          <a:solidFill>
            <a:srgbClr val="7AB7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Monitoring and Evaluation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5"/>
          <p:cNvSpPr/>
          <p:nvPr/>
        </p:nvSpPr>
        <p:spPr>
          <a:xfrm>
            <a:off x="2828081" y="1427493"/>
            <a:ext cx="2891400" cy="1194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Children with non severe TB on the four-month regimen (2RHZE/2RH)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5"/>
          <p:cNvSpPr/>
          <p:nvPr/>
        </p:nvSpPr>
        <p:spPr>
          <a:xfrm>
            <a:off x="2766325" y="3225399"/>
            <a:ext cx="2891400" cy="14625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Children with severe TB on the six-month regimen (2RHZE/4RH)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5"/>
          <p:cNvSpPr/>
          <p:nvPr/>
        </p:nvSpPr>
        <p:spPr>
          <a:xfrm>
            <a:off x="5781250" y="1812000"/>
            <a:ext cx="1063800" cy="790800"/>
          </a:xfrm>
          <a:prstGeom prst="rightArrow">
            <a:avLst>
              <a:gd name="adj1" fmla="val 11331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5"/>
          <p:cNvSpPr/>
          <p:nvPr/>
        </p:nvSpPr>
        <p:spPr>
          <a:xfrm>
            <a:off x="6968588" y="1186800"/>
            <a:ext cx="5003018" cy="161592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during the course of treatment the child has any of the severe classification features, treatment should be converted to 6 months or 12 months if meningitis or osteoarticular and investigations for possible DR TB commenced as per the guidelines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5"/>
          <p:cNvSpPr/>
          <p:nvPr/>
        </p:nvSpPr>
        <p:spPr>
          <a:xfrm>
            <a:off x="6968588" y="3060163"/>
            <a:ext cx="5003018" cy="2106662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patients should be regularly monitored to assess their response to therapy. For those with bacteriological positive results at start of treatment, smear microscopy should be done at 2,5,and 6 months of treatment. Investigate for DR TB for those with treatment failure or poor response to treatment as per the guidelines</a:t>
            </a:r>
            <a:endParaRPr sz="1600">
              <a:solidFill>
                <a:srgbClr val="231F2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5"/>
          <p:cNvSpPr/>
          <p:nvPr/>
        </p:nvSpPr>
        <p:spPr>
          <a:xfrm>
            <a:off x="360694" y="1185108"/>
            <a:ext cx="2282106" cy="3981717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children on treatment for Drug sensitive TB should be reviewed weekly during the intensive phase and two weekly during the continuation phase as per the guidelines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5"/>
          <p:cNvSpPr/>
          <p:nvPr/>
        </p:nvSpPr>
        <p:spPr>
          <a:xfrm>
            <a:off x="5781250" y="3427450"/>
            <a:ext cx="1063800" cy="790800"/>
          </a:xfrm>
          <a:prstGeom prst="rightArrow">
            <a:avLst>
              <a:gd name="adj1" fmla="val 11331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4" name="Google Shape;444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7475" y="5395898"/>
            <a:ext cx="9655363" cy="1462101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5"/>
          <p:cNvSpPr/>
          <p:nvPr/>
        </p:nvSpPr>
        <p:spPr>
          <a:xfrm>
            <a:off x="360694" y="167390"/>
            <a:ext cx="11610912" cy="760280"/>
          </a:xfrm>
          <a:prstGeom prst="rect">
            <a:avLst/>
          </a:prstGeom>
          <a:solidFill>
            <a:srgbClr val="7AB7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Monitoring of treatment</a:t>
            </a:r>
            <a:endParaRPr sz="4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3"/>
          <p:cNvSpPr txBox="1">
            <a:spLocks noGrp="1"/>
          </p:cNvSpPr>
          <p:nvPr>
            <p:ph type="title"/>
          </p:nvPr>
        </p:nvSpPr>
        <p:spPr>
          <a:xfrm>
            <a:off x="96838" y="122830"/>
            <a:ext cx="11567615" cy="54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353"/>
              <a:buFont typeface="Calibri"/>
              <a:buNone/>
            </a:pPr>
            <a:r>
              <a:rPr lang="en-US"/>
              <a:t>Document severity and regimen on TB5 as shown</a:t>
            </a:r>
            <a:endParaRPr/>
          </a:p>
        </p:txBody>
      </p:sp>
      <p:pic>
        <p:nvPicPr>
          <p:cNvPr id="420" name="Google Shape;420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838" y="781297"/>
            <a:ext cx="11872249" cy="589583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21" name="Google Shape;421;p33"/>
          <p:cNvSpPr/>
          <p:nvPr/>
        </p:nvSpPr>
        <p:spPr>
          <a:xfrm>
            <a:off x="7708900" y="6172200"/>
            <a:ext cx="3022600" cy="50492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15700" y="5572937"/>
            <a:ext cx="475866" cy="55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4"/>
          <p:cNvSpPr txBox="1">
            <a:spLocks noGrp="1"/>
          </p:cNvSpPr>
          <p:nvPr>
            <p:ph type="title"/>
          </p:nvPr>
        </p:nvSpPr>
        <p:spPr>
          <a:xfrm>
            <a:off x="818879" y="0"/>
            <a:ext cx="10515600" cy="6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/>
              <a:t>Document regimen onTB4 as shown</a:t>
            </a:r>
            <a:endParaRPr/>
          </a:p>
        </p:txBody>
      </p:sp>
      <p:grpSp>
        <p:nvGrpSpPr>
          <p:cNvPr id="429" name="Google Shape;429;p34"/>
          <p:cNvGrpSpPr/>
          <p:nvPr/>
        </p:nvGrpSpPr>
        <p:grpSpPr>
          <a:xfrm>
            <a:off x="217714" y="699400"/>
            <a:ext cx="11642190" cy="5941697"/>
            <a:chOff x="217714" y="460712"/>
            <a:chExt cx="11642190" cy="6180386"/>
          </a:xfrm>
        </p:grpSpPr>
        <p:pic>
          <p:nvPicPr>
            <p:cNvPr id="430" name="Google Shape;430;p3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7714" y="460712"/>
              <a:ext cx="11642190" cy="61803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" name="Google Shape;431;p34"/>
            <p:cNvSpPr/>
            <p:nvPr/>
          </p:nvSpPr>
          <p:spPr>
            <a:xfrm>
              <a:off x="217714" y="3766457"/>
              <a:ext cx="656921" cy="609599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2RHZE/2RH</a:t>
              </a:r>
              <a:endParaRPr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DC3A17-3BBA-1B91-CD0E-9CFE40606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" y="32614"/>
            <a:ext cx="12041673" cy="60284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3DF1C09-8568-B65C-38E7-6FC144FD5914}"/>
              </a:ext>
            </a:extLst>
          </p:cNvPr>
          <p:cNvSpPr/>
          <p:nvPr/>
        </p:nvSpPr>
        <p:spPr>
          <a:xfrm>
            <a:off x="20623" y="6351207"/>
            <a:ext cx="3550916" cy="501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0897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656">
                <a:solidFill>
                  <a:srgbClr val="FF0000"/>
                </a:solidFill>
                <a:highlight>
                  <a:srgbClr val="C0C0C0"/>
                </a:highlight>
                <a:latin typeface="Calibri" panose="020F0502020204030204"/>
              </a:rPr>
              <a:t>https://tbksp.who.int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0C701C-A9DD-76EE-136B-82B7CA9CEB8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42" t="1926" r="4783" b="2259"/>
          <a:stretch/>
        </p:blipFill>
        <p:spPr>
          <a:xfrm>
            <a:off x="6326484" y="3021044"/>
            <a:ext cx="1760904" cy="3739608"/>
          </a:xfrm>
          <a:prstGeom prst="rect">
            <a:avLst/>
          </a:prstGeom>
          <a:ln w="19050">
            <a:solidFill>
              <a:schemeClr val="bg1">
                <a:lumMod val="85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4AF24D-9F99-6F7E-844A-DFD43CBD0D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2464" y="5605511"/>
            <a:ext cx="1239225" cy="123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68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9620"/>
    </mc:Choice>
    <mc:Fallback xmlns="">
      <p:transition advTm="4962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13FE04C-1B4E-A96D-0473-3F69BEC4CF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KE" sz="4000" dirty="0"/>
          </a:p>
          <a:p>
            <a:r>
              <a:rPr lang="en-KE" sz="40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051343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10258</TotalTime>
  <Words>2752</Words>
  <Application>Microsoft Macintosh PowerPoint</Application>
  <PresentationFormat>Widescreen</PresentationFormat>
  <Paragraphs>286</Paragraphs>
  <Slides>30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Arial</vt:lpstr>
      <vt:lpstr>Arvo</vt:lpstr>
      <vt:lpstr>Barlow Condensed Bold</vt:lpstr>
      <vt:lpstr>Calibri</vt:lpstr>
      <vt:lpstr>Calibri Light</vt:lpstr>
      <vt:lpstr>Google Sans</vt:lpstr>
      <vt:lpstr>HelveticaNeue regular</vt:lpstr>
      <vt:lpstr>Palatino Linotype</vt:lpstr>
      <vt:lpstr>Source Sans Pro</vt:lpstr>
      <vt:lpstr>Wingdings</vt:lpstr>
      <vt:lpstr>Office Theme</vt:lpstr>
      <vt:lpstr>IMPLEMENTATION OF SHORTER TERM REGIMEN FOR DRUG SENSITIVE TB IN CHILDREN:UPDATES</vt:lpstr>
      <vt:lpstr>OVERVIEW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OF TB TREATMENT</vt:lpstr>
      <vt:lpstr>Standard Practice:  </vt:lpstr>
      <vt:lpstr>Why the Change Matters: </vt:lpstr>
      <vt:lpstr>PowerPoint Presentation</vt:lpstr>
      <vt:lpstr>PowerPoint Presentation</vt:lpstr>
      <vt:lpstr>Document severity and regimen on TB5 as shown</vt:lpstr>
      <vt:lpstr>Document regimen onTB4 as shown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SHORT TERM TB REGIMENS IN CHILDREN</dc:title>
  <dc:creator>Everlyne Kegode</dc:creator>
  <cp:lastModifiedBy>Everlyne Kegode</cp:lastModifiedBy>
  <cp:revision>5</cp:revision>
  <dcterms:created xsi:type="dcterms:W3CDTF">2025-09-10T12:47:47Z</dcterms:created>
  <dcterms:modified xsi:type="dcterms:W3CDTF">2025-09-28T11:19:52Z</dcterms:modified>
</cp:coreProperties>
</file>