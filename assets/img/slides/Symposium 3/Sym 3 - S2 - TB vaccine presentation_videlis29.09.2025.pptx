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28"/>
  </p:notesMasterIdLst>
  <p:sldIdLst>
    <p:sldId id="256" r:id="rId2"/>
    <p:sldId id="805" r:id="rId3"/>
    <p:sldId id="804" r:id="rId4"/>
    <p:sldId id="806" r:id="rId5"/>
    <p:sldId id="258" r:id="rId6"/>
    <p:sldId id="269" r:id="rId7"/>
    <p:sldId id="260" r:id="rId8"/>
    <p:sldId id="270" r:id="rId9"/>
    <p:sldId id="599" r:id="rId10"/>
    <p:sldId id="303" r:id="rId11"/>
    <p:sldId id="261" r:id="rId12"/>
    <p:sldId id="274" r:id="rId13"/>
    <p:sldId id="267" r:id="rId14"/>
    <p:sldId id="811" r:id="rId15"/>
    <p:sldId id="791" r:id="rId16"/>
    <p:sldId id="792" r:id="rId17"/>
    <p:sldId id="793" r:id="rId18"/>
    <p:sldId id="794" r:id="rId19"/>
    <p:sldId id="796" r:id="rId20"/>
    <p:sldId id="797" r:id="rId21"/>
    <p:sldId id="798" r:id="rId22"/>
    <p:sldId id="801" r:id="rId23"/>
    <p:sldId id="299" r:id="rId24"/>
    <p:sldId id="808" r:id="rId25"/>
    <p:sldId id="809" r:id="rId26"/>
    <p:sldId id="278" r:id="rId27"/>
  </p:sldIdLst>
  <p:sldSz cx="9906000" cy="6858000" type="A4"/>
  <p:notesSz cx="9906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59"/>
    <p:restoredTop sz="94700"/>
  </p:normalViewPr>
  <p:slideViewPr>
    <p:cSldViewPr>
      <p:cViewPr varScale="1">
        <p:scale>
          <a:sx n="118" d="100"/>
          <a:sy n="118" d="100"/>
        </p:scale>
        <p:origin x="992" y="19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200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11813" y="0"/>
            <a:ext cx="42926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2A40BE-ABB9-A249-8994-9CC54D45E40F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95625" y="514350"/>
            <a:ext cx="37147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2926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11813" y="6513513"/>
            <a:ext cx="42926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C8DE4-FBC8-7843-BEB1-DA8ABE35F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1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BB721-0EAC-5F43-A670-0F6BBAB068A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1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0AD0-6A58-DE7E-2F7D-EC778439D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A9DC4-7639-1F65-F199-091C4CF73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ED3AA-D02F-847C-3B0C-FAF319BBA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A3802-1ED5-A45D-65E6-1F18E0A4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D7927-DE85-BF38-CAF4-64A80E7D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7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7F172-0F65-834F-139B-3008C2EF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40B16-7F40-C694-0251-F1D518C09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936A0-D2A4-28BB-4172-2D02AE23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8A30B-19E9-699F-8855-CC571294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488CE-710E-8910-DE6F-08ADD2640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58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8423E-E0A2-1B67-CF7D-0D6A9524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FADC5-F805-5297-EDF3-7F04E28B7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38C4F-0685-DE36-4D64-2673F222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3BEB0-28D0-7F2E-06CA-6E1E74E0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D29DF-38CE-D7C1-8B1A-C40EF345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3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0ADF7-A4AE-4EA8-4A88-B5BFF4947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0AEBA-D87C-5FFA-1370-F7C8BF82F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A288A-7D62-96F6-7277-B0EF2598E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D6B76-71C0-D6D3-F57A-8F396ED3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987F7-3A01-686E-4EC8-B087666D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342EF-C7F2-0653-63F7-4FF6E4BF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490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B488-F558-AB86-EB24-EF8DE90E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1623D0-DE0B-DD8A-BF1B-F10E6C0EB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600FB-7BF6-A035-A064-C1DD6428D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257237-B668-554E-992F-A20568336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77E33-2357-735B-2BA4-7D2F19D97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41FB6-DD78-85BF-FB81-67238037E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91D21-515C-0C55-FA13-D30CCA40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70C671-037C-DFEB-97FE-EB9C090B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0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5B0E1-3F58-C9FB-EBEC-E487BA54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6CEF2-E713-F790-31FE-1D1B0EECF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82638-F847-4F02-BDE2-D329A8FF4853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367DA-9C8C-7E0A-7B81-6E4F7DF37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B0EC8-FB79-31C0-159E-33F59148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18DDF-99D5-4322-BD36-169571135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8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556AC-F12C-E263-EAAA-82B3C7BE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9B98C-EB24-4B65-6040-D5FDC8917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25588-1436-97FE-EAD9-57FD24FC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14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9FFE-5F88-1109-0832-4A0F430C1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E20AD-ADA9-3512-8297-76AE8A2CA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99FD8-2B83-D476-3FF1-047EEE21E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7BF78-6052-3B83-A75E-EFA0DD04D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02307-27EF-6380-9CA3-DD60C7E5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59BB0-3A10-5AA1-CF5A-0D5031809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D2FA-3CC8-84C0-DEBD-87FFB74EF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A8FAF-A0B8-5EE3-5769-AC2317E0B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7FF60-A585-B08D-39D2-20184CD39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1456B-4C02-1119-5A7E-6F7B29D9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E2EC3-5836-10AF-8FFF-0E54FEF4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59EBF-F778-37F0-5AC4-A2F8CB45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1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159A-F210-EF19-B5FC-FE511113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61E9A-D21F-2C63-49A0-6777E4D0B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904DA-E813-B2B4-7BFC-74DA663E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3ECC3-EE99-123C-FAA6-4841DE67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28E08-E65A-778B-4F60-51442B3E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2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7E1DC-F77B-4A63-D7CA-7DFCC100A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42ADA-0E7C-E001-86FC-C2FC3D5D1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1CBC1-546A-8ABA-6C70-45D5FAB0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3CE4D-E434-D7DB-14A5-5D514A78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D177B-C7B9-362F-7FB3-136A2798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52DE3-3D3A-5263-AB7C-CCD93548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53268-7056-02B4-6989-EF9C0298D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303FB-B8DA-FE74-61F2-589EAC905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54B8A-6E71-BA47-B52E-58F5FF77A20C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D397D-4D1B-B1DC-7232-FB4F39784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9BD90-C338-2AD9-A50C-77F20D6DB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A6F6A-1AC9-214F-AA03-066723DDD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7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3000" y="990600"/>
            <a:ext cx="7543800" cy="5486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4715"/>
              </a:lnSpc>
            </a:pPr>
            <a:r>
              <a:rPr sz="6600" baseline="3103" dirty="0">
                <a:latin typeface="Calibri"/>
                <a:cs typeface="Calibri"/>
              </a:rPr>
              <a:t> </a:t>
            </a:r>
            <a:r>
              <a:rPr sz="6600" baseline="3103" dirty="0">
                <a:solidFill>
                  <a:srgbClr val="FF0000"/>
                </a:solidFill>
                <a:latin typeface="Calibri"/>
                <a:cs typeface="Calibri"/>
              </a:rPr>
              <a:t>Tuberculosis Vaccine </a:t>
            </a:r>
            <a:endParaRPr sz="4400" dirty="0">
              <a:latin typeface="Calibri"/>
              <a:cs typeface="Calibri"/>
            </a:endParaRPr>
          </a:p>
          <a:p>
            <a:pPr marL="851269" marR="766889" algn="ctr">
              <a:lnSpc>
                <a:spcPts val="5200"/>
              </a:lnSpc>
            </a:pPr>
            <a:r>
              <a:rPr sz="6600" baseline="1861" dirty="0">
                <a:solidFill>
                  <a:srgbClr val="FF0000"/>
                </a:solidFill>
                <a:latin typeface="Calibri"/>
                <a:cs typeface="Calibri"/>
              </a:rPr>
              <a:t>Development  </a:t>
            </a:r>
            <a:endParaRPr lang="en-US" sz="4400" dirty="0">
              <a:latin typeface="Calibri"/>
              <a:cs typeface="Calibri"/>
            </a:endParaRPr>
          </a:p>
          <a:p>
            <a:pPr marL="851269" marR="766889" algn="ctr">
              <a:lnSpc>
                <a:spcPts val="5200"/>
              </a:lnSpc>
            </a:pPr>
            <a:r>
              <a:rPr lang="en-US" sz="3200" spc="0" dirty="0" err="1">
                <a:solidFill>
                  <a:srgbClr val="888888"/>
                </a:solidFill>
                <a:latin typeface="Calibri"/>
                <a:cs typeface="Calibri"/>
              </a:rPr>
              <a:t>Videlis</a:t>
            </a:r>
            <a:r>
              <a:rPr lang="en-US" sz="3200" spc="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0" dirty="0">
                <a:solidFill>
                  <a:srgbClr val="888888"/>
                </a:solidFill>
                <a:latin typeface="Calibri"/>
                <a:cs typeface="Calibri"/>
              </a:rPr>
              <a:t>Nduba</a:t>
            </a:r>
            <a:r>
              <a:rPr lang="en-US" sz="3200" spc="0" dirty="0">
                <a:solidFill>
                  <a:srgbClr val="888888"/>
                </a:solidFill>
                <a:latin typeface="Calibri"/>
                <a:cs typeface="Calibri"/>
              </a:rPr>
              <a:t>, </a:t>
            </a:r>
            <a:r>
              <a:rPr lang="en-US" sz="3200" spc="0" dirty="0" err="1">
                <a:solidFill>
                  <a:srgbClr val="888888"/>
                </a:solidFill>
                <a:latin typeface="Calibri"/>
                <a:cs typeface="Calibri"/>
              </a:rPr>
              <a:t>MBchB</a:t>
            </a:r>
            <a:r>
              <a:rPr lang="en-US" sz="3200" spc="0" dirty="0">
                <a:solidFill>
                  <a:srgbClr val="888888"/>
                </a:solidFill>
                <a:latin typeface="Calibri"/>
                <a:cs typeface="Calibri"/>
              </a:rPr>
              <a:t>, MPH, PhD</a:t>
            </a:r>
          </a:p>
          <a:p>
            <a:pPr marL="851269" marR="766889" algn="ctr">
              <a:lnSpc>
                <a:spcPts val="5200"/>
              </a:lnSpc>
            </a:pPr>
            <a:r>
              <a:rPr lang="en-US" sz="3200" spc="0" dirty="0">
                <a:solidFill>
                  <a:srgbClr val="888888"/>
                </a:solidFill>
                <a:latin typeface="Calibri"/>
                <a:cs typeface="Calibri"/>
              </a:rPr>
              <a:t>Senior Principal Clinical Research Scientist-CRDR/KEMRI</a:t>
            </a:r>
            <a:r>
              <a:rPr sz="3200" spc="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endParaRPr lang="en-US" sz="3200" spc="0" dirty="0">
              <a:solidFill>
                <a:srgbClr val="888888"/>
              </a:solidFill>
              <a:latin typeface="Calibri"/>
              <a:cs typeface="Calibri"/>
            </a:endParaRPr>
          </a:p>
          <a:p>
            <a:pPr marL="851269" marR="766889" algn="ctr">
              <a:lnSpc>
                <a:spcPts val="5200"/>
              </a:lnSpc>
            </a:pPr>
            <a:r>
              <a:rPr lang="en-US" sz="3200" dirty="0">
                <a:solidFill>
                  <a:srgbClr val="888888"/>
                </a:solidFill>
                <a:latin typeface="Calibri"/>
                <a:cs typeface="Calibri"/>
              </a:rPr>
              <a:t>29</a:t>
            </a:r>
            <a:r>
              <a:rPr lang="en-KE" sz="320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srgbClr val="888888"/>
                </a:solidFill>
                <a:latin typeface="Calibri"/>
                <a:cs typeface="Calibri"/>
              </a:rPr>
              <a:t>September</a:t>
            </a:r>
            <a:r>
              <a:rPr lang="en-KE" sz="3200">
                <a:solidFill>
                  <a:srgbClr val="888888"/>
                </a:solidFill>
                <a:latin typeface="Calibri"/>
                <a:cs typeface="Calibri"/>
              </a:rPr>
              <a:t> 202</a:t>
            </a:r>
            <a:r>
              <a:rPr lang="en-US" sz="320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endParaRPr lang="en-US" sz="3200" dirty="0">
              <a:solidFill>
                <a:srgbClr val="888888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9A49BB8E-F833-E26D-6FFF-4EF16ECBEB83}"/>
              </a:ext>
            </a:extLst>
          </p:cNvPr>
          <p:cNvSpPr txBox="1">
            <a:spLocks/>
          </p:cNvSpPr>
          <p:nvPr/>
        </p:nvSpPr>
        <p:spPr>
          <a:xfrm>
            <a:off x="612648" y="1447800"/>
            <a:ext cx="8153400" cy="4648200"/>
          </a:xfrm>
          <a:prstGeom prst="rect">
            <a:avLst/>
          </a:prstGeom>
        </p:spPr>
        <p:txBody>
          <a:bodyPr/>
          <a:lstStyle>
            <a:lvl1pPr marL="185738" indent="-185738" algn="l" defTabSz="742950" rtl="0" eaLnBrk="1" latinLnBrk="0" hangingPunct="1">
              <a:lnSpc>
                <a:spcPct val="90000"/>
              </a:lnSpc>
              <a:spcBef>
                <a:spcPts val="813"/>
              </a:spcBef>
              <a:buFont typeface="Arial" panose="020B0604020202020204" pitchFamily="34" charset="0"/>
              <a:buChar char="•"/>
              <a:defRPr sz="2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86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6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001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716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4311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1458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6063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57538" indent="-185738" algn="l" defTabSz="742950" rtl="0" eaLnBrk="1" latinLnBrk="0" hangingPunct="1">
              <a:lnSpc>
                <a:spcPct val="90000"/>
              </a:lnSpc>
              <a:spcBef>
                <a:spcPts val="406"/>
              </a:spcBef>
              <a:buFont typeface="Arial" panose="020B0604020202020204" pitchFamily="34" charset="0"/>
              <a:buChar char="•"/>
              <a:defRPr sz="14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End TB strategy advocates for a multi-faceted strategy that includes introducing new tools. These include:</a:t>
            </a:r>
          </a:p>
          <a:p>
            <a:pPr lvl="1"/>
            <a:r>
              <a:rPr lang="en-US" dirty="0"/>
              <a:t> 1) a pre exposure </a:t>
            </a:r>
            <a:r>
              <a:rPr lang="en-US" i="1" dirty="0"/>
              <a:t>vaccine</a:t>
            </a:r>
            <a:r>
              <a:rPr lang="en-US" dirty="0"/>
              <a:t> that protects all ages not yet infected with TB from getting TB disease  and also prevent latently infected people progressing to disease; </a:t>
            </a:r>
          </a:p>
          <a:p>
            <a:pPr lvl="1"/>
            <a:r>
              <a:rPr lang="en-US" dirty="0"/>
              <a:t>2) highly sensitive </a:t>
            </a:r>
            <a:r>
              <a:rPr lang="en-US" i="1" dirty="0"/>
              <a:t>diagnostic tests</a:t>
            </a:r>
            <a:r>
              <a:rPr lang="en-US" dirty="0"/>
              <a:t> for all TB implementable at the point of care; and </a:t>
            </a:r>
          </a:p>
          <a:p>
            <a:pPr lvl="1"/>
            <a:r>
              <a:rPr lang="en-US" dirty="0"/>
              <a:t>3) Effective, shortened and non-toxic </a:t>
            </a:r>
            <a:r>
              <a:rPr lang="en-US" i="1" dirty="0"/>
              <a:t>drug regimens</a:t>
            </a:r>
            <a:r>
              <a:rPr lang="en-US" dirty="0"/>
              <a:t> that can also treat MDR-TB.</a:t>
            </a:r>
            <a:endParaRPr lang="en-KE"/>
          </a:p>
          <a:p>
            <a:endParaRPr lang="en-KE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1DA97BE-CD0C-AD49-3C2F-2625F402B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0456"/>
            <a:ext cx="8153400" cy="466344"/>
          </a:xfrm>
        </p:spPr>
        <p:txBody>
          <a:bodyPr>
            <a:normAutofit fontScale="90000"/>
          </a:bodyPr>
          <a:lstStyle/>
          <a:p>
            <a:r>
              <a:rPr lang="en-KE" dirty="0"/>
              <a:t>End TB strategy</a:t>
            </a:r>
          </a:p>
        </p:txBody>
      </p:sp>
    </p:spTree>
    <p:extLst>
      <p:ext uri="{BB962C8B-B14F-4D97-AF65-F5344CB8AC3E}">
        <p14:creationId xmlns:p14="http://schemas.microsoft.com/office/powerpoint/2010/main" val="70893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4015DB-77D8-62C7-5906-0F930F2D6427}"/>
              </a:ext>
            </a:extLst>
          </p:cNvPr>
          <p:cNvSpPr txBox="1">
            <a:spLocks/>
          </p:cNvSpPr>
          <p:nvPr/>
        </p:nvSpPr>
        <p:spPr>
          <a:xfrm>
            <a:off x="768095" y="838200"/>
            <a:ext cx="8290607" cy="563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7429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57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TB will not be eliminated by 2050 with current tools</a:t>
            </a:r>
            <a:br>
              <a:rPr lang="en-KE"/>
            </a:br>
            <a:endParaRPr lang="en-KE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140992-AC5A-01B5-4025-672DF7AC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6" y="1635172"/>
            <a:ext cx="6941330" cy="432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1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C260C4-0B04-1DEA-004F-ED8608CC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28600"/>
            <a:ext cx="7290054" cy="849574"/>
          </a:xfrm>
        </p:spPr>
        <p:txBody>
          <a:bodyPr vert="horz" lIns="68580" tIns="34290" rIns="68580" bIns="34290" rtlCol="0" anchor="ctr">
            <a:normAutofit fontScale="90000"/>
          </a:bodyPr>
          <a:lstStyle/>
          <a:p>
            <a:r>
              <a:rPr lang="en-US" dirty="0"/>
              <a:t>Projected acceleration of TB incidence decline to target levels</a:t>
            </a:r>
            <a:r>
              <a:rPr lang="en-KE" dirty="0"/>
              <a:t> </a:t>
            </a:r>
          </a:p>
        </p:txBody>
      </p:sp>
      <p:pic>
        <p:nvPicPr>
          <p:cNvPr id="4" name="Content Placeholder 164">
            <a:extLst>
              <a:ext uri="{FF2B5EF4-FFF2-40B4-BE49-F238E27FC236}">
                <a16:creationId xmlns:a16="http://schemas.microsoft.com/office/drawing/2014/main" id="{2F21C35A-DE38-5B2E-7E37-E1CFF7D4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53" y="1809179"/>
            <a:ext cx="7114622" cy="409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56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TB STUDIES-ADOLESCENTS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105" y="2500313"/>
            <a:ext cx="3747725" cy="3268980"/>
          </a:xfrm>
        </p:spPr>
        <p:txBody>
          <a:bodyPr>
            <a:normAutofit fontScale="70000" lnSpcReduction="20000"/>
          </a:bodyPr>
          <a:lstStyle/>
          <a:p>
            <a:pPr>
              <a:buClr>
                <a:srgbClr val="FF0000"/>
              </a:buClr>
              <a:buSzPct val="85000"/>
              <a:buFont typeface="Wingdings" pitchFamily="2" charset="2"/>
              <a:buChar char="§"/>
            </a:pPr>
            <a:r>
              <a:rPr lang="en-US" altLang="en-US" sz="2925" dirty="0"/>
              <a:t>5004 adolescents enrolled</a:t>
            </a:r>
          </a:p>
          <a:p>
            <a:pPr>
              <a:buClr>
                <a:srgbClr val="FF0000"/>
              </a:buClr>
              <a:buSzPct val="85000"/>
              <a:buFont typeface="Wingdings" pitchFamily="2" charset="2"/>
              <a:buChar char="§"/>
            </a:pPr>
            <a:r>
              <a:rPr lang="en-US" altLang="en-US" sz="2925" dirty="0"/>
              <a:t>Objective: determine TB incidence and prevalence in adolescents in preparation for TB vaccine trials</a:t>
            </a:r>
          </a:p>
          <a:p>
            <a:pPr>
              <a:buFont typeface="Wingdings" pitchFamily="2" charset="2"/>
              <a:buChar char="§"/>
            </a:pPr>
            <a:r>
              <a:rPr lang="en-US" altLang="en-US" sz="2600" dirty="0"/>
              <a:t>TB suspects identified through:</a:t>
            </a:r>
          </a:p>
          <a:p>
            <a:pPr marL="603647" lvl="1" indent="-232172">
              <a:buFont typeface="Arial" charset="0"/>
              <a:buChar char="–"/>
            </a:pPr>
            <a:r>
              <a:rPr lang="en-US" altLang="en-US" sz="2600" dirty="0"/>
              <a:t>History of household TB contact</a:t>
            </a:r>
          </a:p>
          <a:p>
            <a:pPr marL="603647" lvl="1" indent="-232172">
              <a:buFont typeface="Arial" charset="0"/>
              <a:buChar char="–"/>
            </a:pPr>
            <a:r>
              <a:rPr lang="en-US" altLang="en-US" sz="2600" dirty="0"/>
              <a:t>Clinical history</a:t>
            </a:r>
          </a:p>
          <a:p>
            <a:pPr marL="603647" lvl="1" indent="-232172">
              <a:buFont typeface="Arial" charset="0"/>
              <a:buChar char="–"/>
            </a:pPr>
            <a:r>
              <a:rPr lang="en-US" altLang="en-US" sz="2600" dirty="0"/>
              <a:t>Tuberculin skin tests (TST), considered positive when:</a:t>
            </a:r>
          </a:p>
          <a:p>
            <a:pPr lvl="2">
              <a:buFont typeface="Arial" charset="0"/>
              <a:buChar char="•"/>
            </a:pPr>
            <a:r>
              <a:rPr lang="en-US" altLang="en-US" sz="2600" dirty="0"/>
              <a:t>≥10mm if HIV negative</a:t>
            </a:r>
          </a:p>
          <a:p>
            <a:pPr lvl="2">
              <a:buFont typeface="Arial" charset="0"/>
              <a:buChar char="•"/>
            </a:pPr>
            <a:r>
              <a:rPr lang="en-US" altLang="en-US" sz="2600" dirty="0"/>
              <a:t>≥5mm if HIV positive</a:t>
            </a:r>
          </a:p>
          <a:p>
            <a:pPr marL="278606" indent="-278606">
              <a:buClr>
                <a:srgbClr val="FF0000"/>
              </a:buClr>
              <a:buSzPct val="85000"/>
              <a:buFont typeface="Wingdings" charset="2"/>
              <a:buChar char="§"/>
            </a:pPr>
            <a:endParaRPr lang="en-US" altLang="en-US" sz="1625" dirty="0"/>
          </a:p>
          <a:p>
            <a:pPr marL="278606" indent="-278606">
              <a:buClr>
                <a:srgbClr val="FF0000"/>
              </a:buClr>
              <a:buSzPct val="85000"/>
              <a:buFont typeface="Wingdings" charset="2"/>
              <a:buChar char="§"/>
            </a:pPr>
            <a:endParaRPr lang="en-US" altLang="en-US" sz="1625" dirty="0"/>
          </a:p>
          <a:p>
            <a:pPr marL="278606" indent="-278606"/>
            <a:endParaRPr lang="en-US" altLang="en-US" sz="1625" dirty="0"/>
          </a:p>
        </p:txBody>
      </p:sp>
      <p:pic>
        <p:nvPicPr>
          <p:cNvPr id="5" name="Content Placeholder 5" descr="pictur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883" y="2336863"/>
            <a:ext cx="3948779" cy="363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019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104" y="2108483"/>
            <a:ext cx="8755004" cy="3674041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GB" dirty="0"/>
              <a:t>Among 4934 adolescents without tuberculosis at baseline, 26 tuberculosis cases were identified during follow up with a corresponding incidence density of 4.4 (95% CI, 3.0-6.4) events per 1000 person years of observation </a:t>
            </a:r>
          </a:p>
          <a:p>
            <a:pPr>
              <a:buFont typeface="Wingdings" pitchFamily="2" charset="2"/>
              <a:buChar char="§"/>
            </a:pPr>
            <a:r>
              <a:rPr lang="en-GB" dirty="0"/>
              <a:t>12 definite tuberculosis cases; incidence density of 2.0 (95% CI, 0.9-3.1). </a:t>
            </a:r>
          </a:p>
          <a:p>
            <a:pPr>
              <a:buFont typeface="Wingdings" pitchFamily="2" charset="2"/>
              <a:buChar char="§"/>
            </a:pPr>
            <a:r>
              <a:rPr lang="en-GB" dirty="0"/>
              <a:t>Having previous tuberculosis (RR= 12.5, CI 1.8, 100) and presence of TST conversion (RR=3.4, CI 1.5, 7.7) were significantly associated with higher risk of tuberculosis </a:t>
            </a:r>
          </a:p>
          <a:p>
            <a:pPr>
              <a:buFont typeface="Wingdings" pitchFamily="2" charset="2"/>
              <a:buChar char="§"/>
            </a:pPr>
            <a:r>
              <a:rPr lang="en-GB" dirty="0"/>
              <a:t>LTBI rate </a:t>
            </a:r>
          </a:p>
          <a:p>
            <a:r>
              <a:rPr lang="en-GB" dirty="0"/>
              <a:t>Year/site                         LTBI        Annual risk of TB infection     sample size     Age</a:t>
            </a:r>
          </a:p>
          <a:p>
            <a:r>
              <a:rPr lang="en-GB" dirty="0"/>
              <a:t>2004-2007/Nairobi          22%            2.7%                                        11865            6-14 years</a:t>
            </a:r>
          </a:p>
          <a:p>
            <a:r>
              <a:rPr lang="en-GB" dirty="0"/>
              <a:t>2004-2007/</a:t>
            </a:r>
            <a:r>
              <a:rPr lang="en-GB" dirty="0" err="1"/>
              <a:t>Siaya</a:t>
            </a:r>
            <a:r>
              <a:rPr lang="en-GB" dirty="0"/>
              <a:t>          14%            1.5%                                            7411              6-14 years</a:t>
            </a:r>
          </a:p>
          <a:p>
            <a:r>
              <a:rPr lang="en-GB" dirty="0"/>
              <a:t>2008-2009/</a:t>
            </a:r>
            <a:r>
              <a:rPr lang="en-GB" dirty="0" err="1"/>
              <a:t>Siaya</a:t>
            </a:r>
            <a:r>
              <a:rPr lang="en-GB" dirty="0"/>
              <a:t>          32%            2.6%                                            5004            12-18 years</a:t>
            </a:r>
          </a:p>
          <a:p>
            <a:pPr>
              <a:buFont typeface="Wingdings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22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863991"/>
            <a:ext cx="7897559" cy="1218438"/>
          </a:xfrm>
        </p:spPr>
        <p:txBody>
          <a:bodyPr/>
          <a:lstStyle/>
          <a:p>
            <a:r>
              <a:rPr lang="en-US" dirty="0"/>
              <a:t>TB STUDIES-INFANTS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105" y="2500313"/>
            <a:ext cx="4297304" cy="3268980"/>
          </a:xfrm>
        </p:spPr>
        <p:txBody>
          <a:bodyPr>
            <a:normAutofit lnSpcReduction="10000"/>
          </a:bodyPr>
          <a:lstStyle/>
          <a:p>
            <a:pPr lvl="1">
              <a:buNone/>
            </a:pPr>
            <a:r>
              <a:rPr lang="en-US" altLang="en-US" sz="1625" dirty="0"/>
              <a:t>2900 infants enrolled and vaccinated with BCG</a:t>
            </a:r>
          </a:p>
          <a:p>
            <a:pPr lvl="1">
              <a:buNone/>
            </a:pPr>
            <a:endParaRPr lang="en-US" altLang="en-US" sz="1625" dirty="0"/>
          </a:p>
          <a:p>
            <a:pPr lvl="1">
              <a:buNone/>
            </a:pPr>
            <a:r>
              <a:rPr lang="en-US" altLang="en-US" sz="1625" dirty="0"/>
              <a:t>Objective: determine TB incidence in infants in preparation for vaccine trials</a:t>
            </a:r>
          </a:p>
          <a:p>
            <a:pPr lvl="1">
              <a:buFont typeface="Wingdings" charset="2"/>
              <a:buNone/>
            </a:pPr>
            <a:r>
              <a:rPr lang="en-US" altLang="en-US" sz="1625" b="1" dirty="0"/>
              <a:t>Diagnostic workup</a:t>
            </a:r>
          </a:p>
          <a:p>
            <a:pPr lvl="1">
              <a:buFontTx/>
              <a:buChar char="•"/>
            </a:pPr>
            <a:r>
              <a:rPr lang="en-US" altLang="en-US" sz="1625" dirty="0"/>
              <a:t>History / examination </a:t>
            </a:r>
          </a:p>
          <a:p>
            <a:pPr lvl="1">
              <a:buFontTx/>
              <a:buChar char="•"/>
            </a:pPr>
            <a:r>
              <a:rPr lang="en-US" altLang="en-US" sz="1625" dirty="0"/>
              <a:t>Tuberculin testing</a:t>
            </a:r>
          </a:p>
          <a:p>
            <a:pPr lvl="1">
              <a:buFontTx/>
              <a:buChar char="•"/>
            </a:pPr>
            <a:r>
              <a:rPr lang="en-US" altLang="en-US" sz="1625" dirty="0"/>
              <a:t>Chest radiographs </a:t>
            </a:r>
          </a:p>
          <a:p>
            <a:pPr lvl="1">
              <a:buFontTx/>
              <a:buChar char="•"/>
            </a:pPr>
            <a:r>
              <a:rPr lang="en-US" altLang="en-US" sz="1625" dirty="0"/>
              <a:t>HIV test</a:t>
            </a:r>
            <a:endParaRPr lang="en-ZA" altLang="en-US" sz="1625" dirty="0"/>
          </a:p>
          <a:p>
            <a:pPr lvl="1">
              <a:buFontTx/>
              <a:buChar char="•"/>
            </a:pPr>
            <a:r>
              <a:rPr lang="en-US" altLang="en-US" sz="1625" dirty="0"/>
              <a:t>Gastric washings and induced sputa </a:t>
            </a:r>
          </a:p>
          <a:p>
            <a:pPr lvl="1">
              <a:buFontTx/>
              <a:buChar char="•"/>
            </a:pPr>
            <a:r>
              <a:rPr lang="en-US" altLang="en-US" sz="1625" dirty="0"/>
              <a:t>Speciation of positive cultures to exclude BCG and NTM disease</a:t>
            </a:r>
          </a:p>
          <a:p>
            <a:endParaRPr lang="en-US" dirty="0"/>
          </a:p>
        </p:txBody>
      </p:sp>
      <p:pic>
        <p:nvPicPr>
          <p:cNvPr id="8" name="Picture 4" descr="follow up visit conducted by nurse_small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134" y="1869950"/>
            <a:ext cx="3210830" cy="2309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Prisca at CVW_small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134" y="4047206"/>
            <a:ext cx="3210830" cy="216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2337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105" y="2509599"/>
            <a:ext cx="7897559" cy="3268980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/>
              <a:t>We observed a high TB incidence among infants in Western Kenya of 1.5(95% CI, 1.1, 2.0) events per 100 person years of observation (PYO)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Majority of the TB cases 40/49 (81.6%) were clinically diagnosed speaking to the challenges of infant TB diagnosis where the tendency is to have </a:t>
            </a:r>
            <a:r>
              <a:rPr lang="en-US" dirty="0" err="1"/>
              <a:t>paucibacillary</a:t>
            </a:r>
            <a:r>
              <a:rPr lang="en-US" dirty="0"/>
              <a:t> disease 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Only 9/49 of the TB cases were identified as definite TB cases</a:t>
            </a:r>
            <a:r>
              <a:rPr lang="en-GB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77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AA49AF3-49CD-4544-A06E-FCF11E5C2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834" y="1407796"/>
            <a:ext cx="6686550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74295" tIns="37148" rIns="74295" bIns="37148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KE" sz="4063" dirty="0"/>
              <a:t>Benefits of the EPI studies for Trials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04E07F-5872-FF4E-9F2B-00970FC6D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834" y="2148843"/>
            <a:ext cx="6686550" cy="367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37148" tIns="37148" rIns="37148" bIns="37148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§"/>
            </a:pPr>
            <a:r>
              <a:rPr lang="en-US" altLang="en-KE" sz="1788" dirty="0"/>
              <a:t>Provided a ready pool of highly trained staff</a:t>
            </a:r>
          </a:p>
          <a:p>
            <a:pPr>
              <a:buFont typeface="Wingdings" pitchFamily="2" charset="2"/>
              <a:buChar char="§"/>
            </a:pPr>
            <a:endParaRPr lang="en-US" altLang="en-KE" sz="1788" dirty="0"/>
          </a:p>
          <a:p>
            <a:pPr>
              <a:buFont typeface="Wingdings" pitchFamily="2" charset="2"/>
              <a:buChar char="§"/>
            </a:pPr>
            <a:r>
              <a:rPr lang="en-US" altLang="en-KE" sz="1788" dirty="0"/>
              <a:t>Ready Infrastructure- clinical, pharmacy and laboratory</a:t>
            </a:r>
          </a:p>
          <a:p>
            <a:pPr>
              <a:buFont typeface="Wingdings" pitchFamily="2" charset="2"/>
              <a:buChar char="§"/>
            </a:pPr>
            <a:endParaRPr lang="en-US" altLang="en-KE" sz="1788" dirty="0"/>
          </a:p>
          <a:p>
            <a:pPr>
              <a:buFont typeface="Wingdings" pitchFamily="2" charset="2"/>
              <a:buChar char="§"/>
            </a:pPr>
            <a:r>
              <a:rPr lang="en-US" altLang="en-KE" sz="1788" dirty="0"/>
              <a:t>Established networks and inroads into community, paving way for vaccine trials to be accepted</a:t>
            </a:r>
          </a:p>
          <a:p>
            <a:pPr>
              <a:buFont typeface="Wingdings" pitchFamily="2" charset="2"/>
              <a:buChar char="§"/>
            </a:pPr>
            <a:endParaRPr lang="en-US" altLang="en-KE" sz="1788" dirty="0"/>
          </a:p>
          <a:p>
            <a:pPr>
              <a:buFont typeface="Wingdings" pitchFamily="2" charset="2"/>
              <a:buChar char="§"/>
            </a:pPr>
            <a:r>
              <a:rPr lang="en-US" altLang="en-KE" sz="1788" dirty="0"/>
              <a:t>Forged referral links with health facilities vital for the trials success</a:t>
            </a:r>
          </a:p>
        </p:txBody>
      </p:sp>
    </p:spTree>
    <p:extLst>
      <p:ext uri="{BB962C8B-B14F-4D97-AF65-F5344CB8AC3E}">
        <p14:creationId xmlns:p14="http://schemas.microsoft.com/office/powerpoint/2010/main" val="1002594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A429989-A468-5A43-DA3F-D32D33A1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" y="642938"/>
            <a:ext cx="9896837" cy="55721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BAB4B5E-852A-A608-C741-7306FBFB7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768" y="1101067"/>
            <a:ext cx="4996975" cy="869399"/>
          </a:xfrm>
        </p:spPr>
        <p:txBody>
          <a:bodyPr anchor="t" anchorCtr="0">
            <a:normAutofit fontScale="90000"/>
          </a:bodyPr>
          <a:lstStyle/>
          <a:p>
            <a:pPr algn="l"/>
            <a:r>
              <a:rPr lang="en-US" sz="3250" dirty="0">
                <a:solidFill>
                  <a:srgbClr val="005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 and the Immune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4696B5-C66B-47DE-A796-D2FE6655C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67" y="1041418"/>
            <a:ext cx="730183" cy="73018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4104E0BF-06C0-40B9-9F2D-9BF477C49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616" y="1848168"/>
            <a:ext cx="4456931" cy="3944117"/>
          </a:xfrm>
        </p:spPr>
        <p:txBody>
          <a:bodyPr>
            <a:noAutofit/>
          </a:bodyPr>
          <a:lstStyle/>
          <a:p>
            <a:pPr marL="232172" indent="-232172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ZA" sz="1300" dirty="0">
                <a:solidFill>
                  <a:srgbClr val="005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interaction between the immune system and </a:t>
            </a:r>
            <a:r>
              <a:rPr lang="en-ZA" sz="1300" i="1" dirty="0">
                <a:solidFill>
                  <a:srgbClr val="005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Mycobacterium tuberculosis </a:t>
            </a:r>
            <a:r>
              <a:rPr lang="en-ZA" sz="1300" dirty="0">
                <a:solidFill>
                  <a:srgbClr val="005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complex and either lead to:​</a:t>
            </a:r>
          </a:p>
          <a:p>
            <a:pPr marL="603647" lvl="1" indent="-232172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ZA" sz="1300" dirty="0">
                <a:solidFill>
                  <a:srgbClr val="6243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Clearance of the bacteria​</a:t>
            </a:r>
          </a:p>
          <a:p>
            <a:pPr marL="603647" lvl="1" indent="-232172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ZA" sz="1300" dirty="0">
                <a:solidFill>
                  <a:srgbClr val="6243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TB infection​</a:t>
            </a:r>
          </a:p>
          <a:p>
            <a:pPr marL="603647" lvl="1" indent="-232172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ZA" sz="1300" dirty="0">
                <a:solidFill>
                  <a:srgbClr val="6243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 TB disease ​​</a:t>
            </a:r>
          </a:p>
          <a:p>
            <a:pPr marL="232172" indent="-232172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ZA" sz="1300" dirty="0">
                <a:solidFill>
                  <a:srgbClr val="005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M.tb can prevent the activation of pathogen destruction systems within macrophages where it can hide, reproduce slowly, and modify the cell to its advantage.​</a:t>
            </a:r>
          </a:p>
          <a:p>
            <a:pPr marL="232172" indent="-232172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ZA" sz="1300" dirty="0">
                <a:solidFill>
                  <a:srgbClr val="005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M.tb can affect the function of dendritic cells by altering the production of various cytokines involved in the immune responses and the suppression of T lymphocyte activity.​</a:t>
            </a:r>
          </a:p>
          <a:p>
            <a:pPr marL="232172" indent="-232172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ZA" sz="1300" dirty="0">
                <a:solidFill>
                  <a:srgbClr val="005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M.tb can also interfere with the interactions between the different cells of the immune system and hamper their ability to work together and kill or constrain the organism.​</a:t>
            </a:r>
          </a:p>
          <a:p>
            <a:pPr marL="232172" indent="-232172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ZA" sz="1300" dirty="0">
              <a:solidFill>
                <a:srgbClr val="0055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081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7699248" y="275844"/>
            <a:ext cx="559307" cy="789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29072" y="1124712"/>
            <a:ext cx="3096387" cy="1749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25009" y="3068916"/>
            <a:ext cx="4339082" cy="3096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7736" y="381000"/>
            <a:ext cx="5418580" cy="9667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45208">
              <a:lnSpc>
                <a:spcPts val="2980"/>
              </a:lnSpc>
              <a:spcBef>
                <a:spcPts val="149"/>
              </a:spcBef>
            </a:pPr>
            <a:r>
              <a:rPr sz="2800" spc="-148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800" spc="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800" spc="10" dirty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800" spc="-16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9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800" spc="-69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800" spc="-29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800" spc="9" dirty="0">
                <a:solidFill>
                  <a:srgbClr val="C00000"/>
                </a:solidFill>
                <a:latin typeface="Arial"/>
                <a:cs typeface="Arial"/>
              </a:rPr>
              <a:t>lo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pmen</a:t>
            </a:r>
            <a:r>
              <a:rPr sz="2800" spc="-14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endParaRPr sz="2800" dirty="0">
              <a:latin typeface="Arial"/>
              <a:cs typeface="Arial"/>
            </a:endParaRPr>
          </a:p>
          <a:p>
            <a:pPr marL="12700" marR="53309">
              <a:lnSpc>
                <a:spcPct val="101725"/>
              </a:lnSpc>
              <a:spcBef>
                <a:spcPts val="1496"/>
              </a:spcBef>
            </a:pPr>
            <a:r>
              <a:rPr sz="2400" b="1" spc="0" dirty="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sz="2400" b="1" spc="-54" dirty="0">
                <a:solidFill>
                  <a:srgbClr val="404040"/>
                </a:solidFill>
                <a:latin typeface="Calibri"/>
                <a:cs typeface="Calibri"/>
              </a:rPr>
              <a:t>h</a:t>
            </a:r>
            <a:r>
              <a:rPr sz="2400" b="1" spc="0" dirty="0">
                <a:solidFill>
                  <a:srgbClr val="404040"/>
                </a:solidFill>
                <a:latin typeface="Calibri"/>
                <a:cs typeface="Calibri"/>
              </a:rPr>
              <a:t>y B</a:t>
            </a:r>
            <a:r>
              <a:rPr sz="2400" b="1" spc="-9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b="1" spc="0" dirty="0">
                <a:solidFill>
                  <a:srgbClr val="404040"/>
                </a:solidFill>
                <a:latin typeface="Calibri"/>
                <a:cs typeface="Calibri"/>
              </a:rPr>
              <a:t>G is not </a:t>
            </a:r>
            <a:r>
              <a:rPr sz="2400" b="1" spc="-19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2400" b="1" spc="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400" b="1" spc="9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400" b="1" spc="0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400" b="1" spc="-2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b="1" spc="0" dirty="0">
                <a:solidFill>
                  <a:srgbClr val="404040"/>
                </a:solidFill>
                <a:latin typeface="Calibri"/>
                <a:cs typeface="Calibri"/>
              </a:rPr>
              <a:t>enough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2600" y="381000"/>
            <a:ext cx="2128995" cy="3807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80"/>
              </a:lnSpc>
              <a:spcBef>
                <a:spcPts val="149"/>
              </a:spcBef>
            </a:pPr>
            <a:r>
              <a:rPr sz="2800" spc="9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800" spc="-94" dirty="0">
                <a:solidFill>
                  <a:srgbClr val="C00000"/>
                </a:solidFill>
                <a:latin typeface="Arial"/>
                <a:cs typeface="Arial"/>
              </a:rPr>
              <a:t>ck</a:t>
            </a:r>
            <a:r>
              <a:rPr sz="2800" spc="-34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2800" spc="-109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800" spc="-9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nd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736" y="1844548"/>
            <a:ext cx="405191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latin typeface="Calibri"/>
                <a:cs typeface="Calibri"/>
              </a:rPr>
              <a:t>L</a:t>
            </a:r>
            <a:r>
              <a:rPr sz="2700" spc="-4" baseline="3034" dirty="0">
                <a:latin typeface="Calibri"/>
                <a:cs typeface="Calibri"/>
              </a:rPr>
              <a:t>i</a:t>
            </a:r>
            <a:r>
              <a:rPr sz="2700" spc="-9" baseline="3034" dirty="0">
                <a:latin typeface="Calibri"/>
                <a:cs typeface="Calibri"/>
              </a:rPr>
              <a:t>v</a:t>
            </a:r>
            <a:r>
              <a:rPr sz="2700" spc="0" baseline="3034" dirty="0">
                <a:latin typeface="Calibri"/>
                <a:cs typeface="Calibri"/>
              </a:rPr>
              <a:t>e</a:t>
            </a:r>
            <a:r>
              <a:rPr sz="2700" spc="14" baseline="3034" dirty="0">
                <a:latin typeface="Calibri"/>
                <a:cs typeface="Calibri"/>
              </a:rPr>
              <a:t> </a:t>
            </a:r>
            <a:r>
              <a:rPr sz="2700" spc="-9" baseline="3034" dirty="0">
                <a:latin typeface="Calibri"/>
                <a:cs typeface="Calibri"/>
              </a:rPr>
              <a:t>a</a:t>
            </a:r>
            <a:r>
              <a:rPr sz="2700" spc="-25" baseline="3034" dirty="0">
                <a:latin typeface="Calibri"/>
                <a:cs typeface="Calibri"/>
              </a:rPr>
              <a:t>tt</a:t>
            </a:r>
            <a:r>
              <a:rPr sz="2700" spc="0" baseline="3034" dirty="0">
                <a:latin typeface="Calibri"/>
                <a:cs typeface="Calibri"/>
              </a:rPr>
              <a:t>e</a:t>
            </a:r>
            <a:r>
              <a:rPr sz="2700" spc="4" baseline="3034" dirty="0">
                <a:latin typeface="Calibri"/>
                <a:cs typeface="Calibri"/>
              </a:rPr>
              <a:t>n</a:t>
            </a:r>
            <a:r>
              <a:rPr sz="2700" spc="0" baseline="3034" dirty="0">
                <a:latin typeface="Calibri"/>
                <a:cs typeface="Calibri"/>
              </a:rPr>
              <a:t>u</a:t>
            </a:r>
            <a:r>
              <a:rPr sz="2700" spc="-9" baseline="3034" dirty="0">
                <a:latin typeface="Calibri"/>
                <a:cs typeface="Calibri"/>
              </a:rPr>
              <a:t>a</a:t>
            </a:r>
            <a:r>
              <a:rPr sz="2700" spc="-25" baseline="3034" dirty="0">
                <a:latin typeface="Calibri"/>
                <a:cs typeface="Calibri"/>
              </a:rPr>
              <a:t>t</a:t>
            </a:r>
            <a:r>
              <a:rPr sz="2700" spc="0" baseline="3034" dirty="0">
                <a:latin typeface="Calibri"/>
                <a:cs typeface="Calibri"/>
              </a:rPr>
              <a:t>ed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M.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b</a:t>
            </a:r>
            <a:r>
              <a:rPr sz="2700" spc="-9" baseline="3034" dirty="0">
                <a:latin typeface="Calibri"/>
                <a:cs typeface="Calibri"/>
              </a:rPr>
              <a:t>o</a:t>
            </a:r>
            <a:r>
              <a:rPr sz="2700" spc="0" baseline="3034" dirty="0">
                <a:latin typeface="Calibri"/>
                <a:cs typeface="Calibri"/>
              </a:rPr>
              <a:t>vi</a:t>
            </a:r>
            <a:r>
              <a:rPr sz="2700" spc="4" baseline="3034" dirty="0">
                <a:latin typeface="Calibri"/>
                <a:cs typeface="Calibri"/>
              </a:rPr>
              <a:t>s</a:t>
            </a:r>
            <a:r>
              <a:rPr sz="2700" spc="0" baseline="3034" dirty="0">
                <a:latin typeface="Calibri"/>
                <a:cs typeface="Calibri"/>
              </a:rPr>
              <a:t>,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fi</a:t>
            </a:r>
            <a:r>
              <a:rPr sz="2700" spc="-39" baseline="3034" dirty="0">
                <a:latin typeface="Calibri"/>
                <a:cs typeface="Calibri"/>
              </a:rPr>
              <a:t>r</a:t>
            </a:r>
            <a:r>
              <a:rPr sz="2700" spc="-19" baseline="3034" dirty="0">
                <a:latin typeface="Calibri"/>
                <a:cs typeface="Calibri"/>
              </a:rPr>
              <a:t>s</a:t>
            </a:r>
            <a:r>
              <a:rPr sz="2700" spc="0" baseline="3034" dirty="0">
                <a:latin typeface="Calibri"/>
                <a:cs typeface="Calibri"/>
              </a:rPr>
              <a:t>t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u</a:t>
            </a:r>
            <a:r>
              <a:rPr sz="2700" spc="4" baseline="3034" dirty="0">
                <a:latin typeface="Calibri"/>
                <a:cs typeface="Calibri"/>
              </a:rPr>
              <a:t>s</a:t>
            </a:r>
            <a:r>
              <a:rPr sz="2700" spc="0" baseline="3034" dirty="0">
                <a:latin typeface="Calibri"/>
                <a:cs typeface="Calibri"/>
              </a:rPr>
              <a:t>ed</a:t>
            </a:r>
            <a:r>
              <a:rPr sz="2700" spc="4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in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1921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7736" y="2503297"/>
            <a:ext cx="4281276" cy="1132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289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latin typeface="Calibri"/>
                <a:cs typeface="Calibri"/>
              </a:rPr>
              <a:t>B</a:t>
            </a:r>
            <a:r>
              <a:rPr sz="2700" spc="-4" baseline="3034" dirty="0">
                <a:latin typeface="Calibri"/>
                <a:cs typeface="Calibri"/>
              </a:rPr>
              <a:t>C</a:t>
            </a:r>
            <a:r>
              <a:rPr sz="2700" spc="0" baseline="3034" dirty="0">
                <a:latin typeface="Calibri"/>
                <a:cs typeface="Calibri"/>
              </a:rPr>
              <a:t>G</a:t>
            </a:r>
            <a:r>
              <a:rPr sz="2700" spc="-4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p</a:t>
            </a:r>
            <a:r>
              <a:rPr sz="2700" spc="-25" baseline="3034" dirty="0">
                <a:latin typeface="Calibri"/>
                <a:cs typeface="Calibri"/>
              </a:rPr>
              <a:t>r</a:t>
            </a:r>
            <a:r>
              <a:rPr sz="2700" spc="0" baseline="3034" dirty="0">
                <a:latin typeface="Calibri"/>
                <a:cs typeface="Calibri"/>
              </a:rPr>
              <a:t>o</a:t>
            </a:r>
            <a:r>
              <a:rPr sz="2700" spc="-29" baseline="3034" dirty="0">
                <a:latin typeface="Calibri"/>
                <a:cs typeface="Calibri"/>
              </a:rPr>
              <a:t>t</a:t>
            </a:r>
            <a:r>
              <a:rPr sz="2700" spc="0" baseline="3034" dirty="0">
                <a:latin typeface="Calibri"/>
                <a:cs typeface="Calibri"/>
              </a:rPr>
              <a:t>ects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a</a:t>
            </a:r>
            <a:r>
              <a:rPr sz="2700" spc="-29" baseline="3034" dirty="0">
                <a:latin typeface="Calibri"/>
                <a:cs typeface="Calibri"/>
              </a:rPr>
              <a:t>g</a:t>
            </a:r>
            <a:r>
              <a:rPr sz="2700" spc="0" baseline="3034" dirty="0">
                <a:latin typeface="Calibri"/>
                <a:cs typeface="Calibri"/>
              </a:rPr>
              <a:t>ain</a:t>
            </a:r>
            <a:r>
              <a:rPr sz="2700" spc="-19" baseline="3034" dirty="0">
                <a:latin typeface="Calibri"/>
                <a:cs typeface="Calibri"/>
              </a:rPr>
              <a:t>s</a:t>
            </a:r>
            <a:r>
              <a:rPr sz="2700" spc="0" baseline="3034" dirty="0">
                <a:latin typeface="Calibri"/>
                <a:cs typeface="Calibri"/>
              </a:rPr>
              <a:t>t s</a:t>
            </a:r>
            <a:r>
              <a:rPr sz="2700" spc="-4" baseline="3034" dirty="0">
                <a:latin typeface="Calibri"/>
                <a:cs typeface="Calibri"/>
              </a:rPr>
              <a:t>e</a:t>
            </a:r>
            <a:r>
              <a:rPr sz="2700" spc="-9" baseline="3034" dirty="0">
                <a:latin typeface="Calibri"/>
                <a:cs typeface="Calibri"/>
              </a:rPr>
              <a:t>v</a:t>
            </a:r>
            <a:r>
              <a:rPr sz="2700" spc="0" baseline="3034" dirty="0">
                <a:latin typeface="Calibri"/>
                <a:cs typeface="Calibri"/>
              </a:rPr>
              <a:t>e</a:t>
            </a:r>
            <a:r>
              <a:rPr sz="2700" spc="-25" baseline="3034" dirty="0">
                <a:latin typeface="Calibri"/>
                <a:cs typeface="Calibri"/>
              </a:rPr>
              <a:t>r</a:t>
            </a:r>
            <a:r>
              <a:rPr sz="2700" spc="0" baseline="3034" dirty="0">
                <a:latin typeface="Calibri"/>
                <a:cs typeface="Calibri"/>
              </a:rPr>
              <a:t>e</a:t>
            </a:r>
            <a:r>
              <a:rPr sz="2700" spc="9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me</a:t>
            </a:r>
            <a:r>
              <a:rPr sz="2700" spc="9" baseline="3034" dirty="0">
                <a:latin typeface="Calibri"/>
                <a:cs typeface="Calibri"/>
              </a:rPr>
              <a:t>n</a:t>
            </a:r>
            <a:r>
              <a:rPr sz="2700" spc="-4" baseline="3034" dirty="0">
                <a:latin typeface="Calibri"/>
                <a:cs typeface="Calibri"/>
              </a:rPr>
              <a:t>i</a:t>
            </a:r>
            <a:r>
              <a:rPr sz="2700" spc="0" baseline="3034" dirty="0">
                <a:latin typeface="Calibri"/>
                <a:cs typeface="Calibri"/>
              </a:rPr>
              <a:t>n</a:t>
            </a:r>
            <a:r>
              <a:rPr sz="2700" spc="4" baseline="3034" dirty="0">
                <a:latin typeface="Calibri"/>
                <a:cs typeface="Calibri"/>
              </a:rPr>
              <a:t>g</a:t>
            </a:r>
            <a:r>
              <a:rPr sz="2700" spc="-4" baseline="3034" dirty="0">
                <a:latin typeface="Calibri"/>
                <a:cs typeface="Calibri"/>
              </a:rPr>
              <a:t>i</a:t>
            </a:r>
            <a:r>
              <a:rPr sz="2700" spc="0" baseline="3034" dirty="0">
                <a:latin typeface="Calibri"/>
                <a:cs typeface="Calibri"/>
              </a:rPr>
              <a:t>t</a:t>
            </a:r>
            <a:r>
              <a:rPr sz="2700" spc="-9" baseline="3034" dirty="0">
                <a:latin typeface="Calibri"/>
                <a:cs typeface="Calibri"/>
              </a:rPr>
              <a:t>i</a:t>
            </a:r>
            <a:r>
              <a:rPr sz="2700" spc="0" baseline="3034" dirty="0">
                <a:latin typeface="Calibri"/>
                <a:cs typeface="Calibri"/>
              </a:rPr>
              <a:t>c</a:t>
            </a:r>
            <a:r>
              <a:rPr sz="2700" spc="19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and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1"/>
              </a:spcBef>
            </a:pPr>
            <a:r>
              <a:rPr sz="2700" spc="0" baseline="1517" dirty="0">
                <a:latin typeface="Calibri"/>
                <a:cs typeface="Calibri"/>
              </a:rPr>
              <a:t>mi</a:t>
            </a:r>
            <a:r>
              <a:rPr sz="2700" spc="-9" baseline="1517" dirty="0">
                <a:latin typeface="Calibri"/>
                <a:cs typeface="Calibri"/>
              </a:rPr>
              <a:t>l</a:t>
            </a:r>
            <a:r>
              <a:rPr sz="2700" spc="-4" baseline="1517" dirty="0">
                <a:latin typeface="Calibri"/>
                <a:cs typeface="Calibri"/>
              </a:rPr>
              <a:t>i</a:t>
            </a:r>
            <a:r>
              <a:rPr sz="2700" spc="0" baseline="1517" dirty="0">
                <a:latin typeface="Calibri"/>
                <a:cs typeface="Calibri"/>
              </a:rPr>
              <a:t>a</a:t>
            </a:r>
            <a:r>
              <a:rPr sz="2700" spc="9" baseline="1517" dirty="0">
                <a:latin typeface="Calibri"/>
                <a:cs typeface="Calibri"/>
              </a:rPr>
              <a:t>r</a:t>
            </a:r>
            <a:r>
              <a:rPr sz="2700" spc="0" baseline="1517" dirty="0">
                <a:latin typeface="Calibri"/>
                <a:cs typeface="Calibri"/>
              </a:rPr>
              <a:t>y</a:t>
            </a:r>
            <a:r>
              <a:rPr sz="2700" spc="14" baseline="1517" dirty="0">
                <a:latin typeface="Calibri"/>
                <a:cs typeface="Calibri"/>
              </a:rPr>
              <a:t> </a:t>
            </a:r>
            <a:r>
              <a:rPr sz="2700" spc="0" baseline="1517" dirty="0">
                <a:latin typeface="Calibri"/>
                <a:cs typeface="Calibri"/>
              </a:rPr>
              <a:t>TB</a:t>
            </a:r>
            <a:r>
              <a:rPr sz="2700" spc="-9" baseline="1517" dirty="0">
                <a:latin typeface="Calibri"/>
                <a:cs typeface="Calibri"/>
              </a:rPr>
              <a:t> </a:t>
            </a:r>
            <a:r>
              <a:rPr sz="2700" spc="-4" baseline="1517" dirty="0">
                <a:latin typeface="Calibri"/>
                <a:cs typeface="Calibri"/>
              </a:rPr>
              <a:t>i</a:t>
            </a:r>
            <a:r>
              <a:rPr sz="2700" spc="0" baseline="1517" dirty="0">
                <a:latin typeface="Calibri"/>
                <a:cs typeface="Calibri"/>
              </a:rPr>
              <a:t>n</a:t>
            </a:r>
            <a:r>
              <a:rPr sz="2700" spc="14" baseline="1517" dirty="0">
                <a:latin typeface="Calibri"/>
                <a:cs typeface="Calibri"/>
              </a:rPr>
              <a:t> </a:t>
            </a:r>
            <a:r>
              <a:rPr sz="2700" spc="-4" baseline="1517" dirty="0">
                <a:latin typeface="Calibri"/>
                <a:cs typeface="Calibri"/>
              </a:rPr>
              <a:t>i</a:t>
            </a:r>
            <a:r>
              <a:rPr sz="2700" spc="-9" baseline="1517" dirty="0">
                <a:latin typeface="Calibri"/>
                <a:cs typeface="Calibri"/>
              </a:rPr>
              <a:t>n</a:t>
            </a:r>
            <a:r>
              <a:rPr sz="2700" spc="-34" baseline="1517" dirty="0">
                <a:latin typeface="Calibri"/>
                <a:cs typeface="Calibri"/>
              </a:rPr>
              <a:t>f</a:t>
            </a:r>
            <a:r>
              <a:rPr sz="2700" spc="0" baseline="1517" dirty="0">
                <a:latin typeface="Calibri"/>
                <a:cs typeface="Calibri"/>
              </a:rPr>
              <a:t>a</a:t>
            </a:r>
            <a:r>
              <a:rPr sz="2700" spc="-9" baseline="1517" dirty="0">
                <a:latin typeface="Calibri"/>
                <a:cs typeface="Calibri"/>
              </a:rPr>
              <a:t>n</a:t>
            </a:r>
            <a:r>
              <a:rPr sz="2700" spc="0" baseline="1517" dirty="0">
                <a:latin typeface="Calibri"/>
                <a:cs typeface="Calibri"/>
              </a:rPr>
              <a:t>ts a</a:t>
            </a:r>
            <a:r>
              <a:rPr sz="2700" spc="4" baseline="1517" dirty="0">
                <a:latin typeface="Calibri"/>
                <a:cs typeface="Calibri"/>
              </a:rPr>
              <a:t>n</a:t>
            </a:r>
            <a:r>
              <a:rPr sz="2700" spc="0" baseline="1517" dirty="0">
                <a:latin typeface="Calibri"/>
                <a:cs typeface="Calibri"/>
              </a:rPr>
              <a:t>d</a:t>
            </a:r>
            <a:r>
              <a:rPr sz="2700" spc="14" baseline="1517" dirty="0">
                <a:latin typeface="Calibri"/>
                <a:cs typeface="Calibri"/>
              </a:rPr>
              <a:t> </a:t>
            </a:r>
            <a:r>
              <a:rPr sz="2700" spc="-4" baseline="1517" dirty="0">
                <a:latin typeface="Calibri"/>
                <a:cs typeface="Calibri"/>
              </a:rPr>
              <a:t>c</a:t>
            </a:r>
            <a:r>
              <a:rPr sz="2700" spc="0" baseline="1517" dirty="0">
                <a:latin typeface="Calibri"/>
                <a:cs typeface="Calibri"/>
              </a:rPr>
              <a:t>hi</a:t>
            </a:r>
            <a:r>
              <a:rPr sz="2700" spc="-9" baseline="1517" dirty="0">
                <a:latin typeface="Calibri"/>
                <a:cs typeface="Calibri"/>
              </a:rPr>
              <a:t>l</a:t>
            </a:r>
            <a:r>
              <a:rPr sz="2700" spc="0" baseline="1517" dirty="0">
                <a:latin typeface="Calibri"/>
                <a:cs typeface="Calibri"/>
              </a:rPr>
              <a:t>d</a:t>
            </a:r>
            <a:r>
              <a:rPr sz="2700" spc="-25" baseline="1517" dirty="0">
                <a:latin typeface="Calibri"/>
                <a:cs typeface="Calibri"/>
              </a:rPr>
              <a:t>r</a:t>
            </a:r>
            <a:r>
              <a:rPr sz="2700" spc="0" baseline="1517" dirty="0">
                <a:latin typeface="Calibri"/>
                <a:cs typeface="Calibri"/>
              </a:rPr>
              <a:t>en</a:t>
            </a:r>
            <a:r>
              <a:rPr sz="2700" spc="29" baseline="1517" dirty="0">
                <a:latin typeface="Calibri"/>
                <a:cs typeface="Calibri"/>
              </a:rPr>
              <a:t> </a:t>
            </a:r>
            <a:r>
              <a:rPr sz="2700" spc="0" baseline="1517" dirty="0">
                <a:latin typeface="Calibri"/>
                <a:cs typeface="Calibri"/>
              </a:rPr>
              <a:t>(</a:t>
            </a:r>
            <a:r>
              <a:rPr sz="2700" spc="-9" baseline="1517" dirty="0">
                <a:latin typeface="Calibri"/>
                <a:cs typeface="Calibri"/>
              </a:rPr>
              <a:t>R</a:t>
            </a:r>
            <a:r>
              <a:rPr sz="2700" spc="0" baseline="1517" dirty="0">
                <a:latin typeface="Calibri"/>
                <a:cs typeface="Calibri"/>
              </a:rPr>
              <a:t>R</a:t>
            </a:r>
            <a:r>
              <a:rPr sz="2700" spc="19" baseline="1517" dirty="0">
                <a:latin typeface="Calibri"/>
                <a:cs typeface="Calibri"/>
              </a:rPr>
              <a:t> </a:t>
            </a:r>
            <a:r>
              <a:rPr sz="2700" spc="0" baseline="1517" dirty="0">
                <a:latin typeface="Calibri"/>
                <a:cs typeface="Calibri"/>
              </a:rPr>
              <a:t>0.1</a:t>
            </a:r>
            <a:r>
              <a:rPr sz="2700" spc="9" baseline="1517" dirty="0">
                <a:latin typeface="Calibri"/>
                <a:cs typeface="Calibri"/>
              </a:rPr>
              <a:t>5</a:t>
            </a:r>
            <a:r>
              <a:rPr sz="2700" spc="0" baseline="1517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1725"/>
              </a:lnSpc>
              <a:spcBef>
                <a:spcPts val="286"/>
              </a:spcBef>
            </a:pPr>
            <a:r>
              <a:rPr sz="1800" spc="0" dirty="0">
                <a:latin typeface="Calibri"/>
                <a:cs typeface="Calibri"/>
              </a:rPr>
              <a:t>Bi</a:t>
            </a:r>
            <a:r>
              <a:rPr sz="1800" spc="-4" dirty="0">
                <a:latin typeface="Calibri"/>
                <a:cs typeface="Calibri"/>
              </a:rPr>
              <a:t>lli</a:t>
            </a:r>
            <a:r>
              <a:rPr sz="1800" spc="0" dirty="0">
                <a:latin typeface="Calibri"/>
                <a:cs typeface="Calibri"/>
              </a:rPr>
              <a:t>ons</a:t>
            </a:r>
            <a:r>
              <a:rPr sz="1800" spc="14" dirty="0">
                <a:latin typeface="Calibri"/>
                <a:cs typeface="Calibri"/>
              </a:rPr>
              <a:t> </a:t>
            </a:r>
            <a:r>
              <a:rPr sz="1800" spc="0" dirty="0">
                <a:latin typeface="Calibri"/>
                <a:cs typeface="Calibri"/>
              </a:rPr>
              <a:t>of </a:t>
            </a:r>
            <a:r>
              <a:rPr sz="1800" spc="4" dirty="0">
                <a:latin typeface="Calibri"/>
                <a:cs typeface="Calibri"/>
              </a:rPr>
              <a:t>d</a:t>
            </a:r>
            <a:r>
              <a:rPr sz="1800" spc="0" dirty="0">
                <a:latin typeface="Calibri"/>
                <a:cs typeface="Calibri"/>
              </a:rPr>
              <a:t>os</a:t>
            </a:r>
            <a:r>
              <a:rPr sz="1800" spc="4" dirty="0">
                <a:latin typeface="Calibri"/>
                <a:cs typeface="Calibri"/>
              </a:rPr>
              <a:t>e</a:t>
            </a:r>
            <a:r>
              <a:rPr sz="1800" spc="0" dirty="0">
                <a:latin typeface="Calibri"/>
                <a:cs typeface="Calibri"/>
              </a:rPr>
              <a:t>s ad</a:t>
            </a:r>
            <a:r>
              <a:rPr sz="1800" spc="4" dirty="0">
                <a:latin typeface="Calibri"/>
                <a:cs typeface="Calibri"/>
              </a:rPr>
              <a:t>m</a:t>
            </a:r>
            <a:r>
              <a:rPr sz="1800" spc="-4" dirty="0">
                <a:latin typeface="Calibri"/>
                <a:cs typeface="Calibri"/>
              </a:rPr>
              <a:t>i</a:t>
            </a:r>
            <a:r>
              <a:rPr sz="1800" spc="0" dirty="0">
                <a:latin typeface="Calibri"/>
                <a:cs typeface="Calibri"/>
              </a:rPr>
              <a:t>ni</a:t>
            </a:r>
            <a:r>
              <a:rPr sz="1800" spc="-25" dirty="0">
                <a:latin typeface="Calibri"/>
                <a:cs typeface="Calibri"/>
              </a:rPr>
              <a:t>st</a:t>
            </a:r>
            <a:r>
              <a:rPr sz="1800" spc="0" dirty="0">
                <a:latin typeface="Calibri"/>
                <a:cs typeface="Calibri"/>
              </a:rPr>
              <a:t>e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0" dirty="0">
                <a:latin typeface="Calibri"/>
                <a:cs typeface="Calibri"/>
              </a:rPr>
              <a:t>ed</a:t>
            </a:r>
            <a:r>
              <a:rPr sz="1800" spc="14" dirty="0">
                <a:latin typeface="Calibri"/>
                <a:cs typeface="Calibri"/>
              </a:rPr>
              <a:t> </a:t>
            </a:r>
            <a:r>
              <a:rPr sz="1800" spc="-14" dirty="0">
                <a:latin typeface="Calibri"/>
                <a:cs typeface="Calibri"/>
              </a:rPr>
              <a:t>t</a:t>
            </a:r>
            <a:r>
              <a:rPr sz="1800" spc="0" dirty="0">
                <a:latin typeface="Calibri"/>
                <a:cs typeface="Calibri"/>
              </a:rPr>
              <a:t>o </a:t>
            </a:r>
            <a:r>
              <a:rPr sz="1800" spc="-4" dirty="0">
                <a:latin typeface="Calibri"/>
                <a:cs typeface="Calibri"/>
              </a:rPr>
              <a:t>i</a:t>
            </a:r>
            <a:r>
              <a:rPr sz="1800" spc="-9" dirty="0">
                <a:latin typeface="Calibri"/>
                <a:cs typeface="Calibri"/>
              </a:rPr>
              <a:t>n</a:t>
            </a:r>
            <a:r>
              <a:rPr sz="1800" spc="-34" dirty="0">
                <a:latin typeface="Calibri"/>
                <a:cs typeface="Calibri"/>
              </a:rPr>
              <a:t>f</a:t>
            </a:r>
            <a:r>
              <a:rPr sz="1800" spc="0" dirty="0">
                <a:latin typeface="Calibri"/>
                <a:cs typeface="Calibri"/>
              </a:rPr>
              <a:t>a</a:t>
            </a:r>
            <a:r>
              <a:rPr sz="1800" spc="-9" dirty="0">
                <a:latin typeface="Calibri"/>
                <a:cs typeface="Calibri"/>
              </a:rPr>
              <a:t>n</a:t>
            </a:r>
            <a:r>
              <a:rPr sz="1800" spc="0" dirty="0">
                <a:latin typeface="Calibri"/>
                <a:cs typeface="Calibri"/>
              </a:rPr>
              <a:t>ts </a:t>
            </a:r>
            <a:r>
              <a:rPr sz="1800" spc="4" dirty="0">
                <a:latin typeface="Calibri"/>
                <a:cs typeface="Calibri"/>
              </a:rPr>
              <a:t>s</a:t>
            </a:r>
            <a:r>
              <a:rPr sz="1800" spc="-4" dirty="0">
                <a:latin typeface="Calibri"/>
                <a:cs typeface="Calibri"/>
              </a:rPr>
              <a:t>i</a:t>
            </a:r>
            <a:r>
              <a:rPr sz="1800" spc="0" dirty="0">
                <a:latin typeface="Calibri"/>
                <a:cs typeface="Calibri"/>
              </a:rPr>
              <a:t>nce</a:t>
            </a:r>
            <a:endParaRPr sz="1800" dirty="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08"/>
              </a:spcBef>
            </a:pPr>
            <a:r>
              <a:rPr sz="2700" spc="0" baseline="1517" dirty="0">
                <a:latin typeface="Calibri"/>
                <a:cs typeface="Calibri"/>
              </a:rPr>
              <a:t>19</a:t>
            </a:r>
            <a:r>
              <a:rPr sz="2700" spc="-4" baseline="1517" dirty="0">
                <a:latin typeface="Calibri"/>
                <a:cs typeface="Calibri"/>
              </a:rPr>
              <a:t>7</a:t>
            </a:r>
            <a:r>
              <a:rPr sz="2700" spc="0" baseline="1517" dirty="0">
                <a:latin typeface="Calibri"/>
                <a:cs typeface="Calibri"/>
              </a:rPr>
              <a:t>0</a:t>
            </a:r>
            <a:r>
              <a:rPr sz="2700" spc="-114" baseline="1517" dirty="0">
                <a:latin typeface="Calibri"/>
                <a:cs typeface="Calibri"/>
              </a:rPr>
              <a:t>’</a:t>
            </a:r>
            <a:r>
              <a:rPr sz="2700" spc="0" baseline="1517" dirty="0">
                <a:latin typeface="Calibri"/>
                <a:cs typeface="Calibri"/>
              </a:rPr>
              <a:t>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8832" y="3075685"/>
            <a:ext cx="1893974" cy="266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0"/>
              </a:lnSpc>
              <a:spcBef>
                <a:spcPts val="101"/>
              </a:spcBef>
            </a:pPr>
            <a:r>
              <a:rPr sz="2850" i="1" spc="0" baseline="2874" dirty="0">
                <a:latin typeface="Calibri"/>
                <a:cs typeface="Calibri"/>
              </a:rPr>
              <a:t>1921</a:t>
            </a:r>
            <a:r>
              <a:rPr sz="2850" i="1" spc="-38" baseline="2874" dirty="0">
                <a:latin typeface="Calibri"/>
                <a:cs typeface="Calibri"/>
              </a:rPr>
              <a:t> </a:t>
            </a:r>
            <a:r>
              <a:rPr sz="2850" i="1" spc="0" baseline="2874" dirty="0">
                <a:latin typeface="Calibri"/>
                <a:cs typeface="Calibri"/>
              </a:rPr>
              <a:t>Mo</a:t>
            </a:r>
            <a:r>
              <a:rPr sz="2850" i="1" spc="-4" baseline="2874" dirty="0">
                <a:latin typeface="Calibri"/>
                <a:cs typeface="Calibri"/>
              </a:rPr>
              <a:t>de</a:t>
            </a:r>
            <a:r>
              <a:rPr sz="2850" i="1" spc="0" baseline="2874" dirty="0">
                <a:latin typeface="Calibri"/>
                <a:cs typeface="Calibri"/>
              </a:rPr>
              <a:t>l</a:t>
            </a:r>
            <a:r>
              <a:rPr sz="2850" i="1" spc="-24" baseline="2874" dirty="0">
                <a:latin typeface="Calibri"/>
                <a:cs typeface="Calibri"/>
              </a:rPr>
              <a:t> </a:t>
            </a:r>
            <a:r>
              <a:rPr sz="2850" i="1" spc="0" baseline="2874" dirty="0">
                <a:latin typeface="Calibri"/>
                <a:cs typeface="Calibri"/>
              </a:rPr>
              <a:t>T</a:t>
            </a:r>
            <a:r>
              <a:rPr sz="2850" i="1" spc="-9" baseline="2874" dirty="0">
                <a:latin typeface="Calibri"/>
                <a:cs typeface="Calibri"/>
              </a:rPr>
              <a:t> </a:t>
            </a:r>
            <a:r>
              <a:rPr sz="2850" i="1" spc="-14" baseline="2874" dirty="0">
                <a:latin typeface="Calibri"/>
                <a:cs typeface="Calibri"/>
              </a:rPr>
              <a:t>F</a:t>
            </a:r>
            <a:r>
              <a:rPr sz="2850" i="1" spc="0" baseline="2874" dirty="0">
                <a:latin typeface="Calibri"/>
                <a:cs typeface="Calibri"/>
              </a:rPr>
              <a:t>ord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736" y="4039743"/>
            <a:ext cx="4519364" cy="113220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spc="0" baseline="3034" dirty="0">
                <a:latin typeface="Calibri"/>
                <a:cs typeface="Calibri"/>
              </a:rPr>
              <a:t>O</a:t>
            </a:r>
            <a:r>
              <a:rPr sz="2700" spc="-14" baseline="3034" dirty="0">
                <a:latin typeface="Calibri"/>
                <a:cs typeface="Calibri"/>
              </a:rPr>
              <a:t>f</a:t>
            </a:r>
            <a:r>
              <a:rPr sz="2700" spc="-44" baseline="3034" dirty="0">
                <a:latin typeface="Calibri"/>
                <a:cs typeface="Calibri"/>
              </a:rPr>
              <a:t>f</a:t>
            </a:r>
            <a:r>
              <a:rPr sz="2700" spc="0" baseline="3034" dirty="0">
                <a:latin typeface="Calibri"/>
                <a:cs typeface="Calibri"/>
              </a:rPr>
              <a:t>e</a:t>
            </a:r>
            <a:r>
              <a:rPr sz="2700" spc="-34" baseline="3034" dirty="0">
                <a:latin typeface="Calibri"/>
                <a:cs typeface="Calibri"/>
              </a:rPr>
              <a:t>r</a:t>
            </a:r>
            <a:r>
              <a:rPr sz="2700" spc="0" baseline="3034" dirty="0">
                <a:latin typeface="Calibri"/>
                <a:cs typeface="Calibri"/>
              </a:rPr>
              <a:t>s only part</a:t>
            </a:r>
            <a:r>
              <a:rPr sz="2700" spc="-9" baseline="3034" dirty="0">
                <a:latin typeface="Calibri"/>
                <a:cs typeface="Calibri"/>
              </a:rPr>
              <a:t>i</a:t>
            </a:r>
            <a:r>
              <a:rPr sz="2700" spc="0" baseline="3034" dirty="0">
                <a:latin typeface="Calibri"/>
                <a:cs typeface="Calibri"/>
              </a:rPr>
              <a:t>al</a:t>
            </a:r>
            <a:r>
              <a:rPr sz="2700" spc="19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p</a:t>
            </a:r>
            <a:r>
              <a:rPr sz="2700" spc="-25" baseline="3034" dirty="0">
                <a:latin typeface="Calibri"/>
                <a:cs typeface="Calibri"/>
              </a:rPr>
              <a:t>r</a:t>
            </a:r>
            <a:r>
              <a:rPr sz="2700" spc="0" baseline="3034" dirty="0">
                <a:latin typeface="Calibri"/>
                <a:cs typeface="Calibri"/>
              </a:rPr>
              <a:t>o</a:t>
            </a:r>
            <a:r>
              <a:rPr sz="2700" spc="-29" baseline="3034" dirty="0">
                <a:latin typeface="Calibri"/>
                <a:cs typeface="Calibri"/>
              </a:rPr>
              <a:t>t</a:t>
            </a:r>
            <a:r>
              <a:rPr sz="2700" spc="0" baseline="3034" dirty="0">
                <a:latin typeface="Calibri"/>
                <a:cs typeface="Calibri"/>
              </a:rPr>
              <a:t>ect</a:t>
            </a:r>
            <a:r>
              <a:rPr sz="2700" spc="-9" baseline="3034" dirty="0">
                <a:latin typeface="Calibri"/>
                <a:cs typeface="Calibri"/>
              </a:rPr>
              <a:t>i</a:t>
            </a:r>
            <a:r>
              <a:rPr sz="2700" spc="0" baseline="3034" dirty="0">
                <a:latin typeface="Calibri"/>
                <a:cs typeface="Calibri"/>
              </a:rPr>
              <a:t>on</a:t>
            </a:r>
            <a:r>
              <a:rPr sz="2700" spc="25" baseline="3034" dirty="0">
                <a:latin typeface="Calibri"/>
                <a:cs typeface="Calibri"/>
              </a:rPr>
              <a:t> </a:t>
            </a:r>
            <a:r>
              <a:rPr sz="2700" spc="0" baseline="3034" dirty="0">
                <a:latin typeface="Calibri"/>
                <a:cs typeface="Calibri"/>
              </a:rPr>
              <a:t>a</a:t>
            </a:r>
            <a:r>
              <a:rPr sz="2700" spc="-29" baseline="3034" dirty="0">
                <a:latin typeface="Calibri"/>
                <a:cs typeface="Calibri"/>
              </a:rPr>
              <a:t>g</a:t>
            </a:r>
            <a:r>
              <a:rPr sz="2700" spc="0" baseline="3034" dirty="0">
                <a:latin typeface="Calibri"/>
                <a:cs typeface="Calibri"/>
              </a:rPr>
              <a:t>ain</a:t>
            </a:r>
            <a:r>
              <a:rPr sz="2700" spc="-19" baseline="3034" dirty="0">
                <a:latin typeface="Calibri"/>
                <a:cs typeface="Calibri"/>
              </a:rPr>
              <a:t>s</a:t>
            </a:r>
            <a:r>
              <a:rPr sz="2700" spc="0" baseline="3034" dirty="0">
                <a:latin typeface="Calibri"/>
                <a:cs typeface="Calibri"/>
              </a:rPr>
              <a:t>t pulmona</a:t>
            </a:r>
            <a:r>
              <a:rPr sz="2700" spc="9" baseline="3034" dirty="0">
                <a:latin typeface="Calibri"/>
                <a:cs typeface="Calibri"/>
              </a:rPr>
              <a:t>r</a:t>
            </a:r>
            <a:r>
              <a:rPr sz="2700" spc="0" baseline="3034" dirty="0"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  <a:p>
            <a:pPr marL="12700" marR="34289">
              <a:lnSpc>
                <a:spcPts val="2160"/>
              </a:lnSpc>
              <a:spcBef>
                <a:spcPts val="11"/>
              </a:spcBef>
            </a:pPr>
            <a:r>
              <a:rPr sz="2700" spc="0" baseline="1517" dirty="0">
                <a:latin typeface="Calibri"/>
                <a:cs typeface="Calibri"/>
              </a:rPr>
              <a:t>TB </a:t>
            </a:r>
            <a:r>
              <a:rPr sz="2700" spc="-4" baseline="1517" dirty="0">
                <a:latin typeface="Calibri"/>
                <a:cs typeface="Calibri"/>
              </a:rPr>
              <a:t>i</a:t>
            </a:r>
            <a:r>
              <a:rPr sz="2700" spc="0" baseline="1517" dirty="0">
                <a:latin typeface="Calibri"/>
                <a:cs typeface="Calibri"/>
              </a:rPr>
              <a:t>n chi</a:t>
            </a:r>
            <a:r>
              <a:rPr sz="2700" spc="-9" baseline="1517" dirty="0">
                <a:latin typeface="Calibri"/>
                <a:cs typeface="Calibri"/>
              </a:rPr>
              <a:t>l</a:t>
            </a:r>
            <a:r>
              <a:rPr sz="2700" spc="0" baseline="1517" dirty="0">
                <a:latin typeface="Calibri"/>
                <a:cs typeface="Calibri"/>
              </a:rPr>
              <a:t>d</a:t>
            </a:r>
            <a:r>
              <a:rPr sz="2700" spc="-25" baseline="1517" dirty="0">
                <a:latin typeface="Calibri"/>
                <a:cs typeface="Calibri"/>
              </a:rPr>
              <a:t>r</a:t>
            </a:r>
            <a:r>
              <a:rPr sz="2700" spc="0" baseline="1517" dirty="0">
                <a:latin typeface="Calibri"/>
                <a:cs typeface="Calibri"/>
              </a:rPr>
              <a:t>en</a:t>
            </a:r>
            <a:endParaRPr sz="1800">
              <a:latin typeface="Calibri"/>
              <a:cs typeface="Calibri"/>
            </a:endParaRPr>
          </a:p>
          <a:p>
            <a:pPr marL="12700" marR="145548">
              <a:lnSpc>
                <a:spcPts val="2160"/>
              </a:lnSpc>
              <a:spcBef>
                <a:spcPts val="380"/>
              </a:spcBef>
            </a:pPr>
            <a:r>
              <a:rPr sz="1800" spc="0" dirty="0">
                <a:latin typeface="Calibri"/>
                <a:cs typeface="Calibri"/>
              </a:rPr>
              <a:t>L</a:t>
            </a:r>
            <a:r>
              <a:rPr sz="1800" spc="-4" dirty="0">
                <a:latin typeface="Calibri"/>
                <a:cs typeface="Calibri"/>
              </a:rPr>
              <a:t>i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0" dirty="0">
                <a:latin typeface="Calibri"/>
                <a:cs typeface="Calibri"/>
              </a:rPr>
              <a:t>t</a:t>
            </a:r>
            <a:r>
              <a:rPr sz="1800" spc="-9" dirty="0">
                <a:latin typeface="Calibri"/>
                <a:cs typeface="Calibri"/>
              </a:rPr>
              <a:t>l</a:t>
            </a:r>
            <a:r>
              <a:rPr sz="1800" spc="0" dirty="0">
                <a:latin typeface="Calibri"/>
                <a:cs typeface="Calibri"/>
              </a:rPr>
              <a:t>e</a:t>
            </a:r>
            <a:r>
              <a:rPr sz="1800" spc="29" dirty="0">
                <a:latin typeface="Calibri"/>
                <a:cs typeface="Calibri"/>
              </a:rPr>
              <a:t> </a:t>
            </a:r>
            <a:r>
              <a:rPr sz="1800" spc="0" dirty="0">
                <a:latin typeface="Calibri"/>
                <a:cs typeface="Calibri"/>
              </a:rPr>
              <a:t>or no</a:t>
            </a:r>
            <a:r>
              <a:rPr sz="1800" spc="9" dirty="0">
                <a:latin typeface="Calibri"/>
                <a:cs typeface="Calibri"/>
              </a:rPr>
              <a:t> </a:t>
            </a:r>
            <a:r>
              <a:rPr sz="1800" spc="0" dirty="0">
                <a:latin typeface="Calibri"/>
                <a:cs typeface="Calibri"/>
              </a:rPr>
              <a:t>p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0" dirty="0">
                <a:latin typeface="Calibri"/>
                <a:cs typeface="Calibri"/>
              </a:rPr>
              <a:t>o</a:t>
            </a:r>
            <a:r>
              <a:rPr sz="1800" spc="-29" dirty="0">
                <a:latin typeface="Calibri"/>
                <a:cs typeface="Calibri"/>
              </a:rPr>
              <a:t>t</a:t>
            </a:r>
            <a:r>
              <a:rPr sz="1800" spc="0" dirty="0">
                <a:latin typeface="Calibri"/>
                <a:cs typeface="Calibri"/>
              </a:rPr>
              <a:t>ect</a:t>
            </a:r>
            <a:r>
              <a:rPr sz="1800" spc="-9" dirty="0">
                <a:latin typeface="Calibri"/>
                <a:cs typeface="Calibri"/>
              </a:rPr>
              <a:t>i</a:t>
            </a:r>
            <a:r>
              <a:rPr sz="1800" spc="0" dirty="0">
                <a:latin typeface="Calibri"/>
                <a:cs typeface="Calibri"/>
              </a:rPr>
              <a:t>on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0" dirty="0">
                <a:latin typeface="Calibri"/>
                <a:cs typeface="Calibri"/>
              </a:rPr>
              <a:t>a</a:t>
            </a:r>
            <a:r>
              <a:rPr sz="1800" spc="-29" dirty="0">
                <a:latin typeface="Calibri"/>
                <a:cs typeface="Calibri"/>
              </a:rPr>
              <a:t>g</a:t>
            </a:r>
            <a:r>
              <a:rPr sz="1800" spc="0" dirty="0">
                <a:latin typeface="Calibri"/>
                <a:cs typeface="Calibri"/>
              </a:rPr>
              <a:t>ain</a:t>
            </a:r>
            <a:r>
              <a:rPr sz="1800" spc="-19" dirty="0">
                <a:latin typeface="Calibri"/>
                <a:cs typeface="Calibri"/>
              </a:rPr>
              <a:t>s</a:t>
            </a:r>
            <a:r>
              <a:rPr sz="1800" spc="0" dirty="0">
                <a:latin typeface="Calibri"/>
                <a:cs typeface="Calibri"/>
              </a:rPr>
              <a:t>t pulmona</a:t>
            </a:r>
            <a:r>
              <a:rPr sz="1800" spc="9" dirty="0">
                <a:latin typeface="Calibri"/>
                <a:cs typeface="Calibri"/>
              </a:rPr>
              <a:t>r</a:t>
            </a:r>
            <a:r>
              <a:rPr sz="1800" spc="0" dirty="0">
                <a:latin typeface="Calibri"/>
                <a:cs typeface="Calibri"/>
              </a:rPr>
              <a:t>y</a:t>
            </a:r>
            <a:r>
              <a:rPr sz="1800" spc="14" dirty="0">
                <a:latin typeface="Calibri"/>
                <a:cs typeface="Calibri"/>
              </a:rPr>
              <a:t> </a:t>
            </a:r>
            <a:r>
              <a:rPr sz="1800" spc="0" dirty="0">
                <a:latin typeface="Calibri"/>
                <a:cs typeface="Calibri"/>
              </a:rPr>
              <a:t>TB</a:t>
            </a:r>
            <a:r>
              <a:rPr sz="1800" spc="-9" dirty="0">
                <a:latin typeface="Calibri"/>
                <a:cs typeface="Calibri"/>
              </a:rPr>
              <a:t> </a:t>
            </a:r>
            <a:r>
              <a:rPr sz="1800" spc="-4" dirty="0">
                <a:latin typeface="Calibri"/>
                <a:cs typeface="Calibri"/>
              </a:rPr>
              <a:t>i</a:t>
            </a:r>
            <a:r>
              <a:rPr sz="1800" spc="0" dirty="0">
                <a:latin typeface="Calibri"/>
                <a:cs typeface="Calibri"/>
              </a:rPr>
              <a:t>n ad</a:t>
            </a:r>
            <a:r>
              <a:rPr sz="1800" spc="4" dirty="0">
                <a:latin typeface="Calibri"/>
                <a:cs typeface="Calibri"/>
              </a:rPr>
              <a:t>u</a:t>
            </a:r>
            <a:r>
              <a:rPr sz="1800" spc="-4" dirty="0">
                <a:latin typeface="Calibri"/>
                <a:cs typeface="Calibri"/>
              </a:rPr>
              <a:t>l</a:t>
            </a:r>
            <a:r>
              <a:rPr sz="1800" spc="0" dirty="0">
                <a:latin typeface="Calibri"/>
                <a:cs typeface="Calibri"/>
              </a:rPr>
              <a:t>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504" y="5452516"/>
            <a:ext cx="3440822" cy="2661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0"/>
              </a:lnSpc>
              <a:spcBef>
                <a:spcPts val="101"/>
              </a:spcBef>
            </a:pPr>
            <a:r>
              <a:rPr sz="2850" i="1" spc="0" baseline="2874" dirty="0">
                <a:latin typeface="Calibri"/>
                <a:cs typeface="Calibri"/>
              </a:rPr>
              <a:t>M</a:t>
            </a:r>
            <a:r>
              <a:rPr sz="2850" i="1" spc="-19" baseline="2874" dirty="0">
                <a:latin typeface="Calibri"/>
                <a:cs typeface="Calibri"/>
              </a:rPr>
              <a:t>e</a:t>
            </a:r>
            <a:r>
              <a:rPr sz="2850" i="1" spc="-25" baseline="2874" dirty="0">
                <a:latin typeface="Calibri"/>
                <a:cs typeface="Calibri"/>
              </a:rPr>
              <a:t>t</a:t>
            </a:r>
            <a:r>
              <a:rPr sz="2850" i="1" spc="-4" baseline="2874" dirty="0">
                <a:latin typeface="Calibri"/>
                <a:cs typeface="Calibri"/>
              </a:rPr>
              <a:t>a-</a:t>
            </a:r>
            <a:r>
              <a:rPr sz="2850" i="1" spc="0" baseline="2874" dirty="0">
                <a:latin typeface="Calibri"/>
                <a:cs typeface="Calibri"/>
              </a:rPr>
              <a:t>an</a:t>
            </a:r>
            <a:r>
              <a:rPr sz="2850" i="1" spc="-9" baseline="2874" dirty="0">
                <a:latin typeface="Calibri"/>
                <a:cs typeface="Calibri"/>
              </a:rPr>
              <a:t>a</a:t>
            </a:r>
            <a:r>
              <a:rPr sz="2850" i="1" spc="0" baseline="2874" dirty="0">
                <a:latin typeface="Calibri"/>
                <a:cs typeface="Calibri"/>
              </a:rPr>
              <a:t>lys</a:t>
            </a:r>
            <a:r>
              <a:rPr sz="2850" i="1" spc="-9" baseline="2874" dirty="0">
                <a:latin typeface="Calibri"/>
                <a:cs typeface="Calibri"/>
              </a:rPr>
              <a:t>i</a:t>
            </a:r>
            <a:r>
              <a:rPr sz="2850" i="1" spc="4" baseline="2874" dirty="0">
                <a:latin typeface="Calibri"/>
                <a:cs typeface="Calibri"/>
              </a:rPr>
              <a:t>s</a:t>
            </a:r>
            <a:r>
              <a:rPr sz="2850" i="1" spc="0" baseline="2874" dirty="0">
                <a:latin typeface="Calibri"/>
                <a:cs typeface="Calibri"/>
              </a:rPr>
              <a:t>,</a:t>
            </a:r>
            <a:r>
              <a:rPr sz="2850" i="1" spc="-56" baseline="2874" dirty="0">
                <a:latin typeface="Calibri"/>
                <a:cs typeface="Calibri"/>
              </a:rPr>
              <a:t> </a:t>
            </a:r>
            <a:r>
              <a:rPr sz="2850" i="1" spc="0" baseline="2874" dirty="0">
                <a:latin typeface="Calibri"/>
                <a:cs typeface="Calibri"/>
              </a:rPr>
              <a:t>Ma</a:t>
            </a:r>
            <a:r>
              <a:rPr sz="2850" i="1" spc="-4" baseline="2874" dirty="0">
                <a:latin typeface="Calibri"/>
                <a:cs typeface="Calibri"/>
              </a:rPr>
              <a:t>n</a:t>
            </a:r>
            <a:r>
              <a:rPr sz="2850" i="1" spc="0" baseline="2874" dirty="0">
                <a:latin typeface="Calibri"/>
                <a:cs typeface="Calibri"/>
              </a:rPr>
              <a:t>g</a:t>
            </a:r>
            <a:r>
              <a:rPr sz="2850" i="1" spc="-25" baseline="2874" dirty="0">
                <a:latin typeface="Calibri"/>
                <a:cs typeface="Calibri"/>
              </a:rPr>
              <a:t>t</a:t>
            </a:r>
            <a:r>
              <a:rPr sz="2850" i="1" spc="0" baseline="2874" dirty="0">
                <a:latin typeface="Calibri"/>
                <a:cs typeface="Calibri"/>
              </a:rPr>
              <a:t>ani</a:t>
            </a:r>
            <a:r>
              <a:rPr sz="2850" i="1" spc="-55" baseline="2874" dirty="0">
                <a:latin typeface="Calibri"/>
                <a:cs typeface="Calibri"/>
              </a:rPr>
              <a:t> </a:t>
            </a:r>
            <a:r>
              <a:rPr sz="2850" i="1" spc="4" baseline="2874" dirty="0">
                <a:latin typeface="Calibri"/>
                <a:cs typeface="Calibri"/>
              </a:rPr>
              <a:t>C</a:t>
            </a:r>
            <a:r>
              <a:rPr sz="2850" i="1" spc="0" baseline="2874" dirty="0">
                <a:latin typeface="Calibri"/>
                <a:cs typeface="Calibri"/>
              </a:rPr>
              <a:t>ID</a:t>
            </a:r>
            <a:r>
              <a:rPr sz="2850" i="1" spc="-36" baseline="2874" dirty="0">
                <a:latin typeface="Calibri"/>
                <a:cs typeface="Calibri"/>
              </a:rPr>
              <a:t> </a:t>
            </a:r>
            <a:r>
              <a:rPr sz="2850" i="1" spc="0" baseline="2874" dirty="0">
                <a:latin typeface="Calibri"/>
                <a:cs typeface="Calibri"/>
              </a:rPr>
              <a:t>2014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94780" y="5956655"/>
            <a:ext cx="1420105" cy="2661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0"/>
              </a:lnSpc>
              <a:spcBef>
                <a:spcPts val="101"/>
              </a:spcBef>
            </a:pPr>
            <a:r>
              <a:rPr sz="2850" i="1" spc="0" baseline="2874" dirty="0">
                <a:latin typeface="Calibri"/>
                <a:cs typeface="Calibri"/>
              </a:rPr>
              <a:t>The</a:t>
            </a:r>
            <a:r>
              <a:rPr sz="2850" i="1" spc="-23" baseline="2874" dirty="0">
                <a:latin typeface="Calibri"/>
                <a:cs typeface="Calibri"/>
              </a:rPr>
              <a:t> </a:t>
            </a:r>
            <a:r>
              <a:rPr sz="2850" i="1" spc="0" baseline="2874" dirty="0">
                <a:latin typeface="Calibri"/>
                <a:cs typeface="Calibri"/>
              </a:rPr>
              <a:t>BCG</a:t>
            </a:r>
            <a:r>
              <a:rPr sz="2850" i="1" spc="-42" baseline="2874" dirty="0">
                <a:latin typeface="Calibri"/>
                <a:cs typeface="Calibri"/>
              </a:rPr>
              <a:t> </a:t>
            </a:r>
            <a:r>
              <a:rPr sz="2850" i="1" spc="-50" baseline="2874" dirty="0">
                <a:latin typeface="Calibri"/>
                <a:cs typeface="Calibri"/>
              </a:rPr>
              <a:t>A</a:t>
            </a:r>
            <a:r>
              <a:rPr sz="2850" i="1" spc="0" baseline="2874" dirty="0">
                <a:latin typeface="Calibri"/>
                <a:cs typeface="Calibri"/>
              </a:rPr>
              <a:t>tl</a:t>
            </a:r>
            <a:r>
              <a:rPr sz="2850" i="1" spc="-4" baseline="2874" dirty="0">
                <a:latin typeface="Calibri"/>
                <a:cs typeface="Calibri"/>
              </a:rPr>
              <a:t>a</a:t>
            </a:r>
            <a:r>
              <a:rPr sz="2850" i="1" spc="0" baseline="2874" dirty="0">
                <a:latin typeface="Calibri"/>
                <a:cs typeface="Calibri"/>
              </a:rPr>
              <a:t>s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6629400" cy="8647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80"/>
              </a:lnSpc>
              <a:spcBef>
                <a:spcPts val="149"/>
              </a:spcBef>
            </a:pPr>
            <a:r>
              <a:rPr lang="en-US" sz="2800" spc="-107" dirty="0">
                <a:solidFill>
                  <a:srgbClr val="C00000"/>
                </a:solidFill>
                <a:latin typeface="Arial"/>
                <a:cs typeface="Arial"/>
              </a:rPr>
              <a:t>Strategies for TB Vaccine </a:t>
            </a:r>
            <a:r>
              <a:rPr lang="it-IT" sz="2800" spc="-107" dirty="0">
                <a:solidFill>
                  <a:srgbClr val="C00000"/>
                </a:solidFill>
                <a:latin typeface="Arial"/>
                <a:cs typeface="Arial"/>
              </a:rPr>
              <a:t>Development</a:t>
            </a:r>
            <a:endParaRPr lang="en-US" sz="2800" spc="-107" dirty="0">
              <a:solidFill>
                <a:srgbClr val="C00000"/>
              </a:solidFill>
              <a:latin typeface="Arial"/>
              <a:cs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1219200"/>
            <a:ext cx="4648200" cy="44196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69900" marR="34289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r>
              <a:rPr lang="en-US" sz="2700" baseline="3034" dirty="0">
                <a:latin typeface="Calibri"/>
                <a:cs typeface="Calibri"/>
              </a:rPr>
              <a:t>Pre-infection: to prevent infection</a:t>
            </a:r>
          </a:p>
          <a:p>
            <a:pPr marL="927100" marR="34289" lvl="1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r>
              <a:rPr lang="en-US" sz="2700" baseline="3034" dirty="0">
                <a:latin typeface="Calibri"/>
                <a:cs typeface="Calibri"/>
              </a:rPr>
              <a:t>Either initial infection or establishment</a:t>
            </a:r>
            <a:r>
              <a:rPr lang="en-US" sz="2700" dirty="0">
                <a:latin typeface="Calibri"/>
                <a:cs typeface="Calibri"/>
              </a:rPr>
              <a:t> </a:t>
            </a:r>
            <a:r>
              <a:rPr lang="en-US" sz="2700" baseline="3034" dirty="0">
                <a:latin typeface="Calibri"/>
                <a:cs typeface="Calibri"/>
              </a:rPr>
              <a:t>of the granuloma</a:t>
            </a:r>
          </a:p>
          <a:p>
            <a:pPr marL="927100" marR="34289" lvl="1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endParaRPr lang="en-US" sz="2700" baseline="3034" dirty="0">
              <a:latin typeface="Calibri"/>
              <a:cs typeface="Calibri"/>
            </a:endParaRPr>
          </a:p>
          <a:p>
            <a:pPr marL="469900" marR="34289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r>
              <a:rPr lang="en-US" sz="2700" baseline="3034" dirty="0">
                <a:latin typeface="Calibri"/>
                <a:cs typeface="Calibri"/>
              </a:rPr>
              <a:t>Post-infection: to prevent disease</a:t>
            </a:r>
          </a:p>
          <a:p>
            <a:pPr marL="927100" marR="34289" lvl="1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r>
              <a:rPr lang="en-US" sz="2700" baseline="3034" dirty="0">
                <a:latin typeface="Calibri"/>
                <a:cs typeface="Calibri"/>
              </a:rPr>
              <a:t>after initial infection (most animal</a:t>
            </a:r>
            <a:r>
              <a:rPr lang="en-US" sz="2700" dirty="0">
                <a:latin typeface="Calibri"/>
                <a:cs typeface="Calibri"/>
              </a:rPr>
              <a:t> </a:t>
            </a:r>
            <a:r>
              <a:rPr lang="hr-HR" sz="2700" baseline="3034" dirty="0">
                <a:latin typeface="Calibri"/>
                <a:cs typeface="Calibri"/>
              </a:rPr>
              <a:t>data to date)</a:t>
            </a:r>
          </a:p>
          <a:p>
            <a:pPr marL="927100" marR="34289" lvl="1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r>
              <a:rPr lang="en-US" sz="2700" baseline="3034" dirty="0">
                <a:latin typeface="Calibri"/>
                <a:cs typeface="Calibri"/>
              </a:rPr>
              <a:t>reactivation from latency (minimal</a:t>
            </a:r>
            <a:r>
              <a:rPr lang="en-US" sz="2700" dirty="0">
                <a:latin typeface="Calibri"/>
                <a:cs typeface="Calibri"/>
              </a:rPr>
              <a:t> </a:t>
            </a:r>
            <a:r>
              <a:rPr lang="it-IT" sz="2700" baseline="3034" dirty="0" err="1">
                <a:latin typeface="Calibri"/>
                <a:cs typeface="Calibri"/>
              </a:rPr>
              <a:t>animal</a:t>
            </a:r>
            <a:r>
              <a:rPr lang="it-IT" sz="2700" baseline="3034" dirty="0">
                <a:latin typeface="Calibri"/>
                <a:cs typeface="Calibri"/>
              </a:rPr>
              <a:t> data)</a:t>
            </a:r>
          </a:p>
          <a:p>
            <a:pPr marL="927100" marR="34289" lvl="1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endParaRPr lang="it-IT" sz="2700" baseline="3034" dirty="0">
              <a:latin typeface="Calibri"/>
              <a:cs typeface="Calibri"/>
            </a:endParaRPr>
          </a:p>
          <a:p>
            <a:pPr marL="469900" marR="34289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r>
              <a:rPr lang="en-US" sz="2700" baseline="3034" dirty="0">
                <a:latin typeface="Calibri"/>
                <a:cs typeface="Calibri"/>
              </a:rPr>
              <a:t>Immunotherapeutic: treatment</a:t>
            </a:r>
          </a:p>
          <a:p>
            <a:pPr marL="927100" marR="34289" lvl="1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r>
              <a:rPr lang="en-US" sz="2700" baseline="3034" dirty="0">
                <a:latin typeface="Calibri"/>
                <a:cs typeface="Calibri"/>
              </a:rPr>
              <a:t>Shorten the course of</a:t>
            </a:r>
            <a:r>
              <a:rPr lang="en-US" sz="2700" dirty="0">
                <a:latin typeface="Calibri"/>
                <a:cs typeface="Calibri"/>
              </a:rPr>
              <a:t> </a:t>
            </a:r>
            <a:r>
              <a:rPr lang="en-US" sz="2700" baseline="3034" dirty="0">
                <a:latin typeface="Calibri"/>
                <a:cs typeface="Calibri"/>
              </a:rPr>
              <a:t>chemotherapy for active TB</a:t>
            </a:r>
          </a:p>
          <a:p>
            <a:pPr marL="927100" marR="34289" lvl="1" indent="-457200">
              <a:lnSpc>
                <a:spcPts val="1935"/>
              </a:lnSpc>
              <a:spcBef>
                <a:spcPts val="96"/>
              </a:spcBef>
              <a:buFont typeface="Arial"/>
              <a:buChar char="•"/>
            </a:pPr>
            <a:r>
              <a:rPr lang="en-US" sz="2700" baseline="3034" dirty="0">
                <a:latin typeface="Calibri"/>
                <a:cs typeface="Calibri"/>
              </a:rPr>
              <a:t>Decrease relapse or reinfection</a:t>
            </a:r>
            <a:r>
              <a:rPr lang="en-US" sz="2700" dirty="0">
                <a:latin typeface="Calibri"/>
                <a:cs typeface="Calibri"/>
              </a:rPr>
              <a:t> </a:t>
            </a:r>
            <a:r>
              <a:rPr lang="en-US" sz="2700" baseline="3034" dirty="0">
                <a:latin typeface="Calibri"/>
                <a:cs typeface="Calibri"/>
              </a:rPr>
              <a:t>rates (may correlate to latency)</a:t>
            </a:r>
            <a:endParaRPr lang="hr-HR" sz="2700" baseline="3034" dirty="0">
              <a:latin typeface="Calibri"/>
              <a:cs typeface="Calibri"/>
            </a:endParaRPr>
          </a:p>
          <a:p>
            <a:pPr marL="12700" marR="34289">
              <a:lnSpc>
                <a:spcPts val="1935"/>
              </a:lnSpc>
              <a:spcBef>
                <a:spcPts val="96"/>
              </a:spcBef>
            </a:pPr>
            <a:endParaRPr lang="en-US" sz="2700" baseline="3034" dirty="0">
              <a:latin typeface="Calibri"/>
              <a:cs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98500"/>
            <a:ext cx="4495800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49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7699248" y="251459"/>
            <a:ext cx="559307" cy="789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08757" y="2060816"/>
            <a:ext cx="6892671" cy="39772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7365" y="410800"/>
            <a:ext cx="3217551" cy="27592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765579">
              <a:lnSpc>
                <a:spcPts val="2980"/>
              </a:lnSpc>
              <a:spcBef>
                <a:spcPts val="149"/>
              </a:spcBef>
            </a:pPr>
            <a:r>
              <a:rPr sz="2800" spc="-134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800" spc="9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800" spc="14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800" spc="9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2800" dirty="0">
              <a:latin typeface="Arial"/>
              <a:cs typeface="Arial"/>
            </a:endParaRPr>
          </a:p>
          <a:p>
            <a:pPr marL="12700" marR="574745">
              <a:lnSpc>
                <a:spcPct val="99995"/>
              </a:lnSpc>
              <a:spcBef>
                <a:spcPts val="1722"/>
              </a:spcBef>
            </a:pPr>
            <a:r>
              <a:rPr sz="2000" b="1" spc="0" dirty="0">
                <a:latin typeface="Calibri"/>
                <a:cs typeface="Calibri"/>
              </a:rPr>
              <a:t>Adult</a:t>
            </a:r>
            <a:r>
              <a:rPr sz="2000" b="1" spc="-19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v</a:t>
            </a:r>
            <a:r>
              <a:rPr sz="2000" b="1" spc="-4" dirty="0">
                <a:latin typeface="Calibri"/>
                <a:cs typeface="Calibri"/>
              </a:rPr>
              <a:t>a</a:t>
            </a:r>
            <a:r>
              <a:rPr sz="2000" b="1" spc="0" dirty="0">
                <a:latin typeface="Calibri"/>
                <a:cs typeface="Calibri"/>
              </a:rPr>
              <a:t>ccine</a:t>
            </a:r>
            <a:r>
              <a:rPr sz="2000" b="1" spc="-19" dirty="0">
                <a:latin typeface="Calibri"/>
                <a:cs typeface="Calibri"/>
              </a:rPr>
              <a:t> s</a:t>
            </a:r>
            <a:r>
              <a:rPr sz="2000" b="1" spc="0" dirty="0">
                <a:latin typeface="Calibri"/>
                <a:cs typeface="Calibri"/>
              </a:rPr>
              <a:t>t</a:t>
            </a:r>
            <a:r>
              <a:rPr sz="2000" b="1" spc="-50" dirty="0">
                <a:latin typeface="Calibri"/>
                <a:cs typeface="Calibri"/>
              </a:rPr>
              <a:t>r</a:t>
            </a:r>
            <a:r>
              <a:rPr sz="2000" b="1" spc="-29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0" dirty="0">
                <a:latin typeface="Calibri"/>
                <a:cs typeface="Calibri"/>
              </a:rPr>
              <a:t>egy (4</a:t>
            </a:r>
            <a:r>
              <a:rPr sz="2000" b="1" spc="4" dirty="0">
                <a:latin typeface="Calibri"/>
                <a:cs typeface="Calibri"/>
              </a:rPr>
              <a:t>0</a:t>
            </a:r>
            <a:r>
              <a:rPr sz="2000" b="1" spc="0" dirty="0">
                <a:latin typeface="Calibri"/>
                <a:cs typeface="Calibri"/>
              </a:rPr>
              <a:t>%</a:t>
            </a:r>
            <a:r>
              <a:rPr sz="2000" b="1" spc="-14" dirty="0">
                <a:latin typeface="Calibri"/>
                <a:cs typeface="Calibri"/>
              </a:rPr>
              <a:t> </a:t>
            </a:r>
            <a:r>
              <a:rPr sz="2000" b="1" spc="0" dirty="0">
                <a:latin typeface="Calibri"/>
                <a:cs typeface="Calibri"/>
              </a:rPr>
              <a:t>VE and </a:t>
            </a:r>
            <a:r>
              <a:rPr sz="2000" b="1" spc="4" dirty="0">
                <a:latin typeface="Calibri"/>
                <a:cs typeface="Calibri"/>
              </a:rPr>
              <a:t>5</a:t>
            </a:r>
            <a:r>
              <a:rPr sz="2000" b="1" spc="0" dirty="0">
                <a:latin typeface="Calibri"/>
                <a:cs typeface="Calibri"/>
              </a:rPr>
              <a:t>-</a:t>
            </a:r>
            <a:r>
              <a:rPr sz="2000" b="1" spc="-25" dirty="0">
                <a:latin typeface="Calibri"/>
                <a:cs typeface="Calibri"/>
              </a:rPr>
              <a:t>y</a:t>
            </a:r>
            <a:r>
              <a:rPr sz="2000" b="1" spc="0" dirty="0">
                <a:latin typeface="Calibri"/>
                <a:cs typeface="Calibri"/>
              </a:rPr>
              <a:t>ear p</a:t>
            </a:r>
            <a:r>
              <a:rPr sz="2000" b="1" spc="-25" dirty="0">
                <a:latin typeface="Calibri"/>
                <a:cs typeface="Calibri"/>
              </a:rPr>
              <a:t>r</a:t>
            </a:r>
            <a:r>
              <a:rPr sz="2000" b="1" spc="0" dirty="0">
                <a:latin typeface="Calibri"/>
                <a:cs typeface="Calibri"/>
              </a:rPr>
              <a:t>o</a:t>
            </a:r>
            <a:r>
              <a:rPr sz="2000" b="1" spc="-19" dirty="0">
                <a:latin typeface="Calibri"/>
                <a:cs typeface="Calibri"/>
              </a:rPr>
              <a:t>t</a:t>
            </a:r>
            <a:r>
              <a:rPr sz="2000" b="1" spc="0" dirty="0">
                <a:latin typeface="Calibri"/>
                <a:cs typeface="Calibri"/>
              </a:rPr>
              <a:t>ectio</a:t>
            </a:r>
            <a:r>
              <a:rPr sz="2000" b="1" spc="4" dirty="0">
                <a:latin typeface="Calibri"/>
                <a:cs typeface="Calibri"/>
              </a:rPr>
              <a:t>n</a:t>
            </a:r>
            <a:r>
              <a:rPr sz="2000" b="1" spc="0" dirty="0">
                <a:latin typeface="Calibri"/>
                <a:cs typeface="Calibri"/>
              </a:rPr>
              <a:t>)</a:t>
            </a:r>
            <a:r>
              <a:rPr sz="2000" b="1" spc="-29" dirty="0">
                <a:latin typeface="Calibri"/>
                <a:cs typeface="Calibri"/>
              </a:rPr>
              <a:t> </a:t>
            </a:r>
            <a:r>
              <a:rPr sz="2000" b="1" spc="0" dirty="0">
                <a:latin typeface="Calibri"/>
                <a:cs typeface="Calibri"/>
              </a:rPr>
              <a:t>g</a:t>
            </a:r>
            <a:r>
              <a:rPr sz="2000" b="1" spc="-29" dirty="0">
                <a:latin typeface="Calibri"/>
                <a:cs typeface="Calibri"/>
              </a:rPr>
              <a:t>r</a:t>
            </a:r>
            <a:r>
              <a:rPr sz="2000" b="1" spc="0" dirty="0">
                <a:latin typeface="Calibri"/>
                <a:cs typeface="Calibri"/>
              </a:rPr>
              <a:t>e</a:t>
            </a:r>
            <a:r>
              <a:rPr sz="2000" b="1" spc="-29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t</a:t>
            </a:r>
            <a:r>
              <a:rPr sz="2000" b="1" spc="0" dirty="0">
                <a:latin typeface="Calibri"/>
                <a:cs typeface="Calibri"/>
              </a:rPr>
              <a:t>er impact</a:t>
            </a:r>
            <a:r>
              <a:rPr sz="2000" b="1" spc="-29" dirty="0">
                <a:latin typeface="Calibri"/>
                <a:cs typeface="Calibri"/>
              </a:rPr>
              <a:t> </a:t>
            </a:r>
            <a:r>
              <a:rPr sz="2000" b="1" spc="0" dirty="0">
                <a:latin typeface="Calibri"/>
                <a:cs typeface="Calibri"/>
              </a:rPr>
              <a:t>on TB incide</a:t>
            </a:r>
            <a:r>
              <a:rPr sz="2000" b="1" spc="9" dirty="0">
                <a:latin typeface="Calibri"/>
                <a:cs typeface="Calibri"/>
              </a:rPr>
              <a:t>n</a:t>
            </a:r>
            <a:r>
              <a:rPr sz="2000" b="1" spc="0" dirty="0">
                <a:latin typeface="Calibri"/>
                <a:cs typeface="Calibri"/>
              </a:rPr>
              <a:t>ce than</a:t>
            </a:r>
            <a:r>
              <a:rPr sz="2000" b="1" spc="-19" dirty="0">
                <a:latin typeface="Calibri"/>
                <a:cs typeface="Calibri"/>
              </a:rPr>
              <a:t> </a:t>
            </a:r>
            <a:r>
              <a:rPr sz="2000" b="1" spc="0" dirty="0">
                <a:latin typeface="Calibri"/>
                <a:cs typeface="Calibri"/>
              </a:rPr>
              <a:t>i</a:t>
            </a:r>
            <a:r>
              <a:rPr sz="2000" b="1" spc="-9" dirty="0">
                <a:latin typeface="Calibri"/>
                <a:cs typeface="Calibri"/>
              </a:rPr>
              <a:t>n</a:t>
            </a:r>
            <a:r>
              <a:rPr sz="2000" b="1" spc="-34" dirty="0">
                <a:latin typeface="Calibri"/>
                <a:cs typeface="Calibri"/>
              </a:rPr>
              <a:t>f</a:t>
            </a:r>
            <a:r>
              <a:rPr sz="2000" b="1" spc="-4" dirty="0">
                <a:latin typeface="Calibri"/>
                <a:cs typeface="Calibri"/>
              </a:rPr>
              <a:t>a</a:t>
            </a:r>
            <a:r>
              <a:rPr sz="2000" b="1" spc="-19" dirty="0">
                <a:latin typeface="Calibri"/>
                <a:cs typeface="Calibri"/>
              </a:rPr>
              <a:t>n</a:t>
            </a:r>
            <a:r>
              <a:rPr sz="2000" b="1" spc="0" dirty="0">
                <a:latin typeface="Calibri"/>
                <a:cs typeface="Calibri"/>
              </a:rPr>
              <a:t>t</a:t>
            </a:r>
            <a:r>
              <a:rPr sz="2000" b="1" spc="-9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v</a:t>
            </a:r>
            <a:r>
              <a:rPr sz="2000" b="1" spc="-4" dirty="0">
                <a:latin typeface="Calibri"/>
                <a:cs typeface="Calibri"/>
              </a:rPr>
              <a:t>a</a:t>
            </a:r>
            <a:r>
              <a:rPr sz="2000" b="1" spc="0" dirty="0">
                <a:latin typeface="Calibri"/>
                <a:cs typeface="Calibri"/>
              </a:rPr>
              <a:t>ccine</a:t>
            </a:r>
            <a:r>
              <a:rPr sz="2000" b="1" spc="-9" dirty="0">
                <a:latin typeface="Calibri"/>
                <a:cs typeface="Calibri"/>
              </a:rPr>
              <a:t> </a:t>
            </a:r>
            <a:r>
              <a:rPr sz="2000" b="1" spc="0" dirty="0">
                <a:latin typeface="Calibri"/>
                <a:cs typeface="Calibri"/>
              </a:rPr>
              <a:t>(80% VE and li</a:t>
            </a:r>
            <a:r>
              <a:rPr sz="2000" b="1" spc="-34" dirty="0">
                <a:latin typeface="Calibri"/>
                <a:cs typeface="Calibri"/>
              </a:rPr>
              <a:t>f</a:t>
            </a:r>
            <a:r>
              <a:rPr sz="2000" b="1" spc="0" dirty="0">
                <a:latin typeface="Calibri"/>
                <a:cs typeface="Calibri"/>
              </a:rPr>
              <a:t>elong p</a:t>
            </a:r>
            <a:r>
              <a:rPr sz="2000" b="1" spc="-25" dirty="0">
                <a:latin typeface="Calibri"/>
                <a:cs typeface="Calibri"/>
              </a:rPr>
              <a:t>r</a:t>
            </a:r>
            <a:r>
              <a:rPr sz="2000" b="1" spc="0" dirty="0">
                <a:latin typeface="Calibri"/>
                <a:cs typeface="Calibri"/>
              </a:rPr>
              <a:t>o</a:t>
            </a:r>
            <a:r>
              <a:rPr sz="2000" b="1" spc="-19" dirty="0">
                <a:latin typeface="Calibri"/>
                <a:cs typeface="Calibri"/>
              </a:rPr>
              <a:t>t</a:t>
            </a:r>
            <a:r>
              <a:rPr sz="2000" b="1" spc="0" dirty="0">
                <a:latin typeface="Calibri"/>
                <a:cs typeface="Calibri"/>
              </a:rPr>
              <a:t>ectio</a:t>
            </a:r>
            <a:r>
              <a:rPr sz="2000" b="1" spc="4" dirty="0">
                <a:latin typeface="Calibri"/>
                <a:cs typeface="Calibri"/>
              </a:rPr>
              <a:t>n</a:t>
            </a:r>
            <a:r>
              <a:rPr sz="2000" b="1" spc="0" dirty="0">
                <a:latin typeface="Calibri"/>
                <a:cs typeface="Calibri"/>
              </a:rPr>
              <a:t>)</a:t>
            </a:r>
            <a:r>
              <a:rPr sz="2000" b="1" spc="-29" dirty="0">
                <a:latin typeface="Calibri"/>
                <a:cs typeface="Calibri"/>
              </a:rPr>
              <a:t> </a:t>
            </a:r>
            <a:r>
              <a:rPr sz="2000" b="1" spc="-4" dirty="0">
                <a:latin typeface="Calibri"/>
                <a:cs typeface="Calibri"/>
              </a:rPr>
              <a:t>b</a:t>
            </a:r>
            <a:r>
              <a:rPr sz="2000" b="1" spc="0" dirty="0">
                <a:latin typeface="Calibri"/>
                <a:cs typeface="Calibri"/>
              </a:rPr>
              <a:t>y</a:t>
            </a:r>
            <a:r>
              <a:rPr sz="2000" b="1" spc="-9" dirty="0">
                <a:latin typeface="Calibri"/>
                <a:cs typeface="Calibri"/>
              </a:rPr>
              <a:t> </a:t>
            </a:r>
            <a:r>
              <a:rPr sz="2000" b="1" spc="4" dirty="0">
                <a:latin typeface="Calibri"/>
                <a:cs typeface="Calibri"/>
              </a:rPr>
              <a:t>2050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9260" y="410800"/>
            <a:ext cx="4553182" cy="3804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80"/>
              </a:lnSpc>
              <a:spcBef>
                <a:spcPts val="149"/>
              </a:spcBef>
            </a:pPr>
            <a:r>
              <a:rPr sz="2800" spc="16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800" spc="-7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800" spc="-32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800" spc="16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800" spc="10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pment:</a:t>
            </a:r>
            <a:r>
              <a:rPr sz="28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spc="14" dirty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800" spc="-94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800" spc="-89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800" spc="-29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2800" spc="-109" dirty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800" spc="0" dirty="0">
                <a:solidFill>
                  <a:srgbClr val="C00000"/>
                </a:solidFill>
                <a:latin typeface="Arial"/>
                <a:cs typeface="Arial"/>
              </a:rPr>
              <a:t>ound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2788" y="1132967"/>
            <a:ext cx="5123113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140"/>
              </a:lnSpc>
              <a:spcBef>
                <a:spcPts val="107"/>
              </a:spcBef>
            </a:pPr>
            <a:r>
              <a:rPr sz="3000" b="1" spc="0" baseline="2730" dirty="0">
                <a:latin typeface="Calibri"/>
                <a:cs typeface="Calibri"/>
              </a:rPr>
              <a:t>Mo</a:t>
            </a:r>
            <a:r>
              <a:rPr sz="3000" b="1" spc="4" baseline="2730" dirty="0">
                <a:latin typeface="Calibri"/>
                <a:cs typeface="Calibri"/>
              </a:rPr>
              <a:t>d</a:t>
            </a:r>
            <a:r>
              <a:rPr sz="3000" b="1" spc="0" baseline="2730" dirty="0">
                <a:latin typeface="Calibri"/>
                <a:cs typeface="Calibri"/>
              </a:rPr>
              <a:t>eled</a:t>
            </a:r>
            <a:r>
              <a:rPr sz="3000" b="1" spc="-14" baseline="2730" dirty="0">
                <a:latin typeface="Calibri"/>
                <a:cs typeface="Calibri"/>
              </a:rPr>
              <a:t> </a:t>
            </a:r>
            <a:r>
              <a:rPr sz="3000" b="1" spc="0" baseline="2730" dirty="0">
                <a:latin typeface="Calibri"/>
                <a:cs typeface="Calibri"/>
              </a:rPr>
              <a:t>impact</a:t>
            </a:r>
            <a:r>
              <a:rPr sz="3000" b="1" spc="-14" baseline="2730" dirty="0">
                <a:latin typeface="Calibri"/>
                <a:cs typeface="Calibri"/>
              </a:rPr>
              <a:t> </a:t>
            </a:r>
            <a:r>
              <a:rPr sz="3000" b="1" spc="0" baseline="2730" dirty="0">
                <a:latin typeface="Calibri"/>
                <a:cs typeface="Calibri"/>
              </a:rPr>
              <a:t>of a</a:t>
            </a:r>
            <a:r>
              <a:rPr sz="3000" b="1" spc="-9" baseline="2730" dirty="0">
                <a:latin typeface="Calibri"/>
                <a:cs typeface="Calibri"/>
              </a:rPr>
              <a:t> </a:t>
            </a:r>
            <a:r>
              <a:rPr sz="3000" b="1" spc="4" baseline="2730" dirty="0">
                <a:latin typeface="Calibri"/>
                <a:cs typeface="Calibri"/>
              </a:rPr>
              <a:t>n</a:t>
            </a:r>
            <a:r>
              <a:rPr sz="3000" b="1" spc="-14" baseline="2730" dirty="0">
                <a:latin typeface="Calibri"/>
                <a:cs typeface="Calibri"/>
              </a:rPr>
              <a:t>e</a:t>
            </a:r>
            <a:r>
              <a:rPr sz="3000" b="1" spc="0" baseline="2730" dirty="0">
                <a:latin typeface="Calibri"/>
                <a:cs typeface="Calibri"/>
              </a:rPr>
              <a:t>w TB</a:t>
            </a:r>
            <a:r>
              <a:rPr sz="3000" b="1" spc="-9" baseline="2730" dirty="0">
                <a:latin typeface="Calibri"/>
                <a:cs typeface="Calibri"/>
              </a:rPr>
              <a:t> </a:t>
            </a:r>
            <a:r>
              <a:rPr sz="3000" b="1" spc="-25" baseline="2730" dirty="0">
                <a:latin typeface="Calibri"/>
                <a:cs typeface="Calibri"/>
              </a:rPr>
              <a:t>v</a:t>
            </a:r>
            <a:r>
              <a:rPr sz="3000" b="1" spc="0" baseline="2730" dirty="0">
                <a:latin typeface="Calibri"/>
                <a:cs typeface="Calibri"/>
              </a:rPr>
              <a:t>accine</a:t>
            </a:r>
            <a:r>
              <a:rPr sz="3000" b="1" spc="-9" baseline="2730" dirty="0">
                <a:latin typeface="Calibri"/>
                <a:cs typeface="Calibri"/>
              </a:rPr>
              <a:t> </a:t>
            </a:r>
            <a:r>
              <a:rPr sz="3000" b="1" spc="-25" baseline="2730" dirty="0">
                <a:latin typeface="Calibri"/>
                <a:cs typeface="Calibri"/>
              </a:rPr>
              <a:t>t</a:t>
            </a:r>
            <a:r>
              <a:rPr sz="3000" b="1" spc="0" baseline="2730" dirty="0">
                <a:latin typeface="Calibri"/>
                <a:cs typeface="Calibri"/>
              </a:rPr>
              <a:t>a</a:t>
            </a:r>
            <a:r>
              <a:rPr sz="3000" b="1" spc="-34" baseline="2730" dirty="0">
                <a:latin typeface="Calibri"/>
                <a:cs typeface="Calibri"/>
              </a:rPr>
              <a:t>r</a:t>
            </a:r>
            <a:r>
              <a:rPr sz="3000" b="1" spc="-25" baseline="2730" dirty="0">
                <a:latin typeface="Calibri"/>
                <a:cs typeface="Calibri"/>
              </a:rPr>
              <a:t>g</a:t>
            </a:r>
            <a:r>
              <a:rPr sz="3000" b="1" spc="-14" baseline="2730" dirty="0">
                <a:latin typeface="Calibri"/>
                <a:cs typeface="Calibri"/>
              </a:rPr>
              <a:t>e</a:t>
            </a:r>
            <a:r>
              <a:rPr sz="3000" b="1" spc="-25" baseline="2730" dirty="0">
                <a:latin typeface="Calibri"/>
                <a:cs typeface="Calibri"/>
              </a:rPr>
              <a:t>t</a:t>
            </a:r>
            <a:r>
              <a:rPr sz="3000" b="1" spc="0" baseline="2730" dirty="0">
                <a:latin typeface="Calibri"/>
                <a:cs typeface="Calibri"/>
              </a:rPr>
              <a:t>ed </a:t>
            </a:r>
            <a:r>
              <a:rPr sz="3000" b="1" spc="-34" baseline="2730" dirty="0">
                <a:latin typeface="Calibri"/>
                <a:cs typeface="Calibri"/>
              </a:rPr>
              <a:t>a</a:t>
            </a:r>
            <a:r>
              <a:rPr sz="3000" b="1" spc="0" baseline="2730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  <a:p>
            <a:pPr marL="630389" marR="648552" algn="ctr">
              <a:lnSpc>
                <a:spcPts val="2400"/>
              </a:lnSpc>
              <a:spcBef>
                <a:spcPts val="13"/>
              </a:spcBef>
            </a:pPr>
            <a:r>
              <a:rPr sz="3000" b="1" spc="0" baseline="1365" dirty="0">
                <a:latin typeface="Calibri"/>
                <a:cs typeface="Calibri"/>
              </a:rPr>
              <a:t>i</a:t>
            </a:r>
            <a:r>
              <a:rPr sz="3000" b="1" spc="-9" baseline="1365" dirty="0">
                <a:latin typeface="Calibri"/>
                <a:cs typeface="Calibri"/>
              </a:rPr>
              <a:t>n</a:t>
            </a:r>
            <a:r>
              <a:rPr sz="3000" b="1" spc="-34" baseline="1365" dirty="0">
                <a:latin typeface="Calibri"/>
                <a:cs typeface="Calibri"/>
              </a:rPr>
              <a:t>f</a:t>
            </a:r>
            <a:r>
              <a:rPr sz="3000" b="1" spc="0" baseline="1365" dirty="0">
                <a:latin typeface="Calibri"/>
                <a:cs typeface="Calibri"/>
              </a:rPr>
              <a:t>a</a:t>
            </a:r>
            <a:r>
              <a:rPr sz="3000" b="1" spc="-25" baseline="1365" dirty="0">
                <a:latin typeface="Calibri"/>
                <a:cs typeface="Calibri"/>
              </a:rPr>
              <a:t>n</a:t>
            </a:r>
            <a:r>
              <a:rPr sz="3000" b="1" spc="0" baseline="1365" dirty="0">
                <a:latin typeface="Calibri"/>
                <a:cs typeface="Calibri"/>
              </a:rPr>
              <a:t>ts (</a:t>
            </a:r>
            <a:r>
              <a:rPr sz="3000" b="1" spc="-9" baseline="1365" dirty="0">
                <a:latin typeface="Calibri"/>
                <a:cs typeface="Calibri"/>
              </a:rPr>
              <a:t>D</a:t>
            </a:r>
            <a:r>
              <a:rPr sz="3000" b="1" spc="0" baseline="1365" dirty="0">
                <a:latin typeface="Calibri"/>
                <a:cs typeface="Calibri"/>
              </a:rPr>
              <a:t>)</a:t>
            </a:r>
            <a:r>
              <a:rPr sz="3000" b="1" spc="-9" baseline="1365" dirty="0">
                <a:latin typeface="Calibri"/>
                <a:cs typeface="Calibri"/>
              </a:rPr>
              <a:t> </a:t>
            </a:r>
            <a:r>
              <a:rPr sz="3000" b="1" spc="0" baseline="1365" dirty="0">
                <a:latin typeface="Calibri"/>
                <a:cs typeface="Calibri"/>
              </a:rPr>
              <a:t>or adoles</a:t>
            </a:r>
            <a:r>
              <a:rPr sz="3000" b="1" spc="4" baseline="1365" dirty="0">
                <a:latin typeface="Calibri"/>
                <a:cs typeface="Calibri"/>
              </a:rPr>
              <a:t>c</a:t>
            </a:r>
            <a:r>
              <a:rPr sz="3000" b="1" spc="0" baseline="1365" dirty="0">
                <a:latin typeface="Calibri"/>
                <a:cs typeface="Calibri"/>
              </a:rPr>
              <a:t>e</a:t>
            </a:r>
            <a:r>
              <a:rPr sz="3000" b="1" spc="-19" baseline="1365" dirty="0">
                <a:latin typeface="Calibri"/>
                <a:cs typeface="Calibri"/>
              </a:rPr>
              <a:t>n</a:t>
            </a:r>
            <a:r>
              <a:rPr sz="3000" b="1" spc="0" baseline="1365" dirty="0">
                <a:latin typeface="Calibri"/>
                <a:cs typeface="Calibri"/>
              </a:rPr>
              <a:t>ts</a:t>
            </a:r>
            <a:r>
              <a:rPr sz="3000" b="1" spc="-39" baseline="1365" dirty="0">
                <a:latin typeface="Calibri"/>
                <a:cs typeface="Calibri"/>
              </a:rPr>
              <a:t>/</a:t>
            </a:r>
            <a:r>
              <a:rPr sz="3000" b="1" spc="0" baseline="1365" dirty="0">
                <a:latin typeface="Calibri"/>
                <a:cs typeface="Calibri"/>
              </a:rPr>
              <a:t>adul</a:t>
            </a:r>
            <a:r>
              <a:rPr sz="3000" b="1" spc="-4" baseline="1365" dirty="0">
                <a:latin typeface="Calibri"/>
                <a:cs typeface="Calibri"/>
              </a:rPr>
              <a:t>t</a:t>
            </a:r>
            <a:r>
              <a:rPr sz="3000" b="1" spc="0" baseline="1365" dirty="0">
                <a:latin typeface="Calibri"/>
                <a:cs typeface="Calibri"/>
              </a:rPr>
              <a:t>s</a:t>
            </a:r>
            <a:r>
              <a:rPr sz="3000" b="1" spc="-25" baseline="1365" dirty="0">
                <a:latin typeface="Calibri"/>
                <a:cs typeface="Calibri"/>
              </a:rPr>
              <a:t> </a:t>
            </a:r>
            <a:r>
              <a:rPr sz="3000" b="1" spc="0" baseline="1365" dirty="0">
                <a:latin typeface="Calibri"/>
                <a:cs typeface="Calibri"/>
              </a:rPr>
              <a:t>(</a:t>
            </a:r>
            <a:r>
              <a:rPr sz="3000" b="1" spc="-4" baseline="1365" dirty="0">
                <a:latin typeface="Calibri"/>
                <a:cs typeface="Calibri"/>
              </a:rPr>
              <a:t>E</a:t>
            </a:r>
            <a:r>
              <a:rPr sz="3000" b="1" spc="0" baseline="1365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365" y="3499510"/>
            <a:ext cx="2448379" cy="18047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8176">
              <a:lnSpc>
                <a:spcPts val="2140"/>
              </a:lnSpc>
              <a:spcBef>
                <a:spcPts val="107"/>
              </a:spcBef>
            </a:pPr>
            <a:r>
              <a:rPr sz="3000" spc="0" baseline="2730" dirty="0">
                <a:latin typeface="Calibri"/>
                <a:cs typeface="Calibri"/>
              </a:rPr>
              <a:t>Ad</a:t>
            </a:r>
            <a:r>
              <a:rPr sz="3000" spc="4" baseline="2730" dirty="0">
                <a:latin typeface="Calibri"/>
                <a:cs typeface="Calibri"/>
              </a:rPr>
              <a:t>u</a:t>
            </a:r>
            <a:r>
              <a:rPr sz="3000" spc="0" baseline="2730" dirty="0">
                <a:latin typeface="Calibri"/>
                <a:cs typeface="Calibri"/>
              </a:rPr>
              <a:t>lt</a:t>
            </a:r>
            <a:r>
              <a:rPr sz="3000" spc="-14" baseline="2730" dirty="0">
                <a:latin typeface="Calibri"/>
                <a:cs typeface="Calibri"/>
              </a:rPr>
              <a:t> </a:t>
            </a:r>
            <a:r>
              <a:rPr sz="3000" spc="-29" baseline="2730" dirty="0">
                <a:latin typeface="Calibri"/>
                <a:cs typeface="Calibri"/>
              </a:rPr>
              <a:t>v</a:t>
            </a:r>
            <a:r>
              <a:rPr sz="3000" spc="0" baseline="2730" dirty="0">
                <a:latin typeface="Calibri"/>
                <a:cs typeface="Calibri"/>
              </a:rPr>
              <a:t>accine</a:t>
            </a:r>
            <a:r>
              <a:rPr sz="3000" spc="-4" baseline="2730" dirty="0">
                <a:latin typeface="Calibri"/>
                <a:cs typeface="Calibri"/>
              </a:rPr>
              <a:t> </a:t>
            </a:r>
            <a:r>
              <a:rPr sz="3000" spc="0" baseline="2730" dirty="0">
                <a:latin typeface="Calibri"/>
                <a:cs typeface="Calibri"/>
              </a:rPr>
              <a:t>l</a:t>
            </a:r>
            <a:r>
              <a:rPr sz="3000" spc="-9" baseline="2730" dirty="0">
                <a:latin typeface="Calibri"/>
                <a:cs typeface="Calibri"/>
              </a:rPr>
              <a:t>i</a:t>
            </a:r>
            <a:r>
              <a:rPr sz="3000" spc="-59" baseline="2730" dirty="0">
                <a:latin typeface="Calibri"/>
                <a:cs typeface="Calibri"/>
              </a:rPr>
              <a:t>k</a:t>
            </a:r>
            <a:r>
              <a:rPr sz="3000" spc="0" baseline="2730" dirty="0">
                <a:latin typeface="Calibri"/>
                <a:cs typeface="Calibri"/>
              </a:rPr>
              <a:t>e</a:t>
            </a:r>
            <a:r>
              <a:rPr sz="3000" spc="-4" baseline="2730" dirty="0">
                <a:latin typeface="Calibri"/>
                <a:cs typeface="Calibri"/>
              </a:rPr>
              <a:t>l</a:t>
            </a:r>
            <a:r>
              <a:rPr sz="3000" spc="0" baseline="2730" dirty="0">
                <a:latin typeface="Calibri"/>
                <a:cs typeface="Calibri"/>
              </a:rPr>
              <a:t>y</a:t>
            </a:r>
            <a:r>
              <a:rPr sz="3000" spc="19" baseline="2730" dirty="0">
                <a:latin typeface="Calibri"/>
                <a:cs typeface="Calibri"/>
              </a:rPr>
              <a:t> </a:t>
            </a:r>
            <a:r>
              <a:rPr sz="3000" spc="-25" baseline="2730" dirty="0">
                <a:latin typeface="Calibri"/>
                <a:cs typeface="Calibri"/>
              </a:rPr>
              <a:t>t</a:t>
            </a:r>
            <a:r>
              <a:rPr sz="3000" spc="0" baseline="2730" dirty="0">
                <a:latin typeface="Calibri"/>
                <a:cs typeface="Calibri"/>
              </a:rPr>
              <a:t>o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  <a:spcBef>
                <a:spcPts val="13"/>
              </a:spcBef>
            </a:pPr>
            <a:r>
              <a:rPr sz="3000" spc="0" baseline="1365" dirty="0">
                <a:latin typeface="Calibri"/>
                <a:cs typeface="Calibri"/>
              </a:rPr>
              <a:t>p</a:t>
            </a:r>
            <a:r>
              <a:rPr sz="3000" spc="-25" baseline="1365" dirty="0">
                <a:latin typeface="Calibri"/>
                <a:cs typeface="Calibri"/>
              </a:rPr>
              <a:t>r</a:t>
            </a:r>
            <a:r>
              <a:rPr sz="3000" spc="-14" baseline="1365" dirty="0">
                <a:latin typeface="Calibri"/>
                <a:cs typeface="Calibri"/>
              </a:rPr>
              <a:t>e</a:t>
            </a:r>
            <a:r>
              <a:rPr sz="3000" spc="-29" baseline="1365" dirty="0">
                <a:latin typeface="Calibri"/>
                <a:cs typeface="Calibri"/>
              </a:rPr>
              <a:t>v</a:t>
            </a:r>
            <a:r>
              <a:rPr sz="3000" spc="0" baseline="1365" dirty="0">
                <a:latin typeface="Calibri"/>
                <a:cs typeface="Calibri"/>
              </a:rPr>
              <a:t>e</a:t>
            </a:r>
            <a:r>
              <a:rPr sz="3000" spc="-19" baseline="1365" dirty="0">
                <a:latin typeface="Calibri"/>
                <a:cs typeface="Calibri"/>
              </a:rPr>
              <a:t>n</a:t>
            </a:r>
            <a:r>
              <a:rPr sz="3000" spc="0" baseline="1365" dirty="0">
                <a:latin typeface="Calibri"/>
                <a:cs typeface="Calibri"/>
              </a:rPr>
              <a:t>t</a:t>
            </a:r>
            <a:r>
              <a:rPr sz="3000" spc="14" baseline="1365" dirty="0">
                <a:latin typeface="Calibri"/>
                <a:cs typeface="Calibri"/>
              </a:rPr>
              <a:t> </a:t>
            </a:r>
            <a:r>
              <a:rPr sz="3000" spc="0" baseline="1365" dirty="0">
                <a:latin typeface="Calibri"/>
                <a:cs typeface="Calibri"/>
              </a:rPr>
              <a:t>mo</a:t>
            </a:r>
            <a:r>
              <a:rPr sz="3000" spc="-29" baseline="1365" dirty="0">
                <a:latin typeface="Calibri"/>
                <a:cs typeface="Calibri"/>
              </a:rPr>
              <a:t>r</a:t>
            </a:r>
            <a:r>
              <a:rPr sz="3000" spc="0" baseline="1365" dirty="0">
                <a:latin typeface="Calibri"/>
                <a:cs typeface="Calibri"/>
              </a:rPr>
              <a:t>e</a:t>
            </a:r>
            <a:r>
              <a:rPr sz="3000" spc="-9" baseline="1365" dirty="0">
                <a:latin typeface="Calibri"/>
                <a:cs typeface="Calibri"/>
              </a:rPr>
              <a:t> </a:t>
            </a:r>
            <a:r>
              <a:rPr sz="3000" spc="0" baseline="1365" dirty="0">
                <a:latin typeface="Calibri"/>
                <a:cs typeface="Calibri"/>
              </a:rPr>
              <a:t>i</a:t>
            </a:r>
            <a:r>
              <a:rPr sz="3000" spc="-9" baseline="1365" dirty="0">
                <a:latin typeface="Calibri"/>
                <a:cs typeface="Calibri"/>
              </a:rPr>
              <a:t>n</a:t>
            </a:r>
            <a:r>
              <a:rPr sz="3000" spc="-34" baseline="1365" dirty="0">
                <a:latin typeface="Calibri"/>
                <a:cs typeface="Calibri"/>
              </a:rPr>
              <a:t>f</a:t>
            </a:r>
            <a:r>
              <a:rPr sz="3000" spc="0" baseline="1365" dirty="0">
                <a:latin typeface="Calibri"/>
                <a:cs typeface="Calibri"/>
              </a:rPr>
              <a:t>a</a:t>
            </a:r>
            <a:r>
              <a:rPr sz="3000" spc="-19" baseline="1365" dirty="0">
                <a:latin typeface="Calibri"/>
                <a:cs typeface="Calibri"/>
              </a:rPr>
              <a:t>n</a:t>
            </a:r>
            <a:r>
              <a:rPr sz="3000" spc="0" baseline="1365" dirty="0">
                <a:latin typeface="Calibri"/>
                <a:cs typeface="Calibri"/>
              </a:rPr>
              <a:t>t TB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</a:pPr>
            <a:r>
              <a:rPr sz="3000" spc="-9" baseline="1365" dirty="0">
                <a:latin typeface="Calibri"/>
                <a:cs typeface="Calibri"/>
              </a:rPr>
              <a:t>c</a:t>
            </a:r>
            <a:r>
              <a:rPr sz="3000" spc="0" baseline="1365" dirty="0">
                <a:latin typeface="Calibri"/>
                <a:cs typeface="Calibri"/>
              </a:rPr>
              <a:t>ases</a:t>
            </a:r>
            <a:r>
              <a:rPr sz="3000" spc="4" baseline="1365" dirty="0">
                <a:latin typeface="Calibri"/>
                <a:cs typeface="Calibri"/>
              </a:rPr>
              <a:t> </a:t>
            </a:r>
            <a:r>
              <a:rPr sz="3000" spc="0" baseline="1365" dirty="0">
                <a:latin typeface="Calibri"/>
                <a:cs typeface="Calibri"/>
              </a:rPr>
              <a:t>than an </a:t>
            </a:r>
            <a:r>
              <a:rPr sz="3000" spc="-9" baseline="1365" dirty="0">
                <a:latin typeface="Calibri"/>
                <a:cs typeface="Calibri"/>
              </a:rPr>
              <a:t>in</a:t>
            </a:r>
            <a:r>
              <a:rPr sz="3000" spc="-34" baseline="1365" dirty="0">
                <a:latin typeface="Calibri"/>
                <a:cs typeface="Calibri"/>
              </a:rPr>
              <a:t>f</a:t>
            </a:r>
            <a:r>
              <a:rPr sz="3000" spc="0" baseline="1365" dirty="0">
                <a:latin typeface="Calibri"/>
                <a:cs typeface="Calibri"/>
              </a:rPr>
              <a:t>a</a:t>
            </a:r>
            <a:r>
              <a:rPr sz="3000" spc="-19" baseline="1365" dirty="0">
                <a:latin typeface="Calibri"/>
                <a:cs typeface="Calibri"/>
              </a:rPr>
              <a:t>n</a:t>
            </a:r>
            <a:r>
              <a:rPr sz="3000" spc="0" baseline="1365" dirty="0">
                <a:latin typeface="Calibri"/>
                <a:cs typeface="Calibri"/>
              </a:rPr>
              <a:t>t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</a:pPr>
            <a:r>
              <a:rPr sz="3000" spc="-29" baseline="1365" dirty="0">
                <a:latin typeface="Calibri"/>
                <a:cs typeface="Calibri"/>
              </a:rPr>
              <a:t>v</a:t>
            </a:r>
            <a:r>
              <a:rPr sz="3000" spc="0" baseline="1365" dirty="0">
                <a:latin typeface="Calibri"/>
                <a:cs typeface="Calibri"/>
              </a:rPr>
              <a:t>ac</a:t>
            </a:r>
            <a:r>
              <a:rPr sz="3000" spc="4" baseline="1365" dirty="0">
                <a:latin typeface="Calibri"/>
                <a:cs typeface="Calibri"/>
              </a:rPr>
              <a:t>c</a:t>
            </a:r>
            <a:r>
              <a:rPr sz="3000" spc="0" baseline="1365" dirty="0">
                <a:latin typeface="Calibri"/>
                <a:cs typeface="Calibri"/>
              </a:rPr>
              <a:t>ine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0"/>
              </a:lnSpc>
            </a:pPr>
            <a:r>
              <a:rPr sz="3000" spc="0" baseline="1365" dirty="0">
                <a:latin typeface="Calibri"/>
                <a:cs typeface="Calibri"/>
              </a:rPr>
              <a:t>– d</a:t>
            </a:r>
            <a:r>
              <a:rPr sz="3000" spc="4" baseline="1365" dirty="0">
                <a:latin typeface="Calibri"/>
                <a:cs typeface="Calibri"/>
              </a:rPr>
              <a:t>u</a:t>
            </a:r>
            <a:r>
              <a:rPr sz="3000" spc="0" baseline="1365" dirty="0">
                <a:latin typeface="Calibri"/>
                <a:cs typeface="Calibri"/>
              </a:rPr>
              <a:t>e</a:t>
            </a:r>
            <a:r>
              <a:rPr sz="3000" spc="-9" baseline="1365" dirty="0">
                <a:latin typeface="Calibri"/>
                <a:cs typeface="Calibri"/>
              </a:rPr>
              <a:t> </a:t>
            </a:r>
            <a:r>
              <a:rPr sz="3000" spc="-25" baseline="1365" dirty="0">
                <a:latin typeface="Calibri"/>
                <a:cs typeface="Calibri"/>
              </a:rPr>
              <a:t>t</a:t>
            </a:r>
            <a:r>
              <a:rPr sz="3000" spc="0" baseline="1365" dirty="0">
                <a:latin typeface="Calibri"/>
                <a:cs typeface="Calibri"/>
              </a:rPr>
              <a:t>o</a:t>
            </a:r>
            <a:r>
              <a:rPr sz="3000" spc="-9" baseline="1365" dirty="0">
                <a:latin typeface="Calibri"/>
                <a:cs typeface="Calibri"/>
              </a:rPr>
              <a:t> </a:t>
            </a:r>
            <a:r>
              <a:rPr sz="3000" spc="-25" baseline="1365" dirty="0">
                <a:latin typeface="Calibri"/>
                <a:cs typeface="Calibri"/>
              </a:rPr>
              <a:t>r</a:t>
            </a:r>
            <a:r>
              <a:rPr sz="3000" spc="0" baseline="1365" dirty="0">
                <a:latin typeface="Calibri"/>
                <a:cs typeface="Calibri"/>
              </a:rPr>
              <a:t>edu</a:t>
            </a:r>
            <a:r>
              <a:rPr sz="3000" spc="9" baseline="1365" dirty="0">
                <a:latin typeface="Calibri"/>
                <a:cs typeface="Calibri"/>
              </a:rPr>
              <a:t>c</a:t>
            </a:r>
            <a:r>
              <a:rPr sz="3000" spc="0" baseline="1365" dirty="0">
                <a:latin typeface="Calibri"/>
                <a:cs typeface="Calibri"/>
              </a:rPr>
              <a:t>tion</a:t>
            </a:r>
            <a:r>
              <a:rPr sz="3000" spc="-9" baseline="1365" dirty="0">
                <a:latin typeface="Calibri"/>
                <a:cs typeface="Calibri"/>
              </a:rPr>
              <a:t> </a:t>
            </a:r>
            <a:r>
              <a:rPr sz="3000" spc="0" baseline="1365" dirty="0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12700" marR="38176">
              <a:lnSpc>
                <a:spcPts val="2405"/>
              </a:lnSpc>
              <a:spcBef>
                <a:spcPts val="0"/>
              </a:spcBef>
            </a:pPr>
            <a:r>
              <a:rPr sz="3000" spc="0" baseline="1365" dirty="0">
                <a:latin typeface="Calibri"/>
                <a:cs typeface="Calibri"/>
              </a:rPr>
              <a:t>t</a:t>
            </a:r>
            <a:r>
              <a:rPr sz="3000" spc="-34" baseline="1365" dirty="0">
                <a:latin typeface="Calibri"/>
                <a:cs typeface="Calibri"/>
              </a:rPr>
              <a:t>r</a:t>
            </a:r>
            <a:r>
              <a:rPr sz="3000" spc="0" baseline="1365" dirty="0">
                <a:latin typeface="Calibri"/>
                <a:cs typeface="Calibri"/>
              </a:rPr>
              <a:t>ansm</a:t>
            </a:r>
            <a:r>
              <a:rPr sz="3000" spc="-9" baseline="1365" dirty="0">
                <a:latin typeface="Calibri"/>
                <a:cs typeface="Calibri"/>
              </a:rPr>
              <a:t>i</a:t>
            </a:r>
            <a:r>
              <a:rPr sz="3000" spc="0" baseline="1365" dirty="0">
                <a:latin typeface="Calibri"/>
                <a:cs typeface="Calibri"/>
              </a:rPr>
              <a:t>s</a:t>
            </a:r>
            <a:r>
              <a:rPr sz="3000" spc="-9" baseline="1365" dirty="0">
                <a:latin typeface="Calibri"/>
                <a:cs typeface="Calibri"/>
              </a:rPr>
              <a:t>s</a:t>
            </a:r>
            <a:r>
              <a:rPr sz="3000" spc="0" baseline="1365" dirty="0">
                <a:latin typeface="Calibri"/>
                <a:cs typeface="Calibri"/>
              </a:rPr>
              <a:t>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7034" y="5521401"/>
            <a:ext cx="1433155" cy="5287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935"/>
              </a:lnSpc>
              <a:spcBef>
                <a:spcPts val="96"/>
              </a:spcBef>
            </a:pPr>
            <a:r>
              <a:rPr sz="2700" i="1" spc="0" baseline="3034" dirty="0">
                <a:latin typeface="Calibri"/>
                <a:cs typeface="Calibri"/>
              </a:rPr>
              <a:t>*wav</a:t>
            </a:r>
            <a:r>
              <a:rPr sz="2700" i="1" spc="4" baseline="3034" dirty="0">
                <a:latin typeface="Calibri"/>
                <a:cs typeface="Calibri"/>
              </a:rPr>
              <a:t>e</a:t>
            </a:r>
            <a:r>
              <a:rPr sz="2700" i="1" spc="0" baseline="3034" dirty="0">
                <a:latin typeface="Calibri"/>
                <a:cs typeface="Calibri"/>
              </a:rPr>
              <a:t>s</a:t>
            </a:r>
            <a:r>
              <a:rPr sz="2700" i="1" spc="4" baseline="3034" dirty="0">
                <a:latin typeface="Calibri"/>
                <a:cs typeface="Calibri"/>
              </a:rPr>
              <a:t> </a:t>
            </a:r>
            <a:r>
              <a:rPr sz="2700" i="1" spc="0" baseline="3034" dirty="0">
                <a:latin typeface="Calibri"/>
                <a:cs typeface="Calibri"/>
              </a:rPr>
              <a:t>=</a:t>
            </a:r>
            <a:r>
              <a:rPr sz="2700" i="1" spc="4" baseline="3034" dirty="0">
                <a:latin typeface="Calibri"/>
                <a:cs typeface="Calibri"/>
              </a:rPr>
              <a:t> m</a:t>
            </a:r>
            <a:r>
              <a:rPr sz="2700" i="1" spc="0" baseline="3034" dirty="0">
                <a:latin typeface="Calibri"/>
                <a:cs typeface="Calibri"/>
              </a:rPr>
              <a:t>a</a:t>
            </a:r>
            <a:r>
              <a:rPr sz="2700" i="1" spc="-4" baseline="3034" dirty="0">
                <a:latin typeface="Calibri"/>
                <a:cs typeface="Calibri"/>
              </a:rPr>
              <a:t>s</a:t>
            </a:r>
            <a:r>
              <a:rPr sz="2700" i="1" spc="0" baseline="3034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  <a:p>
            <a:pPr marL="176380" marR="194097" algn="ctr">
              <a:lnSpc>
                <a:spcPts val="2160"/>
              </a:lnSpc>
              <a:spcBef>
                <a:spcPts val="11"/>
              </a:spcBef>
            </a:pPr>
            <a:r>
              <a:rPr sz="2700" i="1" spc="-19" baseline="1517" dirty="0">
                <a:latin typeface="Calibri"/>
                <a:cs typeface="Calibri"/>
              </a:rPr>
              <a:t>c</a:t>
            </a:r>
            <a:r>
              <a:rPr sz="2700" i="1" spc="0" baseline="1517" dirty="0">
                <a:latin typeface="Calibri"/>
                <a:cs typeface="Calibri"/>
              </a:rPr>
              <a:t>ampa</a:t>
            </a:r>
            <a:r>
              <a:rPr sz="2700" i="1" spc="-9" baseline="1517" dirty="0">
                <a:latin typeface="Calibri"/>
                <a:cs typeface="Calibri"/>
              </a:rPr>
              <a:t>i</a:t>
            </a:r>
            <a:r>
              <a:rPr sz="2700" i="1" spc="0" baseline="1517" dirty="0">
                <a:latin typeface="Calibri"/>
                <a:cs typeface="Calibri"/>
              </a:rPr>
              <a:t>gns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3860" y="5596686"/>
            <a:ext cx="1876932" cy="2661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30"/>
              </a:lnSpc>
              <a:spcBef>
                <a:spcPts val="101"/>
              </a:spcBef>
            </a:pPr>
            <a:r>
              <a:rPr sz="2850" i="1" spc="-9" baseline="2874" dirty="0">
                <a:latin typeface="Calibri"/>
                <a:cs typeface="Calibri"/>
              </a:rPr>
              <a:t>K</a:t>
            </a:r>
            <a:r>
              <a:rPr sz="2850" i="1" spc="0" baseline="2874" dirty="0">
                <a:latin typeface="Calibri"/>
                <a:cs typeface="Calibri"/>
              </a:rPr>
              <a:t>n</a:t>
            </a:r>
            <a:r>
              <a:rPr sz="2850" i="1" spc="-4" baseline="2874" dirty="0">
                <a:latin typeface="Calibri"/>
                <a:cs typeface="Calibri"/>
              </a:rPr>
              <a:t>i</a:t>
            </a:r>
            <a:r>
              <a:rPr sz="2850" i="1" spc="0" baseline="2874" dirty="0">
                <a:latin typeface="Calibri"/>
                <a:cs typeface="Calibri"/>
              </a:rPr>
              <a:t>g</a:t>
            </a:r>
            <a:r>
              <a:rPr sz="2850" i="1" spc="-29" baseline="2874" dirty="0">
                <a:latin typeface="Calibri"/>
                <a:cs typeface="Calibri"/>
              </a:rPr>
              <a:t>h</a:t>
            </a:r>
            <a:r>
              <a:rPr sz="2850" i="1" spc="0" baseline="2874" dirty="0">
                <a:latin typeface="Calibri"/>
                <a:cs typeface="Calibri"/>
              </a:rPr>
              <a:t>t,</a:t>
            </a:r>
            <a:r>
              <a:rPr sz="2850" i="1" spc="-23" baseline="2874" dirty="0">
                <a:latin typeface="Calibri"/>
                <a:cs typeface="Calibri"/>
              </a:rPr>
              <a:t> </a:t>
            </a:r>
            <a:r>
              <a:rPr sz="2850" i="1" spc="0" baseline="2874" dirty="0">
                <a:latin typeface="Calibri"/>
                <a:cs typeface="Calibri"/>
              </a:rPr>
              <a:t>PNAS</a:t>
            </a:r>
            <a:r>
              <a:rPr sz="2850" i="1" spc="-31" baseline="2874" dirty="0">
                <a:latin typeface="Calibri"/>
                <a:cs typeface="Calibri"/>
              </a:rPr>
              <a:t> </a:t>
            </a:r>
            <a:r>
              <a:rPr sz="2850" i="1" spc="0" baseline="2874" dirty="0">
                <a:latin typeface="Calibri"/>
                <a:cs typeface="Calibri"/>
              </a:rPr>
              <a:t>2014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135872" y="6459118"/>
            <a:ext cx="217675" cy="1899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20"/>
              </a:lnSpc>
              <a:spcBef>
                <a:spcPts val="71"/>
              </a:spcBef>
            </a:pPr>
            <a:endParaRPr sz="1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n image of the TB vaccine clinical pipeline by clinical trial phase">
            <a:extLst>
              <a:ext uri="{FF2B5EF4-FFF2-40B4-BE49-F238E27FC236}">
                <a16:creationId xmlns:a16="http://schemas.microsoft.com/office/drawing/2014/main" id="{E82D333B-456A-7E2F-7768-213CDBF28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2938"/>
            <a:ext cx="990600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2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E83C02-DC91-FC4C-BBB6-DC69FEAFD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34264"/>
            <a:ext cx="9677400" cy="538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19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EE184-EDE5-BC4F-80DB-5C428AD69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9512"/>
            <a:ext cx="9906000" cy="44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61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4CC2A7-0B0F-7040-BD14-91D017971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78518"/>
            <a:ext cx="9525000" cy="490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1CA47-884F-924E-AC22-90EAAD3F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4887"/>
            <a:ext cx="9448800" cy="509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8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6C5A9-51B9-6B4E-94C8-860940A2B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103"/>
            <a:ext cx="9906000" cy="459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85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51727-F746-B543-A61A-B64FA59F7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18090"/>
            <a:ext cx="9677400" cy="578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6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6E2320-E7AC-5443-91B4-C0E61012F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28026"/>
            <a:ext cx="9525000" cy="602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73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73DA4A-B39A-A541-AF83-1770DF27E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565912"/>
            <a:ext cx="9753600" cy="598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FEFB0C-49B3-48F7-DEF9-DBC97EBC4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939" y="1107282"/>
            <a:ext cx="5252243" cy="45918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D56A23-C076-CACD-05E1-3DC04581817F}"/>
              </a:ext>
            </a:extLst>
          </p:cNvPr>
          <p:cNvSpPr txBox="1"/>
          <p:nvPr/>
        </p:nvSpPr>
        <p:spPr>
          <a:xfrm>
            <a:off x="5855891" y="1565191"/>
            <a:ext cx="3446461" cy="908050"/>
          </a:xfrm>
          <a:prstGeom prst="rect">
            <a:avLst/>
          </a:prstGeom>
        </p:spPr>
        <p:txBody>
          <a:bodyPr vert="horz" lIns="74295" tIns="37148" rIns="74295" bIns="37148" rtlCol="0" anchor="t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488"/>
              </a:spcAft>
              <a:buClr>
                <a:schemeClr val="accent1"/>
              </a:buClr>
              <a:buSzPct val="115000"/>
            </a:pPr>
            <a:r>
              <a:rPr lang="en-US" sz="1463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*End of Trial = when at least 110 cases of laboratory-confirmed PTB have accrued in the primary analysis set for efficacy in the </a:t>
            </a:r>
            <a:r>
              <a:rPr lang="en-US" sz="1463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IGRA+Cohort</a:t>
            </a:r>
            <a:endParaRPr lang="en-US" sz="1463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488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sz="1463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92B386-E90D-0E60-7C54-A6FB20F8B818}"/>
              </a:ext>
            </a:extLst>
          </p:cNvPr>
          <p:cNvSpPr txBox="1"/>
          <p:nvPr/>
        </p:nvSpPr>
        <p:spPr>
          <a:xfrm>
            <a:off x="6046788" y="2698303"/>
            <a:ext cx="3343274" cy="3469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kern="100" dirty="0">
                <a:ea typeface="Aptos" panose="020B0004020202020204" pitchFamily="34" charset="0"/>
                <a:cs typeface="Times New Roman" panose="02020603050405020304" pitchFamily="18" charset="0"/>
              </a:rPr>
              <a:t>Kenya, recruitment started in July 2024. There are eight sites;</a:t>
            </a:r>
            <a:endParaRPr lang="en-KE" sz="1463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78606" indent="-278606">
              <a:buFont typeface="Times New Roman" panose="02020603050405020304" pitchFamily="18" charset="0"/>
              <a:buChar char="-"/>
            </a:pPr>
            <a:r>
              <a:rPr lang="en-KE" sz="1463" kern="100" dirty="0">
                <a:ea typeface="Aptos" panose="020B0004020202020204" pitchFamily="34" charset="0"/>
                <a:cs typeface="Times New Roman" panose="02020603050405020304" pitchFamily="18" charset="0"/>
              </a:rPr>
              <a:t>KEMRI/CRDR - Nairobi</a:t>
            </a:r>
          </a:p>
          <a:p>
            <a:pPr marL="278606" indent="-278606">
              <a:buFont typeface="Times New Roman" panose="02020603050405020304" pitchFamily="18" charset="0"/>
              <a:buChar char="-"/>
            </a:pPr>
            <a:r>
              <a:rPr lang="en-KE" sz="1463" kern="100" dirty="0">
                <a:ea typeface="Aptos" panose="020B0004020202020204" pitchFamily="34" charset="0"/>
                <a:cs typeface="Times New Roman" panose="02020603050405020304" pitchFamily="18" charset="0"/>
              </a:rPr>
              <a:t>KEMRI –Mtwapa</a:t>
            </a:r>
          </a:p>
          <a:p>
            <a:pPr marL="278606" indent="-278606">
              <a:buFont typeface="Times New Roman" panose="02020603050405020304" pitchFamily="18" charset="0"/>
              <a:buChar char="-"/>
            </a:pPr>
            <a:r>
              <a:rPr lang="en-KE" sz="1463" kern="100" dirty="0">
                <a:ea typeface="Aptos" panose="020B0004020202020204" pitchFamily="34" charset="0"/>
                <a:cs typeface="Times New Roman" panose="02020603050405020304" pitchFamily="18" charset="0"/>
              </a:rPr>
              <a:t>KAVI- Institute of Clinical Research - Nairobi</a:t>
            </a:r>
          </a:p>
          <a:p>
            <a:pPr marL="278606" indent="-278606">
              <a:buFont typeface="Times New Roman" panose="02020603050405020304" pitchFamily="18" charset="0"/>
              <a:buChar char="-"/>
            </a:pPr>
            <a:r>
              <a:rPr lang="en-KE" sz="1463" kern="100" dirty="0">
                <a:ea typeface="Aptos" panose="020B0004020202020204" pitchFamily="34" charset="0"/>
                <a:cs typeface="Times New Roman" panose="02020603050405020304" pitchFamily="18" charset="0"/>
              </a:rPr>
              <a:t>CREATES, Strathmore University</a:t>
            </a:r>
          </a:p>
          <a:p>
            <a:pPr marL="278606" indent="-278606">
              <a:buFont typeface="Times New Roman" panose="02020603050405020304" pitchFamily="18" charset="0"/>
              <a:buChar char="-"/>
            </a:pPr>
            <a:r>
              <a:rPr lang="en-KE" sz="1463" kern="100" dirty="0">
                <a:ea typeface="Aptos" panose="020B0004020202020204" pitchFamily="34" charset="0"/>
                <a:cs typeface="Times New Roman" panose="02020603050405020304" pitchFamily="18" charset="0"/>
              </a:rPr>
              <a:t>Victoria Biomedical Research Institute</a:t>
            </a:r>
          </a:p>
          <a:p>
            <a:pPr marL="278606" indent="-278606">
              <a:buFont typeface="Times New Roman" panose="02020603050405020304" pitchFamily="18" charset="0"/>
              <a:buChar char="-"/>
            </a:pPr>
            <a:r>
              <a:rPr lang="en-KE" sz="1463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Pwani Research Centre Ganjoni Dispensary</a:t>
            </a:r>
            <a:endParaRPr lang="en-KE" sz="1463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78606" indent="-278606">
              <a:buFont typeface="Times New Roman" panose="02020603050405020304" pitchFamily="18" charset="0"/>
              <a:buChar char="-"/>
            </a:pPr>
            <a:r>
              <a:rPr lang="en-KE" sz="1463" kern="100" dirty="0">
                <a:ea typeface="Aptos" panose="020B0004020202020204" pitchFamily="34" charset="0"/>
                <a:cs typeface="Times New Roman" panose="02020603050405020304" pitchFamily="18" charset="0"/>
              </a:rPr>
              <a:t>Clinical Research Health Network (CREA-N) – Machakos</a:t>
            </a:r>
          </a:p>
          <a:p>
            <a:pPr marL="278606" indent="-278606">
              <a:buFont typeface="Times New Roman" panose="02020603050405020304" pitchFamily="18" charset="0"/>
              <a:buChar char="-"/>
            </a:pPr>
            <a:r>
              <a:rPr lang="en-KE" sz="1463" kern="100" dirty="0">
                <a:ea typeface="Aptos" panose="020B0004020202020204" pitchFamily="34" charset="0"/>
                <a:cs typeface="Times New Roman" panose="02020603050405020304" pitchFamily="18" charset="0"/>
              </a:rPr>
              <a:t>KEMRI Walter Reed Project – Kericho</a:t>
            </a:r>
          </a:p>
        </p:txBody>
      </p:sp>
    </p:spTree>
    <p:extLst>
      <p:ext uri="{BB962C8B-B14F-4D97-AF65-F5344CB8AC3E}">
        <p14:creationId xmlns:p14="http://schemas.microsoft.com/office/powerpoint/2010/main" val="799473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4E64-3D16-8F00-298D-3F40A1EB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TB vaccine trials conducted/Planned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563D-6FF2-BF18-05C8-8516D791E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Aeras 402-Adenovirus 35 vectored vaccine for prevention of disease in BCG vaccinated infants- Siaya- phase 2 B -2013</a:t>
            </a:r>
          </a:p>
          <a:p>
            <a:pPr lvl="1"/>
            <a:r>
              <a:rPr lang="en-US" dirty="0"/>
              <a:t>Failed </a:t>
            </a:r>
            <a:r>
              <a:rPr lang="en-US" dirty="0" err="1"/>
              <a:t>Immunogencity</a:t>
            </a:r>
            <a:endParaRPr lang="en-US" dirty="0"/>
          </a:p>
          <a:p>
            <a:endParaRPr lang="en-US" dirty="0"/>
          </a:p>
          <a:p>
            <a:r>
              <a:rPr lang="en-US" dirty="0"/>
              <a:t>VPM1002- Recombinant BCG vaccine trial in infants for prevention of infection ( completed enrollment and follow up)</a:t>
            </a:r>
          </a:p>
          <a:p>
            <a:pPr lvl="1"/>
            <a:r>
              <a:rPr lang="en-US" dirty="0"/>
              <a:t>VPM1002 was inferior to BCG in prevention of infection </a:t>
            </a:r>
          </a:p>
          <a:p>
            <a:endParaRPr lang="en-US" dirty="0"/>
          </a:p>
          <a:p>
            <a:r>
              <a:rPr lang="en-US" dirty="0"/>
              <a:t>MTBVAC- Attenuated MTB for prevention of disease- study planned for 2025</a:t>
            </a:r>
          </a:p>
        </p:txBody>
      </p:sp>
    </p:spTree>
    <p:extLst>
      <p:ext uri="{BB962C8B-B14F-4D97-AF65-F5344CB8AC3E}">
        <p14:creationId xmlns:p14="http://schemas.microsoft.com/office/powerpoint/2010/main" val="3409657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FCDD-CDE9-465F-262E-1BC6D3FF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88880-C2BB-FC98-DB75-E5E897883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Epidemiological evidence of disease burden critical to justifying site selection for clinical trials</a:t>
            </a:r>
          </a:p>
          <a:p>
            <a:r>
              <a:rPr lang="en-US" dirty="0"/>
              <a:t>Large scale vaccine trials great for resourcing sites and creating sustainment</a:t>
            </a:r>
          </a:p>
          <a:p>
            <a:r>
              <a:rPr lang="en-US" dirty="0"/>
              <a:t>The infrastructure needed can be accrued gradually and help bring multiple concepts together to achieve excellence:</a:t>
            </a:r>
          </a:p>
          <a:p>
            <a:pPr lvl="1"/>
            <a:r>
              <a:rPr lang="en-US" dirty="0"/>
              <a:t>GCP compliant pharmacy</a:t>
            </a:r>
          </a:p>
          <a:p>
            <a:pPr lvl="1"/>
            <a:r>
              <a:rPr lang="en-US" dirty="0"/>
              <a:t>High quality processing of samples, storage and capacity for shipping</a:t>
            </a:r>
          </a:p>
          <a:p>
            <a:pPr lvl="1"/>
            <a:r>
              <a:rPr lang="en-US" dirty="0"/>
              <a:t>Good community relationships that lead to rapid enrolment and high retention</a:t>
            </a:r>
          </a:p>
          <a:p>
            <a:pPr lvl="1"/>
            <a:r>
              <a:rPr lang="en-US" dirty="0"/>
              <a:t>Good will that leads to building trust with communities</a:t>
            </a:r>
          </a:p>
          <a:p>
            <a:r>
              <a:rPr lang="en-US" dirty="0"/>
              <a:t>Trials are magnates for each other, the more studies we do the more we attract more</a:t>
            </a:r>
          </a:p>
          <a:p>
            <a:r>
              <a:rPr lang="en-US" dirty="0"/>
              <a:t>Long term staff retention critical for success and retention of knowledge/skills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050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2D0F-3AF9-E349-AAF3-C48C2565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1106995"/>
            <a:ext cx="7897559" cy="1218438"/>
          </a:xfrm>
        </p:spPr>
        <p:txBody>
          <a:bodyPr vert="horz" lIns="74295" tIns="37148" rIns="74295" bIns="37148" rtlCol="0" anchor="ctr">
            <a:normAutofit/>
          </a:bodyPr>
          <a:lstStyle/>
          <a:p>
            <a:r>
              <a:rPr lang="en-US" dirty="0"/>
              <a:t>Thank you</a:t>
            </a:r>
            <a:endParaRPr lang="en-KE" dirty="0"/>
          </a:p>
        </p:txBody>
      </p:sp>
      <p:pic>
        <p:nvPicPr>
          <p:cNvPr id="5" name="Picture 7" descr="asembo-atemo enrollment 012">
            <a:extLst>
              <a:ext uri="{FF2B5EF4-FFF2-40B4-BE49-F238E27FC236}">
                <a16:creationId xmlns:a16="http://schemas.microsoft.com/office/drawing/2014/main" id="{05CFB58E-4D78-2246-86F8-A26ADE7BE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1110" y="2293620"/>
            <a:ext cx="5471160" cy="3141358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437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2172</TotalTime>
  <Words>1076</Words>
  <Application>Microsoft Macintosh PowerPoint</Application>
  <PresentationFormat>A4 Paper (210x297 mm)</PresentationFormat>
  <Paragraphs>131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PowerPoint Presentation</vt:lpstr>
      <vt:lpstr>End TB strategy</vt:lpstr>
      <vt:lpstr>PowerPoint Presentation</vt:lpstr>
      <vt:lpstr>Projected acceleration of TB incidence decline to target levels </vt:lpstr>
      <vt:lpstr>TB STUDIES-ADOLESCENTS</vt:lpstr>
      <vt:lpstr>Results</vt:lpstr>
      <vt:lpstr>TB STUDIES-INFANTS</vt:lpstr>
      <vt:lpstr>Results</vt:lpstr>
      <vt:lpstr>PowerPoint Presentation</vt:lpstr>
      <vt:lpstr>TB and the Immune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Other TB vaccine trials conducted/Planned</vt:lpstr>
      <vt:lpstr>Lessons Learned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Videlis Nduba</cp:lastModifiedBy>
  <cp:revision>38</cp:revision>
  <dcterms:modified xsi:type="dcterms:W3CDTF">2025-09-28T17:57:25Z</dcterms:modified>
</cp:coreProperties>
</file>