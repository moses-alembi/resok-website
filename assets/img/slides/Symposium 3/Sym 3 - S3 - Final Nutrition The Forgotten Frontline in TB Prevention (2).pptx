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16" r:id="rId2"/>
    <p:sldId id="257" r:id="rId3"/>
    <p:sldId id="258" r:id="rId4"/>
    <p:sldId id="259" r:id="rId5"/>
    <p:sldId id="275" r:id="rId6"/>
    <p:sldId id="317" r:id="rId7"/>
    <p:sldId id="274" r:id="rId8"/>
    <p:sldId id="277" r:id="rId9"/>
    <p:sldId id="276" r:id="rId10"/>
    <p:sldId id="278" r:id="rId11"/>
    <p:sldId id="279" r:id="rId12"/>
    <p:sldId id="265" r:id="rId13"/>
    <p:sldId id="272" r:id="rId14"/>
    <p:sldId id="273" r:id="rId15"/>
    <p:sldId id="271" r:id="rId16"/>
    <p:sldId id="267" r:id="rId17"/>
    <p:sldId id="268" r:id="rId18"/>
    <p:sldId id="269" r:id="rId19"/>
    <p:sldId id="270" r:id="rId20"/>
    <p:sldId id="313" r:id="rId21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295D"/>
    <a:srgbClr val="00431E"/>
    <a:srgbClr val="CF1F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4"/>
    <p:restoredTop sz="94704"/>
  </p:normalViewPr>
  <p:slideViewPr>
    <p:cSldViewPr snapToGrid="0">
      <p:cViewPr varScale="1">
        <p:scale>
          <a:sx n="105" d="100"/>
          <a:sy n="105" d="100"/>
        </p:scale>
        <p:origin x="96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5A5C8-95AB-F44F-A0BF-D94AE01D628C}" type="datetimeFigureOut">
              <a:rPr lang="en-KE" smtClean="0"/>
              <a:t>29/09/2025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4B7C0-4E6F-7549-B547-36F73B036249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1943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14.emf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 descr="A black background with red green and white letters&#10;&#10;Description automatically generated"/>
          <p:cNvSpPr>
            <a:spLocks noChangeAspect="1" noChangeArrowheads="1"/>
          </p:cNvSpPr>
          <p:nvPr userDrawn="1"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A blue and green background with black stripes&#10;&#10;Description automatically generated">
            <a:extLst>
              <a:ext uri="{FF2B5EF4-FFF2-40B4-BE49-F238E27FC236}">
                <a16:creationId xmlns:a16="http://schemas.microsoft.com/office/drawing/2014/main" id="{F3810C42-41DD-06A5-B280-9AB2448A9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614"/>
          <a:stretch/>
        </p:blipFill>
        <p:spPr>
          <a:xfrm>
            <a:off x="0" y="0"/>
            <a:ext cx="12192000" cy="5718629"/>
          </a:xfrm>
          <a:prstGeom prst="rect">
            <a:avLst/>
          </a:prstGeom>
        </p:spPr>
      </p:pic>
      <p:pic>
        <p:nvPicPr>
          <p:cNvPr id="10" name="Picture 9" descr="A lion holding a spear and a shield with text&#10;&#10;Description automatically generated">
            <a:extLst>
              <a:ext uri="{FF2B5EF4-FFF2-40B4-BE49-F238E27FC236}">
                <a16:creationId xmlns:a16="http://schemas.microsoft.com/office/drawing/2014/main" id="{7B7093B6-258C-B96A-D794-E1DC7F23D6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9" y="6007639"/>
            <a:ext cx="1785248" cy="631149"/>
          </a:xfrm>
          <a:prstGeom prst="rect">
            <a:avLst/>
          </a:prstGeom>
        </p:spPr>
      </p:pic>
      <p:pic>
        <p:nvPicPr>
          <p:cNvPr id="11" name="Picture 10" descr="A black rectangular sign with white text&#10;&#10;Description automatically generated">
            <a:extLst>
              <a:ext uri="{FF2B5EF4-FFF2-40B4-BE49-F238E27FC236}">
                <a16:creationId xmlns:a16="http://schemas.microsoft.com/office/drawing/2014/main" id="{D3A78786-C751-A1FF-EFC1-5EF4F19CB3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787" y="6024828"/>
            <a:ext cx="1884458" cy="6662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DBC219-24C8-C935-7984-CC74A2F8FE5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343" y="5983112"/>
            <a:ext cx="1101063" cy="680202"/>
          </a:xfrm>
          <a:prstGeom prst="rect">
            <a:avLst/>
          </a:prstGeom>
        </p:spPr>
      </p:pic>
      <p:pic>
        <p:nvPicPr>
          <p:cNvPr id="14" name="Picture 1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4882E09-B8CA-EAA9-C5A8-5397D1ACD62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133426" y="6057862"/>
            <a:ext cx="1629800" cy="706626"/>
          </a:xfrm>
          <a:prstGeom prst="rect">
            <a:avLst/>
          </a:prstGeom>
        </p:spPr>
      </p:pic>
      <p:pic>
        <p:nvPicPr>
          <p:cNvPr id="15" name="Picture 14" descr="A logo for a company&#10;&#10;Description automatically generated">
            <a:extLst>
              <a:ext uri="{FF2B5EF4-FFF2-40B4-BE49-F238E27FC236}">
                <a16:creationId xmlns:a16="http://schemas.microsoft.com/office/drawing/2014/main" id="{76325C63-230B-1377-0EBC-5D4E3F48C8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l="17924" t="18888" r="11254" b="15459"/>
          <a:stretch/>
        </p:blipFill>
        <p:spPr>
          <a:xfrm>
            <a:off x="6979024" y="6104965"/>
            <a:ext cx="1109382" cy="533823"/>
          </a:xfrm>
          <a:prstGeom prst="rect">
            <a:avLst/>
          </a:prstGeom>
        </p:spPr>
      </p:pic>
      <p:pic>
        <p:nvPicPr>
          <p:cNvPr id="16" name="Picture 15" descr="A logo with a map and text&#10;&#10;Description automatically generated">
            <a:extLst>
              <a:ext uri="{FF2B5EF4-FFF2-40B4-BE49-F238E27FC236}">
                <a16:creationId xmlns:a16="http://schemas.microsoft.com/office/drawing/2014/main" id="{942DDB05-C5E7-3C96-2D92-4A4AD4212FC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096206" y="5877954"/>
            <a:ext cx="1897224" cy="813096"/>
          </a:xfrm>
          <a:prstGeom prst="rect">
            <a:avLst/>
          </a:prstGeom>
        </p:spPr>
      </p:pic>
      <p:pic>
        <p:nvPicPr>
          <p:cNvPr id="17" name="Picture 16" descr="A red and green logo&#10;&#10;Description automatically generated">
            <a:extLst>
              <a:ext uri="{FF2B5EF4-FFF2-40B4-BE49-F238E27FC236}">
                <a16:creationId xmlns:a16="http://schemas.microsoft.com/office/drawing/2014/main" id="{2F1411D3-E991-B639-D9AD-03C5FCC24FFB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501324" y="6007639"/>
            <a:ext cx="1488102" cy="537637"/>
          </a:xfrm>
          <a:prstGeom prst="rect">
            <a:avLst/>
          </a:prstGeom>
        </p:spPr>
      </p:pic>
      <p:pic>
        <p:nvPicPr>
          <p:cNvPr id="18" name="Picture 17" descr="A close-up of a logo&#10;&#10;Description automatically generated">
            <a:extLst>
              <a:ext uri="{FF2B5EF4-FFF2-40B4-BE49-F238E27FC236}">
                <a16:creationId xmlns:a16="http://schemas.microsoft.com/office/drawing/2014/main" id="{568EB9AE-30FC-6FEB-8D05-DDE1731F7381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67024" y="1139371"/>
            <a:ext cx="4066402" cy="120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1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32FCF23-3ED7-9D28-FB00-71028BB8DF2D}"/>
              </a:ext>
            </a:extLst>
          </p:cNvPr>
          <p:cNvSpPr/>
          <p:nvPr userDrawn="1"/>
        </p:nvSpPr>
        <p:spPr>
          <a:xfrm>
            <a:off x="10462" y="1021238"/>
            <a:ext cx="12192000" cy="5628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B145BECA-2020-611B-2015-2A24F6E838E1}"/>
              </a:ext>
            </a:extLst>
          </p:cNvPr>
          <p:cNvSpPr/>
          <p:nvPr userDrawn="1"/>
        </p:nvSpPr>
        <p:spPr>
          <a:xfrm rot="10800000">
            <a:off x="11402290" y="86603"/>
            <a:ext cx="452826" cy="581694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B7E050-A7B4-79EE-5588-880578B38426}"/>
              </a:ext>
            </a:extLst>
          </p:cNvPr>
          <p:cNvSpPr/>
          <p:nvPr userDrawn="1"/>
        </p:nvSpPr>
        <p:spPr>
          <a:xfrm flipV="1">
            <a:off x="0" y="6697663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utoShape 2" descr="A black background with red green and white letters&#10;&#10;Description automatically generated"/>
          <p:cNvSpPr>
            <a:spLocks noChangeAspect="1" noChangeArrowheads="1"/>
          </p:cNvSpPr>
          <p:nvPr userDrawn="1"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A black background with red green and white letters&#10;&#10;Description automatically generated"/>
          <p:cNvSpPr>
            <a:spLocks noChangeAspect="1" noChangeArrowheads="1"/>
          </p:cNvSpPr>
          <p:nvPr userDrawn="1"/>
        </p:nvSpPr>
        <p:spPr bwMode="auto">
          <a:xfrm>
            <a:off x="36512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6" descr="A black background with red green and white letters&#10;&#10;Description automatically generated"/>
          <p:cNvSpPr>
            <a:spLocks noChangeAspect="1" noChangeArrowheads="1"/>
          </p:cNvSpPr>
          <p:nvPr userDrawn="1"/>
        </p:nvSpPr>
        <p:spPr bwMode="auto">
          <a:xfrm>
            <a:off x="51752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8" descr="A black background with red green and white letters&#10;&#10;Description automatically generated"/>
          <p:cNvSpPr>
            <a:spLocks noChangeAspect="1" noChangeArrowheads="1"/>
          </p:cNvSpPr>
          <p:nvPr userDrawn="1"/>
        </p:nvSpPr>
        <p:spPr bwMode="auto">
          <a:xfrm>
            <a:off x="66992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10" descr="A black background with red green and white letters&#10;&#10;Description automatically generated"/>
          <p:cNvSpPr>
            <a:spLocks noChangeAspect="1" noChangeArrowheads="1"/>
          </p:cNvSpPr>
          <p:nvPr userDrawn="1"/>
        </p:nvSpPr>
        <p:spPr bwMode="auto">
          <a:xfrm>
            <a:off x="82232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12" descr="A black background with red green and white letters&#10;&#10;Description automatically generated"/>
          <p:cNvSpPr>
            <a:spLocks noChangeAspect="1" noChangeArrowheads="1"/>
          </p:cNvSpPr>
          <p:nvPr userDrawn="1"/>
        </p:nvSpPr>
        <p:spPr bwMode="auto">
          <a:xfrm>
            <a:off x="97472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05B131-D2A9-542D-360C-9CDD420315E5}"/>
              </a:ext>
            </a:extLst>
          </p:cNvPr>
          <p:cNvSpPr/>
          <p:nvPr userDrawn="1"/>
        </p:nvSpPr>
        <p:spPr>
          <a:xfrm>
            <a:off x="0" y="902048"/>
            <a:ext cx="12192001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A400"/>
              </a:solidFill>
            </a:endParaRP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8C3685ED-FA70-7F1E-057E-208718F425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63527" y="132716"/>
            <a:ext cx="2234359" cy="66015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ECD62E4-026B-84C6-4BE9-FF4AAE564D45}"/>
              </a:ext>
            </a:extLst>
          </p:cNvPr>
          <p:cNvSpPr/>
          <p:nvPr userDrawn="1"/>
        </p:nvSpPr>
        <p:spPr>
          <a:xfrm>
            <a:off x="10462" y="132716"/>
            <a:ext cx="9025383" cy="589312"/>
          </a:xfrm>
          <a:prstGeom prst="rect">
            <a:avLst/>
          </a:prstGeom>
          <a:solidFill>
            <a:srgbClr val="1D29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3B7CAC-0522-ABF9-670C-C5431ACC2E1E}"/>
              </a:ext>
            </a:extLst>
          </p:cNvPr>
          <p:cNvSpPr/>
          <p:nvPr userDrawn="1"/>
        </p:nvSpPr>
        <p:spPr>
          <a:xfrm>
            <a:off x="10462" y="123667"/>
            <a:ext cx="9823025" cy="45719"/>
          </a:xfrm>
          <a:prstGeom prst="rect">
            <a:avLst/>
          </a:prstGeom>
          <a:solidFill>
            <a:srgbClr val="1D29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170911BC-5FC5-5A1C-3FE7-B890CC37E7A7}"/>
              </a:ext>
            </a:extLst>
          </p:cNvPr>
          <p:cNvSpPr/>
          <p:nvPr userDrawn="1"/>
        </p:nvSpPr>
        <p:spPr>
          <a:xfrm rot="10800000">
            <a:off x="8671910" y="131574"/>
            <a:ext cx="721566" cy="590454"/>
          </a:xfrm>
          <a:prstGeom prst="triangle">
            <a:avLst/>
          </a:prstGeom>
          <a:solidFill>
            <a:srgbClr val="1D29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798908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0071879-FE12-23E6-6632-187CB1D2B01F}"/>
              </a:ext>
            </a:extLst>
          </p:cNvPr>
          <p:cNvSpPr/>
          <p:nvPr userDrawn="1"/>
        </p:nvSpPr>
        <p:spPr>
          <a:xfrm>
            <a:off x="-5805" y="1429611"/>
            <a:ext cx="12192000" cy="45333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AC2BC7-E02D-7D62-342D-42E3759816A2}"/>
              </a:ext>
            </a:extLst>
          </p:cNvPr>
          <p:cNvSpPr/>
          <p:nvPr userDrawn="1"/>
        </p:nvSpPr>
        <p:spPr>
          <a:xfrm flipV="1">
            <a:off x="20052" y="5917282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C60BD3-C6B7-6258-A355-7C35D2523320}"/>
              </a:ext>
            </a:extLst>
          </p:cNvPr>
          <p:cNvSpPr/>
          <p:nvPr userDrawn="1"/>
        </p:nvSpPr>
        <p:spPr>
          <a:xfrm>
            <a:off x="0" y="1289031"/>
            <a:ext cx="12192001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A400"/>
              </a:solidFill>
            </a:endParaRPr>
          </a:p>
        </p:txBody>
      </p:sp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4B51F234-E4E7-5EBC-73A7-80F1E57FA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11192" y="160640"/>
            <a:ext cx="3474268" cy="1026488"/>
          </a:xfrm>
          <a:prstGeom prst="rect">
            <a:avLst/>
          </a:prstGeom>
        </p:spPr>
      </p:pic>
      <p:pic>
        <p:nvPicPr>
          <p:cNvPr id="6" name="Picture 5" descr="A lion holding a spear and a shield with text&#10;&#10;Description automatically generated">
            <a:extLst>
              <a:ext uri="{FF2B5EF4-FFF2-40B4-BE49-F238E27FC236}">
                <a16:creationId xmlns:a16="http://schemas.microsoft.com/office/drawing/2014/main" id="{5053575E-2BF3-7030-E32E-613C8C8E3B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9" y="6007639"/>
            <a:ext cx="1785248" cy="631149"/>
          </a:xfrm>
          <a:prstGeom prst="rect">
            <a:avLst/>
          </a:prstGeom>
        </p:spPr>
      </p:pic>
      <p:pic>
        <p:nvPicPr>
          <p:cNvPr id="7" name="Picture 6" descr="A black rectangular sign with white text&#10;&#10;Description automatically generated">
            <a:extLst>
              <a:ext uri="{FF2B5EF4-FFF2-40B4-BE49-F238E27FC236}">
                <a16:creationId xmlns:a16="http://schemas.microsoft.com/office/drawing/2014/main" id="{67DAC0FB-3CE4-261E-762D-2A8ED30A1B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787" y="6024828"/>
            <a:ext cx="1884458" cy="6662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4D3BC9-236D-CC72-948C-61D64D88A8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343" y="5983112"/>
            <a:ext cx="1101063" cy="680202"/>
          </a:xfrm>
          <a:prstGeom prst="rect">
            <a:avLst/>
          </a:prstGeom>
        </p:spPr>
      </p:pic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B7A9FCEB-2333-5F60-ACF2-3BA1BA6A6EF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133426" y="6057862"/>
            <a:ext cx="1629800" cy="706626"/>
          </a:xfrm>
          <a:prstGeom prst="rect">
            <a:avLst/>
          </a:prstGeom>
        </p:spPr>
      </p:pic>
      <p:pic>
        <p:nvPicPr>
          <p:cNvPr id="10" name="Picture 9" descr="A logo for a company&#10;&#10;Description automatically generated">
            <a:extLst>
              <a:ext uri="{FF2B5EF4-FFF2-40B4-BE49-F238E27FC236}">
                <a16:creationId xmlns:a16="http://schemas.microsoft.com/office/drawing/2014/main" id="{70B70C05-B32A-BD07-825E-70DF26C8DD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l="17924" t="18888" r="11254" b="15459"/>
          <a:stretch/>
        </p:blipFill>
        <p:spPr>
          <a:xfrm>
            <a:off x="6979024" y="6104965"/>
            <a:ext cx="1109382" cy="533823"/>
          </a:xfrm>
          <a:prstGeom prst="rect">
            <a:avLst/>
          </a:prstGeom>
        </p:spPr>
      </p:pic>
      <p:pic>
        <p:nvPicPr>
          <p:cNvPr id="11" name="Picture 10" descr="A logo with a map and text&#10;&#10;Description automatically generated">
            <a:extLst>
              <a:ext uri="{FF2B5EF4-FFF2-40B4-BE49-F238E27FC236}">
                <a16:creationId xmlns:a16="http://schemas.microsoft.com/office/drawing/2014/main" id="{BBDE4DA4-41CA-6B89-6034-674D9E6D853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075807" y="5983112"/>
            <a:ext cx="1897224" cy="813096"/>
          </a:xfrm>
          <a:prstGeom prst="rect">
            <a:avLst/>
          </a:prstGeom>
        </p:spPr>
      </p:pic>
      <p:pic>
        <p:nvPicPr>
          <p:cNvPr id="12" name="Picture 11" descr="A red and green logo&#10;&#10;Description automatically generated">
            <a:extLst>
              <a:ext uri="{FF2B5EF4-FFF2-40B4-BE49-F238E27FC236}">
                <a16:creationId xmlns:a16="http://schemas.microsoft.com/office/drawing/2014/main" id="{12C23408-E9FF-362E-D7DE-6647974E465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501324" y="6007639"/>
            <a:ext cx="1488102" cy="53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05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0071879-FE12-23E6-6632-187CB1D2B01F}"/>
              </a:ext>
            </a:extLst>
          </p:cNvPr>
          <p:cNvSpPr/>
          <p:nvPr userDrawn="1"/>
        </p:nvSpPr>
        <p:spPr>
          <a:xfrm>
            <a:off x="-5805" y="1429611"/>
            <a:ext cx="12192000" cy="45333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AC2BC7-E02D-7D62-342D-42E3759816A2}"/>
              </a:ext>
            </a:extLst>
          </p:cNvPr>
          <p:cNvSpPr/>
          <p:nvPr userDrawn="1"/>
        </p:nvSpPr>
        <p:spPr>
          <a:xfrm flipV="1">
            <a:off x="20052" y="5917282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C60BD3-C6B7-6258-A355-7C35D2523320}"/>
              </a:ext>
            </a:extLst>
          </p:cNvPr>
          <p:cNvSpPr/>
          <p:nvPr userDrawn="1"/>
        </p:nvSpPr>
        <p:spPr>
          <a:xfrm>
            <a:off x="0" y="1289031"/>
            <a:ext cx="12192001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A400"/>
              </a:solidFill>
            </a:endParaRPr>
          </a:p>
        </p:txBody>
      </p:sp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4B51F234-E4E7-5EBC-73A7-80F1E57FA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11192" y="160640"/>
            <a:ext cx="3474268" cy="1026488"/>
          </a:xfrm>
          <a:prstGeom prst="rect">
            <a:avLst/>
          </a:prstGeom>
        </p:spPr>
      </p:pic>
      <p:pic>
        <p:nvPicPr>
          <p:cNvPr id="6" name="Picture 5" descr="A lion holding a spear and a shield with text&#10;&#10;Description automatically generated">
            <a:extLst>
              <a:ext uri="{FF2B5EF4-FFF2-40B4-BE49-F238E27FC236}">
                <a16:creationId xmlns:a16="http://schemas.microsoft.com/office/drawing/2014/main" id="{5053575E-2BF3-7030-E32E-613C8C8E3B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9" y="6007639"/>
            <a:ext cx="1785248" cy="631149"/>
          </a:xfrm>
          <a:prstGeom prst="rect">
            <a:avLst/>
          </a:prstGeom>
        </p:spPr>
      </p:pic>
      <p:pic>
        <p:nvPicPr>
          <p:cNvPr id="7" name="Picture 6" descr="A black rectangular sign with white text&#10;&#10;Description automatically generated">
            <a:extLst>
              <a:ext uri="{FF2B5EF4-FFF2-40B4-BE49-F238E27FC236}">
                <a16:creationId xmlns:a16="http://schemas.microsoft.com/office/drawing/2014/main" id="{67DAC0FB-3CE4-261E-762D-2A8ED30A1B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787" y="6024828"/>
            <a:ext cx="1884458" cy="6662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4D3BC9-236D-CC72-948C-61D64D88A80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343" y="5983112"/>
            <a:ext cx="1101063" cy="680202"/>
          </a:xfrm>
          <a:prstGeom prst="rect">
            <a:avLst/>
          </a:prstGeom>
        </p:spPr>
      </p:pic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B7A9FCEB-2333-5F60-ACF2-3BA1BA6A6EF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133426" y="6057862"/>
            <a:ext cx="1629800" cy="706626"/>
          </a:xfrm>
          <a:prstGeom prst="rect">
            <a:avLst/>
          </a:prstGeom>
        </p:spPr>
      </p:pic>
      <p:pic>
        <p:nvPicPr>
          <p:cNvPr id="10" name="Picture 9" descr="A logo for a company&#10;&#10;Description automatically generated">
            <a:extLst>
              <a:ext uri="{FF2B5EF4-FFF2-40B4-BE49-F238E27FC236}">
                <a16:creationId xmlns:a16="http://schemas.microsoft.com/office/drawing/2014/main" id="{70B70C05-B32A-BD07-825E-70DF26C8DD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l="17924" t="18888" r="11254" b="15459"/>
          <a:stretch/>
        </p:blipFill>
        <p:spPr>
          <a:xfrm>
            <a:off x="6979024" y="6104965"/>
            <a:ext cx="1109382" cy="533823"/>
          </a:xfrm>
          <a:prstGeom prst="rect">
            <a:avLst/>
          </a:prstGeom>
        </p:spPr>
      </p:pic>
      <p:pic>
        <p:nvPicPr>
          <p:cNvPr id="11" name="Picture 10" descr="A logo with a map and text&#10;&#10;Description automatically generated">
            <a:extLst>
              <a:ext uri="{FF2B5EF4-FFF2-40B4-BE49-F238E27FC236}">
                <a16:creationId xmlns:a16="http://schemas.microsoft.com/office/drawing/2014/main" id="{BBDE4DA4-41CA-6B89-6034-674D9E6D853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075807" y="5983112"/>
            <a:ext cx="1897224" cy="813096"/>
          </a:xfrm>
          <a:prstGeom prst="rect">
            <a:avLst/>
          </a:prstGeom>
        </p:spPr>
      </p:pic>
      <p:pic>
        <p:nvPicPr>
          <p:cNvPr id="12" name="Picture 11" descr="A red and green logo&#10;&#10;Description automatically generated">
            <a:extLst>
              <a:ext uri="{FF2B5EF4-FFF2-40B4-BE49-F238E27FC236}">
                <a16:creationId xmlns:a16="http://schemas.microsoft.com/office/drawing/2014/main" id="{12C23408-E9FF-362E-D7DE-6647974E465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501324" y="6007639"/>
            <a:ext cx="1488102" cy="53763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8C57B8C-5068-D70A-56EA-CAF725E2C2DA}"/>
              </a:ext>
            </a:extLst>
          </p:cNvPr>
          <p:cNvSpPr/>
          <p:nvPr userDrawn="1"/>
        </p:nvSpPr>
        <p:spPr>
          <a:xfrm>
            <a:off x="1622357" y="2839687"/>
            <a:ext cx="9025383" cy="911677"/>
          </a:xfrm>
          <a:prstGeom prst="rect">
            <a:avLst/>
          </a:prstGeom>
          <a:solidFill>
            <a:srgbClr val="1D29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FE0B33-901B-026C-21B4-11D02B82EDDC}"/>
              </a:ext>
            </a:extLst>
          </p:cNvPr>
          <p:cNvSpPr/>
          <p:nvPr userDrawn="1"/>
        </p:nvSpPr>
        <p:spPr>
          <a:xfrm>
            <a:off x="701109" y="2818435"/>
            <a:ext cx="10782374" cy="57924"/>
          </a:xfrm>
          <a:prstGeom prst="rect">
            <a:avLst/>
          </a:prstGeom>
          <a:solidFill>
            <a:srgbClr val="1D29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A45F59A6-FE8E-537C-ACD4-579AB9843DD5}"/>
              </a:ext>
            </a:extLst>
          </p:cNvPr>
          <p:cNvSpPr/>
          <p:nvPr userDrawn="1"/>
        </p:nvSpPr>
        <p:spPr>
          <a:xfrm rot="10800000">
            <a:off x="10283805" y="2838546"/>
            <a:ext cx="721566" cy="913444"/>
          </a:xfrm>
          <a:prstGeom prst="triangle">
            <a:avLst/>
          </a:prstGeom>
          <a:solidFill>
            <a:srgbClr val="1D29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4497BA0E-FB24-2961-290C-4FBA9530CC80}"/>
              </a:ext>
            </a:extLst>
          </p:cNvPr>
          <p:cNvSpPr/>
          <p:nvPr userDrawn="1"/>
        </p:nvSpPr>
        <p:spPr>
          <a:xfrm rot="10800000">
            <a:off x="1264726" y="2819576"/>
            <a:ext cx="721566" cy="913444"/>
          </a:xfrm>
          <a:prstGeom prst="triangle">
            <a:avLst/>
          </a:prstGeom>
          <a:solidFill>
            <a:srgbClr val="1D29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3838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32FCF23-3ED7-9D28-FB00-71028BB8DF2D}"/>
              </a:ext>
            </a:extLst>
          </p:cNvPr>
          <p:cNvSpPr/>
          <p:nvPr userDrawn="1"/>
        </p:nvSpPr>
        <p:spPr>
          <a:xfrm>
            <a:off x="-2260" y="1404186"/>
            <a:ext cx="12192000" cy="45558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7F0ED01A-F421-A60E-9873-FA45A29635F5}"/>
              </a:ext>
            </a:extLst>
          </p:cNvPr>
          <p:cNvSpPr/>
          <p:nvPr userDrawn="1"/>
        </p:nvSpPr>
        <p:spPr>
          <a:xfrm>
            <a:off x="5722324" y="299198"/>
            <a:ext cx="995341" cy="801681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B145BECA-2020-611B-2015-2A24F6E838E1}"/>
              </a:ext>
            </a:extLst>
          </p:cNvPr>
          <p:cNvSpPr/>
          <p:nvPr userDrawn="1"/>
        </p:nvSpPr>
        <p:spPr>
          <a:xfrm rot="10800000">
            <a:off x="11402290" y="86603"/>
            <a:ext cx="452826" cy="581694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B7E050-A7B4-79EE-5588-880578B38426}"/>
              </a:ext>
            </a:extLst>
          </p:cNvPr>
          <p:cNvSpPr/>
          <p:nvPr userDrawn="1"/>
        </p:nvSpPr>
        <p:spPr>
          <a:xfrm flipV="1">
            <a:off x="20052" y="5917282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utoShape 2" descr="A black background with red green and white letters&#10;&#10;Description automatically generated"/>
          <p:cNvSpPr>
            <a:spLocks noChangeAspect="1" noChangeArrowheads="1"/>
          </p:cNvSpPr>
          <p:nvPr userDrawn="1"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A black background with red green and white letters&#10;&#10;Description automatically generated"/>
          <p:cNvSpPr>
            <a:spLocks noChangeAspect="1" noChangeArrowheads="1"/>
          </p:cNvSpPr>
          <p:nvPr userDrawn="1"/>
        </p:nvSpPr>
        <p:spPr bwMode="auto">
          <a:xfrm>
            <a:off x="36512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6" descr="A black background with red green and white letters&#10;&#10;Description automatically generated"/>
          <p:cNvSpPr>
            <a:spLocks noChangeAspect="1" noChangeArrowheads="1"/>
          </p:cNvSpPr>
          <p:nvPr userDrawn="1"/>
        </p:nvSpPr>
        <p:spPr bwMode="auto">
          <a:xfrm>
            <a:off x="51752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8" descr="A black background with red green and white letters&#10;&#10;Description automatically generated"/>
          <p:cNvSpPr>
            <a:spLocks noChangeAspect="1" noChangeArrowheads="1"/>
          </p:cNvSpPr>
          <p:nvPr userDrawn="1"/>
        </p:nvSpPr>
        <p:spPr bwMode="auto">
          <a:xfrm>
            <a:off x="66992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10" descr="A black background with red green and white letters&#10;&#10;Description automatically generated"/>
          <p:cNvSpPr>
            <a:spLocks noChangeAspect="1" noChangeArrowheads="1"/>
          </p:cNvSpPr>
          <p:nvPr userDrawn="1"/>
        </p:nvSpPr>
        <p:spPr bwMode="auto">
          <a:xfrm>
            <a:off x="82232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12" descr="A black background with red green and white letters&#10;&#10;Description automatically generated"/>
          <p:cNvSpPr>
            <a:spLocks noChangeAspect="1" noChangeArrowheads="1"/>
          </p:cNvSpPr>
          <p:nvPr userDrawn="1"/>
        </p:nvSpPr>
        <p:spPr bwMode="auto">
          <a:xfrm>
            <a:off x="97472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05B131-D2A9-542D-360C-9CDD420315E5}"/>
              </a:ext>
            </a:extLst>
          </p:cNvPr>
          <p:cNvSpPr/>
          <p:nvPr userDrawn="1"/>
        </p:nvSpPr>
        <p:spPr>
          <a:xfrm>
            <a:off x="0" y="1269199"/>
            <a:ext cx="12192001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A40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8A9BAA5-2FF1-09B7-3314-F8A723D1DC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053" r="9055" b="18904"/>
          <a:stretch/>
        </p:blipFill>
        <p:spPr>
          <a:xfrm>
            <a:off x="94113" y="161830"/>
            <a:ext cx="9243589" cy="1025631"/>
          </a:xfrm>
          <a:prstGeom prst="rect">
            <a:avLst/>
          </a:prstGeom>
        </p:spPr>
      </p:pic>
      <p:pic>
        <p:nvPicPr>
          <p:cNvPr id="17" name="Picture 16" descr="A close-up of a logo&#10;&#10;Description automatically generated">
            <a:extLst>
              <a:ext uri="{FF2B5EF4-FFF2-40B4-BE49-F238E27FC236}">
                <a16:creationId xmlns:a16="http://schemas.microsoft.com/office/drawing/2014/main" id="{281B5133-E787-13F6-9904-997E8850A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2927" y="132716"/>
            <a:ext cx="2864960" cy="846465"/>
          </a:xfrm>
          <a:prstGeom prst="rect">
            <a:avLst/>
          </a:prstGeom>
        </p:spPr>
      </p:pic>
      <p:pic>
        <p:nvPicPr>
          <p:cNvPr id="19" name="Picture 18" descr="A lion holding a spear and a shield with text&#10;&#10;Description automatically generated">
            <a:extLst>
              <a:ext uri="{FF2B5EF4-FFF2-40B4-BE49-F238E27FC236}">
                <a16:creationId xmlns:a16="http://schemas.microsoft.com/office/drawing/2014/main" id="{76ECCD82-E393-CF43-BF36-9DBD3ADFD3A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9" y="6007639"/>
            <a:ext cx="1785248" cy="631149"/>
          </a:xfrm>
          <a:prstGeom prst="rect">
            <a:avLst/>
          </a:prstGeom>
        </p:spPr>
      </p:pic>
      <p:pic>
        <p:nvPicPr>
          <p:cNvPr id="21" name="Picture 20" descr="A black rectangular sign with white text&#10;&#10;Description automatically generated">
            <a:extLst>
              <a:ext uri="{FF2B5EF4-FFF2-40B4-BE49-F238E27FC236}">
                <a16:creationId xmlns:a16="http://schemas.microsoft.com/office/drawing/2014/main" id="{A855BA0C-0F58-94F8-1AE8-570B09E53F1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787" y="6024828"/>
            <a:ext cx="1884458" cy="66622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4984905-5FD8-804E-2ECD-7D394236CC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343" y="5983112"/>
            <a:ext cx="1101063" cy="680202"/>
          </a:xfrm>
          <a:prstGeom prst="rect">
            <a:avLst/>
          </a:prstGeom>
        </p:spPr>
      </p:pic>
      <p:pic>
        <p:nvPicPr>
          <p:cNvPr id="23" name="Picture 22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D35CBD91-D745-F87F-1C41-D213DF40402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133426" y="6057862"/>
            <a:ext cx="1629800" cy="706626"/>
          </a:xfrm>
          <a:prstGeom prst="rect">
            <a:avLst/>
          </a:prstGeom>
        </p:spPr>
      </p:pic>
      <p:pic>
        <p:nvPicPr>
          <p:cNvPr id="24" name="Picture 23" descr="A logo for a company&#10;&#10;Description automatically generated">
            <a:extLst>
              <a:ext uri="{FF2B5EF4-FFF2-40B4-BE49-F238E27FC236}">
                <a16:creationId xmlns:a16="http://schemas.microsoft.com/office/drawing/2014/main" id="{04A02CD8-F481-A28C-8606-3075BB64BD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l="17924" t="18888" r="11254" b="15459"/>
          <a:stretch/>
        </p:blipFill>
        <p:spPr>
          <a:xfrm>
            <a:off x="6979024" y="6104965"/>
            <a:ext cx="1109382" cy="533823"/>
          </a:xfrm>
          <a:prstGeom prst="rect">
            <a:avLst/>
          </a:prstGeom>
        </p:spPr>
      </p:pic>
      <p:pic>
        <p:nvPicPr>
          <p:cNvPr id="25" name="Picture 24" descr="A logo with a map and text&#10;&#10;Description automatically generated">
            <a:extLst>
              <a:ext uri="{FF2B5EF4-FFF2-40B4-BE49-F238E27FC236}">
                <a16:creationId xmlns:a16="http://schemas.microsoft.com/office/drawing/2014/main" id="{0091C7B0-B1CA-47AB-17E6-05A84155E11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362213" y="6020417"/>
            <a:ext cx="1752286" cy="750980"/>
          </a:xfrm>
          <a:prstGeom prst="rect">
            <a:avLst/>
          </a:prstGeom>
        </p:spPr>
      </p:pic>
      <p:pic>
        <p:nvPicPr>
          <p:cNvPr id="27" name="Picture 26" descr="A red and green logo&#10;&#10;Description automatically generated">
            <a:extLst>
              <a:ext uri="{FF2B5EF4-FFF2-40B4-BE49-F238E27FC236}">
                <a16:creationId xmlns:a16="http://schemas.microsoft.com/office/drawing/2014/main" id="{8BC4DE08-FDD2-3CDE-98A8-BB8BC6BC7287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501324" y="6007639"/>
            <a:ext cx="1488102" cy="53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10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0071879-FE12-23E6-6632-187CB1D2B01F}"/>
              </a:ext>
            </a:extLst>
          </p:cNvPr>
          <p:cNvSpPr/>
          <p:nvPr userDrawn="1"/>
        </p:nvSpPr>
        <p:spPr>
          <a:xfrm>
            <a:off x="0" y="1286999"/>
            <a:ext cx="12236995" cy="54382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C60BD3-C6B7-6258-A355-7C35D2523320}"/>
              </a:ext>
            </a:extLst>
          </p:cNvPr>
          <p:cNvSpPr/>
          <p:nvPr userDrawn="1"/>
        </p:nvSpPr>
        <p:spPr>
          <a:xfrm>
            <a:off x="0" y="1149616"/>
            <a:ext cx="12192001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A4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766C0D-9C26-1700-88B1-2F903088D2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053" r="9055" b="18904"/>
          <a:stretch/>
        </p:blipFill>
        <p:spPr>
          <a:xfrm>
            <a:off x="80861" y="55814"/>
            <a:ext cx="9243589" cy="1025631"/>
          </a:xfrm>
          <a:prstGeom prst="rect">
            <a:avLst/>
          </a:prstGeom>
        </p:spPr>
      </p:pic>
      <p:pic>
        <p:nvPicPr>
          <p:cNvPr id="13" name="Picture 12" descr="A close-up of a logo&#10;&#10;Description automatically generated">
            <a:extLst>
              <a:ext uri="{FF2B5EF4-FFF2-40B4-BE49-F238E27FC236}">
                <a16:creationId xmlns:a16="http://schemas.microsoft.com/office/drawing/2014/main" id="{909B1B36-189A-7577-B8F6-71F48B902B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2927" y="132716"/>
            <a:ext cx="2864960" cy="84646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1CC8173-D1BB-9CEE-B02C-EBCF1BA54EAE}"/>
              </a:ext>
            </a:extLst>
          </p:cNvPr>
          <p:cNvSpPr/>
          <p:nvPr userDrawn="1"/>
        </p:nvSpPr>
        <p:spPr>
          <a:xfrm flipV="1">
            <a:off x="0" y="6771229"/>
            <a:ext cx="12192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10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8483C-AF08-6ECA-B64B-693BB9382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C97DB-F187-1956-79AE-8E2F1CC09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AEF98-B5DF-D1EA-C9AD-B4078E253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BE1D1-F948-516A-71D6-858D72CA2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8508-28C4-444E-B522-D804D5355C6F}" type="datetimeFigureOut">
              <a:rPr lang="x-none" smtClean="0"/>
              <a:t>29/09/2025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04EBD-B8AC-D32F-FE98-63D21BFC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3D628-08BD-32C6-1428-64407B7F8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3F5B-0CB8-284D-B88B-2C976684234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8900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943BA-EC9F-4B8E-B60C-C1CA90BC1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63340-AB74-7193-E47A-471854F2D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ECC9D-FA8D-EDB7-050C-91961477B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2EF4-E835-4998-2CC5-482756E9F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EC903F-2AE1-7E08-1AA2-950916964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0502D-7E26-7B73-991B-1EFA725CC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8508-28C4-444E-B522-D804D5355C6F}" type="datetimeFigureOut">
              <a:rPr lang="x-none" smtClean="0"/>
              <a:t>29/09/2025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488629-786F-B58C-3839-C23CB97B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29BCD2-466D-6330-1F4F-E33D11FC9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3F5B-0CB8-284D-B88B-2C976684234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17745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8B469-69FA-24FC-EB04-1651EFBEA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4AAF18-3B2C-0C41-2D2A-4C2884EF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8508-28C4-444E-B522-D804D5355C6F}" type="datetimeFigureOut">
              <a:rPr lang="x-none" smtClean="0"/>
              <a:t>29/09/2025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A8263-A191-6D56-CBFC-7A6292180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A4565-2AB1-8E84-00D7-C53B1EB8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3F5B-0CB8-284D-B88B-2C976684234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3636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DE449C-B156-9FCB-CEC7-0ACA7A1CC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8508-28C4-444E-B522-D804D5355C6F}" type="datetimeFigureOut">
              <a:rPr lang="x-none" smtClean="0"/>
              <a:t>29/09/2025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3763F5-B0A4-3C7E-73E5-EA457205D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04488-BFBD-E43A-BE57-80CECFA40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3F5B-0CB8-284D-B88B-2C976684234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56802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8FB96-5734-DAEF-4107-85DCA8394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E9AB2-B598-7CA4-9355-43B7E1191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9B0CA-1A71-0B06-0B6D-00FE2E58D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CFEFC-7D00-9A59-0864-1C54DC939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8508-28C4-444E-B522-D804D5355C6F}" type="datetimeFigureOut">
              <a:rPr lang="x-none" smtClean="0"/>
              <a:t>29/09/2025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4935B-EAD7-D165-EDCE-6EF46CDA1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13524-6400-C6E2-7B03-04392033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3F5B-0CB8-284D-B88B-2C976684234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17530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67DC4-C74F-F560-0549-BB0625BA7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60EABB-BA1C-890B-E1DA-23B5B14BC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B9FE2-3323-D13F-2DED-44D7BB214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171D5-60DC-7040-3160-402662BA8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8508-28C4-444E-B522-D804D5355C6F}" type="datetimeFigureOut">
              <a:rPr lang="x-none" smtClean="0"/>
              <a:t>29/09/2025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BFC39-97F1-23FE-E1C4-46001093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A0231-DA9F-D58C-2194-1B436CB74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3F5B-0CB8-284D-B88B-2C976684234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12642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E8822-4559-BF08-E7CA-6FC05A8EE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CDBBB7-AE37-2BE0-17E7-B88B7BA99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0E6A4-59A2-88D0-7EB2-20A6033FD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8508-28C4-444E-B522-D804D5355C6F}" type="datetimeFigureOut">
              <a:rPr lang="x-none" smtClean="0"/>
              <a:t>29/09/2025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04BBF-1DEE-E32B-7D5D-2FAB05542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4D3B3-2FE2-A50D-FBCF-6BC94829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3F5B-0CB8-284D-B88B-2C976684234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23289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D9C1B8-E73B-60E5-9E99-C02024850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30C4F-77F7-E374-0669-40A8D6672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B6ED8-5F02-C99A-53A6-E5B360E03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8508-28C4-444E-B522-D804D5355C6F}" type="datetimeFigureOut">
              <a:rPr lang="x-none" smtClean="0"/>
              <a:t>29/09/2025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D9FDF-C1E4-41B9-BDE8-99177210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B692B-8256-E486-20FB-C6CC8DD7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13F5B-0CB8-284D-B88B-2C976684234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219448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9FD25C9-E86F-B24A-2E09-38DADE2301C4}"/>
              </a:ext>
            </a:extLst>
          </p:cNvPr>
          <p:cNvSpPr/>
          <p:nvPr userDrawn="1"/>
        </p:nvSpPr>
        <p:spPr>
          <a:xfrm>
            <a:off x="0" y="0"/>
            <a:ext cx="6546683" cy="170814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E5E826-D724-2D8D-3EF0-19277E8F64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47" b="29543"/>
          <a:stretch/>
        </p:blipFill>
        <p:spPr>
          <a:xfrm>
            <a:off x="11412" y="1255327"/>
            <a:ext cx="6535271" cy="5602673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5AED0AF9-F474-D247-4F03-B2FF92977694}"/>
              </a:ext>
            </a:extLst>
          </p:cNvPr>
          <p:cNvSpPr txBox="1">
            <a:spLocks/>
          </p:cNvSpPr>
          <p:nvPr userDrawn="1"/>
        </p:nvSpPr>
        <p:spPr>
          <a:xfrm>
            <a:off x="577062" y="304499"/>
            <a:ext cx="5281169" cy="11106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>
                <a:solidFill>
                  <a:srgbClr val="FF0000"/>
                </a:solidFill>
                <a:latin typeface="CorisandeBold" charset="0"/>
                <a:ea typeface="CorisandeBold" charset="0"/>
                <a:cs typeface="CorisandeBold" charset="0"/>
              </a:rPr>
              <a:t>Thank</a:t>
            </a:r>
            <a:r>
              <a:rPr lang="en-US" sz="8000" b="1" dirty="0">
                <a:latin typeface="CorisandeBold" charset="0"/>
                <a:ea typeface="CorisandeBold" charset="0"/>
                <a:cs typeface="CorisandeBold" charset="0"/>
              </a:rPr>
              <a:t> </a:t>
            </a:r>
            <a:r>
              <a:rPr lang="en-US" sz="8000" b="1" dirty="0">
                <a:solidFill>
                  <a:srgbClr val="A3B54A"/>
                </a:solidFill>
                <a:latin typeface="CorisandeBold" charset="0"/>
                <a:ea typeface="CorisandeBold" charset="0"/>
                <a:cs typeface="CorisandeBold" charset="0"/>
              </a:rPr>
              <a:t>You</a:t>
            </a:r>
          </a:p>
        </p:txBody>
      </p:sp>
      <p:pic>
        <p:nvPicPr>
          <p:cNvPr id="11" name="Picture 10" descr="A black rectangular sign with white text&#10;&#10;Description automatically generated">
            <a:extLst>
              <a:ext uri="{FF2B5EF4-FFF2-40B4-BE49-F238E27FC236}">
                <a16:creationId xmlns:a16="http://schemas.microsoft.com/office/drawing/2014/main" id="{F48DAD6F-D0BF-B1D6-A82B-5C8842037F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989" y="574390"/>
            <a:ext cx="2563239" cy="906196"/>
          </a:xfrm>
          <a:prstGeom prst="rect">
            <a:avLst/>
          </a:prstGeom>
        </p:spPr>
      </p:pic>
      <p:pic>
        <p:nvPicPr>
          <p:cNvPr id="12" name="Picture 11" descr="A lion holding a spear and a shield with text&#10;&#10;Description automatically generated">
            <a:extLst>
              <a:ext uri="{FF2B5EF4-FFF2-40B4-BE49-F238E27FC236}">
                <a16:creationId xmlns:a16="http://schemas.microsoft.com/office/drawing/2014/main" id="{42EA21C3-59E1-EE69-5617-2C96E4C756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160" y="660916"/>
            <a:ext cx="2380888" cy="8417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3AE7AAC-D97E-783A-7A5F-9AB7CE575AA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flipV="1">
            <a:off x="7019188" y="6174224"/>
            <a:ext cx="4861588" cy="457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A4667E-1C5F-19B7-DE5C-AAF2959313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7882" y="2261525"/>
            <a:ext cx="1498399" cy="925664"/>
          </a:xfrm>
          <a:prstGeom prst="rect">
            <a:avLst/>
          </a:prstGeom>
        </p:spPr>
      </p:pic>
      <p:pic>
        <p:nvPicPr>
          <p:cNvPr id="18" name="Picture 17" descr="A logo with green letters and a black background&#10;&#10;Description automatically generated">
            <a:extLst>
              <a:ext uri="{FF2B5EF4-FFF2-40B4-BE49-F238E27FC236}">
                <a16:creationId xmlns:a16="http://schemas.microsoft.com/office/drawing/2014/main" id="{E99E9AA1-5052-3FE5-4FD4-BD3249AAFAB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943682" y="4400746"/>
            <a:ext cx="1012599" cy="448983"/>
          </a:xfrm>
          <a:prstGeom prst="rect">
            <a:avLst/>
          </a:prstGeom>
        </p:spPr>
      </p:pic>
      <p:pic>
        <p:nvPicPr>
          <p:cNvPr id="20" name="Picture 19" descr="A black and white logo&#10;&#10;Description automatically generated">
            <a:extLst>
              <a:ext uri="{FF2B5EF4-FFF2-40B4-BE49-F238E27FC236}">
                <a16:creationId xmlns:a16="http://schemas.microsoft.com/office/drawing/2014/main" id="{97548F84-88DB-D35A-6D6F-2304222AC5C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19189" y="4456692"/>
            <a:ext cx="1285788" cy="312033"/>
          </a:xfrm>
          <a:prstGeom prst="rect">
            <a:avLst/>
          </a:prstGeom>
        </p:spPr>
      </p:pic>
      <p:pic>
        <p:nvPicPr>
          <p:cNvPr id="22" name="Picture 21" descr="A red and green sign with a black background&#10;&#10;Description automatically generated">
            <a:extLst>
              <a:ext uri="{FF2B5EF4-FFF2-40B4-BE49-F238E27FC236}">
                <a16:creationId xmlns:a16="http://schemas.microsoft.com/office/drawing/2014/main" id="{79E75FB0-FF3F-8081-1DA7-E5952638543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700781" y="5143306"/>
            <a:ext cx="1498399" cy="4902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13F41E1-188D-EF49-1010-02DED0A12D6A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382377" y="4386030"/>
            <a:ext cx="1498399" cy="53967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88E318B-74AF-A51F-B9F4-87913A308027}"/>
              </a:ext>
            </a:extLst>
          </p:cNvPr>
          <p:cNvSpPr/>
          <p:nvPr userDrawn="1"/>
        </p:nvSpPr>
        <p:spPr>
          <a:xfrm flipV="1">
            <a:off x="7018127" y="3862104"/>
            <a:ext cx="4861588" cy="45719"/>
          </a:xfrm>
          <a:prstGeom prst="rect">
            <a:avLst/>
          </a:prstGeom>
          <a:solidFill>
            <a:srgbClr val="CF1F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rgbClr val="CF1F41"/>
              </a:solidFill>
            </a:endParaRPr>
          </a:p>
        </p:txBody>
      </p:sp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4B117B68-7F7C-392E-CE9E-B92AA2138FB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573533" y="1396879"/>
            <a:ext cx="3098771" cy="91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401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84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60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4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8B17C-620D-A957-2F62-BA0106BA9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107B7-9ADA-6EB4-C74C-85CC7388F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0F61F-60CF-CA76-5A14-F005141212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28508-28C4-444E-B522-D804D5355C6F}" type="datetimeFigureOut">
              <a:rPr lang="x-none" smtClean="0"/>
              <a:t>29/09/2025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7FC5E-DDAF-A6D2-8344-BF0E6468F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0686D-7881-D458-F01C-46E3BD4D50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13F5B-0CB8-284D-B88B-2C9766842346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8508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3" r:id="rId3"/>
    <p:sldLayoutId id="2147483673" r:id="rId4"/>
    <p:sldLayoutId id="2147483668" r:id="rId5"/>
    <p:sldLayoutId id="2147483669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4" r:id="rId15"/>
    <p:sldLayoutId id="2147483670" r:id="rId16"/>
    <p:sldLayoutId id="2147483671" r:id="rId17"/>
    <p:sldLayoutId id="214748367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svg"/><Relationship Id="rId7" Type="http://schemas.openxmlformats.org/officeDocument/2006/relationships/image" Target="../media/image45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svg"/><Relationship Id="rId5" Type="http://schemas.openxmlformats.org/officeDocument/2006/relationships/image" Target="../media/image43.sv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svg"/><Relationship Id="rId7" Type="http://schemas.openxmlformats.org/officeDocument/2006/relationships/image" Target="../media/image55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9" Type="http://schemas.openxmlformats.org/officeDocument/2006/relationships/image" Target="../media/image57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svg"/><Relationship Id="rId3" Type="http://schemas.openxmlformats.org/officeDocument/2006/relationships/image" Target="../media/image59.svg"/><Relationship Id="rId7" Type="http://schemas.openxmlformats.org/officeDocument/2006/relationships/image" Target="../media/image63.svg"/><Relationship Id="rId12" Type="http://schemas.openxmlformats.org/officeDocument/2006/relationships/image" Target="../media/image6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svg"/><Relationship Id="rId5" Type="http://schemas.openxmlformats.org/officeDocument/2006/relationships/image" Target="../media/image61.sv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svg"/><Relationship Id="rId7" Type="http://schemas.openxmlformats.org/officeDocument/2006/relationships/image" Target="../media/image75.sv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svg"/><Relationship Id="rId4" Type="http://schemas.openxmlformats.org/officeDocument/2006/relationships/image" Target="../media/image72.png"/><Relationship Id="rId9" Type="http://schemas.openxmlformats.org/officeDocument/2006/relationships/image" Target="../media/image77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svg"/><Relationship Id="rId3" Type="http://schemas.openxmlformats.org/officeDocument/2006/relationships/image" Target="../media/image79.svg"/><Relationship Id="rId7" Type="http://schemas.openxmlformats.org/officeDocument/2006/relationships/image" Target="../media/image83.svg"/><Relationship Id="rId12" Type="http://schemas.openxmlformats.org/officeDocument/2006/relationships/image" Target="../media/image8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svg"/><Relationship Id="rId5" Type="http://schemas.openxmlformats.org/officeDocument/2006/relationships/image" Target="../media/image81.sv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pmc.ncbi.nlm.nih.gov/articles/PMC9885666/?utm_source=chatgpt.com" TargetMode="External"/><Relationship Id="rId13" Type="http://schemas.openxmlformats.org/officeDocument/2006/relationships/hyperlink" Target="https://www.frontiersin.org/journals/nutrition/articles/10.3389/fnut.2022.873890/full?utm_source=chatgpt.com" TargetMode="External"/><Relationship Id="rId3" Type="http://schemas.openxmlformats.org/officeDocument/2006/relationships/hyperlink" Target="https://www.sciencedirect.com/science/article/pii/S120197122200635X?utm_source=chatgpt.com" TargetMode="External"/><Relationship Id="rId7" Type="http://schemas.openxmlformats.org/officeDocument/2006/relationships/hyperlink" Target="https://www.thelancet.com/journals/lancet/article/PIIS0140-6736%2823%2901231-X/abstract?utm_source=chatgpt.com" TargetMode="External"/><Relationship Id="rId12" Type="http://schemas.openxmlformats.org/officeDocument/2006/relationships/hyperlink" Target="https://idpjournal.biomedcentral.com/articles/10.1186/s40249-024-01182-8?utm_source=chatgpt.com" TargetMode="External"/><Relationship Id="rId2" Type="http://schemas.openxmlformats.org/officeDocument/2006/relationships/hyperlink" Target="https://www.thelancet.com/journals/lancet/article/PIIS0140-6736%2824%2902093-2/fulltext?utm_source=chatgpt.com" TargetMode="External"/><Relationship Id="rId16" Type="http://schemas.openxmlformats.org/officeDocument/2006/relationships/hyperlink" Target="https://pmc.ncbi.nlm.nih.gov/articles/PMC2813110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abs/pii/S0019570725000381?utm_source=chatgpt.com" TargetMode="External"/><Relationship Id="rId11" Type="http://schemas.openxmlformats.org/officeDocument/2006/relationships/hyperlink" Target="https://www.frontiersin.org/journals/public-health/articles/10.3389/fpubh.2022.1039661/full?utm_source=chatgpt.com" TargetMode="External"/><Relationship Id="rId5" Type="http://schemas.openxmlformats.org/officeDocument/2006/relationships/hyperlink" Target="https://academic.oup.com/nutritionreviews/article/82/9/1216/7284364?utm_source=chatgpt.com" TargetMode="External"/><Relationship Id="rId15" Type="http://schemas.openxmlformats.org/officeDocument/2006/relationships/hyperlink" Target="https://papers.ssrn.com/sol3/papers.cfm?abstract_id=4902605&amp;utm_source=chatgpt.com" TargetMode="External"/><Relationship Id="rId10" Type="http://schemas.openxmlformats.org/officeDocument/2006/relationships/hyperlink" Target="https://www.mdpi.com/2072-6643/12/9/2540?utm_source=chatgpt.com" TargetMode="External"/><Relationship Id="rId4" Type="http://schemas.openxmlformats.org/officeDocument/2006/relationships/hyperlink" Target="https://pmc.ncbi.nlm.nih.gov/articles/PMC11815397/?utm_source=chatgpt.com" TargetMode="External"/><Relationship Id="rId9" Type="http://schemas.openxmlformats.org/officeDocument/2006/relationships/hyperlink" Target="https://pmc.ncbi.nlm.nih.gov/articles/PMC11663662/?utm_source=chatgpt.com" TargetMode="External"/><Relationship Id="rId14" Type="http://schemas.openxmlformats.org/officeDocument/2006/relationships/hyperlink" Target="https://journals.plos.org/globalpublichealth/article?id=10.1371%2Fjournal.pgph.0004719&amp;utm_source=chatgpt.com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0C361C5-E948-2249-47E7-0FB00AAD4973}"/>
              </a:ext>
            </a:extLst>
          </p:cNvPr>
          <p:cNvSpPr txBox="1">
            <a:spLocks/>
          </p:cNvSpPr>
          <p:nvPr/>
        </p:nvSpPr>
        <p:spPr>
          <a:xfrm>
            <a:off x="0" y="2791869"/>
            <a:ext cx="6932428" cy="14186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n-lt"/>
              </a:rPr>
              <a:t>Reviving an Old Ally: </a:t>
            </a:r>
          </a:p>
          <a:p>
            <a:pPr algn="ctr"/>
            <a:r>
              <a:rPr lang="en-GB" sz="3200" b="1" dirty="0">
                <a:solidFill>
                  <a:schemeClr val="bg1"/>
                </a:solidFill>
                <a:latin typeface="+mn-lt"/>
              </a:rPr>
              <a:t>Nutrition: The Forgotten Frontline in TB Prevention</a:t>
            </a:r>
          </a:p>
        </p:txBody>
      </p:sp>
      <p:sp>
        <p:nvSpPr>
          <p:cNvPr id="5" name="Subtitle 5">
            <a:extLst>
              <a:ext uri="{FF2B5EF4-FFF2-40B4-BE49-F238E27FC236}">
                <a16:creationId xmlns:a16="http://schemas.microsoft.com/office/drawing/2014/main" id="{DA84787B-57A2-2973-4366-98D0DDE7AB79}"/>
              </a:ext>
            </a:extLst>
          </p:cNvPr>
          <p:cNvSpPr txBox="1">
            <a:spLocks/>
          </p:cNvSpPr>
          <p:nvPr/>
        </p:nvSpPr>
        <p:spPr>
          <a:xfrm>
            <a:off x="732267" y="4954772"/>
            <a:ext cx="4265035" cy="8576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KE" sz="1800" b="1" dirty="0">
                <a:solidFill>
                  <a:srgbClr val="FFFF00"/>
                </a:solidFill>
              </a:rPr>
              <a:t>Dr Nkirote Mugambi-Nyaboga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KE" sz="1800" b="1" dirty="0">
                <a:solidFill>
                  <a:srgbClr val="FFFF00"/>
                </a:solidFill>
              </a:rPr>
              <a:t>Chief of Party: Tamatisha TB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KE" sz="1800" b="1" dirty="0">
                <a:solidFill>
                  <a:srgbClr val="FFFF00"/>
                </a:solidFill>
              </a:rPr>
              <a:t>Centre for Health Solutions - Kenya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1FE8CB-31A8-D0E9-FCCB-D1CCF2468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267" y="0"/>
            <a:ext cx="5218733" cy="57061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E136FD-C0BD-DCDA-3C19-06D82728BB6B}"/>
              </a:ext>
            </a:extLst>
          </p:cNvPr>
          <p:cNvSpPr txBox="1"/>
          <p:nvPr/>
        </p:nvSpPr>
        <p:spPr>
          <a:xfrm>
            <a:off x="0" y="4210493"/>
            <a:ext cx="6932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bg1">
                    <a:lumMod val="85000"/>
                  </a:schemeClr>
                </a:solidFill>
              </a:rPr>
              <a:t>‘Good ideas are not necessarily new ideas but old ideas resurrected at the proper time”-  Charles Handy in The Hungry Spirit. </a:t>
            </a:r>
            <a:endParaRPr lang="en-KE" i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941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18977" y="87693"/>
            <a:ext cx="6804837" cy="680832"/>
          </a:xfrm>
        </p:spPr>
        <p:txBody>
          <a:bodyPr>
            <a:normAutofit/>
          </a:bodyPr>
          <a:lstStyle/>
          <a:p>
            <a:r>
              <a:rPr sz="3600" b="1" dirty="0">
                <a:solidFill>
                  <a:schemeClr val="bg1"/>
                </a:solidFill>
                <a:latin typeface="+mn-lt"/>
              </a:rPr>
              <a:t>Outline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07F2A6-D17F-78FA-2FDF-17EB997D16A4}"/>
              </a:ext>
            </a:extLst>
          </p:cNvPr>
          <p:cNvGrpSpPr/>
          <p:nvPr/>
        </p:nvGrpSpPr>
        <p:grpSpPr>
          <a:xfrm>
            <a:off x="2055880" y="1944366"/>
            <a:ext cx="2211252" cy="1032073"/>
            <a:chOff x="4677110" y="1108710"/>
            <a:chExt cx="4079074" cy="751659"/>
          </a:xfrm>
        </p:grpSpPr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CF3D3CFA-8FCA-E659-0753-CD2BDDE22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0"/>
              <a:ext cx="4079074" cy="7516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id="{01B24C0D-0B8F-17DB-722C-C4719BE7A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1"/>
              <a:ext cx="4079074" cy="751658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10000"/>
                  </a:schemeClr>
                </a:gs>
                <a:gs pos="99000">
                  <a:schemeClr val="tx1">
                    <a:lumMod val="10000"/>
                    <a:lumOff val="90000"/>
                    <a:alpha val="30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9" name="Freeform: Shape 64">
            <a:extLst>
              <a:ext uri="{FF2B5EF4-FFF2-40B4-BE49-F238E27FC236}">
                <a16:creationId xmlns:a16="http://schemas.microsoft.com/office/drawing/2014/main" id="{1EDF5223-608D-10CE-B52D-99C43619B9B0}"/>
              </a:ext>
            </a:extLst>
          </p:cNvPr>
          <p:cNvSpPr/>
          <p:nvPr/>
        </p:nvSpPr>
        <p:spPr>
          <a:xfrm>
            <a:off x="2311911" y="2231390"/>
            <a:ext cx="204907" cy="458024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62777-5186-28DA-1E6D-279B3D063A40}"/>
              </a:ext>
            </a:extLst>
          </p:cNvPr>
          <p:cNvSpPr/>
          <p:nvPr/>
        </p:nvSpPr>
        <p:spPr>
          <a:xfrm>
            <a:off x="2568450" y="1975539"/>
            <a:ext cx="1593934" cy="830997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Global &amp; regional burden of TB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6E9CE1B-B102-636C-294C-BCA31B0C3965}"/>
              </a:ext>
            </a:extLst>
          </p:cNvPr>
          <p:cNvGrpSpPr/>
          <p:nvPr/>
        </p:nvGrpSpPr>
        <p:grpSpPr>
          <a:xfrm>
            <a:off x="1704489" y="2109012"/>
            <a:ext cx="702782" cy="702780"/>
            <a:chOff x="411643" y="1147772"/>
            <a:chExt cx="514256" cy="51425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603EBDA-AE48-22D6-D5FC-04CAA9622D47}"/>
                </a:ext>
              </a:extLst>
            </p:cNvPr>
            <p:cNvSpPr/>
            <p:nvPr/>
          </p:nvSpPr>
          <p:spPr>
            <a:xfrm flipH="1">
              <a:off x="411643" y="1147772"/>
              <a:ext cx="514256" cy="5142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308158C-52D2-5978-7600-4D7CAE807812}"/>
                </a:ext>
              </a:extLst>
            </p:cNvPr>
            <p:cNvSpPr/>
            <p:nvPr/>
          </p:nvSpPr>
          <p:spPr>
            <a:xfrm flipH="1">
              <a:off x="446811" y="1182940"/>
              <a:ext cx="443920" cy="443918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ED484B8-6C9D-26BF-DBDB-7DEB6A65739C}"/>
              </a:ext>
            </a:extLst>
          </p:cNvPr>
          <p:cNvGrpSpPr/>
          <p:nvPr/>
        </p:nvGrpSpPr>
        <p:grpSpPr>
          <a:xfrm>
            <a:off x="2055880" y="3165694"/>
            <a:ext cx="2211252" cy="1032073"/>
            <a:chOff x="4677110" y="1108710"/>
            <a:chExt cx="4079074" cy="751659"/>
          </a:xfrm>
        </p:grpSpPr>
        <p:sp>
          <p:nvSpPr>
            <p:cNvPr id="15" name="Freeform: Shape 9">
              <a:extLst>
                <a:ext uri="{FF2B5EF4-FFF2-40B4-BE49-F238E27FC236}">
                  <a16:creationId xmlns:a16="http://schemas.microsoft.com/office/drawing/2014/main" id="{A6C92DB8-7C79-C3C6-DCE2-A5AC84E37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0"/>
              <a:ext cx="4079074" cy="7516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58E54DC8-9EF2-88F6-5A5F-25C834D20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1"/>
              <a:ext cx="4079074" cy="751658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10000"/>
                  </a:schemeClr>
                </a:gs>
                <a:gs pos="99000">
                  <a:schemeClr val="tx1">
                    <a:lumMod val="10000"/>
                    <a:lumOff val="90000"/>
                    <a:alpha val="30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7" name="Freeform: Shape 72">
            <a:extLst>
              <a:ext uri="{FF2B5EF4-FFF2-40B4-BE49-F238E27FC236}">
                <a16:creationId xmlns:a16="http://schemas.microsoft.com/office/drawing/2014/main" id="{B9F698CB-CC10-8C58-98DE-185D4895D92E}"/>
              </a:ext>
            </a:extLst>
          </p:cNvPr>
          <p:cNvSpPr/>
          <p:nvPr/>
        </p:nvSpPr>
        <p:spPr>
          <a:xfrm>
            <a:off x="2311911" y="3452718"/>
            <a:ext cx="204907" cy="458024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5A5A19-9C16-A136-37CC-153221CCAF47}"/>
              </a:ext>
            </a:extLst>
          </p:cNvPr>
          <p:cNvSpPr/>
          <p:nvPr/>
        </p:nvSpPr>
        <p:spPr>
          <a:xfrm>
            <a:off x="2553564" y="3442552"/>
            <a:ext cx="1593934" cy="553998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TB–malnutrition comorbidity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9217411-5FAE-CE3D-D1F8-3FF14830D336}"/>
              </a:ext>
            </a:extLst>
          </p:cNvPr>
          <p:cNvGrpSpPr/>
          <p:nvPr/>
        </p:nvGrpSpPr>
        <p:grpSpPr>
          <a:xfrm>
            <a:off x="1704489" y="3330340"/>
            <a:ext cx="702782" cy="702780"/>
            <a:chOff x="411643" y="1147772"/>
            <a:chExt cx="514256" cy="51425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D877CD9-901B-5A66-4C80-96359FD3E87B}"/>
                </a:ext>
              </a:extLst>
            </p:cNvPr>
            <p:cNvSpPr/>
            <p:nvPr/>
          </p:nvSpPr>
          <p:spPr>
            <a:xfrm flipH="1">
              <a:off x="411643" y="1147772"/>
              <a:ext cx="514256" cy="5142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EC270EE-60A6-7CA2-E9C9-B1A7A9FC95D5}"/>
                </a:ext>
              </a:extLst>
            </p:cNvPr>
            <p:cNvSpPr/>
            <p:nvPr/>
          </p:nvSpPr>
          <p:spPr>
            <a:xfrm flipH="1">
              <a:off x="446811" y="1182940"/>
              <a:ext cx="443920" cy="443918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1DC5F0C-4138-C4FF-71E2-A9FB62F6E112}"/>
              </a:ext>
            </a:extLst>
          </p:cNvPr>
          <p:cNvGrpSpPr/>
          <p:nvPr/>
        </p:nvGrpSpPr>
        <p:grpSpPr>
          <a:xfrm>
            <a:off x="2055880" y="4387023"/>
            <a:ext cx="2211252" cy="1032073"/>
            <a:chOff x="4677110" y="1108710"/>
            <a:chExt cx="4079074" cy="751659"/>
          </a:xfrm>
        </p:grpSpPr>
        <p:sp>
          <p:nvSpPr>
            <p:cNvPr id="23" name="Freeform: Shape 9">
              <a:extLst>
                <a:ext uri="{FF2B5EF4-FFF2-40B4-BE49-F238E27FC236}">
                  <a16:creationId xmlns:a16="http://schemas.microsoft.com/office/drawing/2014/main" id="{AA5D382F-B5B0-0280-6F93-42BE90CD9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0"/>
              <a:ext cx="4079074" cy="7516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4B956050-488A-156C-2BED-9AAEE62D9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1"/>
              <a:ext cx="4079074" cy="751658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10000"/>
                  </a:schemeClr>
                </a:gs>
                <a:gs pos="99000">
                  <a:schemeClr val="tx1">
                    <a:lumMod val="10000"/>
                    <a:lumOff val="90000"/>
                    <a:alpha val="30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5" name="Freeform: Shape 81">
            <a:extLst>
              <a:ext uri="{FF2B5EF4-FFF2-40B4-BE49-F238E27FC236}">
                <a16:creationId xmlns:a16="http://schemas.microsoft.com/office/drawing/2014/main" id="{4DE54D4C-9062-574C-E783-2104D76C3097}"/>
              </a:ext>
            </a:extLst>
          </p:cNvPr>
          <p:cNvSpPr/>
          <p:nvPr/>
        </p:nvSpPr>
        <p:spPr>
          <a:xfrm>
            <a:off x="2311911" y="4674047"/>
            <a:ext cx="204907" cy="458024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4500B1-4D03-773A-62B2-733877DDC202}"/>
              </a:ext>
            </a:extLst>
          </p:cNvPr>
          <p:cNvSpPr/>
          <p:nvPr/>
        </p:nvSpPr>
        <p:spPr>
          <a:xfrm>
            <a:off x="2592975" y="4663363"/>
            <a:ext cx="1410238" cy="553998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Malnutrition as a risk factor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D4F84F7-5C9F-0FBE-D3EE-CDE942581D56}"/>
              </a:ext>
            </a:extLst>
          </p:cNvPr>
          <p:cNvGrpSpPr/>
          <p:nvPr/>
        </p:nvGrpSpPr>
        <p:grpSpPr>
          <a:xfrm>
            <a:off x="1704489" y="4551669"/>
            <a:ext cx="702782" cy="702780"/>
            <a:chOff x="411643" y="1147772"/>
            <a:chExt cx="514256" cy="514254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811182A-018D-6E5D-D470-436513020C2F}"/>
                </a:ext>
              </a:extLst>
            </p:cNvPr>
            <p:cNvSpPr/>
            <p:nvPr/>
          </p:nvSpPr>
          <p:spPr>
            <a:xfrm flipH="1">
              <a:off x="411643" y="1147772"/>
              <a:ext cx="514256" cy="51425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BA619B1-2ABB-4A0E-D295-8942A68B2C8F}"/>
                </a:ext>
              </a:extLst>
            </p:cNvPr>
            <p:cNvSpPr/>
            <p:nvPr/>
          </p:nvSpPr>
          <p:spPr>
            <a:xfrm flipH="1">
              <a:off x="446811" y="1182940"/>
              <a:ext cx="443920" cy="443918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6E7D92E-4443-A09B-FF0D-5D4DA96F791D}"/>
              </a:ext>
            </a:extLst>
          </p:cNvPr>
          <p:cNvGrpSpPr/>
          <p:nvPr/>
        </p:nvGrpSpPr>
        <p:grpSpPr>
          <a:xfrm>
            <a:off x="5290442" y="1944366"/>
            <a:ext cx="2211252" cy="1032073"/>
            <a:chOff x="4677110" y="1108710"/>
            <a:chExt cx="4079074" cy="751659"/>
          </a:xfrm>
        </p:grpSpPr>
        <p:sp>
          <p:nvSpPr>
            <p:cNvPr id="31" name="Freeform: Shape 9">
              <a:extLst>
                <a:ext uri="{FF2B5EF4-FFF2-40B4-BE49-F238E27FC236}">
                  <a16:creationId xmlns:a16="http://schemas.microsoft.com/office/drawing/2014/main" id="{E66FED41-8659-EDC3-FB8C-B553FBACB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0"/>
              <a:ext cx="4079074" cy="7516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" name="Freeform: Shape 12">
              <a:extLst>
                <a:ext uri="{FF2B5EF4-FFF2-40B4-BE49-F238E27FC236}">
                  <a16:creationId xmlns:a16="http://schemas.microsoft.com/office/drawing/2014/main" id="{03BC5381-AD51-A643-863A-5FC6DD66B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1"/>
              <a:ext cx="4079074" cy="751658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10000"/>
                  </a:schemeClr>
                </a:gs>
                <a:gs pos="99000">
                  <a:schemeClr val="tx1">
                    <a:lumMod val="10000"/>
                    <a:lumOff val="90000"/>
                    <a:alpha val="30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3" name="Freeform: Shape 6167">
            <a:extLst>
              <a:ext uri="{FF2B5EF4-FFF2-40B4-BE49-F238E27FC236}">
                <a16:creationId xmlns:a16="http://schemas.microsoft.com/office/drawing/2014/main" id="{4E9A36C4-E256-D1AC-CDA6-BE91DB90105C}"/>
              </a:ext>
            </a:extLst>
          </p:cNvPr>
          <p:cNvSpPr/>
          <p:nvPr/>
        </p:nvSpPr>
        <p:spPr>
          <a:xfrm>
            <a:off x="5546473" y="2231390"/>
            <a:ext cx="204907" cy="458024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859B96-CC28-0BA3-F46E-FF0DC8B7D557}"/>
              </a:ext>
            </a:extLst>
          </p:cNvPr>
          <p:cNvSpPr/>
          <p:nvPr/>
        </p:nvSpPr>
        <p:spPr>
          <a:xfrm>
            <a:off x="5788126" y="2203150"/>
            <a:ext cx="1593934" cy="553998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Nutrition in TB management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6A8DB57-DFA7-EDBB-25E4-22AFC2487A4E}"/>
              </a:ext>
            </a:extLst>
          </p:cNvPr>
          <p:cNvGrpSpPr/>
          <p:nvPr/>
        </p:nvGrpSpPr>
        <p:grpSpPr>
          <a:xfrm>
            <a:off x="4939051" y="2109012"/>
            <a:ext cx="702782" cy="702780"/>
            <a:chOff x="411643" y="1147772"/>
            <a:chExt cx="514256" cy="514254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5FE0C11-8CEC-B179-B84B-8429F418EF73}"/>
                </a:ext>
              </a:extLst>
            </p:cNvPr>
            <p:cNvSpPr/>
            <p:nvPr/>
          </p:nvSpPr>
          <p:spPr>
            <a:xfrm flipH="1">
              <a:off x="411643" y="1147772"/>
              <a:ext cx="514256" cy="51425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7110ED0-9E1B-CE81-98F3-96D01EDC6323}"/>
                </a:ext>
              </a:extLst>
            </p:cNvPr>
            <p:cNvSpPr/>
            <p:nvPr/>
          </p:nvSpPr>
          <p:spPr>
            <a:xfrm flipH="1">
              <a:off x="446811" y="1182940"/>
              <a:ext cx="443920" cy="443918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04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A264B41-10D0-CBCC-18BD-60AB3C0F677D}"/>
              </a:ext>
            </a:extLst>
          </p:cNvPr>
          <p:cNvGrpSpPr/>
          <p:nvPr/>
        </p:nvGrpSpPr>
        <p:grpSpPr>
          <a:xfrm>
            <a:off x="5290442" y="3165694"/>
            <a:ext cx="2211252" cy="1032073"/>
            <a:chOff x="4677110" y="1108710"/>
            <a:chExt cx="4079074" cy="751659"/>
          </a:xfrm>
        </p:grpSpPr>
        <p:sp>
          <p:nvSpPr>
            <p:cNvPr id="39" name="Freeform: Shape 9">
              <a:extLst>
                <a:ext uri="{FF2B5EF4-FFF2-40B4-BE49-F238E27FC236}">
                  <a16:creationId xmlns:a16="http://schemas.microsoft.com/office/drawing/2014/main" id="{651A351D-CE13-CDDB-8FB9-70C2D8D9A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0"/>
              <a:ext cx="4079074" cy="7516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" name="Freeform: Shape 12">
              <a:extLst>
                <a:ext uri="{FF2B5EF4-FFF2-40B4-BE49-F238E27FC236}">
                  <a16:creationId xmlns:a16="http://schemas.microsoft.com/office/drawing/2014/main" id="{384BD06A-7CB3-BCB4-DA90-607321271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1"/>
              <a:ext cx="4079074" cy="751658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10000"/>
                  </a:schemeClr>
                </a:gs>
                <a:gs pos="99000">
                  <a:schemeClr val="tx1">
                    <a:lumMod val="10000"/>
                    <a:lumOff val="90000"/>
                    <a:alpha val="30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41" name="Freeform: Shape 104">
            <a:extLst>
              <a:ext uri="{FF2B5EF4-FFF2-40B4-BE49-F238E27FC236}">
                <a16:creationId xmlns:a16="http://schemas.microsoft.com/office/drawing/2014/main" id="{BCE2D496-26D1-8C7C-1443-BE653FF73DDB}"/>
              </a:ext>
            </a:extLst>
          </p:cNvPr>
          <p:cNvSpPr/>
          <p:nvPr/>
        </p:nvSpPr>
        <p:spPr>
          <a:xfrm>
            <a:off x="5546473" y="3452718"/>
            <a:ext cx="204907" cy="458024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2766670-AA58-0434-175F-8DE8ACE2290A}"/>
              </a:ext>
            </a:extLst>
          </p:cNvPr>
          <p:cNvSpPr/>
          <p:nvPr/>
        </p:nvSpPr>
        <p:spPr>
          <a:xfrm>
            <a:off x="5788126" y="3428790"/>
            <a:ext cx="1593934" cy="553998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Nutrition as prevention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D1AF6B9-3C36-3BF2-E6BE-9CF5C3BEC89A}"/>
              </a:ext>
            </a:extLst>
          </p:cNvPr>
          <p:cNvGrpSpPr/>
          <p:nvPr/>
        </p:nvGrpSpPr>
        <p:grpSpPr>
          <a:xfrm>
            <a:off x="4939051" y="3330340"/>
            <a:ext cx="702782" cy="702780"/>
            <a:chOff x="411643" y="1147772"/>
            <a:chExt cx="514256" cy="514254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9075A26-2F1A-DF16-43CA-83F1AB6D4ED3}"/>
                </a:ext>
              </a:extLst>
            </p:cNvPr>
            <p:cNvSpPr/>
            <p:nvPr/>
          </p:nvSpPr>
          <p:spPr>
            <a:xfrm flipH="1">
              <a:off x="411643" y="1147772"/>
              <a:ext cx="514256" cy="51425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01D0AAF-6FB1-FD7A-439E-BF5A4835088E}"/>
                </a:ext>
              </a:extLst>
            </p:cNvPr>
            <p:cNvSpPr/>
            <p:nvPr/>
          </p:nvSpPr>
          <p:spPr>
            <a:xfrm flipH="1">
              <a:off x="446811" y="1182940"/>
              <a:ext cx="443920" cy="443918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05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1D63891-0A63-7B50-B0DB-FEBEC1A51D5D}"/>
              </a:ext>
            </a:extLst>
          </p:cNvPr>
          <p:cNvGrpSpPr/>
          <p:nvPr/>
        </p:nvGrpSpPr>
        <p:grpSpPr>
          <a:xfrm>
            <a:off x="5290442" y="4387023"/>
            <a:ext cx="2211252" cy="1032073"/>
            <a:chOff x="4677110" y="1108710"/>
            <a:chExt cx="4079074" cy="751659"/>
          </a:xfrm>
        </p:grpSpPr>
        <p:sp>
          <p:nvSpPr>
            <p:cNvPr id="47" name="Freeform: Shape 9">
              <a:extLst>
                <a:ext uri="{FF2B5EF4-FFF2-40B4-BE49-F238E27FC236}">
                  <a16:creationId xmlns:a16="http://schemas.microsoft.com/office/drawing/2014/main" id="{780C02B6-1EDA-A519-3DC6-BD3DE7A89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0"/>
              <a:ext cx="4079074" cy="7516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8" name="Freeform: Shape 12">
              <a:extLst>
                <a:ext uri="{FF2B5EF4-FFF2-40B4-BE49-F238E27FC236}">
                  <a16:creationId xmlns:a16="http://schemas.microsoft.com/office/drawing/2014/main" id="{9FE5B7C2-0009-5485-6008-B54A14162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1"/>
              <a:ext cx="4079074" cy="751658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10000"/>
                  </a:schemeClr>
                </a:gs>
                <a:gs pos="99000">
                  <a:schemeClr val="tx1">
                    <a:lumMod val="10000"/>
                    <a:lumOff val="90000"/>
                    <a:alpha val="30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49" name="Freeform: Shape 120">
            <a:extLst>
              <a:ext uri="{FF2B5EF4-FFF2-40B4-BE49-F238E27FC236}">
                <a16:creationId xmlns:a16="http://schemas.microsoft.com/office/drawing/2014/main" id="{A2F59C5D-2CCF-BBE5-FFF7-7F69C0702818}"/>
              </a:ext>
            </a:extLst>
          </p:cNvPr>
          <p:cNvSpPr/>
          <p:nvPr/>
        </p:nvSpPr>
        <p:spPr>
          <a:xfrm>
            <a:off x="5546473" y="4674047"/>
            <a:ext cx="204907" cy="458024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8B175A4-1BF4-D23F-F606-300D68086D48}"/>
              </a:ext>
            </a:extLst>
          </p:cNvPr>
          <p:cNvSpPr/>
          <p:nvPr/>
        </p:nvSpPr>
        <p:spPr>
          <a:xfrm>
            <a:off x="5788126" y="4743077"/>
            <a:ext cx="1593934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Mechanisms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B6BEB43-22CD-83A2-1721-18437119A9CA}"/>
              </a:ext>
            </a:extLst>
          </p:cNvPr>
          <p:cNvGrpSpPr/>
          <p:nvPr/>
        </p:nvGrpSpPr>
        <p:grpSpPr>
          <a:xfrm>
            <a:off x="4939051" y="4551669"/>
            <a:ext cx="702782" cy="702780"/>
            <a:chOff x="411643" y="1147772"/>
            <a:chExt cx="514256" cy="514254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52204C2-8744-6541-3931-474E602A3115}"/>
                </a:ext>
              </a:extLst>
            </p:cNvPr>
            <p:cNvSpPr/>
            <p:nvPr/>
          </p:nvSpPr>
          <p:spPr>
            <a:xfrm flipH="1">
              <a:off x="411643" y="1147772"/>
              <a:ext cx="514256" cy="514254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4E15D7F-EA92-B0A0-9AED-2D224602623D}"/>
                </a:ext>
              </a:extLst>
            </p:cNvPr>
            <p:cNvSpPr/>
            <p:nvPr/>
          </p:nvSpPr>
          <p:spPr>
            <a:xfrm flipH="1">
              <a:off x="446811" y="1182940"/>
              <a:ext cx="443920" cy="443918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06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5A8A22D-3419-4A59-8236-B274B94DA025}"/>
              </a:ext>
            </a:extLst>
          </p:cNvPr>
          <p:cNvGrpSpPr/>
          <p:nvPr/>
        </p:nvGrpSpPr>
        <p:grpSpPr>
          <a:xfrm>
            <a:off x="8525004" y="3216083"/>
            <a:ext cx="2211252" cy="1032073"/>
            <a:chOff x="4677110" y="1108710"/>
            <a:chExt cx="4079074" cy="751659"/>
          </a:xfrm>
        </p:grpSpPr>
        <p:sp>
          <p:nvSpPr>
            <p:cNvPr id="79" name="Freeform: Shape 9">
              <a:extLst>
                <a:ext uri="{FF2B5EF4-FFF2-40B4-BE49-F238E27FC236}">
                  <a16:creationId xmlns:a16="http://schemas.microsoft.com/office/drawing/2014/main" id="{6A99801F-97DC-B8AD-A6F4-07306CF1F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0"/>
              <a:ext cx="4079074" cy="7516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0" name="Freeform: Shape 12">
              <a:extLst>
                <a:ext uri="{FF2B5EF4-FFF2-40B4-BE49-F238E27FC236}">
                  <a16:creationId xmlns:a16="http://schemas.microsoft.com/office/drawing/2014/main" id="{876209B4-F606-3BA3-F9EA-43D9E494B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1"/>
              <a:ext cx="4079074" cy="751658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10000"/>
                  </a:schemeClr>
                </a:gs>
                <a:gs pos="99000">
                  <a:schemeClr val="tx1">
                    <a:lumMod val="10000"/>
                    <a:lumOff val="90000"/>
                    <a:alpha val="30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1" name="Freeform: Shape 64">
            <a:extLst>
              <a:ext uri="{FF2B5EF4-FFF2-40B4-BE49-F238E27FC236}">
                <a16:creationId xmlns:a16="http://schemas.microsoft.com/office/drawing/2014/main" id="{83E2A144-C789-0DFD-1D04-48172F027FA1}"/>
              </a:ext>
            </a:extLst>
          </p:cNvPr>
          <p:cNvSpPr/>
          <p:nvPr/>
        </p:nvSpPr>
        <p:spPr>
          <a:xfrm>
            <a:off x="8781035" y="3503107"/>
            <a:ext cx="204907" cy="458024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A44FD6-382B-FC0F-347C-7B315C42C25A}"/>
              </a:ext>
            </a:extLst>
          </p:cNvPr>
          <p:cNvSpPr/>
          <p:nvPr/>
        </p:nvSpPr>
        <p:spPr>
          <a:xfrm>
            <a:off x="9084366" y="3407133"/>
            <a:ext cx="1593934" cy="553998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Kenya/SSA context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65AD388-7E64-C43D-A7E0-BED29FC15634}"/>
              </a:ext>
            </a:extLst>
          </p:cNvPr>
          <p:cNvGrpSpPr/>
          <p:nvPr/>
        </p:nvGrpSpPr>
        <p:grpSpPr>
          <a:xfrm>
            <a:off x="8173613" y="3380729"/>
            <a:ext cx="702782" cy="702780"/>
            <a:chOff x="411643" y="1147772"/>
            <a:chExt cx="514256" cy="514254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156C55E-E64A-26CA-FF68-12B4D3E8427E}"/>
                </a:ext>
              </a:extLst>
            </p:cNvPr>
            <p:cNvSpPr/>
            <p:nvPr/>
          </p:nvSpPr>
          <p:spPr>
            <a:xfrm flipH="1">
              <a:off x="411643" y="1147772"/>
              <a:ext cx="514256" cy="5142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D7D35B17-2089-DB85-034E-22AD370E4B7D}"/>
                </a:ext>
              </a:extLst>
            </p:cNvPr>
            <p:cNvSpPr/>
            <p:nvPr/>
          </p:nvSpPr>
          <p:spPr>
            <a:xfrm flipH="1">
              <a:off x="446811" y="1182940"/>
              <a:ext cx="443920" cy="443918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08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5410B57-7CBE-634F-1A8A-1AED77EBADAD}"/>
              </a:ext>
            </a:extLst>
          </p:cNvPr>
          <p:cNvGrpSpPr/>
          <p:nvPr/>
        </p:nvGrpSpPr>
        <p:grpSpPr>
          <a:xfrm>
            <a:off x="8525004" y="4437411"/>
            <a:ext cx="2211252" cy="1032073"/>
            <a:chOff x="4677110" y="1108710"/>
            <a:chExt cx="4079074" cy="751659"/>
          </a:xfrm>
        </p:grpSpPr>
        <p:sp>
          <p:nvSpPr>
            <p:cNvPr id="87" name="Freeform: Shape 9">
              <a:extLst>
                <a:ext uri="{FF2B5EF4-FFF2-40B4-BE49-F238E27FC236}">
                  <a16:creationId xmlns:a16="http://schemas.microsoft.com/office/drawing/2014/main" id="{D8FE369C-0EB0-93B7-B45F-AE107164D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0"/>
              <a:ext cx="4079074" cy="7516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" name="Freeform: Shape 12">
              <a:extLst>
                <a:ext uri="{FF2B5EF4-FFF2-40B4-BE49-F238E27FC236}">
                  <a16:creationId xmlns:a16="http://schemas.microsoft.com/office/drawing/2014/main" id="{7BBF26BE-6635-42DF-5148-D3EE4D3EA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1"/>
              <a:ext cx="4079074" cy="751658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10000"/>
                  </a:schemeClr>
                </a:gs>
                <a:gs pos="99000">
                  <a:schemeClr val="tx1">
                    <a:lumMod val="10000"/>
                    <a:lumOff val="90000"/>
                    <a:alpha val="30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9" name="Freeform: Shape 72">
            <a:extLst>
              <a:ext uri="{FF2B5EF4-FFF2-40B4-BE49-F238E27FC236}">
                <a16:creationId xmlns:a16="http://schemas.microsoft.com/office/drawing/2014/main" id="{1548ECC8-EDFC-AE50-47E1-A070E1D0457E}"/>
              </a:ext>
            </a:extLst>
          </p:cNvPr>
          <p:cNvSpPr/>
          <p:nvPr/>
        </p:nvSpPr>
        <p:spPr>
          <a:xfrm>
            <a:off x="8781035" y="4724435"/>
            <a:ext cx="204907" cy="458024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82E8559-701A-469E-9E2C-AD76C063E725}"/>
              </a:ext>
            </a:extLst>
          </p:cNvPr>
          <p:cNvSpPr/>
          <p:nvPr/>
        </p:nvSpPr>
        <p:spPr>
          <a:xfrm>
            <a:off x="9054678" y="4801779"/>
            <a:ext cx="1593934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Conclusions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AD44529-CCE6-D2FE-16E9-B2A78EFBB2D2}"/>
              </a:ext>
            </a:extLst>
          </p:cNvPr>
          <p:cNvGrpSpPr/>
          <p:nvPr/>
        </p:nvGrpSpPr>
        <p:grpSpPr>
          <a:xfrm>
            <a:off x="8173613" y="4602057"/>
            <a:ext cx="702782" cy="702780"/>
            <a:chOff x="411643" y="1147772"/>
            <a:chExt cx="514256" cy="514254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646F3AFA-B167-5F63-F0D3-95AD66063029}"/>
                </a:ext>
              </a:extLst>
            </p:cNvPr>
            <p:cNvSpPr/>
            <p:nvPr/>
          </p:nvSpPr>
          <p:spPr>
            <a:xfrm flipH="1">
              <a:off x="411643" y="1147772"/>
              <a:ext cx="514256" cy="51425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4BFEAC1-004E-336A-1456-FA4834F87A92}"/>
                </a:ext>
              </a:extLst>
            </p:cNvPr>
            <p:cNvSpPr/>
            <p:nvPr/>
          </p:nvSpPr>
          <p:spPr>
            <a:xfrm flipH="1">
              <a:off x="446811" y="1182940"/>
              <a:ext cx="443920" cy="443918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09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244916B-1E08-C909-228E-360A676909D4}"/>
              </a:ext>
            </a:extLst>
          </p:cNvPr>
          <p:cNvGrpSpPr/>
          <p:nvPr/>
        </p:nvGrpSpPr>
        <p:grpSpPr>
          <a:xfrm>
            <a:off x="8525004" y="1939110"/>
            <a:ext cx="2211252" cy="1032073"/>
            <a:chOff x="4677110" y="1108710"/>
            <a:chExt cx="4079074" cy="751659"/>
          </a:xfrm>
        </p:grpSpPr>
        <p:sp>
          <p:nvSpPr>
            <p:cNvPr id="95" name="Freeform: Shape 9">
              <a:extLst>
                <a:ext uri="{FF2B5EF4-FFF2-40B4-BE49-F238E27FC236}">
                  <a16:creationId xmlns:a16="http://schemas.microsoft.com/office/drawing/2014/main" id="{8622FCEE-4F48-F048-6F70-1AA6404FD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0"/>
              <a:ext cx="4079074" cy="7516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6" name="Freeform: Shape 12">
              <a:extLst>
                <a:ext uri="{FF2B5EF4-FFF2-40B4-BE49-F238E27FC236}">
                  <a16:creationId xmlns:a16="http://schemas.microsoft.com/office/drawing/2014/main" id="{D47FEDB0-A0E7-E50B-1751-37EC574F7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110" y="1108711"/>
              <a:ext cx="4079074" cy="751658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10000"/>
                  </a:schemeClr>
                </a:gs>
                <a:gs pos="99000">
                  <a:schemeClr val="tx1">
                    <a:lumMod val="10000"/>
                    <a:lumOff val="90000"/>
                    <a:alpha val="30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97" name="Freeform: Shape 81">
            <a:extLst>
              <a:ext uri="{FF2B5EF4-FFF2-40B4-BE49-F238E27FC236}">
                <a16:creationId xmlns:a16="http://schemas.microsoft.com/office/drawing/2014/main" id="{B5B70FF6-FED5-ADBA-6DAD-8A1D8EE218F9}"/>
              </a:ext>
            </a:extLst>
          </p:cNvPr>
          <p:cNvSpPr/>
          <p:nvPr/>
        </p:nvSpPr>
        <p:spPr>
          <a:xfrm>
            <a:off x="8781035" y="2226134"/>
            <a:ext cx="204907" cy="458024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869FDB7-1948-8603-61E1-F290D77EC8D8}"/>
              </a:ext>
            </a:extLst>
          </p:cNvPr>
          <p:cNvSpPr/>
          <p:nvPr/>
        </p:nvSpPr>
        <p:spPr>
          <a:xfrm>
            <a:off x="9035048" y="2174187"/>
            <a:ext cx="1593934" cy="553998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2060"/>
                </a:solidFill>
              </a:rPr>
              <a:t>Programmatic issues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FBE201F-3107-8E3A-4B6D-7042B8622F6E}"/>
              </a:ext>
            </a:extLst>
          </p:cNvPr>
          <p:cNvGrpSpPr/>
          <p:nvPr/>
        </p:nvGrpSpPr>
        <p:grpSpPr>
          <a:xfrm>
            <a:off x="8173613" y="2103756"/>
            <a:ext cx="702782" cy="702780"/>
            <a:chOff x="411643" y="1147772"/>
            <a:chExt cx="514256" cy="514254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53960BA8-94BA-E773-97E5-0B96F09743A3}"/>
                </a:ext>
              </a:extLst>
            </p:cNvPr>
            <p:cNvSpPr/>
            <p:nvPr/>
          </p:nvSpPr>
          <p:spPr>
            <a:xfrm flipH="1">
              <a:off x="411643" y="1147772"/>
              <a:ext cx="514256" cy="51425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A9FD230A-98DF-BE55-6ABB-44880862370D}"/>
                </a:ext>
              </a:extLst>
            </p:cNvPr>
            <p:cNvSpPr/>
            <p:nvPr/>
          </p:nvSpPr>
          <p:spPr>
            <a:xfrm flipH="1">
              <a:off x="446811" y="1182940"/>
              <a:ext cx="443920" cy="443918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07</a:t>
              </a:r>
            </a:p>
          </p:txBody>
        </p:sp>
      </p:grpSp>
      <p:pic>
        <p:nvPicPr>
          <p:cNvPr id="2050" name="Picture 2" descr="Why you need a business roadmap - HR Kilns">
            <a:extLst>
              <a:ext uri="{FF2B5EF4-FFF2-40B4-BE49-F238E27FC236}">
                <a16:creationId xmlns:a16="http://schemas.microsoft.com/office/drawing/2014/main" id="{0BCF2534-A746-EEF3-D1DA-80C22F7DF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2977" y="12709"/>
            <a:ext cx="2799163" cy="1961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19355" y="194871"/>
            <a:ext cx="6475751" cy="536966"/>
          </a:xfrm>
        </p:spPr>
        <p:txBody>
          <a:bodyPr>
            <a:noAutofit/>
          </a:bodyPr>
          <a:lstStyle/>
          <a:p>
            <a:r>
              <a:rPr sz="3600" b="1" dirty="0">
                <a:solidFill>
                  <a:schemeClr val="bg1"/>
                </a:solidFill>
                <a:latin typeface="+mn-lt"/>
              </a:rPr>
              <a:t>Global TB Burden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-788673" y="7095202"/>
            <a:ext cx="5005388" cy="4525963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TB: The world’s leading cause of death from a single infectious agent</a:t>
            </a:r>
          </a:p>
          <a:p>
            <a:endParaRPr lang="en-US" sz="2400" dirty="0"/>
          </a:p>
          <a:p>
            <a:r>
              <a:rPr lang="en-US" sz="2400" dirty="0"/>
              <a:t>2023</a:t>
            </a:r>
            <a:r>
              <a:rPr sz="2400" dirty="0"/>
              <a:t>: 10.</a:t>
            </a:r>
            <a:r>
              <a:rPr lang="en-US" sz="2400" dirty="0"/>
              <a:t>8</a:t>
            </a:r>
            <a:r>
              <a:rPr sz="2400" dirty="0"/>
              <a:t> million new TB cases</a:t>
            </a:r>
            <a:endParaRPr lang="en-US" sz="2400" dirty="0"/>
          </a:p>
          <a:p>
            <a:endParaRPr sz="2400" dirty="0"/>
          </a:p>
          <a:p>
            <a:r>
              <a:rPr sz="2400" dirty="0"/>
              <a:t>1.</a:t>
            </a:r>
            <a:r>
              <a:rPr lang="en-US" sz="2400" dirty="0"/>
              <a:t>25</a:t>
            </a:r>
            <a:r>
              <a:rPr sz="2400" dirty="0"/>
              <a:t> million TB deaths (</a:t>
            </a:r>
            <a:r>
              <a:rPr lang="en-US" sz="2400" dirty="0"/>
              <a:t>including 161,000 PLHIV</a:t>
            </a:r>
            <a:r>
              <a:rPr sz="2400" dirty="0"/>
              <a:t>)</a:t>
            </a:r>
            <a:endParaRPr lang="en-US" sz="2400" dirty="0"/>
          </a:p>
          <a:p>
            <a:endParaRPr lang="en-US" sz="2400" dirty="0"/>
          </a:p>
          <a:p>
            <a:r>
              <a:rPr lang="en-GB" sz="2400" dirty="0"/>
              <a:t>SSA accounts for large share of TB burden (HIV, poverty, undernutrition)</a:t>
            </a:r>
          </a:p>
          <a:p>
            <a:endParaRPr lang="en-US" sz="2400" dirty="0"/>
          </a:p>
          <a:p>
            <a:endParaRPr sz="2400" dirty="0"/>
          </a:p>
          <a:p>
            <a:r>
              <a:rPr sz="2400" dirty="0"/>
              <a:t>End TB targets require multi-faceted interventions</a:t>
            </a:r>
          </a:p>
        </p:txBody>
      </p:sp>
      <p:pic>
        <p:nvPicPr>
          <p:cNvPr id="1026" name="Picture 2" descr="Global tuberculosis report 2024">
            <a:extLst>
              <a:ext uri="{FF2B5EF4-FFF2-40B4-BE49-F238E27FC236}">
                <a16:creationId xmlns:a16="http://schemas.microsoft.com/office/drawing/2014/main" id="{C6D4F3C5-9412-43BD-6F0F-185F3367AA27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266" y="1600200"/>
            <a:ext cx="3132137" cy="442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ACC507-F01F-39C4-6490-A0ADB896962A}"/>
              </a:ext>
            </a:extLst>
          </p:cNvPr>
          <p:cNvSpPr/>
          <p:nvPr/>
        </p:nvSpPr>
        <p:spPr bwMode="auto">
          <a:xfrm>
            <a:off x="432942" y="2637384"/>
            <a:ext cx="2352864" cy="9950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867" b="1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9C86FD-9BFD-BF82-906A-9A763F3274B2}"/>
              </a:ext>
            </a:extLst>
          </p:cNvPr>
          <p:cNvSpPr/>
          <p:nvPr/>
        </p:nvSpPr>
        <p:spPr bwMode="auto">
          <a:xfrm>
            <a:off x="432942" y="1197167"/>
            <a:ext cx="2352864" cy="812266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TB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C615DF-4DE5-1228-B176-597E63C10C29}"/>
              </a:ext>
            </a:extLst>
          </p:cNvPr>
          <p:cNvSpPr/>
          <p:nvPr/>
        </p:nvSpPr>
        <p:spPr bwMode="auto">
          <a:xfrm>
            <a:off x="2932568" y="2641406"/>
            <a:ext cx="2352864" cy="9926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867" b="1" dirty="0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2407DF-4E49-F6C0-4655-DD46182E76C0}"/>
              </a:ext>
            </a:extLst>
          </p:cNvPr>
          <p:cNvSpPr/>
          <p:nvPr/>
        </p:nvSpPr>
        <p:spPr bwMode="auto">
          <a:xfrm>
            <a:off x="2932568" y="1190535"/>
            <a:ext cx="2352864" cy="812266"/>
          </a:xfrm>
          <a:prstGeom prst="rect">
            <a:avLst/>
          </a:pr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10.8 Million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DC8926-A464-89E7-243A-1E622F2D8B1B}"/>
              </a:ext>
            </a:extLst>
          </p:cNvPr>
          <p:cNvSpPr/>
          <p:nvPr/>
        </p:nvSpPr>
        <p:spPr bwMode="auto">
          <a:xfrm>
            <a:off x="5435037" y="2663252"/>
            <a:ext cx="2352864" cy="9775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867" b="1" dirty="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ABC944-9C3B-2439-F939-20D931F49356}"/>
              </a:ext>
            </a:extLst>
          </p:cNvPr>
          <p:cNvSpPr/>
          <p:nvPr/>
        </p:nvSpPr>
        <p:spPr bwMode="auto">
          <a:xfrm>
            <a:off x="5409864" y="1201495"/>
            <a:ext cx="2352864" cy="812266"/>
          </a:xfrm>
          <a:prstGeom prst="rect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1.25 Million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2E6F74-D47F-3E7D-99F5-1015F757C7B2}"/>
              </a:ext>
            </a:extLst>
          </p:cNvPr>
          <p:cNvSpPr txBox="1"/>
          <p:nvPr/>
        </p:nvSpPr>
        <p:spPr>
          <a:xfrm>
            <a:off x="2932568" y="2813496"/>
            <a:ext cx="2318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/>
              <a:t>New TB cases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24DA3F-C75F-B713-A56F-B0773B7650DC}"/>
              </a:ext>
            </a:extLst>
          </p:cNvPr>
          <p:cNvSpPr txBox="1"/>
          <p:nvPr/>
        </p:nvSpPr>
        <p:spPr>
          <a:xfrm>
            <a:off x="432942" y="2700790"/>
            <a:ext cx="22992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The world’s leading cause of death from a single infectious agent</a:t>
            </a:r>
            <a:endParaRPr lang="en-KE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D2DA33-F425-FD93-C695-E1B7EBA81E78}"/>
              </a:ext>
            </a:extLst>
          </p:cNvPr>
          <p:cNvSpPr txBox="1"/>
          <p:nvPr/>
        </p:nvSpPr>
        <p:spPr>
          <a:xfrm>
            <a:off x="5431274" y="2785095"/>
            <a:ext cx="2331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/>
              <a:t>TB deaths (including 161,000 PLHIV)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A70B32-910C-BC2B-467F-35ADF9A9F7ED}"/>
              </a:ext>
            </a:extLst>
          </p:cNvPr>
          <p:cNvSpPr/>
          <p:nvPr/>
        </p:nvSpPr>
        <p:spPr bwMode="auto">
          <a:xfrm>
            <a:off x="1368561" y="5409332"/>
            <a:ext cx="2352864" cy="9950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867" b="1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313571-B449-0A79-6B02-DBE86EBE03B9}"/>
              </a:ext>
            </a:extLst>
          </p:cNvPr>
          <p:cNvSpPr/>
          <p:nvPr/>
        </p:nvSpPr>
        <p:spPr bwMode="auto">
          <a:xfrm>
            <a:off x="1368561" y="3969115"/>
            <a:ext cx="2352864" cy="81226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SSA Accounts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986BA8-A8D0-189A-052A-6C5C3FDEF33C}"/>
              </a:ext>
            </a:extLst>
          </p:cNvPr>
          <p:cNvSpPr/>
          <p:nvPr/>
        </p:nvSpPr>
        <p:spPr bwMode="auto">
          <a:xfrm>
            <a:off x="4232437" y="3983969"/>
            <a:ext cx="2352864" cy="812266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END TB Targets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252867-989F-4EC2-DDB9-A152C883813C}"/>
              </a:ext>
            </a:extLst>
          </p:cNvPr>
          <p:cNvSpPr txBox="1"/>
          <p:nvPr/>
        </p:nvSpPr>
        <p:spPr>
          <a:xfrm>
            <a:off x="4224125" y="5449833"/>
            <a:ext cx="2371477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600" dirty="0"/>
              <a:t>End TB targets require multi-faceted interventions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7BF18C-F82E-957B-E49A-C263BAE86548}"/>
              </a:ext>
            </a:extLst>
          </p:cNvPr>
          <p:cNvSpPr txBox="1"/>
          <p:nvPr/>
        </p:nvSpPr>
        <p:spPr>
          <a:xfrm>
            <a:off x="1355298" y="5490136"/>
            <a:ext cx="22849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/>
              <a:t>SSA accounts for large share of TB burden (HIV, poverty, undernutrition)</a:t>
            </a:r>
          </a:p>
        </p:txBody>
      </p:sp>
      <p:pic>
        <p:nvPicPr>
          <p:cNvPr id="26" name="Graphic 25" descr="Lungs with virus with solid fill">
            <a:extLst>
              <a:ext uri="{FF2B5EF4-FFF2-40B4-BE49-F238E27FC236}">
                <a16:creationId xmlns:a16="http://schemas.microsoft.com/office/drawing/2014/main" id="{9C0F88EA-69D9-A52B-5BD1-1C0385FF5D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2012" y="1949219"/>
            <a:ext cx="719138" cy="719138"/>
          </a:xfrm>
          <a:prstGeom prst="rect">
            <a:avLst/>
          </a:prstGeom>
        </p:spPr>
      </p:pic>
      <p:pic>
        <p:nvPicPr>
          <p:cNvPr id="28" name="Graphic 27" descr="Lungs with solid fill">
            <a:extLst>
              <a:ext uri="{FF2B5EF4-FFF2-40B4-BE49-F238E27FC236}">
                <a16:creationId xmlns:a16="http://schemas.microsoft.com/office/drawing/2014/main" id="{1D4E59B4-938C-A87F-1F2E-919CBCE1DF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3629" y="1955038"/>
            <a:ext cx="719138" cy="719138"/>
          </a:xfrm>
          <a:prstGeom prst="rect">
            <a:avLst/>
          </a:prstGeom>
        </p:spPr>
      </p:pic>
      <p:pic>
        <p:nvPicPr>
          <p:cNvPr id="30" name="Graphic 29" descr="Gravestone with solid fill">
            <a:extLst>
              <a:ext uri="{FF2B5EF4-FFF2-40B4-BE49-F238E27FC236}">
                <a16:creationId xmlns:a16="http://schemas.microsoft.com/office/drawing/2014/main" id="{7B1A03DE-BFAF-CB25-72A8-2151C402D3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8844" y="1990907"/>
            <a:ext cx="719138" cy="719138"/>
          </a:xfrm>
          <a:prstGeom prst="rect">
            <a:avLst/>
          </a:prstGeom>
        </p:spPr>
      </p:pic>
      <p:pic>
        <p:nvPicPr>
          <p:cNvPr id="34" name="Graphic 33" descr="Medicine with solid fill">
            <a:extLst>
              <a:ext uri="{FF2B5EF4-FFF2-40B4-BE49-F238E27FC236}">
                <a16:creationId xmlns:a16="http://schemas.microsoft.com/office/drawing/2014/main" id="{A17DD9B4-8C94-B3FD-7346-360934C856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40215" y="4795705"/>
            <a:ext cx="659200" cy="659200"/>
          </a:xfrm>
          <a:prstGeom prst="rect">
            <a:avLst/>
          </a:prstGeom>
        </p:spPr>
      </p:pic>
      <p:pic>
        <p:nvPicPr>
          <p:cNvPr id="36" name="Graphic 35" descr="Target with solid fill">
            <a:extLst>
              <a:ext uri="{FF2B5EF4-FFF2-40B4-BE49-F238E27FC236}">
                <a16:creationId xmlns:a16="http://schemas.microsoft.com/office/drawing/2014/main" id="{5E1E5D13-5A66-CA76-8CB4-E00826C694A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22275" y="4836088"/>
            <a:ext cx="640931" cy="6409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28824" y="130260"/>
            <a:ext cx="6096000" cy="64457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TB in </a:t>
            </a:r>
            <a:r>
              <a:rPr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Kenya</a:t>
            </a: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Data 2023</a:t>
            </a:r>
            <a:endParaRPr sz="36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0911812-0297-1C3D-DF7F-2170B91FA30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328825" y="1074158"/>
            <a:ext cx="5767176" cy="27670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DAEF06-A5F2-C896-2900-E41555D40F66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2933663" y="3960727"/>
            <a:ext cx="6982321" cy="27670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B655CD-1B8B-6E15-FA52-FC87FA09A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903" y="1074158"/>
            <a:ext cx="5767177" cy="27670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46658F8-F112-91C0-132C-01C9B9FEB0FE}"/>
              </a:ext>
            </a:extLst>
          </p:cNvPr>
          <p:cNvSpPr/>
          <p:nvPr/>
        </p:nvSpPr>
        <p:spPr>
          <a:xfrm>
            <a:off x="3035808" y="3108960"/>
            <a:ext cx="164592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13F8D62-8B68-927F-CEF3-CF3EFBBAA6B7}"/>
              </a:ext>
            </a:extLst>
          </p:cNvPr>
          <p:cNvSpPr/>
          <p:nvPr/>
        </p:nvSpPr>
        <p:spPr>
          <a:xfrm>
            <a:off x="4291584" y="4754880"/>
            <a:ext cx="2133240" cy="4145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A6627DF-EF7C-1586-C6AD-63E9A98BF3ED}"/>
              </a:ext>
            </a:extLst>
          </p:cNvPr>
          <p:cNvSpPr/>
          <p:nvPr/>
        </p:nvSpPr>
        <p:spPr>
          <a:xfrm>
            <a:off x="3035808" y="2145792"/>
            <a:ext cx="1645920" cy="34137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B7C756-3716-B879-A192-F5A1CEB12017}"/>
              </a:ext>
            </a:extLst>
          </p:cNvPr>
          <p:cNvSpPr/>
          <p:nvPr/>
        </p:nvSpPr>
        <p:spPr>
          <a:xfrm>
            <a:off x="11070336" y="1377696"/>
            <a:ext cx="956744" cy="31089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3DA974-0BCB-D99C-12D3-F3582BAFB84B}"/>
              </a:ext>
            </a:extLst>
          </p:cNvPr>
          <p:cNvSpPr txBox="1"/>
          <p:nvPr/>
        </p:nvSpPr>
        <p:spPr>
          <a:xfrm>
            <a:off x="10548481" y="4306514"/>
            <a:ext cx="1450848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KE" dirty="0">
                <a:ln>
                  <a:solidFill>
                    <a:sysClr val="windowText" lastClr="000000"/>
                  </a:solidFill>
                </a:ln>
              </a:rPr>
              <a:t>Still missing 24% of estimated incident cases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BA1B5F-2E7B-9932-304A-7FF0D5B17F09}"/>
              </a:ext>
            </a:extLst>
          </p:cNvPr>
          <p:cNvSpPr txBox="1"/>
          <p:nvPr/>
        </p:nvSpPr>
        <p:spPr>
          <a:xfrm>
            <a:off x="192671" y="4155421"/>
            <a:ext cx="24164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E" dirty="0"/>
              <a:t>Kenya </a:t>
            </a:r>
          </a:p>
          <a:p>
            <a:r>
              <a:rPr lang="en-KE" dirty="0"/>
              <a:t>Great strides in </a:t>
            </a:r>
            <a:r>
              <a:rPr lang="en-KE" b="1" dirty="0"/>
              <a:t>incidence</a:t>
            </a:r>
            <a:r>
              <a:rPr lang="en-KE" dirty="0"/>
              <a:t> </a:t>
            </a:r>
          </a:p>
          <a:p>
            <a:r>
              <a:rPr lang="en-KE" dirty="0"/>
              <a:t>and </a:t>
            </a:r>
            <a:r>
              <a:rPr lang="en-KE" b="1" dirty="0"/>
              <a:t>mortality</a:t>
            </a:r>
            <a:r>
              <a:rPr lang="en-KE" dirty="0"/>
              <a:t> End TB targets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F513244-F830-5214-1758-6C920CA3A935}"/>
              </a:ext>
            </a:extLst>
          </p:cNvPr>
          <p:cNvSpPr/>
          <p:nvPr/>
        </p:nvSpPr>
        <p:spPr>
          <a:xfrm>
            <a:off x="195072" y="4157472"/>
            <a:ext cx="2106094" cy="1626370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EDD5-C9A2-7E47-496A-E1588676F4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500" y="160221"/>
            <a:ext cx="9518754" cy="583063"/>
          </a:xfrm>
        </p:spPr>
        <p:txBody>
          <a:bodyPr>
            <a:normAutofit/>
          </a:bodyPr>
          <a:lstStyle/>
          <a:p>
            <a:r>
              <a:rPr lang="en-GB" sz="2700" b="1" dirty="0">
                <a:solidFill>
                  <a:schemeClr val="bg1"/>
                </a:solidFill>
                <a:latin typeface="+mn-lt"/>
              </a:rPr>
              <a:t>Why Malnutrition Matters; Malnutrition as a risk Factor for TB</a:t>
            </a:r>
            <a:endParaRPr lang="en-KE" sz="27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3E82E4-652F-2437-325A-77E2FE06EA3C}"/>
              </a:ext>
            </a:extLst>
          </p:cNvPr>
          <p:cNvSpPr/>
          <p:nvPr/>
        </p:nvSpPr>
        <p:spPr>
          <a:xfrm>
            <a:off x="127567" y="2258775"/>
            <a:ext cx="2001170" cy="3564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B12584-866B-9F0F-2B9A-6B05DD693CF6}"/>
              </a:ext>
            </a:extLst>
          </p:cNvPr>
          <p:cNvSpPr/>
          <p:nvPr/>
        </p:nvSpPr>
        <p:spPr>
          <a:xfrm>
            <a:off x="2169917" y="2214137"/>
            <a:ext cx="2001170" cy="35643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15C4E-715E-F10C-2FD3-BA455C1CE025}"/>
              </a:ext>
            </a:extLst>
          </p:cNvPr>
          <p:cNvSpPr/>
          <p:nvPr/>
        </p:nvSpPr>
        <p:spPr>
          <a:xfrm>
            <a:off x="4264002" y="2214137"/>
            <a:ext cx="2001170" cy="3564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64892F-088A-EA71-FCE5-E8C3B3478492}"/>
              </a:ext>
            </a:extLst>
          </p:cNvPr>
          <p:cNvSpPr/>
          <p:nvPr/>
        </p:nvSpPr>
        <p:spPr>
          <a:xfrm>
            <a:off x="6347532" y="2229291"/>
            <a:ext cx="2001170" cy="35643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A10AB2-C1D3-C3FC-45D3-3BAD9CA2DCBA}"/>
              </a:ext>
            </a:extLst>
          </p:cNvPr>
          <p:cNvSpPr/>
          <p:nvPr/>
        </p:nvSpPr>
        <p:spPr>
          <a:xfrm>
            <a:off x="8532220" y="2257283"/>
            <a:ext cx="2001170" cy="35643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6EB44F-163A-2E4A-7DF0-C9067208CA21}"/>
              </a:ext>
            </a:extLst>
          </p:cNvPr>
          <p:cNvCxnSpPr>
            <a:cxnSpLocks/>
          </p:cNvCxnSpPr>
          <p:nvPr/>
        </p:nvCxnSpPr>
        <p:spPr>
          <a:xfrm>
            <a:off x="506079" y="1034914"/>
            <a:ext cx="11157817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3C70F3-AEB7-B004-FE9E-E8D8392FD5A9}"/>
              </a:ext>
            </a:extLst>
          </p:cNvPr>
          <p:cNvCxnSpPr>
            <a:cxnSpLocks/>
          </p:cNvCxnSpPr>
          <p:nvPr/>
        </p:nvCxnSpPr>
        <p:spPr>
          <a:xfrm>
            <a:off x="974679" y="1609506"/>
            <a:ext cx="0" cy="6195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23">
            <a:extLst>
              <a:ext uri="{FF2B5EF4-FFF2-40B4-BE49-F238E27FC236}">
                <a16:creationId xmlns:a16="http://schemas.microsoft.com/office/drawing/2014/main" id="{325A63E6-ED8A-A2D7-8C2A-2A390526AAD9}"/>
              </a:ext>
            </a:extLst>
          </p:cNvPr>
          <p:cNvSpPr/>
          <p:nvPr/>
        </p:nvSpPr>
        <p:spPr bwMode="auto">
          <a:xfrm>
            <a:off x="63500" y="1077212"/>
            <a:ext cx="1822358" cy="575148"/>
          </a:xfrm>
          <a:custGeom>
            <a:avLst/>
            <a:gdLst>
              <a:gd name="connsiteX0" fmla="*/ 0 w 1366648"/>
              <a:gd name="connsiteY0" fmla="*/ 0 h 462674"/>
              <a:gd name="connsiteX1" fmla="*/ 1366648 w 1366648"/>
              <a:gd name="connsiteY1" fmla="*/ 0 h 462674"/>
              <a:gd name="connsiteX2" fmla="*/ 1024641 w 1366648"/>
              <a:gd name="connsiteY2" fmla="*/ 462674 h 462674"/>
              <a:gd name="connsiteX3" fmla="*/ 342696 w 1366648"/>
              <a:gd name="connsiteY3" fmla="*/ 459916 h 46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6648" h="462674">
                <a:moveTo>
                  <a:pt x="0" y="0"/>
                </a:moveTo>
                <a:lnTo>
                  <a:pt x="1366648" y="0"/>
                </a:lnTo>
                <a:lnTo>
                  <a:pt x="1024641" y="462674"/>
                </a:lnTo>
                <a:lnTo>
                  <a:pt x="342696" y="459916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0A3812-8131-793A-0DFB-AA349BB415B2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169296" y="1611060"/>
            <a:ext cx="1206" cy="60307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23">
            <a:extLst>
              <a:ext uri="{FF2B5EF4-FFF2-40B4-BE49-F238E27FC236}">
                <a16:creationId xmlns:a16="http://schemas.microsoft.com/office/drawing/2014/main" id="{3F48A07A-4520-BE16-BE12-9E4AF2E20987}"/>
              </a:ext>
            </a:extLst>
          </p:cNvPr>
          <p:cNvSpPr/>
          <p:nvPr/>
        </p:nvSpPr>
        <p:spPr bwMode="auto">
          <a:xfrm>
            <a:off x="2314906" y="1038971"/>
            <a:ext cx="1822358" cy="575148"/>
          </a:xfrm>
          <a:custGeom>
            <a:avLst/>
            <a:gdLst>
              <a:gd name="connsiteX0" fmla="*/ 0 w 1366648"/>
              <a:gd name="connsiteY0" fmla="*/ 0 h 462674"/>
              <a:gd name="connsiteX1" fmla="*/ 1366648 w 1366648"/>
              <a:gd name="connsiteY1" fmla="*/ 0 h 462674"/>
              <a:gd name="connsiteX2" fmla="*/ 1024641 w 1366648"/>
              <a:gd name="connsiteY2" fmla="*/ 462674 h 462674"/>
              <a:gd name="connsiteX3" fmla="*/ 342696 w 1366648"/>
              <a:gd name="connsiteY3" fmla="*/ 459916 h 46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6648" h="462674">
                <a:moveTo>
                  <a:pt x="0" y="0"/>
                </a:moveTo>
                <a:lnTo>
                  <a:pt x="1366648" y="0"/>
                </a:lnTo>
                <a:lnTo>
                  <a:pt x="1024641" y="462674"/>
                </a:lnTo>
                <a:lnTo>
                  <a:pt x="342696" y="459916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F42B88-4C22-A9B0-F87D-1124D9A04BA7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5264587" y="1596372"/>
            <a:ext cx="6851" cy="6177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23">
            <a:extLst>
              <a:ext uri="{FF2B5EF4-FFF2-40B4-BE49-F238E27FC236}">
                <a16:creationId xmlns:a16="http://schemas.microsoft.com/office/drawing/2014/main" id="{3A77DAC9-5E62-1A53-6747-C21870A7492E}"/>
              </a:ext>
            </a:extLst>
          </p:cNvPr>
          <p:cNvSpPr/>
          <p:nvPr/>
        </p:nvSpPr>
        <p:spPr bwMode="auto">
          <a:xfrm>
            <a:off x="4363260" y="1081524"/>
            <a:ext cx="1822358" cy="575148"/>
          </a:xfrm>
          <a:custGeom>
            <a:avLst/>
            <a:gdLst>
              <a:gd name="connsiteX0" fmla="*/ 0 w 1366648"/>
              <a:gd name="connsiteY0" fmla="*/ 0 h 462674"/>
              <a:gd name="connsiteX1" fmla="*/ 1366648 w 1366648"/>
              <a:gd name="connsiteY1" fmla="*/ 0 h 462674"/>
              <a:gd name="connsiteX2" fmla="*/ 1024641 w 1366648"/>
              <a:gd name="connsiteY2" fmla="*/ 462674 h 462674"/>
              <a:gd name="connsiteX3" fmla="*/ 342696 w 1366648"/>
              <a:gd name="connsiteY3" fmla="*/ 459916 h 46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6648" h="462674">
                <a:moveTo>
                  <a:pt x="0" y="0"/>
                </a:moveTo>
                <a:lnTo>
                  <a:pt x="1366648" y="0"/>
                </a:lnTo>
                <a:lnTo>
                  <a:pt x="1024641" y="462674"/>
                </a:lnTo>
                <a:lnTo>
                  <a:pt x="342696" y="459916"/>
                </a:ln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CF99AF-99C9-7B65-37D7-84B78EBC8E6C}"/>
              </a:ext>
            </a:extLst>
          </p:cNvPr>
          <p:cNvCxnSpPr>
            <a:cxnSpLocks/>
          </p:cNvCxnSpPr>
          <p:nvPr/>
        </p:nvCxnSpPr>
        <p:spPr>
          <a:xfrm>
            <a:off x="7352682" y="1609506"/>
            <a:ext cx="0" cy="6052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23">
            <a:extLst>
              <a:ext uri="{FF2B5EF4-FFF2-40B4-BE49-F238E27FC236}">
                <a16:creationId xmlns:a16="http://schemas.microsoft.com/office/drawing/2014/main" id="{BBD1E4BA-F3F1-7148-7CBE-E41AA04B174E}"/>
              </a:ext>
            </a:extLst>
          </p:cNvPr>
          <p:cNvSpPr/>
          <p:nvPr/>
        </p:nvSpPr>
        <p:spPr bwMode="auto">
          <a:xfrm>
            <a:off x="6436938" y="1081524"/>
            <a:ext cx="1822358" cy="575148"/>
          </a:xfrm>
          <a:custGeom>
            <a:avLst/>
            <a:gdLst>
              <a:gd name="connsiteX0" fmla="*/ 0 w 1366648"/>
              <a:gd name="connsiteY0" fmla="*/ 0 h 462674"/>
              <a:gd name="connsiteX1" fmla="*/ 1366648 w 1366648"/>
              <a:gd name="connsiteY1" fmla="*/ 0 h 462674"/>
              <a:gd name="connsiteX2" fmla="*/ 1024641 w 1366648"/>
              <a:gd name="connsiteY2" fmla="*/ 462674 h 462674"/>
              <a:gd name="connsiteX3" fmla="*/ 342696 w 1366648"/>
              <a:gd name="connsiteY3" fmla="*/ 459916 h 46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6648" h="462674">
                <a:moveTo>
                  <a:pt x="0" y="0"/>
                </a:moveTo>
                <a:lnTo>
                  <a:pt x="1366648" y="0"/>
                </a:lnTo>
                <a:lnTo>
                  <a:pt x="1024641" y="462674"/>
                </a:lnTo>
                <a:lnTo>
                  <a:pt x="342696" y="459916"/>
                </a:lnTo>
                <a:close/>
              </a:path>
            </a:pathLst>
          </a:cu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4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1FA709-9C8C-A4E3-2B58-B9567732D70E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529577" y="1654206"/>
            <a:ext cx="3228" cy="60307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23">
            <a:extLst>
              <a:ext uri="{FF2B5EF4-FFF2-40B4-BE49-F238E27FC236}">
                <a16:creationId xmlns:a16="http://schemas.microsoft.com/office/drawing/2014/main" id="{11DB2FD3-97ED-96B4-5386-65B16BB9251B}"/>
              </a:ext>
            </a:extLst>
          </p:cNvPr>
          <p:cNvSpPr/>
          <p:nvPr/>
        </p:nvSpPr>
        <p:spPr bwMode="auto">
          <a:xfrm>
            <a:off x="8550921" y="1038971"/>
            <a:ext cx="1822358" cy="575148"/>
          </a:xfrm>
          <a:custGeom>
            <a:avLst/>
            <a:gdLst>
              <a:gd name="connsiteX0" fmla="*/ 0 w 1366648"/>
              <a:gd name="connsiteY0" fmla="*/ 0 h 462674"/>
              <a:gd name="connsiteX1" fmla="*/ 1366648 w 1366648"/>
              <a:gd name="connsiteY1" fmla="*/ 0 h 462674"/>
              <a:gd name="connsiteX2" fmla="*/ 1024641 w 1366648"/>
              <a:gd name="connsiteY2" fmla="*/ 462674 h 462674"/>
              <a:gd name="connsiteX3" fmla="*/ 342696 w 1366648"/>
              <a:gd name="connsiteY3" fmla="*/ 459916 h 46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6648" h="462674">
                <a:moveTo>
                  <a:pt x="0" y="0"/>
                </a:moveTo>
                <a:lnTo>
                  <a:pt x="1366648" y="0"/>
                </a:lnTo>
                <a:lnTo>
                  <a:pt x="1024641" y="462674"/>
                </a:lnTo>
                <a:lnTo>
                  <a:pt x="342696" y="459916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BA81B9-7F8F-4A7D-5ABF-86D5B8883C3A}"/>
              </a:ext>
            </a:extLst>
          </p:cNvPr>
          <p:cNvSpPr txBox="1"/>
          <p:nvPr/>
        </p:nvSpPr>
        <p:spPr>
          <a:xfrm>
            <a:off x="61590" y="3066721"/>
            <a:ext cx="2001170" cy="23083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600" dirty="0">
                <a:solidFill>
                  <a:srgbClr val="002060"/>
                </a:solidFill>
                <a:latin typeface="Arial" panose="020B0604020202020204" pitchFamily="34" charset="0"/>
              </a:rPr>
              <a:t>Undernutrition is not just a </a:t>
            </a:r>
            <a:r>
              <a:rPr lang="en-KE" altLang="en-KE" sz="1600" b="1" dirty="0">
                <a:solidFill>
                  <a:srgbClr val="002060"/>
                </a:solidFill>
                <a:latin typeface="Arial" panose="020B0604020202020204" pitchFamily="34" charset="0"/>
              </a:rPr>
              <a:t>comorbidity</a:t>
            </a:r>
            <a:r>
              <a:rPr lang="en-KE" altLang="en-KE" sz="1600" dirty="0">
                <a:solidFill>
                  <a:srgbClr val="002060"/>
                </a:solidFill>
                <a:latin typeface="Arial" panose="020B0604020202020204" pitchFamily="34" charset="0"/>
              </a:rPr>
              <a:t>: it is a strong </a:t>
            </a:r>
            <a:r>
              <a:rPr lang="en-KE" altLang="en-KE" sz="1600" b="1" dirty="0">
                <a:solidFill>
                  <a:srgbClr val="002060"/>
                </a:solidFill>
                <a:latin typeface="Arial" panose="020B0604020202020204" pitchFamily="34" charset="0"/>
              </a:rPr>
              <a:t>risk factor</a:t>
            </a:r>
            <a:r>
              <a:rPr lang="en-KE" altLang="en-KE" sz="1600" dirty="0">
                <a:solidFill>
                  <a:srgbClr val="002060"/>
                </a:solidFill>
                <a:latin typeface="Arial" panose="020B0604020202020204" pitchFamily="34" charset="0"/>
              </a:rPr>
              <a:t> for developing active TB globally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KE" altLang="en-KE" sz="16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600" i="1" dirty="0">
                <a:solidFill>
                  <a:srgbClr val="002060"/>
                </a:solidFill>
                <a:latin typeface="Arial" panose="020B0604020202020204" pitchFamily="34" charset="0"/>
              </a:rPr>
              <a:t>WHO, 2024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KE" altLang="en-KE" sz="1600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40166D-589B-68E6-C94B-C4C90B270628}"/>
              </a:ext>
            </a:extLst>
          </p:cNvPr>
          <p:cNvSpPr txBox="1"/>
          <p:nvPr/>
        </p:nvSpPr>
        <p:spPr>
          <a:xfrm>
            <a:off x="2193322" y="3088351"/>
            <a:ext cx="1994315" cy="329320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600" dirty="0">
                <a:solidFill>
                  <a:srgbClr val="002060"/>
                </a:solidFill>
                <a:latin typeface="Arial" panose="020B0604020202020204" pitchFamily="34" charset="0"/>
              </a:rPr>
              <a:t>An estimated ~1.9 million TB cases globally are </a:t>
            </a:r>
            <a:r>
              <a:rPr lang="en-KE" altLang="en-KE" sz="1600" b="1" dirty="0">
                <a:solidFill>
                  <a:srgbClr val="002060"/>
                </a:solidFill>
                <a:latin typeface="Arial" panose="020B0604020202020204" pitchFamily="34" charset="0"/>
              </a:rPr>
              <a:t>attributable to undernutrition </a:t>
            </a:r>
            <a:r>
              <a:rPr lang="en-KE" altLang="en-KE" sz="1600" dirty="0">
                <a:solidFill>
                  <a:srgbClr val="002060"/>
                </a:solidFill>
                <a:latin typeface="Arial" panose="020B0604020202020204" pitchFamily="34" charset="0"/>
              </a:rPr>
              <a:t>(i.e., population attributable fraction)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KE" altLang="en-KE" sz="16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KE" altLang="en-KE" sz="1600" i="1" dirty="0">
                <a:solidFill>
                  <a:srgbClr val="002060"/>
                </a:solidFill>
                <a:latin typeface="Arial" panose="020B0604020202020204" pitchFamily="34" charset="0"/>
              </a:rPr>
              <a:t>Wagnew et al., 2023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KE" altLang="en-KE" sz="16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KE" altLang="en-KE" sz="16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600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26B35C-856F-D5E4-95A4-AB55FB035162}"/>
              </a:ext>
            </a:extLst>
          </p:cNvPr>
          <p:cNvSpPr txBox="1"/>
          <p:nvPr/>
        </p:nvSpPr>
        <p:spPr>
          <a:xfrm>
            <a:off x="4187637" y="3226616"/>
            <a:ext cx="2005944" cy="209288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600" dirty="0">
                <a:solidFill>
                  <a:srgbClr val="002060"/>
                </a:solidFill>
                <a:latin typeface="Arial" panose="020B0604020202020204" pitchFamily="34" charset="0"/>
              </a:rPr>
              <a:t>Low BMI (&lt; 18.5 kg/m²) associated with </a:t>
            </a:r>
            <a:r>
              <a:rPr lang="en-KE" altLang="en-KE" sz="1600" b="1" dirty="0">
                <a:solidFill>
                  <a:srgbClr val="002060"/>
                </a:solidFill>
                <a:latin typeface="Arial" panose="020B0604020202020204" pitchFamily="34" charset="0"/>
              </a:rPr>
              <a:t>2–3× increased risk of progression </a:t>
            </a:r>
            <a:r>
              <a:rPr lang="en-KE" altLang="en-KE" sz="1600" dirty="0">
                <a:solidFill>
                  <a:srgbClr val="002060"/>
                </a:solidFill>
                <a:latin typeface="Arial" panose="020B0604020202020204" pitchFamily="34" charset="0"/>
              </a:rPr>
              <a:t>from latent to active TB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KE" altLang="en-KE" sz="16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KE" sz="1600" i="1" dirty="0">
                <a:solidFill>
                  <a:srgbClr val="002060"/>
                </a:solidFill>
                <a:latin typeface="Arial" panose="020B0604020202020204" pitchFamily="34" charset="0"/>
              </a:rPr>
              <a:t>Cintron </a:t>
            </a:r>
            <a:r>
              <a:rPr lang="en-GB" i="1" dirty="0"/>
              <a:t>et al., 2021</a:t>
            </a:r>
            <a:r>
              <a:rPr lang="en-KE" altLang="en-KE" sz="1600" i="1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9A7583-AC2E-478A-C063-79F75013B6EE}"/>
              </a:ext>
            </a:extLst>
          </p:cNvPr>
          <p:cNvSpPr txBox="1"/>
          <p:nvPr/>
        </p:nvSpPr>
        <p:spPr>
          <a:xfrm>
            <a:off x="8449004" y="2364841"/>
            <a:ext cx="2001169" cy="35394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600" dirty="0">
                <a:solidFill>
                  <a:srgbClr val="002060"/>
                </a:solidFill>
                <a:latin typeface="Arial" panose="020B0604020202020204" pitchFamily="34" charset="0"/>
              </a:rPr>
              <a:t>Historical “natural experiments”: improvements in nutrition preceded declines in TB incidence in early 20th century Europe; prisoners-of-war who received additional </a:t>
            </a:r>
            <a:r>
              <a:rPr lang="en-KE" altLang="en-KE" sz="1600" b="1" dirty="0">
                <a:solidFill>
                  <a:srgbClr val="002060"/>
                </a:solidFill>
                <a:latin typeface="Arial" panose="020B0604020202020204" pitchFamily="34" charset="0"/>
              </a:rPr>
              <a:t>rations had far lower TB rates than those who did not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600" i="1" dirty="0">
                <a:solidFill>
                  <a:srgbClr val="002060"/>
                </a:solidFill>
                <a:latin typeface="Arial" panose="020B0604020202020204" pitchFamily="34" charset="0"/>
              </a:rPr>
              <a:t>‘”Food as vaccine”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8747D5-0C2E-B72E-5350-F9931836032E}"/>
              </a:ext>
            </a:extLst>
          </p:cNvPr>
          <p:cNvSpPr txBox="1"/>
          <p:nvPr/>
        </p:nvSpPr>
        <p:spPr>
          <a:xfrm>
            <a:off x="6347532" y="3703903"/>
            <a:ext cx="200117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600" dirty="0">
                <a:solidFill>
                  <a:srgbClr val="002060"/>
                </a:solidFill>
                <a:latin typeface="Arial" panose="020B0604020202020204" pitchFamily="34" charset="0"/>
              </a:rPr>
              <a:t>Common risk factor for </a:t>
            </a:r>
            <a:r>
              <a:rPr lang="en-KE" altLang="en-KE" sz="1600" b="1" dirty="0">
                <a:solidFill>
                  <a:srgbClr val="002060"/>
                </a:solidFill>
                <a:latin typeface="Arial" panose="020B0604020202020204" pitchFamily="34" charset="0"/>
              </a:rPr>
              <a:t>mortality</a:t>
            </a:r>
          </a:p>
        </p:txBody>
      </p:sp>
    </p:spTree>
    <p:extLst>
      <p:ext uri="{BB962C8B-B14F-4D97-AF65-F5344CB8AC3E}">
        <p14:creationId xmlns:p14="http://schemas.microsoft.com/office/powerpoint/2010/main" val="3447714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Treating Tuberculosis at the World's Sanatorium - American Jewish  Historical Society">
            <a:extLst>
              <a:ext uri="{FF2B5EF4-FFF2-40B4-BE49-F238E27FC236}">
                <a16:creationId xmlns:a16="http://schemas.microsoft.com/office/drawing/2014/main" id="{D31C9F02-3746-D3BF-FAA0-17E73F6CA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428" y="2921804"/>
            <a:ext cx="2812270" cy="1807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969969-8278-64F7-3A30-586E48017921}"/>
              </a:ext>
            </a:extLst>
          </p:cNvPr>
          <p:cNvSpPr txBox="1"/>
          <p:nvPr/>
        </p:nvSpPr>
        <p:spPr>
          <a:xfrm>
            <a:off x="637954" y="204828"/>
            <a:ext cx="6294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E" sz="2400" b="1" dirty="0">
                <a:solidFill>
                  <a:schemeClr val="bg1"/>
                </a:solidFill>
              </a:rPr>
              <a:t>Food: The TB vaccine we already have</a:t>
            </a:r>
          </a:p>
        </p:txBody>
      </p:sp>
      <p:pic>
        <p:nvPicPr>
          <p:cNvPr id="4100" name="Picture 4" descr="Tuberculosis in NewFrance, Quebec and Canada — The French-Canadian  Genealogist">
            <a:extLst>
              <a:ext uri="{FF2B5EF4-FFF2-40B4-BE49-F238E27FC236}">
                <a16:creationId xmlns:a16="http://schemas.microsoft.com/office/drawing/2014/main" id="{280F6BD9-2198-CF12-76E5-996841301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603" y="956935"/>
            <a:ext cx="3532346" cy="183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11124D-0063-A966-8B3C-D6C39EA8D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1" y="1762898"/>
            <a:ext cx="6909377" cy="3930966"/>
          </a:xfrm>
          <a:prstGeom prst="rect">
            <a:avLst/>
          </a:prstGeom>
        </p:spPr>
      </p:pic>
      <p:pic>
        <p:nvPicPr>
          <p:cNvPr id="6" name="Picture 2" descr="UCSF's battle with tuberculosis | University of California">
            <a:extLst>
              <a:ext uri="{FF2B5EF4-FFF2-40B4-BE49-F238E27FC236}">
                <a16:creationId xmlns:a16="http://schemas.microsoft.com/office/drawing/2014/main" id="{F4FD8C35-190A-8856-89E0-44A9BDEC8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7884" y="4858046"/>
            <a:ext cx="3229784" cy="1807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195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2F61-D0B3-7977-EA49-76AEE8D0796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0200" y="263526"/>
            <a:ext cx="4254500" cy="315912"/>
          </a:xfrm>
        </p:spPr>
        <p:txBody>
          <a:bodyPr>
            <a:normAutofit fontScale="90000"/>
          </a:bodyPr>
          <a:lstStyle/>
          <a:p>
            <a:r>
              <a:rPr lang="en-KE" sz="3600" b="1" dirty="0">
                <a:solidFill>
                  <a:schemeClr val="bg1"/>
                </a:solidFill>
                <a:latin typeface="+mn-lt"/>
              </a:rPr>
              <a:t>TB and Malnutrition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30938D-A789-3E1B-20FC-5959B38AF290}"/>
              </a:ext>
            </a:extLst>
          </p:cNvPr>
          <p:cNvSpPr/>
          <p:nvPr/>
        </p:nvSpPr>
        <p:spPr>
          <a:xfrm>
            <a:off x="648679" y="1110863"/>
            <a:ext cx="1231265" cy="8359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B30A41-0BA1-7092-360B-FBD575E2957C}"/>
              </a:ext>
            </a:extLst>
          </p:cNvPr>
          <p:cNvSpPr/>
          <p:nvPr/>
        </p:nvSpPr>
        <p:spPr>
          <a:xfrm>
            <a:off x="648679" y="1985810"/>
            <a:ext cx="1231265" cy="8359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A1578F-A326-C51E-5EBD-3D4302FA7624}"/>
              </a:ext>
            </a:extLst>
          </p:cNvPr>
          <p:cNvSpPr/>
          <p:nvPr/>
        </p:nvSpPr>
        <p:spPr>
          <a:xfrm>
            <a:off x="648679" y="2860756"/>
            <a:ext cx="1231265" cy="1924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48A6-54E7-82DC-B694-DF18D1E9CEBB}"/>
              </a:ext>
            </a:extLst>
          </p:cNvPr>
          <p:cNvSpPr/>
          <p:nvPr/>
        </p:nvSpPr>
        <p:spPr>
          <a:xfrm>
            <a:off x="648679" y="4823837"/>
            <a:ext cx="1231265" cy="8359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5284B8-A1E0-7FA8-E7A9-54D714B2A663}"/>
              </a:ext>
            </a:extLst>
          </p:cNvPr>
          <p:cNvGrpSpPr/>
          <p:nvPr/>
        </p:nvGrpSpPr>
        <p:grpSpPr>
          <a:xfrm>
            <a:off x="1879945" y="1110864"/>
            <a:ext cx="6583572" cy="998348"/>
            <a:chOff x="5562600" y="1328376"/>
            <a:chExt cx="1601786" cy="1602796"/>
          </a:xfrm>
        </p:grpSpPr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1D0F0324-28AA-8F9F-4115-D81613ADB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328376"/>
              <a:ext cx="1601786" cy="16027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24D680-EE0D-C534-38F3-F17B5FF7E1CB}"/>
                </a:ext>
              </a:extLst>
            </p:cNvPr>
            <p:cNvSpPr/>
            <p:nvPr/>
          </p:nvSpPr>
          <p:spPr>
            <a:xfrm>
              <a:off x="5562600" y="1328376"/>
              <a:ext cx="1601786" cy="1601131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10000"/>
                  </a:schemeClr>
                </a:gs>
                <a:gs pos="100000">
                  <a:schemeClr val="bg1">
                    <a:lumMod val="95000"/>
                    <a:alpha val="10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348C02F-29AF-D5D7-711A-FA4AB7AB3DD5}"/>
              </a:ext>
            </a:extLst>
          </p:cNvPr>
          <p:cNvGrpSpPr/>
          <p:nvPr/>
        </p:nvGrpSpPr>
        <p:grpSpPr>
          <a:xfrm>
            <a:off x="1879944" y="1985810"/>
            <a:ext cx="9727335" cy="835908"/>
            <a:chOff x="5562600" y="1328376"/>
            <a:chExt cx="1601786" cy="1602796"/>
          </a:xfrm>
        </p:grpSpPr>
        <p:sp>
          <p:nvSpPr>
            <p:cNvPr id="14" name="Oval 11">
              <a:extLst>
                <a:ext uri="{FF2B5EF4-FFF2-40B4-BE49-F238E27FC236}">
                  <a16:creationId xmlns:a16="http://schemas.microsoft.com/office/drawing/2014/main" id="{5329F4DB-F2B2-FD33-E6FD-E8FC6A810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328376"/>
              <a:ext cx="1601786" cy="16027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A50B7A7-478F-271F-72B9-D2F2723F9368}"/>
                </a:ext>
              </a:extLst>
            </p:cNvPr>
            <p:cNvSpPr/>
            <p:nvPr/>
          </p:nvSpPr>
          <p:spPr>
            <a:xfrm>
              <a:off x="5562600" y="1328376"/>
              <a:ext cx="1601786" cy="1601131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10000"/>
                  </a:schemeClr>
                </a:gs>
                <a:gs pos="100000">
                  <a:schemeClr val="bg1">
                    <a:lumMod val="95000"/>
                    <a:alpha val="10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F84B53-908C-0502-0A8D-21908769F3A0}"/>
              </a:ext>
            </a:extLst>
          </p:cNvPr>
          <p:cNvGrpSpPr/>
          <p:nvPr/>
        </p:nvGrpSpPr>
        <p:grpSpPr>
          <a:xfrm>
            <a:off x="1879944" y="2860756"/>
            <a:ext cx="9727335" cy="1924042"/>
            <a:chOff x="5562600" y="1328376"/>
            <a:chExt cx="1601786" cy="1787946"/>
          </a:xfrm>
        </p:grpSpPr>
        <p:sp>
          <p:nvSpPr>
            <p:cNvPr id="17" name="Oval 11">
              <a:extLst>
                <a:ext uri="{FF2B5EF4-FFF2-40B4-BE49-F238E27FC236}">
                  <a16:creationId xmlns:a16="http://schemas.microsoft.com/office/drawing/2014/main" id="{0DBECAD0-7213-482F-8EDC-CF0E28A36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328376"/>
              <a:ext cx="1601786" cy="17879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F6AEBA3-8B61-E815-F75F-F61183FED736}"/>
                </a:ext>
              </a:extLst>
            </p:cNvPr>
            <p:cNvSpPr/>
            <p:nvPr/>
          </p:nvSpPr>
          <p:spPr>
            <a:xfrm>
              <a:off x="5562600" y="1328376"/>
              <a:ext cx="1601786" cy="1787946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10000"/>
                  </a:schemeClr>
                </a:gs>
                <a:gs pos="100000">
                  <a:schemeClr val="bg1">
                    <a:lumMod val="95000"/>
                    <a:alpha val="10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679BB5F-547A-5AC7-4D48-0D478E4A53AF}"/>
              </a:ext>
            </a:extLst>
          </p:cNvPr>
          <p:cNvGrpSpPr/>
          <p:nvPr/>
        </p:nvGrpSpPr>
        <p:grpSpPr>
          <a:xfrm>
            <a:off x="1879944" y="4823837"/>
            <a:ext cx="9727335" cy="835908"/>
            <a:chOff x="5562600" y="1328376"/>
            <a:chExt cx="1601786" cy="1602796"/>
          </a:xfrm>
        </p:grpSpPr>
        <p:sp>
          <p:nvSpPr>
            <p:cNvPr id="20" name="Oval 11">
              <a:extLst>
                <a:ext uri="{FF2B5EF4-FFF2-40B4-BE49-F238E27FC236}">
                  <a16:creationId xmlns:a16="http://schemas.microsoft.com/office/drawing/2014/main" id="{2E1612EE-440A-0F74-3BBD-9807A297B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328376"/>
              <a:ext cx="1601786" cy="16027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ECC1C1-A653-3CC8-CD71-B342AD2DBB37}"/>
                </a:ext>
              </a:extLst>
            </p:cNvPr>
            <p:cNvSpPr/>
            <p:nvPr/>
          </p:nvSpPr>
          <p:spPr>
            <a:xfrm>
              <a:off x="5562600" y="1328376"/>
              <a:ext cx="1601786" cy="1601131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10000"/>
                  </a:schemeClr>
                </a:gs>
                <a:gs pos="100000">
                  <a:schemeClr val="bg1">
                    <a:lumMod val="95000"/>
                    <a:alpha val="10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782CE45-B354-BB82-A154-08290CE2249D}"/>
              </a:ext>
            </a:extLst>
          </p:cNvPr>
          <p:cNvGrpSpPr/>
          <p:nvPr/>
        </p:nvGrpSpPr>
        <p:grpSpPr>
          <a:xfrm>
            <a:off x="1723097" y="3635210"/>
            <a:ext cx="359986" cy="360214"/>
            <a:chOff x="1625600" y="2328863"/>
            <a:chExt cx="1005840" cy="1006475"/>
          </a:xfrm>
        </p:grpSpPr>
        <p:sp>
          <p:nvSpPr>
            <p:cNvPr id="49" name="Oval 11">
              <a:extLst>
                <a:ext uri="{FF2B5EF4-FFF2-40B4-BE49-F238E27FC236}">
                  <a16:creationId xmlns:a16="http://schemas.microsoft.com/office/drawing/2014/main" id="{4B800AAD-312A-19E5-0B24-9AAD6FFB4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5600" y="2328863"/>
              <a:ext cx="1005840" cy="10064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8CF8013-2A9A-097D-E70A-CA7070CD6149}"/>
                </a:ext>
              </a:extLst>
            </p:cNvPr>
            <p:cNvSpPr/>
            <p:nvPr/>
          </p:nvSpPr>
          <p:spPr>
            <a:xfrm>
              <a:off x="1690270" y="2393859"/>
              <a:ext cx="876501" cy="87648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accent3"/>
                  </a:solidFill>
                </a:rPr>
                <a:t>3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76464E1-DC65-FC13-0CDB-149E527DBE26}"/>
              </a:ext>
            </a:extLst>
          </p:cNvPr>
          <p:cNvGrpSpPr/>
          <p:nvPr/>
        </p:nvGrpSpPr>
        <p:grpSpPr>
          <a:xfrm>
            <a:off x="1699952" y="2223223"/>
            <a:ext cx="359986" cy="360214"/>
            <a:chOff x="1625600" y="2328863"/>
            <a:chExt cx="1005840" cy="1006475"/>
          </a:xfrm>
        </p:grpSpPr>
        <p:sp>
          <p:nvSpPr>
            <p:cNvPr id="52" name="Oval 11">
              <a:extLst>
                <a:ext uri="{FF2B5EF4-FFF2-40B4-BE49-F238E27FC236}">
                  <a16:creationId xmlns:a16="http://schemas.microsoft.com/office/drawing/2014/main" id="{B1694DC1-C402-DEB7-8643-179B88F7B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5600" y="2328863"/>
              <a:ext cx="1005840" cy="10064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5705689-FF81-B873-8C63-1A3322C443EE}"/>
                </a:ext>
              </a:extLst>
            </p:cNvPr>
            <p:cNvSpPr/>
            <p:nvPr/>
          </p:nvSpPr>
          <p:spPr>
            <a:xfrm>
              <a:off x="1690270" y="2393859"/>
              <a:ext cx="876501" cy="87648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</a:rPr>
                <a:t>2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2A6E776-D69B-1268-F72E-B794B48ABAC3}"/>
              </a:ext>
            </a:extLst>
          </p:cNvPr>
          <p:cNvGrpSpPr/>
          <p:nvPr/>
        </p:nvGrpSpPr>
        <p:grpSpPr>
          <a:xfrm>
            <a:off x="1699952" y="1351281"/>
            <a:ext cx="359986" cy="360214"/>
            <a:chOff x="1625600" y="2328863"/>
            <a:chExt cx="1005840" cy="1006475"/>
          </a:xfrm>
        </p:grpSpPr>
        <p:sp>
          <p:nvSpPr>
            <p:cNvPr id="55" name="Oval 11">
              <a:extLst>
                <a:ext uri="{FF2B5EF4-FFF2-40B4-BE49-F238E27FC236}">
                  <a16:creationId xmlns:a16="http://schemas.microsoft.com/office/drawing/2014/main" id="{4072301D-4FB1-5382-3E5D-B6FC74B3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5600" y="2328863"/>
              <a:ext cx="1005840" cy="10064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B1B4844-9B21-7F45-4032-C063D7882D0C}"/>
                </a:ext>
              </a:extLst>
            </p:cNvPr>
            <p:cNvSpPr/>
            <p:nvPr/>
          </p:nvSpPr>
          <p:spPr>
            <a:xfrm>
              <a:off x="1690270" y="2393859"/>
              <a:ext cx="876501" cy="87648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</a:rPr>
                <a:t>1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9CE456D-4C8E-B92A-1978-1B2ACAB9E3AA}"/>
              </a:ext>
            </a:extLst>
          </p:cNvPr>
          <p:cNvGrpSpPr/>
          <p:nvPr/>
        </p:nvGrpSpPr>
        <p:grpSpPr>
          <a:xfrm>
            <a:off x="1699952" y="5061250"/>
            <a:ext cx="359986" cy="360214"/>
            <a:chOff x="1625600" y="2328863"/>
            <a:chExt cx="1005840" cy="1006475"/>
          </a:xfrm>
        </p:grpSpPr>
        <p:sp>
          <p:nvSpPr>
            <p:cNvPr id="58" name="Oval 11">
              <a:extLst>
                <a:ext uri="{FF2B5EF4-FFF2-40B4-BE49-F238E27FC236}">
                  <a16:creationId xmlns:a16="http://schemas.microsoft.com/office/drawing/2014/main" id="{89CABBA1-C128-51A4-0FBE-B429E2AA7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5600" y="2328863"/>
              <a:ext cx="1005840" cy="10064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25482EB-B82A-7F90-E34C-D3BC4F7B0968}"/>
                </a:ext>
              </a:extLst>
            </p:cNvPr>
            <p:cNvSpPr/>
            <p:nvPr/>
          </p:nvSpPr>
          <p:spPr>
            <a:xfrm>
              <a:off x="1690270" y="2393859"/>
              <a:ext cx="876501" cy="87648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accent4"/>
                  </a:solidFill>
                </a:rPr>
                <a:t>4</a:t>
              </a: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09ABB117-E09C-4704-AE6B-5AD3EA1F0208}"/>
              </a:ext>
            </a:extLst>
          </p:cNvPr>
          <p:cNvSpPr/>
          <p:nvPr/>
        </p:nvSpPr>
        <p:spPr>
          <a:xfrm>
            <a:off x="648679" y="5697916"/>
            <a:ext cx="1231265" cy="83590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11036FA-FEF7-2EA6-241D-A7E346428208}"/>
              </a:ext>
            </a:extLst>
          </p:cNvPr>
          <p:cNvGrpSpPr/>
          <p:nvPr/>
        </p:nvGrpSpPr>
        <p:grpSpPr>
          <a:xfrm>
            <a:off x="1879944" y="5697916"/>
            <a:ext cx="9727335" cy="835908"/>
            <a:chOff x="5562600" y="1328376"/>
            <a:chExt cx="1601786" cy="1602796"/>
          </a:xfrm>
        </p:grpSpPr>
        <p:sp>
          <p:nvSpPr>
            <p:cNvPr id="63" name="Oval 11">
              <a:extLst>
                <a:ext uri="{FF2B5EF4-FFF2-40B4-BE49-F238E27FC236}">
                  <a16:creationId xmlns:a16="http://schemas.microsoft.com/office/drawing/2014/main" id="{FB64337C-FDA7-E5CC-61CF-36EE60D8A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1328376"/>
              <a:ext cx="1601786" cy="16027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0D52CE9-C906-6213-52CB-740C40C0EE66}"/>
                </a:ext>
              </a:extLst>
            </p:cNvPr>
            <p:cNvSpPr/>
            <p:nvPr/>
          </p:nvSpPr>
          <p:spPr>
            <a:xfrm>
              <a:off x="5562600" y="1328376"/>
              <a:ext cx="1601786" cy="1601131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10000"/>
                  </a:schemeClr>
                </a:gs>
                <a:gs pos="100000">
                  <a:schemeClr val="bg1">
                    <a:lumMod val="95000"/>
                    <a:alpha val="10000"/>
                  </a:scheme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1875797-7884-9ADE-E6BB-882F4ECC6AE5}"/>
              </a:ext>
            </a:extLst>
          </p:cNvPr>
          <p:cNvGrpSpPr/>
          <p:nvPr/>
        </p:nvGrpSpPr>
        <p:grpSpPr>
          <a:xfrm>
            <a:off x="1699952" y="5935329"/>
            <a:ext cx="359986" cy="360214"/>
            <a:chOff x="1625600" y="2328863"/>
            <a:chExt cx="1005840" cy="1006475"/>
          </a:xfrm>
        </p:grpSpPr>
        <p:sp>
          <p:nvSpPr>
            <p:cNvPr id="66" name="Oval 11">
              <a:extLst>
                <a:ext uri="{FF2B5EF4-FFF2-40B4-BE49-F238E27FC236}">
                  <a16:creationId xmlns:a16="http://schemas.microsoft.com/office/drawing/2014/main" id="{769EF87E-BDA3-CEC6-D7AE-547E52B79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5600" y="2328863"/>
              <a:ext cx="1005840" cy="10064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D0E7F42-E257-19CA-CBBB-3C16F31B9139}"/>
                </a:ext>
              </a:extLst>
            </p:cNvPr>
            <p:cNvSpPr/>
            <p:nvPr/>
          </p:nvSpPr>
          <p:spPr>
            <a:xfrm>
              <a:off x="1690270" y="2393859"/>
              <a:ext cx="876501" cy="87648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accent6">
                      <a:lumMod val="75000"/>
                    </a:schemeClr>
                  </a:solidFill>
                </a:rPr>
                <a:t>5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62255658-E13B-0271-DC73-9BD68C30667C}"/>
              </a:ext>
            </a:extLst>
          </p:cNvPr>
          <p:cNvSpPr txBox="1"/>
          <p:nvPr/>
        </p:nvSpPr>
        <p:spPr>
          <a:xfrm>
            <a:off x="2083084" y="1176237"/>
            <a:ext cx="50487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rgbClr val="002060"/>
                </a:solidFill>
              </a:rPr>
              <a:t>Undernutrition; Leading </a:t>
            </a:r>
            <a:r>
              <a:rPr lang="en-GB" sz="2000" b="1" dirty="0">
                <a:solidFill>
                  <a:srgbClr val="002060"/>
                </a:solidFill>
              </a:rPr>
              <a:t>risk factor </a:t>
            </a:r>
            <a:r>
              <a:rPr lang="en-GB" sz="2000" dirty="0">
                <a:solidFill>
                  <a:srgbClr val="002060"/>
                </a:solidFill>
              </a:rPr>
              <a:t>for TB globally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954CCE-BD30-417C-02B4-1E792201D7CD}"/>
              </a:ext>
            </a:extLst>
          </p:cNvPr>
          <p:cNvSpPr txBox="1"/>
          <p:nvPr/>
        </p:nvSpPr>
        <p:spPr>
          <a:xfrm>
            <a:off x="2059938" y="2194194"/>
            <a:ext cx="40360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accent2">
                    <a:lumMod val="50000"/>
                  </a:schemeClr>
                </a:solidFill>
              </a:rPr>
              <a:t>Common risk factor for </a:t>
            </a:r>
            <a:r>
              <a:rPr lang="en-GB" sz="2000" b="1" dirty="0">
                <a:solidFill>
                  <a:schemeClr val="accent2">
                    <a:lumMod val="50000"/>
                  </a:schemeClr>
                </a:solidFill>
              </a:rPr>
              <a:t>mortality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894CE9-7ACC-D890-106B-CFF7D0EAD844}"/>
              </a:ext>
            </a:extLst>
          </p:cNvPr>
          <p:cNvSpPr txBox="1"/>
          <p:nvPr/>
        </p:nvSpPr>
        <p:spPr>
          <a:xfrm>
            <a:off x="2036791" y="2898585"/>
            <a:ext cx="991420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bg2">
                    <a:lumMod val="10000"/>
                  </a:schemeClr>
                </a:solidFill>
              </a:rPr>
              <a:t>Many TB patients present with undernutrition (30-50%)</a:t>
            </a:r>
          </a:p>
          <a:p>
            <a:pPr marL="331788" lvl="1" indent="-1968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2">
                    <a:lumMod val="10000"/>
                  </a:schemeClr>
                </a:solidFill>
              </a:rPr>
              <a:t>A meta-analysis in Ethiopia: pooled prevalence of undernutrition among TB patients ~48.2 % (95% CI) (</a:t>
            </a:r>
            <a:r>
              <a:rPr lang="en-GB" sz="2000" i="1" dirty="0">
                <a:solidFill>
                  <a:schemeClr val="bg2">
                    <a:lumMod val="10000"/>
                  </a:schemeClr>
                </a:solidFill>
              </a:rPr>
              <a:t>Feyisa et al., 2024)</a:t>
            </a:r>
          </a:p>
          <a:p>
            <a:pPr marL="331788" lvl="1" indent="-1968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2">
                    <a:lumMod val="10000"/>
                  </a:schemeClr>
                </a:solidFill>
              </a:rPr>
              <a:t>Burkina Faso: 35.8 % of TB patients had BMI &lt; 18.5 kg/m² </a:t>
            </a:r>
            <a:r>
              <a:rPr lang="en-GB" sz="2000" i="1" dirty="0">
                <a:solidFill>
                  <a:schemeClr val="bg2">
                    <a:lumMod val="10000"/>
                  </a:schemeClr>
                </a:solidFill>
              </a:rPr>
              <a:t>(</a:t>
            </a:r>
            <a:r>
              <a:rPr lang="en-GB" sz="2000" i="1" dirty="0" err="1">
                <a:solidFill>
                  <a:schemeClr val="bg2">
                    <a:lumMod val="10000"/>
                  </a:schemeClr>
                </a:solidFill>
              </a:rPr>
              <a:t>Musuenge</a:t>
            </a:r>
            <a:r>
              <a:rPr lang="en-GB" sz="2000" i="1" dirty="0">
                <a:solidFill>
                  <a:schemeClr val="bg2">
                    <a:lumMod val="10000"/>
                  </a:schemeClr>
                </a:solidFill>
              </a:rPr>
              <a:t> et al., 2020)</a:t>
            </a:r>
          </a:p>
          <a:p>
            <a:pPr marL="331788" lvl="1" indent="-1968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2">
                    <a:lumMod val="10000"/>
                  </a:schemeClr>
                </a:solidFill>
              </a:rPr>
              <a:t>Kenya undernutrition: up to </a:t>
            </a:r>
            <a:r>
              <a:rPr lang="en-GB" sz="2000" b="1" dirty="0">
                <a:solidFill>
                  <a:schemeClr val="bg2">
                    <a:lumMod val="10000"/>
                  </a:schemeClr>
                </a:solidFill>
              </a:rPr>
              <a:t>48% </a:t>
            </a:r>
            <a:r>
              <a:rPr lang="en-GB" sz="2000" i="1" dirty="0">
                <a:solidFill>
                  <a:schemeClr val="bg2">
                    <a:lumMod val="10000"/>
                  </a:schemeClr>
                </a:solidFill>
              </a:rPr>
              <a:t>(Annual TB reports)</a:t>
            </a:r>
          </a:p>
          <a:p>
            <a:pPr marL="788988" lvl="2" indent="-1968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2">
                    <a:lumMod val="10000"/>
                  </a:schemeClr>
                </a:solidFill>
              </a:rPr>
              <a:t>Some counties </a:t>
            </a:r>
            <a:r>
              <a:rPr lang="en-GB" sz="2000" dirty="0" err="1">
                <a:solidFill>
                  <a:schemeClr val="bg2">
                    <a:lumMod val="10000"/>
                  </a:schemeClr>
                </a:solidFill>
              </a:rPr>
              <a:t>e.g</a:t>
            </a:r>
            <a:r>
              <a:rPr lang="en-GB" sz="2000" dirty="0">
                <a:solidFill>
                  <a:schemeClr val="bg2">
                    <a:lumMod val="10000"/>
                  </a:schemeClr>
                </a:solidFill>
              </a:rPr>
              <a:t> Turkana high prevalence of undernutrition among TB patients (60%) </a:t>
            </a:r>
            <a:r>
              <a:rPr lang="en-GB" sz="2000" i="1" dirty="0">
                <a:solidFill>
                  <a:schemeClr val="bg2">
                    <a:lumMod val="10000"/>
                  </a:schemeClr>
                </a:solidFill>
              </a:rPr>
              <a:t>(Nthiga et al., 2017)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45C0C0D-1705-BAD0-EB90-B8150E223FDD}"/>
              </a:ext>
            </a:extLst>
          </p:cNvPr>
          <p:cNvSpPr txBox="1"/>
          <p:nvPr/>
        </p:nvSpPr>
        <p:spPr>
          <a:xfrm>
            <a:off x="2083083" y="5072128"/>
            <a:ext cx="5784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Malnutrition often persists </a:t>
            </a:r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even</a:t>
            </a: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after</a:t>
            </a: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 treatment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3735D77-C87F-F396-327E-04AE35E3FEF0}"/>
              </a:ext>
            </a:extLst>
          </p:cNvPr>
          <p:cNvSpPr txBox="1"/>
          <p:nvPr/>
        </p:nvSpPr>
        <p:spPr>
          <a:xfrm>
            <a:off x="2083083" y="5658877"/>
            <a:ext cx="97273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accent6">
                    <a:lumMod val="50000"/>
                  </a:schemeClr>
                </a:solidFill>
              </a:rPr>
              <a:t>Often associated with </a:t>
            </a:r>
            <a:r>
              <a:rPr lang="en-GB" sz="2000" b="1" dirty="0">
                <a:solidFill>
                  <a:schemeClr val="accent6">
                    <a:lumMod val="50000"/>
                  </a:schemeClr>
                </a:solidFill>
              </a:rPr>
              <a:t>worse outcomes</a:t>
            </a:r>
            <a:r>
              <a:rPr lang="en-GB" sz="2000" dirty="0">
                <a:solidFill>
                  <a:schemeClr val="accent6">
                    <a:lumMod val="50000"/>
                  </a:schemeClr>
                </a:solidFill>
              </a:rPr>
              <a:t>: delayed sputum conversion, treatment failure, relapse, mortality, loss to follow up </a:t>
            </a:r>
            <a:r>
              <a:rPr lang="en-GB" sz="2000" i="1" dirty="0">
                <a:solidFill>
                  <a:schemeClr val="accent6">
                    <a:lumMod val="50000"/>
                  </a:schemeClr>
                </a:solidFill>
              </a:rPr>
              <a:t>(Gupta et al., 2009; Mugambi-Nyaboga, 2025-AOR </a:t>
            </a:r>
            <a:r>
              <a:rPr lang="en-US" sz="1200" kern="0" dirty="0">
                <a:ea typeface="Times New Roman" panose="02020603050405020304" pitchFamily="18" charset="0"/>
              </a:rPr>
              <a:t>Malnutrition: significantly associated with TI (AOR = 1.231 (CI [1.120, 1.353], </a:t>
            </a:r>
            <a:r>
              <a:rPr lang="en-US" sz="1200" i="1" kern="0" dirty="0">
                <a:ea typeface="Times New Roman" panose="02020603050405020304" pitchFamily="18" charset="0"/>
              </a:rPr>
              <a:t>p </a:t>
            </a:r>
            <a:r>
              <a:rPr lang="en-US" sz="1200" kern="0" dirty="0">
                <a:ea typeface="Times New Roman" panose="02020603050405020304" pitchFamily="18" charset="0"/>
              </a:rPr>
              <a:t>&lt; .001): Patients with malnutrition </a:t>
            </a:r>
            <a:r>
              <a:rPr lang="en-US" sz="1200" b="1" kern="0" dirty="0">
                <a:ea typeface="Times New Roman" panose="02020603050405020304" pitchFamily="18" charset="0"/>
              </a:rPr>
              <a:t>23.1% higher odds of</a:t>
            </a:r>
            <a:r>
              <a:rPr lang="en-US" sz="1200" kern="0" dirty="0">
                <a:ea typeface="Times New Roman" panose="02020603050405020304" pitchFamily="18" charset="0"/>
              </a:rPr>
              <a:t> interrupting their TB treatment VS. those without malnutrition</a:t>
            </a:r>
            <a:r>
              <a:rPr lang="en-GB" sz="1200" i="1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1ED59-5948-5532-BE8B-51BC3EA67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23" y="1022986"/>
            <a:ext cx="5580877" cy="192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68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92E994C-2B05-1154-3C60-AFDB692D4F63}"/>
              </a:ext>
            </a:extLst>
          </p:cNvPr>
          <p:cNvSpPr/>
          <p:nvPr/>
        </p:nvSpPr>
        <p:spPr bwMode="auto">
          <a:xfrm>
            <a:off x="2665032" y="4674561"/>
            <a:ext cx="3291798" cy="18603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rgbClr val="002060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867" b="1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0CE55-0244-C412-560F-00A1104AB0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4300" y="127000"/>
            <a:ext cx="10515600" cy="611188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chemeClr val="bg1"/>
                </a:solidFill>
                <a:latin typeface="+mn-lt"/>
              </a:rPr>
              <a:t>Nutrition in TB Management: What the Evidence Shows</a:t>
            </a:r>
            <a:endParaRPr lang="en-KE" sz="2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C1DF66-FF8C-D259-0CB6-0FB3AEAEF577}"/>
              </a:ext>
            </a:extLst>
          </p:cNvPr>
          <p:cNvSpPr/>
          <p:nvPr/>
        </p:nvSpPr>
        <p:spPr bwMode="auto">
          <a:xfrm>
            <a:off x="929753" y="1739876"/>
            <a:ext cx="3015533" cy="2018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002060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867" b="1" dirty="0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4D54E2-3B8C-EAF3-97F4-F206D3F1408A}"/>
              </a:ext>
            </a:extLst>
          </p:cNvPr>
          <p:cNvSpPr/>
          <p:nvPr/>
        </p:nvSpPr>
        <p:spPr bwMode="auto">
          <a:xfrm>
            <a:off x="8326965" y="1761485"/>
            <a:ext cx="3015533" cy="20180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002060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867" b="1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2D0C18-C2F7-CFE7-B49E-43FB5A7DCD63}"/>
              </a:ext>
            </a:extLst>
          </p:cNvPr>
          <p:cNvSpPr txBox="1"/>
          <p:nvPr/>
        </p:nvSpPr>
        <p:spPr>
          <a:xfrm>
            <a:off x="929753" y="1897595"/>
            <a:ext cx="30155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dirty="0">
                <a:solidFill>
                  <a:srgbClr val="002060"/>
                </a:solidFill>
                <a:latin typeface="Arial" panose="020B0604020202020204" pitchFamily="34" charset="0"/>
              </a:rPr>
              <a:t>Nutritional support in TB care has been studied in relation to weight gain, adherence, treatment success, sputum conversion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421074-0C46-4957-884E-EFA4E4E6DC28}"/>
              </a:ext>
            </a:extLst>
          </p:cNvPr>
          <p:cNvSpPr txBox="1"/>
          <p:nvPr/>
        </p:nvSpPr>
        <p:spPr>
          <a:xfrm>
            <a:off x="8353368" y="1907166"/>
            <a:ext cx="29891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dirty="0">
                <a:solidFill>
                  <a:srgbClr val="002060"/>
                </a:solidFill>
                <a:latin typeface="Arial" panose="020B0604020202020204" pitchFamily="34" charset="0"/>
              </a:rPr>
              <a:t>In Cintron et al. (2025), hypothesis that nutritional support leads </a:t>
            </a:r>
            <a:r>
              <a:rPr lang="en-KE" altLang="en-KE" b="1" dirty="0">
                <a:solidFill>
                  <a:srgbClr val="002060"/>
                </a:solidFill>
                <a:latin typeface="Arial" panose="020B0604020202020204" pitchFamily="34" charset="0"/>
              </a:rPr>
              <a:t>to fewer unfavorable outcomes </a:t>
            </a:r>
            <a:r>
              <a:rPr lang="en-KE" altLang="en-KE" dirty="0">
                <a:solidFill>
                  <a:srgbClr val="002060"/>
                </a:solidFill>
                <a:latin typeface="Arial" panose="020B0604020202020204" pitchFamily="34" charset="0"/>
              </a:rPr>
              <a:t>and </a:t>
            </a:r>
            <a:r>
              <a:rPr lang="en-KE" altLang="en-KE" b="1" dirty="0">
                <a:solidFill>
                  <a:srgbClr val="002060"/>
                </a:solidFill>
                <a:latin typeface="Arial" panose="020B0604020202020204" pitchFamily="34" charset="0"/>
              </a:rPr>
              <a:t>faster sputum clearance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1A4763-C88C-DCF8-2A07-7541CECA626A}"/>
              </a:ext>
            </a:extLst>
          </p:cNvPr>
          <p:cNvSpPr txBox="1"/>
          <p:nvPr/>
        </p:nvSpPr>
        <p:spPr>
          <a:xfrm>
            <a:off x="2665032" y="4720280"/>
            <a:ext cx="32917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dirty="0">
                <a:solidFill>
                  <a:srgbClr val="002060"/>
                </a:solidFill>
                <a:latin typeface="Arial" panose="020B0604020202020204" pitchFamily="34" charset="0"/>
              </a:rPr>
              <a:t>In Kenya, a “positive deviance nutrition intervention” in Kericho </a:t>
            </a:r>
            <a:r>
              <a:rPr lang="en-KE" altLang="en-KE" b="1" dirty="0">
                <a:solidFill>
                  <a:srgbClr val="002060"/>
                </a:solidFill>
                <a:latin typeface="Arial" panose="020B0604020202020204" pitchFamily="34" charset="0"/>
              </a:rPr>
              <a:t>improved sputum smear conversion rates </a:t>
            </a:r>
            <a:r>
              <a:rPr lang="en-KE" altLang="en-KE" dirty="0">
                <a:solidFill>
                  <a:srgbClr val="002060"/>
                </a:solidFill>
                <a:latin typeface="Arial" panose="020B0604020202020204" pitchFamily="34" charset="0"/>
              </a:rPr>
              <a:t>among TB patients 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i="1" dirty="0">
                <a:solidFill>
                  <a:srgbClr val="002060"/>
                </a:solidFill>
                <a:latin typeface="Arial" panose="020B0604020202020204" pitchFamily="34" charset="0"/>
              </a:rPr>
              <a:t>Kipkosgei et al., 2025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486964-7327-8074-A67E-592AA09652C0}"/>
              </a:ext>
            </a:extLst>
          </p:cNvPr>
          <p:cNvSpPr/>
          <p:nvPr/>
        </p:nvSpPr>
        <p:spPr bwMode="auto">
          <a:xfrm>
            <a:off x="4664151" y="1750291"/>
            <a:ext cx="3015533" cy="20180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002060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867" b="1" dirty="0">
              <a:solidFill>
                <a:schemeClr val="accent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E4D70C-5BDA-6385-8FE2-78F197D117CA}"/>
              </a:ext>
            </a:extLst>
          </p:cNvPr>
          <p:cNvSpPr txBox="1"/>
          <p:nvPr/>
        </p:nvSpPr>
        <p:spPr>
          <a:xfrm>
            <a:off x="4588233" y="1797497"/>
            <a:ext cx="316736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600" dirty="0">
                <a:solidFill>
                  <a:srgbClr val="002060"/>
                </a:solidFill>
                <a:latin typeface="Arial" panose="020B0604020202020204" pitchFamily="34" charset="0"/>
              </a:rPr>
              <a:t>Systematic review: nutritional support improves weight gain and possibly </a:t>
            </a:r>
            <a:r>
              <a:rPr lang="en-KE" altLang="en-KE" sz="1600" b="1" dirty="0">
                <a:solidFill>
                  <a:srgbClr val="002060"/>
                </a:solidFill>
                <a:latin typeface="Arial" panose="020B0604020202020204" pitchFamily="34" charset="0"/>
              </a:rPr>
              <a:t>treatment adherence; </a:t>
            </a:r>
            <a:r>
              <a:rPr lang="en-KE" altLang="en-KE" sz="1600" dirty="0">
                <a:solidFill>
                  <a:srgbClr val="002060"/>
                </a:solidFill>
                <a:latin typeface="Arial" panose="020B0604020202020204" pitchFamily="34" charset="0"/>
              </a:rPr>
              <a:t>evidence on “hard” outcomes is more modest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KE" altLang="en-KE" sz="16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600" i="1" dirty="0">
                <a:solidFill>
                  <a:srgbClr val="002060"/>
                </a:solidFill>
                <a:latin typeface="Arial" panose="020B0604020202020204" pitchFamily="34" charset="0"/>
              </a:rPr>
              <a:t>Wagnew et al., 2024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AF43297-D270-04F3-5FFF-6841AC7C6682}"/>
              </a:ext>
            </a:extLst>
          </p:cNvPr>
          <p:cNvSpPr/>
          <p:nvPr/>
        </p:nvSpPr>
        <p:spPr bwMode="auto">
          <a:xfrm>
            <a:off x="6366733" y="4674561"/>
            <a:ext cx="3819257" cy="18394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rgbClr val="002060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867" b="1" dirty="0">
              <a:solidFill>
                <a:schemeClr val="accent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90D406-D749-2CD6-0C29-109BAB483E87}"/>
              </a:ext>
            </a:extLst>
          </p:cNvPr>
          <p:cNvSpPr txBox="1"/>
          <p:nvPr/>
        </p:nvSpPr>
        <p:spPr>
          <a:xfrm>
            <a:off x="6366733" y="4658838"/>
            <a:ext cx="36704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dirty="0">
                <a:solidFill>
                  <a:srgbClr val="002060"/>
                </a:solidFill>
                <a:latin typeface="Arial" panose="020B0604020202020204" pitchFamily="34" charset="0"/>
              </a:rPr>
              <a:t>Some programs report nutritional interventions with weight gain but </a:t>
            </a:r>
            <a:r>
              <a:rPr lang="en-KE" altLang="en-KE" b="1" dirty="0">
                <a:solidFill>
                  <a:srgbClr val="002060"/>
                </a:solidFill>
                <a:latin typeface="Arial" panose="020B0604020202020204" pitchFamily="34" charset="0"/>
              </a:rPr>
              <a:t>limited effect on cure rates</a:t>
            </a:r>
            <a:r>
              <a:rPr lang="en-KE" altLang="en-KE" dirty="0">
                <a:solidFill>
                  <a:srgbClr val="002060"/>
                </a:solidFill>
                <a:latin typeface="Arial" panose="020B0604020202020204" pitchFamily="34" charset="0"/>
              </a:rPr>
              <a:t> (probably due to small samples, heterogeneity) 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i="1" dirty="0">
                <a:solidFill>
                  <a:srgbClr val="002060"/>
                </a:solidFill>
                <a:latin typeface="Arial" panose="020B0604020202020204" pitchFamily="34" charset="0"/>
              </a:rPr>
              <a:t>Franke et al., 2024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6AD4C1-17E5-2598-4F1D-0A0E16C5C204}"/>
              </a:ext>
            </a:extLst>
          </p:cNvPr>
          <p:cNvSpPr/>
          <p:nvPr/>
        </p:nvSpPr>
        <p:spPr>
          <a:xfrm>
            <a:off x="929753" y="1739876"/>
            <a:ext cx="301553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91ECCF-9CB2-ABAB-BFCF-287A3D2D371B}"/>
              </a:ext>
            </a:extLst>
          </p:cNvPr>
          <p:cNvSpPr/>
          <p:nvPr/>
        </p:nvSpPr>
        <p:spPr>
          <a:xfrm>
            <a:off x="4664149" y="1726862"/>
            <a:ext cx="3015533" cy="457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26A9BAA-6D8D-C5B2-47DF-F86B88ECEABB}"/>
              </a:ext>
            </a:extLst>
          </p:cNvPr>
          <p:cNvSpPr/>
          <p:nvPr/>
        </p:nvSpPr>
        <p:spPr>
          <a:xfrm>
            <a:off x="8326965" y="1739876"/>
            <a:ext cx="3015533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CCDA3C-6382-154E-7ACC-1E75D39E00F7}"/>
              </a:ext>
            </a:extLst>
          </p:cNvPr>
          <p:cNvSpPr/>
          <p:nvPr/>
        </p:nvSpPr>
        <p:spPr>
          <a:xfrm>
            <a:off x="2665032" y="4659414"/>
            <a:ext cx="3291798" cy="4571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pic>
        <p:nvPicPr>
          <p:cNvPr id="37" name="Graphic 36" descr="Fruit bowl with solid fill">
            <a:extLst>
              <a:ext uri="{FF2B5EF4-FFF2-40B4-BE49-F238E27FC236}">
                <a16:creationId xmlns:a16="http://schemas.microsoft.com/office/drawing/2014/main" id="{8E119166-FAAD-F334-6074-BF06A95B1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21917" y="938797"/>
            <a:ext cx="796771" cy="796771"/>
          </a:xfrm>
          <a:prstGeom prst="rect">
            <a:avLst/>
          </a:prstGeom>
        </p:spPr>
      </p:pic>
      <p:pic>
        <p:nvPicPr>
          <p:cNvPr id="39" name="Graphic 38" descr="Customer review with solid fill">
            <a:extLst>
              <a:ext uri="{FF2B5EF4-FFF2-40B4-BE49-F238E27FC236}">
                <a16:creationId xmlns:a16="http://schemas.microsoft.com/office/drawing/2014/main" id="{49C7D618-FDAB-9C44-BCD9-814F111C9D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4715" y="970746"/>
            <a:ext cx="796771" cy="796771"/>
          </a:xfrm>
          <a:prstGeom prst="rect">
            <a:avLst/>
          </a:prstGeom>
        </p:spPr>
      </p:pic>
      <p:pic>
        <p:nvPicPr>
          <p:cNvPr id="41" name="Graphic 40" descr="Decision chart with solid fill">
            <a:extLst>
              <a:ext uri="{FF2B5EF4-FFF2-40B4-BE49-F238E27FC236}">
                <a16:creationId xmlns:a16="http://schemas.microsoft.com/office/drawing/2014/main" id="{90CC0B27-EE31-8526-54B4-173A665CE6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23174" y="964714"/>
            <a:ext cx="796771" cy="796771"/>
          </a:xfrm>
          <a:prstGeom prst="rect">
            <a:avLst/>
          </a:prstGeom>
        </p:spPr>
      </p:pic>
      <p:pic>
        <p:nvPicPr>
          <p:cNvPr id="43" name="Graphic 42" descr="Lungs with virus with solid fill">
            <a:extLst>
              <a:ext uri="{FF2B5EF4-FFF2-40B4-BE49-F238E27FC236}">
                <a16:creationId xmlns:a16="http://schemas.microsoft.com/office/drawing/2014/main" id="{243927A1-DAA4-6953-304D-D0ED362287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67378" y="3847496"/>
            <a:ext cx="796771" cy="796771"/>
          </a:xfrm>
          <a:prstGeom prst="rect">
            <a:avLst/>
          </a:prstGeom>
        </p:spPr>
      </p:pic>
      <p:pic>
        <p:nvPicPr>
          <p:cNvPr id="45" name="Graphic 44" descr="Medicine with solid fill">
            <a:extLst>
              <a:ext uri="{FF2B5EF4-FFF2-40B4-BE49-F238E27FC236}">
                <a16:creationId xmlns:a16="http://schemas.microsoft.com/office/drawing/2014/main" id="{A94A05F9-1218-CF1B-798D-39B3F56535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79682" y="3832071"/>
            <a:ext cx="796771" cy="79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16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C0D6CFA-3CB0-088D-BBDC-30C0EA2E0A51}"/>
              </a:ext>
            </a:extLst>
          </p:cNvPr>
          <p:cNvSpPr/>
          <p:nvPr/>
        </p:nvSpPr>
        <p:spPr>
          <a:xfrm>
            <a:off x="0" y="913588"/>
            <a:ext cx="12191999" cy="1085333"/>
          </a:xfrm>
          <a:prstGeom prst="roundRect">
            <a:avLst>
              <a:gd name="adj" fmla="val 10667"/>
            </a:avLst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6FDF2-1198-C416-B8FD-E629440AE3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59934"/>
            <a:ext cx="9302496" cy="693369"/>
          </a:xfrm>
        </p:spPr>
        <p:txBody>
          <a:bodyPr>
            <a:noAutofit/>
          </a:bodyPr>
          <a:lstStyle/>
          <a:p>
            <a:r>
              <a:rPr lang="en-KE" sz="2000" b="1" dirty="0">
                <a:solidFill>
                  <a:schemeClr val="bg1"/>
                </a:solidFill>
                <a:latin typeface="+mn-lt"/>
              </a:rPr>
              <a:t>RATIONS </a:t>
            </a:r>
            <a:r>
              <a:rPr lang="en-GB" sz="2000" b="1" dirty="0">
                <a:solidFill>
                  <a:schemeClr val="bg1"/>
                </a:solidFill>
                <a:latin typeface="+mn-lt"/>
              </a:rPr>
              <a:t>(Reducing Activation of Tuberculosis by Improvement Of Nutritional Status) Trial </a:t>
            </a:r>
            <a:r>
              <a:rPr lang="en-KE" sz="2000" b="1" dirty="0">
                <a:solidFill>
                  <a:schemeClr val="bg1"/>
                </a:solidFill>
                <a:latin typeface="+mn-lt"/>
              </a:rPr>
              <a:t>Study: August 2019 to July 2022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C9868-ACCD-C4A9-02F4-E6301B8A7ED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4759" y="913588"/>
            <a:ext cx="12147239" cy="1085333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KE" altLang="en-KE" sz="3200" dirty="0">
                <a:solidFill>
                  <a:srgbClr val="002060"/>
                </a:solidFill>
              </a:rPr>
              <a:t>Nutritional supplementation reduced incident TB in contacts by ~41%–49% in sensitivity analysis : Nutrition as prevention; a viable strategy in TB control</a:t>
            </a:r>
            <a:endParaRPr lang="en-KE" altLang="en-KE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69624F-2680-4FD1-F175-8BF83FA28C26}"/>
              </a:ext>
            </a:extLst>
          </p:cNvPr>
          <p:cNvSpPr txBox="1"/>
          <p:nvPr/>
        </p:nvSpPr>
        <p:spPr>
          <a:xfrm>
            <a:off x="155224" y="2046693"/>
            <a:ext cx="1972666" cy="45243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KE" b="1" dirty="0"/>
              <a:t>Aim</a:t>
            </a:r>
          </a:p>
          <a:p>
            <a:r>
              <a:rPr lang="en-GB" dirty="0"/>
              <a:t>whether providing nutritional supplementation (food rations + micronutrients) to </a:t>
            </a:r>
            <a:r>
              <a:rPr lang="en-GB" i="1" dirty="0"/>
              <a:t>household contacts</a:t>
            </a:r>
            <a:r>
              <a:rPr lang="en-GB" dirty="0"/>
              <a:t> (HHCs) reduces the incidence of active TB among those contacts</a:t>
            </a:r>
            <a:endParaRPr lang="en-KE" dirty="0"/>
          </a:p>
          <a:p>
            <a:endParaRPr lang="en-KE" dirty="0"/>
          </a:p>
          <a:p>
            <a:endParaRPr lang="en-KE" dirty="0"/>
          </a:p>
          <a:p>
            <a:endParaRPr lang="en-KE" dirty="0"/>
          </a:p>
          <a:p>
            <a:endParaRPr lang="en-KE" dirty="0"/>
          </a:p>
          <a:p>
            <a:endParaRPr lang="en-K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0BACF3-D964-6A83-30A1-762B023C5AD1}"/>
              </a:ext>
            </a:extLst>
          </p:cNvPr>
          <p:cNvSpPr txBox="1"/>
          <p:nvPr/>
        </p:nvSpPr>
        <p:spPr>
          <a:xfrm>
            <a:off x="2271823" y="2046693"/>
            <a:ext cx="2767976" cy="45243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KE" b="1" dirty="0"/>
              <a:t>Methodology</a:t>
            </a:r>
          </a:p>
          <a:p>
            <a:r>
              <a:rPr lang="en-GB" dirty="0"/>
              <a:t>Open-label, cluster-randomised controlled trial. </a:t>
            </a:r>
          </a:p>
          <a:p>
            <a:r>
              <a:rPr lang="en-GB" dirty="0"/>
              <a:t>TB units (clusters) randomized to intervention vs control arms.</a:t>
            </a:r>
          </a:p>
          <a:p>
            <a:endParaRPr lang="en-KE" dirty="0"/>
          </a:p>
          <a:p>
            <a:r>
              <a:rPr lang="en-GB" b="1" dirty="0"/>
              <a:t>2,800 </a:t>
            </a:r>
            <a:r>
              <a:rPr lang="en-GB" dirty="0"/>
              <a:t>adult patients with microbiologically confirmed pulmonary TB</a:t>
            </a:r>
          </a:p>
          <a:p>
            <a:endParaRPr lang="en-GB" dirty="0"/>
          </a:p>
          <a:p>
            <a:r>
              <a:rPr lang="en-GB" b="1" dirty="0"/>
              <a:t>10,345</a:t>
            </a:r>
            <a:r>
              <a:rPr lang="en-GB" dirty="0"/>
              <a:t> contacts. Breakdown: 5,621 in the intervention arm; 4,724 in the control arm.</a:t>
            </a:r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92DED6-99DB-07F4-49CB-E878368AA2EE}"/>
              </a:ext>
            </a:extLst>
          </p:cNvPr>
          <p:cNvSpPr txBox="1"/>
          <p:nvPr/>
        </p:nvSpPr>
        <p:spPr>
          <a:xfrm>
            <a:off x="8067413" y="2059206"/>
            <a:ext cx="4124585" cy="45243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/>
              <a:t>Results</a:t>
            </a:r>
          </a:p>
          <a:p>
            <a:r>
              <a:rPr lang="en-GB" sz="1600" dirty="0"/>
              <a:t>Reduction in TB incidence among Household Contacts: The incidence of </a:t>
            </a:r>
            <a:r>
              <a:rPr lang="en-GB" sz="1600" i="1" dirty="0"/>
              <a:t>all forms</a:t>
            </a:r>
            <a:r>
              <a:rPr lang="en-GB" sz="1600" dirty="0"/>
              <a:t> TB was </a:t>
            </a:r>
            <a:r>
              <a:rPr lang="en-GB" sz="1600" b="1" dirty="0"/>
              <a:t>39% lower in intervention group</a:t>
            </a:r>
          </a:p>
          <a:p>
            <a:endParaRPr lang="en-GB" sz="1600" b="1" dirty="0"/>
          </a:p>
          <a:p>
            <a:r>
              <a:rPr lang="en-GB" sz="1600" dirty="0"/>
              <a:t>Number Needed to Treat / Prevent:</a:t>
            </a:r>
          </a:p>
          <a:p>
            <a:r>
              <a:rPr lang="en-GB" sz="1600" dirty="0"/>
              <a:t>To prevent </a:t>
            </a:r>
            <a:r>
              <a:rPr lang="en-GB" sz="1600" b="1" dirty="0"/>
              <a:t>one incident TB case</a:t>
            </a:r>
            <a:r>
              <a:rPr lang="en-GB" sz="1600" dirty="0"/>
              <a:t>-provide nutritional supplementation to about </a:t>
            </a:r>
            <a:r>
              <a:rPr lang="en-GB" sz="1600" b="1" dirty="0"/>
              <a:t>30 households</a:t>
            </a:r>
            <a:r>
              <a:rPr lang="en-GB" sz="1600" dirty="0"/>
              <a:t> (or ~111 household contacts) in this setting-Cost effective</a:t>
            </a:r>
          </a:p>
          <a:p>
            <a:endParaRPr lang="en-GB" sz="1600" dirty="0"/>
          </a:p>
          <a:p>
            <a:r>
              <a:rPr lang="en-GB" sz="1600" dirty="0"/>
              <a:t>Among TB cohort: </a:t>
            </a:r>
            <a:r>
              <a:rPr lang="en-GB" sz="1600" b="1" dirty="0"/>
              <a:t>early weight gain</a:t>
            </a:r>
            <a:r>
              <a:rPr lang="en-GB" sz="1600" dirty="0"/>
              <a:t> (≥5% of baseline weight in first 2 months) was strongly associated with a </a:t>
            </a:r>
            <a:r>
              <a:rPr lang="en-GB" sz="1600" b="1" dirty="0"/>
              <a:t>lower hazard of TB mortality </a:t>
            </a:r>
            <a:r>
              <a:rPr lang="en-GB" sz="1600" dirty="0"/>
              <a:t>(adjusted HR ~0.39). Prognostic marker of mortality</a:t>
            </a:r>
          </a:p>
          <a:p>
            <a:endParaRPr lang="en-GB" sz="1600" dirty="0"/>
          </a:p>
          <a:p>
            <a:endParaRPr lang="en-GB" sz="1600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CB7FDF9A-EC04-FAED-569B-1DE1D2142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9922" y="2059206"/>
            <a:ext cx="2767977" cy="455509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KE" altLang="en-K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Intervention</a:t>
            </a:r>
            <a:br>
              <a:rPr kumimoji="0" lang="en-KE" altLang="en-K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KE" altLang="en-K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index TB patients (in both arms) received food rations + micronutrients for 6 months.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KE" altLang="en-K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Household contacts in the </a:t>
            </a:r>
            <a:r>
              <a:rPr kumimoji="0" lang="en-KE" altLang="en-K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intervention group</a:t>
            </a:r>
            <a:r>
              <a:rPr kumimoji="0" lang="en-KE" altLang="en-K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received monthly food rations + micronutrients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KE" altLang="en-K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Household contacts in the </a:t>
            </a:r>
            <a:r>
              <a:rPr kumimoji="0" lang="en-KE" altLang="en-KE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group</a:t>
            </a:r>
            <a:r>
              <a:rPr kumimoji="0" lang="en-KE" altLang="en-K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did </a:t>
            </a:r>
            <a:r>
              <a:rPr kumimoji="0" lang="en-KE" altLang="en-KE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n-KE" altLang="en-K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receive these extra food rations, but had usual diet and counselling.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KE" altLang="en-K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KE" altLang="en-KE" sz="1600" dirty="0">
                <a:latin typeface="Arial" panose="020B0604020202020204" pitchFamily="34" charset="0"/>
              </a:rPr>
              <a:t>Contacts followed up 2 yrs</a:t>
            </a:r>
          </a:p>
        </p:txBody>
      </p:sp>
    </p:spTree>
    <p:extLst>
      <p:ext uri="{BB962C8B-B14F-4D97-AF65-F5344CB8AC3E}">
        <p14:creationId xmlns:p14="http://schemas.microsoft.com/office/powerpoint/2010/main" val="2685517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B1CF6-3CA2-23FE-2145-566B1CD44F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7800" y="165101"/>
            <a:ext cx="8229600" cy="596900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Nutrition </a:t>
            </a:r>
            <a:r>
              <a:rPr lang="en-GB" sz="3200" b="1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 Prevention</a:t>
            </a:r>
            <a:r>
              <a:rPr lang="en-GB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— The Paradigm Shift</a:t>
            </a:r>
            <a:endParaRPr lang="en-KE" sz="3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D42D0EE-15B1-0672-F8F6-D81EA602608B}"/>
              </a:ext>
            </a:extLst>
          </p:cNvPr>
          <p:cNvGrpSpPr/>
          <p:nvPr/>
        </p:nvGrpSpPr>
        <p:grpSpPr>
          <a:xfrm>
            <a:off x="409805" y="1504405"/>
            <a:ext cx="11366906" cy="4930366"/>
            <a:chOff x="1077298" y="2209800"/>
            <a:chExt cx="8380491" cy="341476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505A9C8-B4AA-2B1B-C64B-2EBB12B8026E}"/>
                </a:ext>
              </a:extLst>
            </p:cNvPr>
            <p:cNvGrpSpPr/>
            <p:nvPr/>
          </p:nvGrpSpPr>
          <p:grpSpPr>
            <a:xfrm>
              <a:off x="1204293" y="2273646"/>
              <a:ext cx="903600" cy="904381"/>
              <a:chOff x="457197" y="2150717"/>
              <a:chExt cx="2076190" cy="218319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B2CDFC1-6BA0-1062-AEBF-6790A7DF49FF}"/>
                  </a:ext>
                </a:extLst>
              </p:cNvPr>
              <p:cNvSpPr/>
              <p:nvPr/>
            </p:nvSpPr>
            <p:spPr>
              <a:xfrm>
                <a:off x="457199" y="2150717"/>
                <a:ext cx="2076188" cy="2183194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 lIns="137160" tIns="137160" rIns="137160" bIns="137160">
                <a:noAutofit/>
              </a:bodyPr>
              <a:lstStyle/>
              <a:p>
                <a:pPr marL="128588" indent="-128588">
                  <a:lnSpc>
                    <a:spcPct val="94000"/>
                  </a:lnSpc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sz="105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0" name="Freeform: Shape 55">
                <a:extLst>
                  <a:ext uri="{FF2B5EF4-FFF2-40B4-BE49-F238E27FC236}">
                    <a16:creationId xmlns:a16="http://schemas.microsoft.com/office/drawing/2014/main" id="{16A62312-B21A-864E-3646-634017D50C24}"/>
                  </a:ext>
                </a:extLst>
              </p:cNvPr>
              <p:cNvSpPr/>
              <p:nvPr/>
            </p:nvSpPr>
            <p:spPr>
              <a:xfrm flipH="1">
                <a:off x="457197" y="2150717"/>
                <a:ext cx="2076186" cy="1108150"/>
              </a:xfrm>
              <a:custGeom>
                <a:avLst/>
                <a:gdLst>
                  <a:gd name="connsiteX0" fmla="*/ 0 w 2328862"/>
                  <a:gd name="connsiteY0" fmla="*/ 0 h 411289"/>
                  <a:gd name="connsiteX1" fmla="*/ 2328863 w 2328862"/>
                  <a:gd name="connsiteY1" fmla="*/ 0 h 411289"/>
                  <a:gd name="connsiteX2" fmla="*/ 2328863 w 2328862"/>
                  <a:gd name="connsiteY2" fmla="*/ 411290 h 411289"/>
                  <a:gd name="connsiteX3" fmla="*/ 0 w 2328862"/>
                  <a:gd name="connsiteY3" fmla="*/ 411290 h 411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8862" h="411289">
                    <a:moveTo>
                      <a:pt x="0" y="0"/>
                    </a:moveTo>
                    <a:lnTo>
                      <a:pt x="2328863" y="0"/>
                    </a:lnTo>
                    <a:lnTo>
                      <a:pt x="2328863" y="411290"/>
                    </a:lnTo>
                    <a:lnTo>
                      <a:pt x="0" y="411290"/>
                    </a:lnTo>
                    <a:close/>
                  </a:path>
                </a:pathLst>
              </a:custGeom>
              <a:gradFill flip="none" rotWithShape="1">
                <a:gsLst>
                  <a:gs pos="3000">
                    <a:schemeClr val="tx1">
                      <a:alpha val="3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9620B98-E13F-9EED-F67A-FBFF16824ECF}"/>
                </a:ext>
              </a:extLst>
            </p:cNvPr>
            <p:cNvGrpSpPr/>
            <p:nvPr/>
          </p:nvGrpSpPr>
          <p:grpSpPr>
            <a:xfrm>
              <a:off x="1077298" y="4089489"/>
              <a:ext cx="4138691" cy="1535075"/>
              <a:chOff x="4669134" y="1589744"/>
              <a:chExt cx="4083062" cy="1117994"/>
            </a:xfrm>
          </p:grpSpPr>
          <p:sp>
            <p:nvSpPr>
              <p:cNvPr id="13" name="Freeform: Shape 9">
                <a:extLst>
                  <a:ext uri="{FF2B5EF4-FFF2-40B4-BE49-F238E27FC236}">
                    <a16:creationId xmlns:a16="http://schemas.microsoft.com/office/drawing/2014/main" id="{F058FB24-D442-2025-6E21-4982562872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9134" y="1593391"/>
                <a:ext cx="4079074" cy="1114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B59E81B8-7C39-4124-F171-3657A65A77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3122" y="1589744"/>
                <a:ext cx="4079074" cy="1117994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alpha val="10000"/>
                    </a:schemeClr>
                  </a:gs>
                  <a:gs pos="100000">
                    <a:schemeClr val="tx1">
                      <a:lumMod val="10000"/>
                      <a:lumOff val="90000"/>
                      <a:alpha val="30000"/>
                    </a:schemeClr>
                  </a:gs>
                </a:gsLst>
                <a:lin ang="0" scaled="0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958725C-6960-E8D8-1CE1-846CBD4D7421}"/>
                </a:ext>
              </a:extLst>
            </p:cNvPr>
            <p:cNvGrpSpPr/>
            <p:nvPr/>
          </p:nvGrpSpPr>
          <p:grpSpPr>
            <a:xfrm>
              <a:off x="1204292" y="4102028"/>
              <a:ext cx="903599" cy="904381"/>
              <a:chOff x="457195" y="3621297"/>
              <a:chExt cx="2076188" cy="2183195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15FD216-C4F8-0693-6BF2-1751CA5E4F45}"/>
                  </a:ext>
                </a:extLst>
              </p:cNvPr>
              <p:cNvSpPr/>
              <p:nvPr/>
            </p:nvSpPr>
            <p:spPr>
              <a:xfrm>
                <a:off x="457195" y="3621298"/>
                <a:ext cx="2076188" cy="2183194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lIns="137160" tIns="137160" rIns="137160" bIns="137160">
                <a:noAutofit/>
              </a:bodyPr>
              <a:lstStyle/>
              <a:p>
                <a:pPr marL="128588" indent="-128588">
                  <a:lnSpc>
                    <a:spcPct val="94000"/>
                  </a:lnSpc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sz="105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8" name="Freeform: Shape 74">
                <a:extLst>
                  <a:ext uri="{FF2B5EF4-FFF2-40B4-BE49-F238E27FC236}">
                    <a16:creationId xmlns:a16="http://schemas.microsoft.com/office/drawing/2014/main" id="{9FA2DFDD-AE27-73C1-A7E6-F5B2298E1A6A}"/>
                  </a:ext>
                </a:extLst>
              </p:cNvPr>
              <p:cNvSpPr/>
              <p:nvPr/>
            </p:nvSpPr>
            <p:spPr>
              <a:xfrm flipH="1">
                <a:off x="457196" y="3621297"/>
                <a:ext cx="2076187" cy="1067060"/>
              </a:xfrm>
              <a:custGeom>
                <a:avLst/>
                <a:gdLst>
                  <a:gd name="connsiteX0" fmla="*/ 0 w 2328862"/>
                  <a:gd name="connsiteY0" fmla="*/ 0 h 411289"/>
                  <a:gd name="connsiteX1" fmla="*/ 2328863 w 2328862"/>
                  <a:gd name="connsiteY1" fmla="*/ 0 h 411289"/>
                  <a:gd name="connsiteX2" fmla="*/ 2328863 w 2328862"/>
                  <a:gd name="connsiteY2" fmla="*/ 411290 h 411289"/>
                  <a:gd name="connsiteX3" fmla="*/ 0 w 2328862"/>
                  <a:gd name="connsiteY3" fmla="*/ 411290 h 411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8862" h="411289">
                    <a:moveTo>
                      <a:pt x="0" y="0"/>
                    </a:moveTo>
                    <a:lnTo>
                      <a:pt x="2328863" y="0"/>
                    </a:lnTo>
                    <a:lnTo>
                      <a:pt x="2328863" y="411290"/>
                    </a:lnTo>
                    <a:lnTo>
                      <a:pt x="0" y="411290"/>
                    </a:lnTo>
                    <a:close/>
                  </a:path>
                </a:pathLst>
              </a:custGeom>
              <a:gradFill flip="none" rotWithShape="1">
                <a:gsLst>
                  <a:gs pos="3000">
                    <a:schemeClr val="tx1">
                      <a:alpha val="3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62D391B-63FD-D1D1-871D-D94A9914E36F}"/>
                </a:ext>
              </a:extLst>
            </p:cNvPr>
            <p:cNvGrpSpPr/>
            <p:nvPr/>
          </p:nvGrpSpPr>
          <p:grpSpPr>
            <a:xfrm>
              <a:off x="5319098" y="2209800"/>
              <a:ext cx="4134649" cy="1032073"/>
              <a:chOff x="4677110" y="1108710"/>
              <a:chExt cx="4079074" cy="751658"/>
            </a:xfrm>
          </p:grpSpPr>
          <p:sp>
            <p:nvSpPr>
              <p:cNvPr id="21" name="Freeform: Shape 9">
                <a:extLst>
                  <a:ext uri="{FF2B5EF4-FFF2-40B4-BE49-F238E27FC236}">
                    <a16:creationId xmlns:a16="http://schemas.microsoft.com/office/drawing/2014/main" id="{7606E9F1-DCE3-1AEA-AA14-EF28FD27D9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7110" y="1108710"/>
                <a:ext cx="4079074" cy="7516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2" name="Freeform: Shape 12">
                <a:extLst>
                  <a:ext uri="{FF2B5EF4-FFF2-40B4-BE49-F238E27FC236}">
                    <a16:creationId xmlns:a16="http://schemas.microsoft.com/office/drawing/2014/main" id="{12CE17DE-47CD-C278-6CA4-69AEC5514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7110" y="1108710"/>
                <a:ext cx="4079074" cy="751658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alpha val="10000"/>
                    </a:schemeClr>
                  </a:gs>
                  <a:gs pos="100000">
                    <a:schemeClr val="tx1">
                      <a:lumMod val="10000"/>
                      <a:lumOff val="90000"/>
                      <a:alpha val="30000"/>
                    </a:schemeClr>
                  </a:gs>
                </a:gsLst>
                <a:lin ang="0" scaled="0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9E78DF8-0157-180D-C23D-F9E7A572369F}"/>
                </a:ext>
              </a:extLst>
            </p:cNvPr>
            <p:cNvGrpSpPr/>
            <p:nvPr/>
          </p:nvGrpSpPr>
          <p:grpSpPr>
            <a:xfrm>
              <a:off x="5438005" y="2273646"/>
              <a:ext cx="903602" cy="904381"/>
              <a:chOff x="457193" y="2150717"/>
              <a:chExt cx="2076194" cy="2183194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9061F72-6E31-72F6-C26F-2EF66EEAD787}"/>
                  </a:ext>
                </a:extLst>
              </p:cNvPr>
              <p:cNvSpPr/>
              <p:nvPr/>
            </p:nvSpPr>
            <p:spPr>
              <a:xfrm>
                <a:off x="457198" y="2150717"/>
                <a:ext cx="2076189" cy="2183194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square" lIns="137160" tIns="137160" rIns="137160" bIns="137160">
                <a:noAutofit/>
              </a:bodyPr>
              <a:lstStyle/>
              <a:p>
                <a:pPr marL="128588" indent="-128588">
                  <a:lnSpc>
                    <a:spcPct val="94000"/>
                  </a:lnSpc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sz="105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6" name="Freeform: Shape 83">
                <a:extLst>
                  <a:ext uri="{FF2B5EF4-FFF2-40B4-BE49-F238E27FC236}">
                    <a16:creationId xmlns:a16="http://schemas.microsoft.com/office/drawing/2014/main" id="{01EF00BD-C09D-B3F3-47E3-0BE5D6D79938}"/>
                  </a:ext>
                </a:extLst>
              </p:cNvPr>
              <p:cNvSpPr/>
              <p:nvPr/>
            </p:nvSpPr>
            <p:spPr>
              <a:xfrm flipH="1">
                <a:off x="457193" y="2150717"/>
                <a:ext cx="2076187" cy="1161172"/>
              </a:xfrm>
              <a:custGeom>
                <a:avLst/>
                <a:gdLst>
                  <a:gd name="connsiteX0" fmla="*/ 0 w 2328862"/>
                  <a:gd name="connsiteY0" fmla="*/ 0 h 411289"/>
                  <a:gd name="connsiteX1" fmla="*/ 2328863 w 2328862"/>
                  <a:gd name="connsiteY1" fmla="*/ 0 h 411289"/>
                  <a:gd name="connsiteX2" fmla="*/ 2328863 w 2328862"/>
                  <a:gd name="connsiteY2" fmla="*/ 411290 h 411289"/>
                  <a:gd name="connsiteX3" fmla="*/ 0 w 2328862"/>
                  <a:gd name="connsiteY3" fmla="*/ 411290 h 411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8862" h="411289">
                    <a:moveTo>
                      <a:pt x="0" y="0"/>
                    </a:moveTo>
                    <a:lnTo>
                      <a:pt x="2328863" y="0"/>
                    </a:lnTo>
                    <a:lnTo>
                      <a:pt x="2328863" y="411290"/>
                    </a:lnTo>
                    <a:lnTo>
                      <a:pt x="0" y="411290"/>
                    </a:lnTo>
                    <a:close/>
                  </a:path>
                </a:pathLst>
              </a:custGeom>
              <a:gradFill flip="none" rotWithShape="1">
                <a:gsLst>
                  <a:gs pos="3000">
                    <a:schemeClr val="tx1">
                      <a:alpha val="3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5DAB7A3-D6AA-0937-BBE6-00EA75C8AE13}"/>
                </a:ext>
              </a:extLst>
            </p:cNvPr>
            <p:cNvGrpSpPr/>
            <p:nvPr/>
          </p:nvGrpSpPr>
          <p:grpSpPr>
            <a:xfrm>
              <a:off x="6382405" y="3923122"/>
              <a:ext cx="3075384" cy="1040571"/>
              <a:chOff x="5726125" y="1468579"/>
              <a:chExt cx="3034047" cy="757847"/>
            </a:xfrm>
          </p:grpSpPr>
          <p:sp>
            <p:nvSpPr>
              <p:cNvPr id="29" name="Freeform: Shape 9">
                <a:extLst>
                  <a:ext uri="{FF2B5EF4-FFF2-40B4-BE49-F238E27FC236}">
                    <a16:creationId xmlns:a16="http://schemas.microsoft.com/office/drawing/2014/main" id="{A081E997-3D98-8137-48B0-9B1E88C6A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26125" y="1474768"/>
                <a:ext cx="3030059" cy="7516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30" name="Freeform: Shape 12">
                <a:extLst>
                  <a:ext uri="{FF2B5EF4-FFF2-40B4-BE49-F238E27FC236}">
                    <a16:creationId xmlns:a16="http://schemas.microsoft.com/office/drawing/2014/main" id="{12F17A04-B252-229F-D3E0-F9E714EDF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0113" y="1468579"/>
                <a:ext cx="3030059" cy="751658"/>
              </a:xfrm>
              <a:prstGeom prst="rect">
                <a:avLst/>
              </a:pr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alpha val="10000"/>
                    </a:schemeClr>
                  </a:gs>
                  <a:gs pos="100000">
                    <a:schemeClr val="tx1">
                      <a:lumMod val="10000"/>
                      <a:lumOff val="90000"/>
                      <a:alpha val="30000"/>
                    </a:schemeClr>
                  </a:gs>
                </a:gsLst>
                <a:lin ang="0" scaled="0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696C2D3-1FA8-C209-77DA-DA50B153DD72}"/>
                </a:ext>
              </a:extLst>
            </p:cNvPr>
            <p:cNvGrpSpPr/>
            <p:nvPr/>
          </p:nvGrpSpPr>
          <p:grpSpPr>
            <a:xfrm>
              <a:off x="5476785" y="3945134"/>
              <a:ext cx="903599" cy="1010060"/>
              <a:chOff x="546297" y="3242548"/>
              <a:chExt cx="2076188" cy="2438307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12AFB87-4C5A-3EC4-0AB4-8C3EC030106A}"/>
                  </a:ext>
                </a:extLst>
              </p:cNvPr>
              <p:cNvSpPr/>
              <p:nvPr/>
            </p:nvSpPr>
            <p:spPr>
              <a:xfrm>
                <a:off x="546299" y="3242548"/>
                <a:ext cx="2076186" cy="2438307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lIns="137160" tIns="137160" rIns="137160" bIns="137160">
                <a:noAutofit/>
              </a:bodyPr>
              <a:lstStyle/>
              <a:p>
                <a:pPr marL="128588" indent="-128588">
                  <a:lnSpc>
                    <a:spcPct val="94000"/>
                  </a:lnSpc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sz="105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4" name="Freeform: Shape 101">
                <a:extLst>
                  <a:ext uri="{FF2B5EF4-FFF2-40B4-BE49-F238E27FC236}">
                    <a16:creationId xmlns:a16="http://schemas.microsoft.com/office/drawing/2014/main" id="{A8C7719A-3519-2C83-65FF-A38DD4803083}"/>
                  </a:ext>
                </a:extLst>
              </p:cNvPr>
              <p:cNvSpPr/>
              <p:nvPr/>
            </p:nvSpPr>
            <p:spPr>
              <a:xfrm flipH="1">
                <a:off x="546297" y="3245365"/>
                <a:ext cx="2076188" cy="1119536"/>
              </a:xfrm>
              <a:custGeom>
                <a:avLst/>
                <a:gdLst>
                  <a:gd name="connsiteX0" fmla="*/ 0 w 2328862"/>
                  <a:gd name="connsiteY0" fmla="*/ 0 h 411289"/>
                  <a:gd name="connsiteX1" fmla="*/ 2328863 w 2328862"/>
                  <a:gd name="connsiteY1" fmla="*/ 0 h 411289"/>
                  <a:gd name="connsiteX2" fmla="*/ 2328863 w 2328862"/>
                  <a:gd name="connsiteY2" fmla="*/ 411290 h 411289"/>
                  <a:gd name="connsiteX3" fmla="*/ 0 w 2328862"/>
                  <a:gd name="connsiteY3" fmla="*/ 411290 h 411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8862" h="411289">
                    <a:moveTo>
                      <a:pt x="0" y="0"/>
                    </a:moveTo>
                    <a:lnTo>
                      <a:pt x="2328863" y="0"/>
                    </a:lnTo>
                    <a:lnTo>
                      <a:pt x="2328863" y="411290"/>
                    </a:lnTo>
                    <a:lnTo>
                      <a:pt x="0" y="411290"/>
                    </a:lnTo>
                    <a:close/>
                  </a:path>
                </a:pathLst>
              </a:custGeom>
              <a:gradFill flip="none" rotWithShape="1">
                <a:gsLst>
                  <a:gs pos="3000">
                    <a:schemeClr val="tx1">
                      <a:alpha val="3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8C089BC6-F24A-32BF-B62D-D052586EC522}"/>
              </a:ext>
            </a:extLst>
          </p:cNvPr>
          <p:cNvSpPr txBox="1"/>
          <p:nvPr/>
        </p:nvSpPr>
        <p:spPr>
          <a:xfrm>
            <a:off x="2019405" y="1633103"/>
            <a:ext cx="37445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Shift from from “nutritional rehabilitation </a:t>
            </a:r>
            <a:r>
              <a:rPr lang="en-KE" altLang="en-KE" sz="18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post-disease,</a:t>
            </a:r>
            <a:r>
              <a:rPr lang="en-KE" altLang="en-KE" sz="1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 to nutrition as </a:t>
            </a:r>
            <a:r>
              <a:rPr lang="en-KE" altLang="en-KE" sz="18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primary prevention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81DC426-CEB2-F609-4EAD-36DEE52C5832}"/>
              </a:ext>
            </a:extLst>
          </p:cNvPr>
          <p:cNvSpPr txBox="1"/>
          <p:nvPr/>
        </p:nvSpPr>
        <p:spPr>
          <a:xfrm>
            <a:off x="1934686" y="4188004"/>
            <a:ext cx="4161313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“nutrition as prevention” concept argues that </a:t>
            </a:r>
            <a:r>
              <a:rPr lang="en-KE" altLang="en-KE" sz="18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improving nutritional status in high-risk or general populations </a:t>
            </a:r>
            <a:r>
              <a:rPr lang="en-KE" altLang="en-KE" sz="1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reduce TB incidence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KE" altLang="en-KE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8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Bhargava et al., 2023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KE" altLang="en-KE" sz="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9700" lvl="1" indent="-1143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KE" altLang="en-KE" sz="14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RATIONS trial is among the first RCTs to test this concept: supplementation to household contacts of TB patients reduced incident TB in contacts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036B2AD-75E5-1775-F344-3C35CB84BB35}"/>
              </a:ext>
            </a:extLst>
          </p:cNvPr>
          <p:cNvSpPr txBox="1"/>
          <p:nvPr/>
        </p:nvSpPr>
        <p:spPr>
          <a:xfrm>
            <a:off x="7691466" y="1462863"/>
            <a:ext cx="40598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8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Modeling studies: </a:t>
            </a:r>
            <a:r>
              <a:rPr lang="en-KE" altLang="en-KE" sz="1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nutritional support is cost-effective: to prevent </a:t>
            </a:r>
            <a:r>
              <a:rPr lang="en-KE" altLang="en-KE" sz="18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TB episode, a median of 10 households </a:t>
            </a:r>
            <a:r>
              <a:rPr lang="en-KE" altLang="en-KE" sz="1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need support; </a:t>
            </a:r>
            <a:r>
              <a:rPr lang="en-KE" altLang="en-KE" sz="18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TB death prevented requires 24.4 households </a:t>
            </a:r>
            <a:r>
              <a:rPr lang="en-KE" altLang="en-KE" sz="1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receiving support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McQuiaid &amp; Clark, 2024</a:t>
            </a:r>
            <a:endParaRPr lang="en-KE" altLang="en-KE" sz="1800" i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Rectangle 1">
            <a:extLst>
              <a:ext uri="{FF2B5EF4-FFF2-40B4-BE49-F238E27FC236}">
                <a16:creationId xmlns:a16="http://schemas.microsoft.com/office/drawing/2014/main" id="{C4C5C4BF-8CBA-2087-1636-C8764AAF8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779" y="3834062"/>
            <a:ext cx="399924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 as a protective intervention with population-level yield “</a:t>
            </a:r>
            <a:r>
              <a:rPr lang="en-KE" altLang="en-KE" sz="18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adequate balanced food (ABF) as a vaccine</a:t>
            </a:r>
            <a:r>
              <a:rPr lang="en-KE" altLang="en-KE" sz="1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 metaphorically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KE" altLang="en-KE" sz="18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8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Bhargava, A. 2025, PLOS Editorial</a:t>
            </a:r>
          </a:p>
        </p:txBody>
      </p:sp>
      <p:pic>
        <p:nvPicPr>
          <p:cNvPr id="75" name="Graphic 74" descr="Fruit bowl with solid fill">
            <a:extLst>
              <a:ext uri="{FF2B5EF4-FFF2-40B4-BE49-F238E27FC236}">
                <a16:creationId xmlns:a16="http://schemas.microsoft.com/office/drawing/2014/main" id="{401D6A56-1E0F-AD2F-BCCC-F976E0485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653" y="1809408"/>
            <a:ext cx="914400" cy="914400"/>
          </a:xfrm>
          <a:prstGeom prst="rect">
            <a:avLst/>
          </a:prstGeom>
        </p:spPr>
      </p:pic>
      <p:pic>
        <p:nvPicPr>
          <p:cNvPr id="77" name="Graphic 76" descr="Books with solid fill">
            <a:extLst>
              <a:ext uri="{FF2B5EF4-FFF2-40B4-BE49-F238E27FC236}">
                <a16:creationId xmlns:a16="http://schemas.microsoft.com/office/drawing/2014/main" id="{060BF4DA-5136-B189-8CF1-6031FBA8BD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1096" y="1809408"/>
            <a:ext cx="914400" cy="914400"/>
          </a:xfrm>
          <a:prstGeom prst="rect">
            <a:avLst/>
          </a:prstGeom>
        </p:spPr>
      </p:pic>
      <p:pic>
        <p:nvPicPr>
          <p:cNvPr id="79" name="Graphic 78" descr="Lungs with virus with solid fill">
            <a:extLst>
              <a:ext uri="{FF2B5EF4-FFF2-40B4-BE49-F238E27FC236}">
                <a16:creationId xmlns:a16="http://schemas.microsoft.com/office/drawing/2014/main" id="{FE4A7133-6E6A-DB1D-14AC-8B8430E924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5046" y="4412171"/>
            <a:ext cx="914400" cy="914400"/>
          </a:xfrm>
          <a:prstGeom prst="rect">
            <a:avLst/>
          </a:prstGeom>
        </p:spPr>
      </p:pic>
      <p:pic>
        <p:nvPicPr>
          <p:cNvPr id="81" name="Graphic 80" descr="Newspaper with solid fill">
            <a:extLst>
              <a:ext uri="{FF2B5EF4-FFF2-40B4-BE49-F238E27FC236}">
                <a16:creationId xmlns:a16="http://schemas.microsoft.com/office/drawing/2014/main" id="{476EB833-3F44-3FE5-2C26-188AD15BDD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32662" y="43361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915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9A6B-EEDF-84D4-2A53-C14A7FD91A7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0500" y="158749"/>
            <a:ext cx="8674100" cy="522288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+mn-lt"/>
              </a:rPr>
              <a:t>Mechanisms: How Exactly Nutrition Prevents TB</a:t>
            </a:r>
            <a:endParaRPr lang="en-KE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Freeform: Shape 9">
            <a:extLst>
              <a:ext uri="{FF2B5EF4-FFF2-40B4-BE49-F238E27FC236}">
                <a16:creationId xmlns:a16="http://schemas.microsoft.com/office/drawing/2014/main" id="{94C6807A-C102-8CA3-576F-DCD6FDA3EEBF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2742530" y="-1087315"/>
            <a:ext cx="1135149" cy="562008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34E36F-E612-3BB1-0BE7-CD0D46AF5321}"/>
              </a:ext>
            </a:extLst>
          </p:cNvPr>
          <p:cNvSpPr/>
          <p:nvPr/>
        </p:nvSpPr>
        <p:spPr>
          <a:xfrm flipH="1">
            <a:off x="1615415" y="1491899"/>
            <a:ext cx="4354121" cy="461665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lang="en-GB" sz="1500" b="1" dirty="0">
                <a:solidFill>
                  <a:schemeClr val="bg1">
                    <a:lumMod val="95000"/>
                  </a:schemeClr>
                </a:solidFill>
              </a:rPr>
              <a:t>Nutrition modulates multiple biological pathways relevant to TB immunity</a:t>
            </a:r>
            <a:endParaRPr lang="en-GB" sz="1500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8F0D249-61AE-EA01-688D-9481D88C6EC9}"/>
              </a:ext>
            </a:extLst>
          </p:cNvPr>
          <p:cNvGrpSpPr/>
          <p:nvPr/>
        </p:nvGrpSpPr>
        <p:grpSpPr>
          <a:xfrm>
            <a:off x="517106" y="1400745"/>
            <a:ext cx="652433" cy="652433"/>
            <a:chOff x="429632" y="1129266"/>
            <a:chExt cx="750570" cy="75057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B8E42D0-2516-A871-2A76-C19D2BB554B4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6711FA3-4D09-9AF8-E2F6-8B0ABD131238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01</a:t>
              </a:r>
              <a:endPara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9" name="Freeform: Shape 69">
            <a:extLst>
              <a:ext uri="{FF2B5EF4-FFF2-40B4-BE49-F238E27FC236}">
                <a16:creationId xmlns:a16="http://schemas.microsoft.com/office/drawing/2014/main" id="{16944C62-1832-310E-51DB-C3EC724EEF5B}"/>
              </a:ext>
            </a:extLst>
          </p:cNvPr>
          <p:cNvSpPr/>
          <p:nvPr/>
        </p:nvSpPr>
        <p:spPr>
          <a:xfrm>
            <a:off x="945936" y="1200053"/>
            <a:ext cx="485744" cy="1045352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320FA38-9FED-34D9-6A35-8EF36830DE5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06142" y="-992689"/>
            <a:ext cx="1324402" cy="562008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2E138-3C51-68BE-495F-D1E73F23EB4A}"/>
              </a:ext>
            </a:extLst>
          </p:cNvPr>
          <p:cNvSpPr/>
          <p:nvPr/>
        </p:nvSpPr>
        <p:spPr>
          <a:xfrm>
            <a:off x="6413610" y="1355690"/>
            <a:ext cx="4433066" cy="923330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lang="en-GB" sz="1500" b="1" dirty="0">
                <a:solidFill>
                  <a:schemeClr val="bg1">
                    <a:lumMod val="95000"/>
                  </a:schemeClr>
                </a:solidFill>
              </a:rPr>
              <a:t>Barrier &amp; mucosal integrity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bg1">
                    <a:lumMod val="95000"/>
                  </a:schemeClr>
                </a:solidFill>
              </a:rPr>
              <a:t>Good nutrition supports mucosal surfaces</a:t>
            </a:r>
            <a:r>
              <a:rPr lang="en-GB" sz="1500" b="1" dirty="0">
                <a:solidFill>
                  <a:schemeClr val="bg1">
                    <a:lumMod val="95000"/>
                  </a:schemeClr>
                </a:solidFill>
              </a:rPr>
              <a:t>, lung tissue integrity</a:t>
            </a:r>
            <a:r>
              <a:rPr lang="en-GB" sz="1500" dirty="0">
                <a:solidFill>
                  <a:schemeClr val="bg1">
                    <a:lumMod val="95000"/>
                  </a:schemeClr>
                </a:solidFill>
              </a:rPr>
              <a:t>, antioxidant </a:t>
            </a:r>
            <a:r>
              <a:rPr lang="en-GB" sz="1500" dirty="0" err="1">
                <a:solidFill>
                  <a:schemeClr val="bg1">
                    <a:lumMod val="95000"/>
                  </a:schemeClr>
                </a:solidFill>
              </a:rPr>
              <a:t>defenses</a:t>
            </a:r>
            <a:r>
              <a:rPr lang="en-GB" sz="1500" dirty="0">
                <a:solidFill>
                  <a:schemeClr val="bg1">
                    <a:lumMod val="95000"/>
                  </a:schemeClr>
                </a:solidFill>
              </a:rPr>
              <a:t>, reducing damage that may facilitate bacilli entry/proliferation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2505D9-CC92-34C0-1017-000B8272BC32}"/>
              </a:ext>
            </a:extLst>
          </p:cNvPr>
          <p:cNvGrpSpPr/>
          <p:nvPr/>
        </p:nvGrpSpPr>
        <p:grpSpPr>
          <a:xfrm flipH="1">
            <a:off x="11189002" y="1459085"/>
            <a:ext cx="632535" cy="632535"/>
            <a:chOff x="429632" y="1129266"/>
            <a:chExt cx="750570" cy="75057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DB0A46D-831F-AC87-A1D1-EAAE49085D61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85132FB-7BC0-33D8-6B86-1AF00DEFEE67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04</a:t>
              </a:r>
              <a:endPara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15" name="Freeform: Shape 75">
            <a:extLst>
              <a:ext uri="{FF2B5EF4-FFF2-40B4-BE49-F238E27FC236}">
                <a16:creationId xmlns:a16="http://schemas.microsoft.com/office/drawing/2014/main" id="{2AFA7445-202A-2C8E-ED88-33DE8F7AE1AB}"/>
              </a:ext>
            </a:extLst>
          </p:cNvPr>
          <p:cNvSpPr/>
          <p:nvPr/>
        </p:nvSpPr>
        <p:spPr>
          <a:xfrm flipH="1">
            <a:off x="10903527" y="1277077"/>
            <a:ext cx="485744" cy="1045352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6" name="Freeform: Shape 9">
            <a:extLst>
              <a:ext uri="{FF2B5EF4-FFF2-40B4-BE49-F238E27FC236}">
                <a16:creationId xmlns:a16="http://schemas.microsoft.com/office/drawing/2014/main" id="{3DE4433E-6898-5B13-ABA8-E6606AB5E658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2502189" y="347392"/>
            <a:ext cx="1615826" cy="562008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0A9193-D771-6F3F-37D8-3E27F10F2DE3}"/>
              </a:ext>
            </a:extLst>
          </p:cNvPr>
          <p:cNvSpPr/>
          <p:nvPr/>
        </p:nvSpPr>
        <p:spPr>
          <a:xfrm flipH="1">
            <a:off x="1641174" y="2364141"/>
            <a:ext cx="4478972" cy="1615827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lang="en-GB" sz="1500" b="1" dirty="0">
                <a:solidFill>
                  <a:schemeClr val="bg1">
                    <a:lumMod val="95000"/>
                  </a:schemeClr>
                </a:solidFill>
              </a:rPr>
              <a:t>Macronutrients &amp; energy reserves</a:t>
            </a:r>
          </a:p>
          <a:p>
            <a:pPr marL="179388" indent="-144463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bg1">
                    <a:lumMod val="95000"/>
                  </a:schemeClr>
                </a:solidFill>
              </a:rPr>
              <a:t>Adequate energy/protein allows </a:t>
            </a:r>
            <a:r>
              <a:rPr lang="en-GB" sz="1500" b="1" dirty="0">
                <a:solidFill>
                  <a:schemeClr val="bg1">
                    <a:lumMod val="95000"/>
                  </a:schemeClr>
                </a:solidFill>
              </a:rPr>
              <a:t>maintenance of immune cell function</a:t>
            </a:r>
            <a:r>
              <a:rPr lang="en-GB" sz="1500" dirty="0">
                <a:solidFill>
                  <a:schemeClr val="bg1">
                    <a:lumMod val="95000"/>
                  </a:schemeClr>
                </a:solidFill>
              </a:rPr>
              <a:t>, supports cell proliferation, repair</a:t>
            </a:r>
          </a:p>
          <a:p>
            <a:pPr marL="179388" indent="-144463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bg1">
                    <a:lumMod val="95000"/>
                  </a:schemeClr>
                </a:solidFill>
              </a:rPr>
              <a:t>Severe calorie/protein deficiency leads to thymic atrophy, lymphopenia, impaired cell-mediated immunity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84F2CA-BC0F-9916-A4B3-DF6EDBEE7F8B}"/>
              </a:ext>
            </a:extLst>
          </p:cNvPr>
          <p:cNvGrpSpPr/>
          <p:nvPr/>
        </p:nvGrpSpPr>
        <p:grpSpPr>
          <a:xfrm>
            <a:off x="541695" y="2806951"/>
            <a:ext cx="652433" cy="652433"/>
            <a:chOff x="429632" y="1129266"/>
            <a:chExt cx="750570" cy="75057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2B57B49-739E-C622-3DE3-CE403BC7CF2A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438C4B7-EAE3-3EF0-EA76-F1BA59D3A55C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02</a:t>
              </a:r>
              <a:endPara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21" name="Freeform: Shape 82">
            <a:extLst>
              <a:ext uri="{FF2B5EF4-FFF2-40B4-BE49-F238E27FC236}">
                <a16:creationId xmlns:a16="http://schemas.microsoft.com/office/drawing/2014/main" id="{57E286F9-BB5F-1231-8272-029B070B3E41}"/>
              </a:ext>
            </a:extLst>
          </p:cNvPr>
          <p:cNvSpPr/>
          <p:nvPr/>
        </p:nvSpPr>
        <p:spPr>
          <a:xfrm>
            <a:off x="992894" y="2614621"/>
            <a:ext cx="485744" cy="1045352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22" name="Freeform: Shape 9">
            <a:extLst>
              <a:ext uri="{FF2B5EF4-FFF2-40B4-BE49-F238E27FC236}">
                <a16:creationId xmlns:a16="http://schemas.microsoft.com/office/drawing/2014/main" id="{2399C888-AE9F-5B74-92E8-2F1181D23DD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310829" y="472284"/>
            <a:ext cx="1515028" cy="562008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8A068A-CB73-EA9F-00AD-06748F295F50}"/>
              </a:ext>
            </a:extLst>
          </p:cNvPr>
          <p:cNvSpPr/>
          <p:nvPr/>
        </p:nvSpPr>
        <p:spPr>
          <a:xfrm>
            <a:off x="6426642" y="2801503"/>
            <a:ext cx="4467875" cy="923330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lang="en-GB" sz="1500" b="1" dirty="0">
                <a:solidFill>
                  <a:schemeClr val="bg1">
                    <a:lumMod val="95000"/>
                  </a:schemeClr>
                </a:solidFill>
              </a:rPr>
              <a:t>Reduced immune exhaustion / better resilience</a:t>
            </a:r>
          </a:p>
          <a:p>
            <a:pPr marL="168275" indent="-168275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bg1">
                    <a:lumMod val="95000"/>
                  </a:schemeClr>
                </a:solidFill>
              </a:rPr>
              <a:t>In malnourished states, </a:t>
            </a:r>
            <a:r>
              <a:rPr lang="en-GB" sz="1500" b="1" dirty="0">
                <a:solidFill>
                  <a:schemeClr val="bg1">
                    <a:lumMod val="95000"/>
                  </a:schemeClr>
                </a:solidFill>
              </a:rPr>
              <a:t>chronic inflammation, metabolic stress, </a:t>
            </a:r>
            <a:r>
              <a:rPr lang="en-GB" sz="1500" dirty="0">
                <a:solidFill>
                  <a:schemeClr val="bg1">
                    <a:lumMod val="95000"/>
                  </a:schemeClr>
                </a:solidFill>
              </a:rPr>
              <a:t>oxidative stress weaken host control mechanisms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86FD55-C19C-C11D-05C5-0EC5FFE84EC7}"/>
              </a:ext>
            </a:extLst>
          </p:cNvPr>
          <p:cNvGrpSpPr/>
          <p:nvPr/>
        </p:nvGrpSpPr>
        <p:grpSpPr>
          <a:xfrm flipH="1">
            <a:off x="11189002" y="2945055"/>
            <a:ext cx="632535" cy="632535"/>
            <a:chOff x="429632" y="1129266"/>
            <a:chExt cx="750570" cy="75057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101D01C-7654-9141-D728-9AA7D5101C4E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B885044-3C59-ACA1-57E7-43F5252343E9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05</a:t>
              </a:r>
              <a:endPara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27" name="Freeform: Shape 89">
            <a:extLst>
              <a:ext uri="{FF2B5EF4-FFF2-40B4-BE49-F238E27FC236}">
                <a16:creationId xmlns:a16="http://schemas.microsoft.com/office/drawing/2014/main" id="{ED3D6978-95F2-DD71-50DB-53B0AE5A0764}"/>
              </a:ext>
            </a:extLst>
          </p:cNvPr>
          <p:cNvSpPr/>
          <p:nvPr/>
        </p:nvSpPr>
        <p:spPr>
          <a:xfrm flipH="1">
            <a:off x="10927176" y="2765656"/>
            <a:ext cx="485744" cy="1045352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28" name="Freeform: Shape 9">
            <a:extLst>
              <a:ext uri="{FF2B5EF4-FFF2-40B4-BE49-F238E27FC236}">
                <a16:creationId xmlns:a16="http://schemas.microsoft.com/office/drawing/2014/main" id="{7A1AB7FC-636F-36A2-E7D1-3A89884735BB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2066047" y="2489409"/>
            <a:ext cx="2439342" cy="562008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29BC4F-1812-A975-DBEC-A39F6FC9F62D}"/>
              </a:ext>
            </a:extLst>
          </p:cNvPr>
          <p:cNvSpPr/>
          <p:nvPr/>
        </p:nvSpPr>
        <p:spPr>
          <a:xfrm flipH="1">
            <a:off x="1520312" y="4140453"/>
            <a:ext cx="4483558" cy="2308324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lang="en-GB" sz="1500" b="1" dirty="0">
                <a:solidFill>
                  <a:schemeClr val="bg1">
                    <a:lumMod val="95000"/>
                  </a:schemeClr>
                </a:solidFill>
              </a:rPr>
              <a:t>Micronutrients &amp; cofactors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bg1">
                    <a:lumMod val="95000"/>
                  </a:schemeClr>
                </a:solidFill>
              </a:rPr>
              <a:t>Vitamins A, D, E, C, B complex, zinc, iron, selenium, magnesium, etc. are important for innate and adaptive immunity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bg1">
                    <a:lumMod val="95000"/>
                  </a:schemeClr>
                </a:solidFill>
              </a:rPr>
              <a:t>Vitamin D, in particular, has been studied intensively: it </a:t>
            </a:r>
            <a:r>
              <a:rPr lang="en-GB" sz="1500" b="1" dirty="0">
                <a:solidFill>
                  <a:schemeClr val="bg1">
                    <a:lumMod val="95000"/>
                  </a:schemeClr>
                </a:solidFill>
              </a:rPr>
              <a:t>enhances macrophage function, induction of antimicrobial peptides</a:t>
            </a:r>
            <a:r>
              <a:rPr lang="en-GB" sz="1500" dirty="0">
                <a:solidFill>
                  <a:schemeClr val="bg1">
                    <a:lumMod val="95000"/>
                  </a:schemeClr>
                </a:solidFill>
              </a:rPr>
              <a:t> (e.g. </a:t>
            </a:r>
            <a:r>
              <a:rPr lang="en-GB" sz="1500" dirty="0" err="1">
                <a:solidFill>
                  <a:schemeClr val="bg1">
                    <a:lumMod val="95000"/>
                  </a:schemeClr>
                </a:solidFill>
              </a:rPr>
              <a:t>cathelicidin</a:t>
            </a:r>
            <a:r>
              <a:rPr lang="en-GB" sz="1500" dirty="0">
                <a:solidFill>
                  <a:schemeClr val="bg1">
                    <a:lumMod val="95000"/>
                  </a:schemeClr>
                </a:solidFill>
              </a:rPr>
              <a:t>/LL-37) via VDR, modulates cytokine environment (IL-1, IL-10, IFN-</a:t>
            </a:r>
            <a:r>
              <a:rPr lang="el-GR" sz="1500" dirty="0">
                <a:solidFill>
                  <a:schemeClr val="bg1">
                    <a:lumMod val="95000"/>
                  </a:schemeClr>
                </a:solidFill>
              </a:rPr>
              <a:t>γ) </a:t>
            </a:r>
            <a:br>
              <a:rPr lang="en-GB" sz="15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GB" sz="1500" dirty="0">
                <a:solidFill>
                  <a:schemeClr val="bg1">
                    <a:lumMod val="95000"/>
                  </a:schemeClr>
                </a:solidFill>
              </a:rPr>
              <a:t>Deficiencies in micronutrients may tilt the immune balance in </a:t>
            </a:r>
            <a:r>
              <a:rPr lang="en-GB" sz="1500" dirty="0" err="1">
                <a:solidFill>
                  <a:schemeClr val="bg1">
                    <a:lumMod val="95000"/>
                  </a:schemeClr>
                </a:solidFill>
              </a:rPr>
              <a:t>favor</a:t>
            </a:r>
            <a:r>
              <a:rPr lang="en-GB" sz="1500" dirty="0">
                <a:solidFill>
                  <a:schemeClr val="bg1">
                    <a:lumMod val="95000"/>
                  </a:schemeClr>
                </a:solidFill>
              </a:rPr>
              <a:t> of TB bacillary survival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80E6015-B555-2E65-1793-CFD19CB316D3}"/>
              </a:ext>
            </a:extLst>
          </p:cNvPr>
          <p:cNvGrpSpPr/>
          <p:nvPr/>
        </p:nvGrpSpPr>
        <p:grpSpPr>
          <a:xfrm>
            <a:off x="491635" y="4964967"/>
            <a:ext cx="708626" cy="708626"/>
            <a:chOff x="429632" y="1129266"/>
            <a:chExt cx="750570" cy="75057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1AE3944-FD95-3EDB-5FF9-29DD2EB89E88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41D2F3D-1515-B9B8-70CA-AC08927B8B85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03</a:t>
              </a:r>
              <a:endPara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33" name="Freeform: Shape 96">
            <a:extLst>
              <a:ext uri="{FF2B5EF4-FFF2-40B4-BE49-F238E27FC236}">
                <a16:creationId xmlns:a16="http://schemas.microsoft.com/office/drawing/2014/main" id="{659246E2-714B-6D9F-0F3F-6C8ADEF51596}"/>
              </a:ext>
            </a:extLst>
          </p:cNvPr>
          <p:cNvSpPr/>
          <p:nvPr/>
        </p:nvSpPr>
        <p:spPr>
          <a:xfrm>
            <a:off x="1017650" y="4784726"/>
            <a:ext cx="410770" cy="1045352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34" name="Freeform: Shape 9">
            <a:extLst>
              <a:ext uri="{FF2B5EF4-FFF2-40B4-BE49-F238E27FC236}">
                <a16:creationId xmlns:a16="http://schemas.microsoft.com/office/drawing/2014/main" id="{2741FD10-7AA8-A39F-F148-C2004A56F9B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500769" y="1912892"/>
            <a:ext cx="1135149" cy="562008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541E0C-67C8-F63E-65BA-9E98E02508C7}"/>
              </a:ext>
            </a:extLst>
          </p:cNvPr>
          <p:cNvSpPr/>
          <p:nvPr/>
        </p:nvSpPr>
        <p:spPr>
          <a:xfrm>
            <a:off x="6408910" y="4376689"/>
            <a:ext cx="4433066" cy="692497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lang="en-GB" sz="1500" b="1" dirty="0">
                <a:solidFill>
                  <a:schemeClr val="bg1">
                    <a:lumMod val="95000"/>
                  </a:schemeClr>
                </a:solidFill>
              </a:rPr>
              <a:t>Modulation of latent infection dynamics</a:t>
            </a:r>
          </a:p>
          <a:p>
            <a:pPr marL="168275" indent="-168275"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chemeClr val="bg1">
                    <a:lumMod val="95000"/>
                  </a:schemeClr>
                </a:solidFill>
              </a:rPr>
              <a:t>In persons with latent TB infection (LTBI), better immunity may </a:t>
            </a:r>
            <a:r>
              <a:rPr lang="en-GB" sz="1500" b="1" dirty="0">
                <a:solidFill>
                  <a:schemeClr val="bg1">
                    <a:lumMod val="95000"/>
                  </a:schemeClr>
                </a:solidFill>
              </a:rPr>
              <a:t>reduce the chance of reactivation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D3CE4A8-2FA3-EFB9-1E82-EB7713AF21C2}"/>
              </a:ext>
            </a:extLst>
          </p:cNvPr>
          <p:cNvGrpSpPr/>
          <p:nvPr/>
        </p:nvGrpSpPr>
        <p:grpSpPr>
          <a:xfrm flipH="1">
            <a:off x="11189002" y="4399998"/>
            <a:ext cx="632535" cy="632535"/>
            <a:chOff x="429632" y="1129266"/>
            <a:chExt cx="750570" cy="75057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95901EA-4BE3-1FCD-B0F7-00E2428BBA00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6DE9C17-BC8D-2CD5-F7B8-FFBB914E25E8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06</a:t>
              </a:r>
              <a:endPara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39" name="Freeform: Shape 103">
            <a:extLst>
              <a:ext uri="{FF2B5EF4-FFF2-40B4-BE49-F238E27FC236}">
                <a16:creationId xmlns:a16="http://schemas.microsoft.com/office/drawing/2014/main" id="{9BDF8141-1E75-0A8B-24EE-BC0255A647DD}"/>
              </a:ext>
            </a:extLst>
          </p:cNvPr>
          <p:cNvSpPr/>
          <p:nvPr/>
        </p:nvSpPr>
        <p:spPr>
          <a:xfrm flipH="1">
            <a:off x="10894517" y="4200260"/>
            <a:ext cx="485744" cy="1045352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46" name="Freeform: Shape 9">
            <a:extLst>
              <a:ext uri="{FF2B5EF4-FFF2-40B4-BE49-F238E27FC236}">
                <a16:creationId xmlns:a16="http://schemas.microsoft.com/office/drawing/2014/main" id="{09684488-FE60-E30C-D087-1073204FD4A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500769" y="3107260"/>
            <a:ext cx="1135149" cy="562008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707A9F-9B6D-203B-594B-314F814996AC}"/>
              </a:ext>
            </a:extLst>
          </p:cNvPr>
          <p:cNvSpPr/>
          <p:nvPr/>
        </p:nvSpPr>
        <p:spPr>
          <a:xfrm>
            <a:off x="6494527" y="5482933"/>
            <a:ext cx="4409000" cy="692497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r>
              <a:rPr lang="en-GB" sz="1500" dirty="0">
                <a:solidFill>
                  <a:schemeClr val="bg1">
                    <a:lumMod val="95000"/>
                  </a:schemeClr>
                </a:solidFill>
              </a:rPr>
              <a:t>Thus, nutrition acts as a potentiator of host resistance (i.e. “host-directed prevention”) complementing biomedical TB prevention tools.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ED3AFA7-BB89-5A29-D2E1-929B3BB9C85A}"/>
              </a:ext>
            </a:extLst>
          </p:cNvPr>
          <p:cNvGrpSpPr/>
          <p:nvPr/>
        </p:nvGrpSpPr>
        <p:grpSpPr>
          <a:xfrm flipH="1">
            <a:off x="11189003" y="5596718"/>
            <a:ext cx="632535" cy="632535"/>
            <a:chOff x="429632" y="1129266"/>
            <a:chExt cx="750570" cy="750570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87F9E90-F034-1E7F-4D97-3DE07FFAB905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D8221A-1B2D-5DCC-E67D-2231D31FF960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07</a:t>
              </a:r>
              <a:endPara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51" name="Freeform: Shape 117">
            <a:extLst>
              <a:ext uri="{FF2B5EF4-FFF2-40B4-BE49-F238E27FC236}">
                <a16:creationId xmlns:a16="http://schemas.microsoft.com/office/drawing/2014/main" id="{0F91A2CA-9D8C-19CE-D446-354C4FCEE3BE}"/>
              </a:ext>
            </a:extLst>
          </p:cNvPr>
          <p:cNvSpPr/>
          <p:nvPr/>
        </p:nvSpPr>
        <p:spPr>
          <a:xfrm flipH="1">
            <a:off x="10872655" y="5394889"/>
            <a:ext cx="485744" cy="1045352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9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04800" y="241301"/>
            <a:ext cx="4813300" cy="385308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chemeClr val="bg1"/>
                </a:solidFill>
                <a:latin typeface="+mn-lt"/>
              </a:rPr>
              <a:t>Conceptual Framework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A089B8-68A0-09D6-4E8D-784296F637C9}"/>
              </a:ext>
            </a:extLst>
          </p:cNvPr>
          <p:cNvGrpSpPr/>
          <p:nvPr/>
        </p:nvGrpSpPr>
        <p:grpSpPr>
          <a:xfrm>
            <a:off x="4557125" y="1007769"/>
            <a:ext cx="2762063" cy="802921"/>
            <a:chOff x="3159920" y="2867049"/>
            <a:chExt cx="2936080" cy="80292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6B8DBD2-0575-E851-C89F-FD040ACD6756}"/>
                </a:ext>
              </a:extLst>
            </p:cNvPr>
            <p:cNvGrpSpPr/>
            <p:nvPr/>
          </p:nvGrpSpPr>
          <p:grpSpPr>
            <a:xfrm>
              <a:off x="3159920" y="2933042"/>
              <a:ext cx="2936080" cy="736928"/>
              <a:chOff x="3159920" y="2933042"/>
              <a:chExt cx="2936080" cy="736928"/>
            </a:xfrm>
          </p:grpSpPr>
          <p:sp>
            <p:nvSpPr>
              <p:cNvPr id="8" name="Freeform 15">
                <a:extLst>
                  <a:ext uri="{FF2B5EF4-FFF2-40B4-BE49-F238E27FC236}">
                    <a16:creationId xmlns:a16="http://schemas.microsoft.com/office/drawing/2014/main" id="{E3C8CFBB-60C2-0146-4147-3555DC0984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293304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9" name="Freeform 15">
                <a:extLst>
                  <a:ext uri="{FF2B5EF4-FFF2-40B4-BE49-F238E27FC236}">
                    <a16:creationId xmlns:a16="http://schemas.microsoft.com/office/drawing/2014/main" id="{E92B112A-666F-DC4C-99E6-EEB3333E13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293304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380506F8-F4B3-8009-E3FF-38B22ED90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920" y="2867049"/>
              <a:ext cx="2936080" cy="736928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60F3ABA-26F1-6E69-3B62-7680F57C4686}"/>
              </a:ext>
            </a:extLst>
          </p:cNvPr>
          <p:cNvGrpSpPr/>
          <p:nvPr/>
        </p:nvGrpSpPr>
        <p:grpSpPr>
          <a:xfrm>
            <a:off x="6602264" y="2473945"/>
            <a:ext cx="3407716" cy="630427"/>
            <a:chOff x="1577163" y="3750029"/>
            <a:chExt cx="2936080" cy="80292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F47ABD8-9883-650B-6B53-27A5048DEB1C}"/>
                </a:ext>
              </a:extLst>
            </p:cNvPr>
            <p:cNvGrpSpPr/>
            <p:nvPr/>
          </p:nvGrpSpPr>
          <p:grpSpPr>
            <a:xfrm>
              <a:off x="1577163" y="3816022"/>
              <a:ext cx="2936080" cy="736928"/>
              <a:chOff x="3159920" y="3816022"/>
              <a:chExt cx="2936080" cy="736928"/>
            </a:xfrm>
          </p:grpSpPr>
          <p:sp>
            <p:nvSpPr>
              <p:cNvPr id="13" name="Freeform 15">
                <a:extLst>
                  <a:ext uri="{FF2B5EF4-FFF2-40B4-BE49-F238E27FC236}">
                    <a16:creationId xmlns:a16="http://schemas.microsoft.com/office/drawing/2014/main" id="{6203C55C-E14D-E178-AB03-CF44258893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381602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4" name="Freeform 15">
                <a:extLst>
                  <a:ext uri="{FF2B5EF4-FFF2-40B4-BE49-F238E27FC236}">
                    <a16:creationId xmlns:a16="http://schemas.microsoft.com/office/drawing/2014/main" id="{76EA4943-11D9-7678-44C1-AA8C4DF21A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381602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B26DAC74-D15B-FC7D-6163-6E2523604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163" y="3750029"/>
              <a:ext cx="2936080" cy="73692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BEA121-00D3-5E4F-0407-D797AE7B580D}"/>
              </a:ext>
            </a:extLst>
          </p:cNvPr>
          <p:cNvGrpSpPr/>
          <p:nvPr/>
        </p:nvGrpSpPr>
        <p:grpSpPr>
          <a:xfrm>
            <a:off x="1834055" y="2503669"/>
            <a:ext cx="3407716" cy="630427"/>
            <a:chOff x="1577163" y="3750029"/>
            <a:chExt cx="2936080" cy="80292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8AD5A61-0C4A-EB08-F59E-5DE7F6BE61DE}"/>
                </a:ext>
              </a:extLst>
            </p:cNvPr>
            <p:cNvGrpSpPr/>
            <p:nvPr/>
          </p:nvGrpSpPr>
          <p:grpSpPr>
            <a:xfrm>
              <a:off x="1577163" y="3816022"/>
              <a:ext cx="2936080" cy="736928"/>
              <a:chOff x="3159920" y="3816022"/>
              <a:chExt cx="2936080" cy="736928"/>
            </a:xfrm>
          </p:grpSpPr>
          <p:sp>
            <p:nvSpPr>
              <p:cNvPr id="18" name="Freeform 15">
                <a:extLst>
                  <a:ext uri="{FF2B5EF4-FFF2-40B4-BE49-F238E27FC236}">
                    <a16:creationId xmlns:a16="http://schemas.microsoft.com/office/drawing/2014/main" id="{A79D36E8-5ED4-ECEE-BA15-AC83631516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381602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19" name="Freeform 15">
                <a:extLst>
                  <a:ext uri="{FF2B5EF4-FFF2-40B4-BE49-F238E27FC236}">
                    <a16:creationId xmlns:a16="http://schemas.microsoft.com/office/drawing/2014/main" id="{F5FFB7FD-C061-C813-D2F1-279982553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381602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CF5A590-14E0-2AB3-31A3-20601B977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163" y="3750029"/>
              <a:ext cx="2936080" cy="73692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F07A771-B48A-1CD3-769E-CA084D8163F7}"/>
              </a:ext>
            </a:extLst>
          </p:cNvPr>
          <p:cNvGrpSpPr/>
          <p:nvPr/>
        </p:nvGrpSpPr>
        <p:grpSpPr>
          <a:xfrm>
            <a:off x="6602264" y="3538618"/>
            <a:ext cx="3407716" cy="630427"/>
            <a:chOff x="1577163" y="3750029"/>
            <a:chExt cx="2936080" cy="802921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E2EBFF2-D6D7-9209-42FC-6FDE89A5981A}"/>
                </a:ext>
              </a:extLst>
            </p:cNvPr>
            <p:cNvGrpSpPr/>
            <p:nvPr/>
          </p:nvGrpSpPr>
          <p:grpSpPr>
            <a:xfrm>
              <a:off x="1577163" y="3816022"/>
              <a:ext cx="2936080" cy="736928"/>
              <a:chOff x="3159920" y="3816022"/>
              <a:chExt cx="2936080" cy="736928"/>
            </a:xfrm>
          </p:grpSpPr>
          <p:sp>
            <p:nvSpPr>
              <p:cNvPr id="23" name="Freeform 15">
                <a:extLst>
                  <a:ext uri="{FF2B5EF4-FFF2-40B4-BE49-F238E27FC236}">
                    <a16:creationId xmlns:a16="http://schemas.microsoft.com/office/drawing/2014/main" id="{AA6D0F00-FF4B-4CDC-FA7F-C9F0CAB5E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381602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4" name="Freeform 15">
                <a:extLst>
                  <a:ext uri="{FF2B5EF4-FFF2-40B4-BE49-F238E27FC236}">
                    <a16:creationId xmlns:a16="http://schemas.microsoft.com/office/drawing/2014/main" id="{1C92579A-202E-9B5F-7DA9-C7720ABA96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381602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7C65B76C-3FA5-A875-1D47-2115166D0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163" y="3750029"/>
              <a:ext cx="2936080" cy="73692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D779C81-20B4-7815-86D3-B9C71BFD0FA5}"/>
              </a:ext>
            </a:extLst>
          </p:cNvPr>
          <p:cNvGrpSpPr/>
          <p:nvPr/>
        </p:nvGrpSpPr>
        <p:grpSpPr>
          <a:xfrm>
            <a:off x="1834055" y="3604611"/>
            <a:ext cx="3407716" cy="630427"/>
            <a:chOff x="1577163" y="3750029"/>
            <a:chExt cx="2936080" cy="80292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26736D8-2073-9887-ACED-2A99E9F805B6}"/>
                </a:ext>
              </a:extLst>
            </p:cNvPr>
            <p:cNvGrpSpPr/>
            <p:nvPr/>
          </p:nvGrpSpPr>
          <p:grpSpPr>
            <a:xfrm>
              <a:off x="1577163" y="3816022"/>
              <a:ext cx="2936080" cy="736928"/>
              <a:chOff x="3159920" y="3816022"/>
              <a:chExt cx="2936080" cy="736928"/>
            </a:xfrm>
          </p:grpSpPr>
          <p:sp>
            <p:nvSpPr>
              <p:cNvPr id="28" name="Freeform 15">
                <a:extLst>
                  <a:ext uri="{FF2B5EF4-FFF2-40B4-BE49-F238E27FC236}">
                    <a16:creationId xmlns:a16="http://schemas.microsoft.com/office/drawing/2014/main" id="{AEF0C487-AAD0-2DF0-2DC4-E8768299EE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381602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29" name="Freeform 15">
                <a:extLst>
                  <a:ext uri="{FF2B5EF4-FFF2-40B4-BE49-F238E27FC236}">
                    <a16:creationId xmlns:a16="http://schemas.microsoft.com/office/drawing/2014/main" id="{E02EAE15-AF22-C9A5-6760-FA00402870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381602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6BF2A51C-A66E-D077-6DA3-1E2DE69CC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163" y="3750029"/>
              <a:ext cx="2936080" cy="73692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4F65E6-434A-382F-721F-C65A0A52BBF7}"/>
              </a:ext>
            </a:extLst>
          </p:cNvPr>
          <p:cNvGrpSpPr/>
          <p:nvPr/>
        </p:nvGrpSpPr>
        <p:grpSpPr>
          <a:xfrm>
            <a:off x="6602264" y="4622554"/>
            <a:ext cx="3407716" cy="630427"/>
            <a:chOff x="1577163" y="3750029"/>
            <a:chExt cx="2936080" cy="80292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89BE96E-6227-26FD-C6E7-1E66CA43ED19}"/>
                </a:ext>
              </a:extLst>
            </p:cNvPr>
            <p:cNvGrpSpPr/>
            <p:nvPr/>
          </p:nvGrpSpPr>
          <p:grpSpPr>
            <a:xfrm>
              <a:off x="1577163" y="3816022"/>
              <a:ext cx="2936080" cy="736928"/>
              <a:chOff x="3159920" y="3816022"/>
              <a:chExt cx="2936080" cy="736928"/>
            </a:xfrm>
          </p:grpSpPr>
          <p:sp>
            <p:nvSpPr>
              <p:cNvPr id="33" name="Freeform 15">
                <a:extLst>
                  <a:ext uri="{FF2B5EF4-FFF2-40B4-BE49-F238E27FC236}">
                    <a16:creationId xmlns:a16="http://schemas.microsoft.com/office/drawing/2014/main" id="{B7781461-EE25-C04F-3E8B-7FCC7815CB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381602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43C1DEF4-9AF6-8806-B315-E9C325C96A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381602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sp>
          <p:nvSpPr>
            <p:cNvPr id="32" name="Freeform 16">
              <a:extLst>
                <a:ext uri="{FF2B5EF4-FFF2-40B4-BE49-F238E27FC236}">
                  <a16:creationId xmlns:a16="http://schemas.microsoft.com/office/drawing/2014/main" id="{C9B54123-8D8B-C800-CF11-C61735C12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163" y="3750029"/>
              <a:ext cx="2936080" cy="73692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48D486D-EBED-57F7-7432-72251DBE2760}"/>
              </a:ext>
            </a:extLst>
          </p:cNvPr>
          <p:cNvGrpSpPr/>
          <p:nvPr/>
        </p:nvGrpSpPr>
        <p:grpSpPr>
          <a:xfrm>
            <a:off x="1834055" y="4688547"/>
            <a:ext cx="3407716" cy="630427"/>
            <a:chOff x="1577163" y="3750029"/>
            <a:chExt cx="2936080" cy="80292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3E33014-8C3D-B11B-043B-736CBD8D7CBF}"/>
                </a:ext>
              </a:extLst>
            </p:cNvPr>
            <p:cNvGrpSpPr/>
            <p:nvPr/>
          </p:nvGrpSpPr>
          <p:grpSpPr>
            <a:xfrm>
              <a:off x="1577163" y="3816022"/>
              <a:ext cx="2936080" cy="736928"/>
              <a:chOff x="3159920" y="3816022"/>
              <a:chExt cx="2936080" cy="736928"/>
            </a:xfrm>
          </p:grpSpPr>
          <p:sp>
            <p:nvSpPr>
              <p:cNvPr id="38" name="Freeform 15">
                <a:extLst>
                  <a:ext uri="{FF2B5EF4-FFF2-40B4-BE49-F238E27FC236}">
                    <a16:creationId xmlns:a16="http://schemas.microsoft.com/office/drawing/2014/main" id="{B0B4E18D-5BFB-9208-46CE-3364A69C9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381602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39" name="Freeform 15">
                <a:extLst>
                  <a:ext uri="{FF2B5EF4-FFF2-40B4-BE49-F238E27FC236}">
                    <a16:creationId xmlns:a16="http://schemas.microsoft.com/office/drawing/2014/main" id="{9ADF314F-7370-3DEA-9CF1-2B65EB5E0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381602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6360A6C9-57EC-D5B7-7004-AE91D989F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163" y="3750029"/>
              <a:ext cx="2936080" cy="73692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0FAA1B8-29ED-8CE8-A03A-767F94AD613A}"/>
              </a:ext>
            </a:extLst>
          </p:cNvPr>
          <p:cNvGrpSpPr/>
          <p:nvPr/>
        </p:nvGrpSpPr>
        <p:grpSpPr>
          <a:xfrm>
            <a:off x="6602264" y="5706490"/>
            <a:ext cx="3407716" cy="630427"/>
            <a:chOff x="1577163" y="3750029"/>
            <a:chExt cx="2936080" cy="802921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E9BA4F8-708E-5AD4-70EA-975D59BCB1FE}"/>
                </a:ext>
              </a:extLst>
            </p:cNvPr>
            <p:cNvGrpSpPr/>
            <p:nvPr/>
          </p:nvGrpSpPr>
          <p:grpSpPr>
            <a:xfrm>
              <a:off x="1577163" y="3816022"/>
              <a:ext cx="2936080" cy="736928"/>
              <a:chOff x="3159920" y="3816022"/>
              <a:chExt cx="2936080" cy="736928"/>
            </a:xfrm>
          </p:grpSpPr>
          <p:sp>
            <p:nvSpPr>
              <p:cNvPr id="43" name="Freeform 15">
                <a:extLst>
                  <a:ext uri="{FF2B5EF4-FFF2-40B4-BE49-F238E27FC236}">
                    <a16:creationId xmlns:a16="http://schemas.microsoft.com/office/drawing/2014/main" id="{302E63BB-FD57-3E83-26AC-E01C6A5D1A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381602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44" name="Freeform 15">
                <a:extLst>
                  <a:ext uri="{FF2B5EF4-FFF2-40B4-BE49-F238E27FC236}">
                    <a16:creationId xmlns:a16="http://schemas.microsoft.com/office/drawing/2014/main" id="{18AE110E-488E-0E59-1F8E-AE7D1CB61A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381602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7F0470BA-36BE-69AF-A0AF-67BC19F29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163" y="3750029"/>
              <a:ext cx="2936080" cy="73692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95A50A3-F6A8-8144-F1FB-6963B3858D68}"/>
              </a:ext>
            </a:extLst>
          </p:cNvPr>
          <p:cNvGrpSpPr/>
          <p:nvPr/>
        </p:nvGrpSpPr>
        <p:grpSpPr>
          <a:xfrm>
            <a:off x="1834055" y="5772483"/>
            <a:ext cx="3407716" cy="630427"/>
            <a:chOff x="1577163" y="3750029"/>
            <a:chExt cx="2936080" cy="802921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EDB3948-0E2A-1B08-1750-73B3700C3B65}"/>
                </a:ext>
              </a:extLst>
            </p:cNvPr>
            <p:cNvGrpSpPr/>
            <p:nvPr/>
          </p:nvGrpSpPr>
          <p:grpSpPr>
            <a:xfrm>
              <a:off x="1577163" y="3816022"/>
              <a:ext cx="2936080" cy="736928"/>
              <a:chOff x="3159920" y="3816022"/>
              <a:chExt cx="2936080" cy="736928"/>
            </a:xfrm>
          </p:grpSpPr>
          <p:sp>
            <p:nvSpPr>
              <p:cNvPr id="48" name="Freeform 15">
                <a:extLst>
                  <a:ext uri="{FF2B5EF4-FFF2-40B4-BE49-F238E27FC236}">
                    <a16:creationId xmlns:a16="http://schemas.microsoft.com/office/drawing/2014/main" id="{FE990BCE-2898-42C3-7889-77CBE494E4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381602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  <p:sp>
            <p:nvSpPr>
              <p:cNvPr id="49" name="Freeform 15">
                <a:extLst>
                  <a:ext uri="{FF2B5EF4-FFF2-40B4-BE49-F238E27FC236}">
                    <a16:creationId xmlns:a16="http://schemas.microsoft.com/office/drawing/2014/main" id="{B37F37E4-934C-B3F4-FE35-480D492D26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920" y="3816022"/>
                <a:ext cx="2936080" cy="736928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83F9D775-9E52-3FBB-23EC-4E9BE086F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163" y="3750029"/>
              <a:ext cx="2936080" cy="73692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/>
            </a:p>
          </p:txBody>
        </p: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9FB1A81-2421-3B43-944F-0D5BAE5B6FF3}"/>
              </a:ext>
            </a:extLst>
          </p:cNvPr>
          <p:cNvCxnSpPr/>
          <p:nvPr/>
        </p:nvCxnSpPr>
        <p:spPr>
          <a:xfrm>
            <a:off x="8311243" y="3068103"/>
            <a:ext cx="0" cy="46983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E8A37DF-824E-D9C4-82B0-9EFCD5223E14}"/>
              </a:ext>
            </a:extLst>
          </p:cNvPr>
          <p:cNvCxnSpPr/>
          <p:nvPr/>
        </p:nvCxnSpPr>
        <p:spPr>
          <a:xfrm>
            <a:off x="3499757" y="3134773"/>
            <a:ext cx="0" cy="46983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382DF62-49F3-EB41-4E67-70195A8D0C1D}"/>
              </a:ext>
            </a:extLst>
          </p:cNvPr>
          <p:cNvCxnSpPr/>
          <p:nvPr/>
        </p:nvCxnSpPr>
        <p:spPr>
          <a:xfrm>
            <a:off x="8316686" y="4169045"/>
            <a:ext cx="0" cy="46983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43052B1-8734-EF88-E71D-C5A20CDCA247}"/>
              </a:ext>
            </a:extLst>
          </p:cNvPr>
          <p:cNvCxnSpPr/>
          <p:nvPr/>
        </p:nvCxnSpPr>
        <p:spPr>
          <a:xfrm>
            <a:off x="3505200" y="4235715"/>
            <a:ext cx="0" cy="46983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3338C1B-0474-7EA1-3522-1888662ECCB9}"/>
              </a:ext>
            </a:extLst>
          </p:cNvPr>
          <p:cNvCxnSpPr/>
          <p:nvPr/>
        </p:nvCxnSpPr>
        <p:spPr>
          <a:xfrm>
            <a:off x="8311243" y="5252981"/>
            <a:ext cx="0" cy="46983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8F3F675-A100-1487-18C2-DDEB614E23F3}"/>
              </a:ext>
            </a:extLst>
          </p:cNvPr>
          <p:cNvCxnSpPr/>
          <p:nvPr/>
        </p:nvCxnSpPr>
        <p:spPr>
          <a:xfrm>
            <a:off x="3499757" y="5319651"/>
            <a:ext cx="0" cy="469838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E5B2BBB-FA24-106D-D7C6-77259A5684EE}"/>
              </a:ext>
            </a:extLst>
          </p:cNvPr>
          <p:cNvCxnSpPr>
            <a:cxnSpLocks/>
          </p:cNvCxnSpPr>
          <p:nvPr/>
        </p:nvCxnSpPr>
        <p:spPr>
          <a:xfrm>
            <a:off x="5938156" y="1810690"/>
            <a:ext cx="0" cy="342306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7E0847A-5923-630D-620D-5B1F3A76940E}"/>
              </a:ext>
            </a:extLst>
          </p:cNvPr>
          <p:cNvCxnSpPr/>
          <p:nvPr/>
        </p:nvCxnSpPr>
        <p:spPr>
          <a:xfrm>
            <a:off x="3499757" y="2152996"/>
            <a:ext cx="48169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0DE66C6-B492-BF7C-3F32-A2B6BE25A7FC}"/>
              </a:ext>
            </a:extLst>
          </p:cNvPr>
          <p:cNvCxnSpPr>
            <a:cxnSpLocks/>
          </p:cNvCxnSpPr>
          <p:nvPr/>
        </p:nvCxnSpPr>
        <p:spPr>
          <a:xfrm>
            <a:off x="8316686" y="2152996"/>
            <a:ext cx="0" cy="320949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33F4544-61FB-0A5A-8502-53B82E4A34C7}"/>
              </a:ext>
            </a:extLst>
          </p:cNvPr>
          <p:cNvCxnSpPr>
            <a:cxnSpLocks/>
          </p:cNvCxnSpPr>
          <p:nvPr/>
        </p:nvCxnSpPr>
        <p:spPr>
          <a:xfrm>
            <a:off x="3499757" y="2152996"/>
            <a:ext cx="0" cy="350673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334361E-9ACB-3BDC-9B80-F8A0EF61FA80}"/>
              </a:ext>
            </a:extLst>
          </p:cNvPr>
          <p:cNvSpPr txBox="1"/>
          <p:nvPr/>
        </p:nvSpPr>
        <p:spPr>
          <a:xfrm>
            <a:off x="4557125" y="1123569"/>
            <a:ext cx="2762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sz="2400" b="1" dirty="0">
                <a:solidFill>
                  <a:srgbClr val="002060"/>
                </a:solidFill>
              </a:rPr>
              <a:t>Nutrition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7A9BBD6-D0F4-362F-98AA-F6D0928C73F6}"/>
              </a:ext>
            </a:extLst>
          </p:cNvPr>
          <p:cNvSpPr txBox="1"/>
          <p:nvPr/>
        </p:nvSpPr>
        <p:spPr>
          <a:xfrm>
            <a:off x="6590856" y="2591864"/>
            <a:ext cx="338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dirty="0">
                <a:solidFill>
                  <a:schemeClr val="bg1"/>
                </a:solidFill>
              </a:rPr>
              <a:t>Good nutrition/ improvement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F5C549-94B8-B165-1FE0-6B44798967F1}"/>
              </a:ext>
            </a:extLst>
          </p:cNvPr>
          <p:cNvSpPr txBox="1"/>
          <p:nvPr/>
        </p:nvSpPr>
        <p:spPr>
          <a:xfrm>
            <a:off x="2141465" y="2606854"/>
            <a:ext cx="2762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dirty="0">
                <a:solidFill>
                  <a:schemeClr val="bg1"/>
                </a:solidFill>
              </a:rPr>
              <a:t>Malnutrition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9D2B43E-EB82-CCC0-15BD-EFBA6FCEBED4}"/>
              </a:ext>
            </a:extLst>
          </p:cNvPr>
          <p:cNvSpPr txBox="1"/>
          <p:nvPr/>
        </p:nvSpPr>
        <p:spPr>
          <a:xfrm>
            <a:off x="6917417" y="3508528"/>
            <a:ext cx="2761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dirty="0">
                <a:solidFill>
                  <a:schemeClr val="bg1"/>
                </a:solidFill>
              </a:rPr>
              <a:t>Immune restoration &amp; resilience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34A4AB2-497F-3791-8151-07CFD468742A}"/>
              </a:ext>
            </a:extLst>
          </p:cNvPr>
          <p:cNvSpPr txBox="1"/>
          <p:nvPr/>
        </p:nvSpPr>
        <p:spPr>
          <a:xfrm>
            <a:off x="2118801" y="3703409"/>
            <a:ext cx="2762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dirty="0">
                <a:solidFill>
                  <a:schemeClr val="bg1"/>
                </a:solidFill>
              </a:rPr>
              <a:t>Immune impairment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9B4F586-9473-70E5-32A7-0C2FAE965ED8}"/>
              </a:ext>
            </a:extLst>
          </p:cNvPr>
          <p:cNvSpPr txBox="1"/>
          <p:nvPr/>
        </p:nvSpPr>
        <p:spPr>
          <a:xfrm>
            <a:off x="6902350" y="4742368"/>
            <a:ext cx="2762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dirty="0">
                <a:solidFill>
                  <a:schemeClr val="bg1"/>
                </a:solidFill>
              </a:rPr>
              <a:t>Lower TB incidence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7D11954-C0A4-583B-2BA3-C76C1B3DE0A8}"/>
              </a:ext>
            </a:extLst>
          </p:cNvPr>
          <p:cNvSpPr txBox="1"/>
          <p:nvPr/>
        </p:nvSpPr>
        <p:spPr>
          <a:xfrm>
            <a:off x="2118725" y="4652439"/>
            <a:ext cx="27620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dirty="0">
                <a:solidFill>
                  <a:schemeClr val="bg1"/>
                </a:solidFill>
              </a:rPr>
              <a:t>Increased risk of disease progression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8E46A0F-1DAF-5A6B-F4BE-D9A9DA6C8B27}"/>
              </a:ext>
            </a:extLst>
          </p:cNvPr>
          <p:cNvSpPr txBox="1"/>
          <p:nvPr/>
        </p:nvSpPr>
        <p:spPr>
          <a:xfrm>
            <a:off x="6902350" y="5798754"/>
            <a:ext cx="2762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dirty="0">
                <a:solidFill>
                  <a:schemeClr val="bg1"/>
                </a:solidFill>
              </a:rPr>
              <a:t>Better Outcomes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143FC77-2B34-1769-ABFA-03F06F97274F}"/>
              </a:ext>
            </a:extLst>
          </p:cNvPr>
          <p:cNvSpPr txBox="1"/>
          <p:nvPr/>
        </p:nvSpPr>
        <p:spPr>
          <a:xfrm>
            <a:off x="2118725" y="5768345"/>
            <a:ext cx="27620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GB" dirty="0">
                <a:solidFill>
                  <a:schemeClr val="bg1"/>
                </a:solidFill>
              </a:rPr>
              <a:t>Poor TB treatment outcomes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973CB71-49FB-4447-2DF5-D6D6CB8D171A}"/>
              </a:ext>
            </a:extLst>
          </p:cNvPr>
          <p:cNvSpPr/>
          <p:nvPr/>
        </p:nvSpPr>
        <p:spPr>
          <a:xfrm>
            <a:off x="665018" y="2369843"/>
            <a:ext cx="10723418" cy="2078182"/>
          </a:xfrm>
          <a:prstGeom prst="roundRect">
            <a:avLst>
              <a:gd name="adj" fmla="val 10667"/>
            </a:avLst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0E78AA-FBA3-1557-6EAD-4136E5A4FB5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43602" y="2747962"/>
            <a:ext cx="9366250" cy="1362075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2060"/>
                </a:solidFill>
                <a:latin typeface="+mn-lt"/>
              </a:rPr>
              <a:t>Programmatic Opportunities &amp; Implementation Challenges</a:t>
            </a:r>
            <a:endParaRPr lang="en-KE" sz="40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6493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577833-160B-898D-1375-2816F5FE17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8600" y="203201"/>
            <a:ext cx="7327900" cy="482600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+mn-lt"/>
              </a:rPr>
              <a:t>Challenges / Barriers</a:t>
            </a:r>
            <a:endParaRPr lang="en-KE" sz="3600" b="1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9CD5F8A-9038-AF92-81B7-D27CA31F6EA1}"/>
              </a:ext>
            </a:extLst>
          </p:cNvPr>
          <p:cNvGrpSpPr/>
          <p:nvPr/>
        </p:nvGrpSpPr>
        <p:grpSpPr>
          <a:xfrm>
            <a:off x="357379" y="1854959"/>
            <a:ext cx="11477242" cy="3695663"/>
            <a:chOff x="540462" y="1671467"/>
            <a:chExt cx="9476830" cy="3051532"/>
          </a:xfrm>
        </p:grpSpPr>
        <p:sp>
          <p:nvSpPr>
            <p:cNvPr id="2" name="Freeform: Shape 9">
              <a:extLst>
                <a:ext uri="{FF2B5EF4-FFF2-40B4-BE49-F238E27FC236}">
                  <a16:creationId xmlns:a16="http://schemas.microsoft.com/office/drawing/2014/main" id="{57FAE5B7-1B89-1175-54ED-5F08FD9EA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587" y="1692312"/>
              <a:ext cx="4562131" cy="804386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8B23EC1-8BBA-BEB8-85CF-D8A11B77AF9C}"/>
                </a:ext>
              </a:extLst>
            </p:cNvPr>
            <p:cNvGrpSpPr/>
            <p:nvPr/>
          </p:nvGrpSpPr>
          <p:grpSpPr>
            <a:xfrm>
              <a:off x="571154" y="1715394"/>
              <a:ext cx="4504996" cy="748506"/>
              <a:chOff x="414818" y="1130300"/>
              <a:chExt cx="4504996" cy="748506"/>
            </a:xfrm>
          </p:grpSpPr>
          <p:sp>
            <p:nvSpPr>
              <p:cNvPr id="5" name="Freeform: Shape 9">
                <a:extLst>
                  <a:ext uri="{FF2B5EF4-FFF2-40B4-BE49-F238E27FC236}">
                    <a16:creationId xmlns:a16="http://schemas.microsoft.com/office/drawing/2014/main" id="{41C970B4-C9A5-9AA7-98B2-37C61B92B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8233" y="1130300"/>
                <a:ext cx="3541581" cy="74850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" name="Freeform: Shape 9">
                <a:extLst>
                  <a:ext uri="{FF2B5EF4-FFF2-40B4-BE49-F238E27FC236}">
                    <a16:creationId xmlns:a16="http://schemas.microsoft.com/office/drawing/2014/main" id="{7C387B4E-C6E9-1274-830C-B5123FEF0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818" y="1130300"/>
                <a:ext cx="748800" cy="74850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96515879-1715-0FFD-1B2F-81B71A44CA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7532" y="1424940"/>
                <a:ext cx="546788" cy="159226"/>
              </a:xfrm>
              <a:custGeom>
                <a:avLst/>
                <a:gdLst/>
                <a:ahLst/>
                <a:cxnLst>
                  <a:cxn ang="0">
                    <a:pos x="800" y="0"/>
                  </a:cxn>
                  <a:cxn ang="0">
                    <a:pos x="677" y="36"/>
                  </a:cxn>
                  <a:cxn ang="0">
                    <a:pos x="677" y="36"/>
                  </a:cxn>
                  <a:cxn ang="0">
                    <a:pos x="676" y="37"/>
                  </a:cxn>
                  <a:cxn ang="0">
                    <a:pos x="674" y="38"/>
                  </a:cxn>
                  <a:cxn ang="0">
                    <a:pos x="345" y="36"/>
                  </a:cxn>
                  <a:cxn ang="0">
                    <a:pos x="345" y="36"/>
                  </a:cxn>
                  <a:cxn ang="0">
                    <a:pos x="223" y="0"/>
                  </a:cxn>
                  <a:cxn ang="0">
                    <a:pos x="0" y="223"/>
                  </a:cxn>
                  <a:cxn ang="0">
                    <a:pos x="223" y="446"/>
                  </a:cxn>
                  <a:cxn ang="0">
                    <a:pos x="345" y="409"/>
                  </a:cxn>
                  <a:cxn ang="0">
                    <a:pos x="345" y="409"/>
                  </a:cxn>
                  <a:cxn ang="0">
                    <a:pos x="675" y="408"/>
                  </a:cxn>
                  <a:cxn ang="0">
                    <a:pos x="675" y="408"/>
                  </a:cxn>
                  <a:cxn ang="0">
                    <a:pos x="677" y="409"/>
                  </a:cxn>
                  <a:cxn ang="0">
                    <a:pos x="677" y="409"/>
                  </a:cxn>
                  <a:cxn ang="0">
                    <a:pos x="800" y="446"/>
                  </a:cxn>
                  <a:cxn ang="0">
                    <a:pos x="1023" y="223"/>
                  </a:cxn>
                  <a:cxn ang="0">
                    <a:pos x="800" y="0"/>
                  </a:cxn>
                </a:cxnLst>
                <a:rect l="0" t="0" r="r" b="b"/>
                <a:pathLst>
                  <a:path w="1023" h="446">
                    <a:moveTo>
                      <a:pt x="800" y="0"/>
                    </a:moveTo>
                    <a:cubicBezTo>
                      <a:pt x="754" y="0"/>
                      <a:pt x="713" y="13"/>
                      <a:pt x="677" y="36"/>
                    </a:cubicBezTo>
                    <a:cubicBezTo>
                      <a:pt x="677" y="36"/>
                      <a:pt x="677" y="36"/>
                      <a:pt x="677" y="36"/>
                    </a:cubicBezTo>
                    <a:cubicBezTo>
                      <a:pt x="677" y="36"/>
                      <a:pt x="676" y="37"/>
                      <a:pt x="676" y="37"/>
                    </a:cubicBezTo>
                    <a:cubicBezTo>
                      <a:pt x="675" y="37"/>
                      <a:pt x="675" y="38"/>
                      <a:pt x="674" y="38"/>
                    </a:cubicBezTo>
                    <a:cubicBezTo>
                      <a:pt x="525" y="137"/>
                      <a:pt x="345" y="36"/>
                      <a:pt x="345" y="36"/>
                    </a:cubicBezTo>
                    <a:cubicBezTo>
                      <a:pt x="345" y="36"/>
                      <a:pt x="345" y="36"/>
                      <a:pt x="345" y="36"/>
                    </a:cubicBezTo>
                    <a:cubicBezTo>
                      <a:pt x="310" y="13"/>
                      <a:pt x="268" y="0"/>
                      <a:pt x="223" y="0"/>
                    </a:cubicBezTo>
                    <a:cubicBezTo>
                      <a:pt x="99" y="0"/>
                      <a:pt x="0" y="100"/>
                      <a:pt x="0" y="223"/>
                    </a:cubicBezTo>
                    <a:cubicBezTo>
                      <a:pt x="0" y="346"/>
                      <a:pt x="99" y="446"/>
                      <a:pt x="223" y="446"/>
                    </a:cubicBezTo>
                    <a:cubicBezTo>
                      <a:pt x="268" y="446"/>
                      <a:pt x="310" y="432"/>
                      <a:pt x="345" y="409"/>
                    </a:cubicBezTo>
                    <a:cubicBezTo>
                      <a:pt x="345" y="409"/>
                      <a:pt x="345" y="409"/>
                      <a:pt x="345" y="409"/>
                    </a:cubicBezTo>
                    <a:cubicBezTo>
                      <a:pt x="345" y="409"/>
                      <a:pt x="525" y="308"/>
                      <a:pt x="675" y="408"/>
                    </a:cubicBezTo>
                    <a:cubicBezTo>
                      <a:pt x="675" y="408"/>
                      <a:pt x="675" y="408"/>
                      <a:pt x="675" y="408"/>
                    </a:cubicBezTo>
                    <a:cubicBezTo>
                      <a:pt x="676" y="409"/>
                      <a:pt x="677" y="409"/>
                      <a:pt x="677" y="409"/>
                    </a:cubicBezTo>
                    <a:cubicBezTo>
                      <a:pt x="677" y="409"/>
                      <a:pt x="677" y="409"/>
                      <a:pt x="677" y="409"/>
                    </a:cubicBezTo>
                    <a:cubicBezTo>
                      <a:pt x="713" y="432"/>
                      <a:pt x="754" y="446"/>
                      <a:pt x="800" y="446"/>
                    </a:cubicBezTo>
                    <a:cubicBezTo>
                      <a:pt x="923" y="446"/>
                      <a:pt x="1023" y="346"/>
                      <a:pt x="1023" y="223"/>
                    </a:cubicBezTo>
                    <a:cubicBezTo>
                      <a:pt x="1023" y="100"/>
                      <a:pt x="923" y="0"/>
                      <a:pt x="8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2B6099-48AB-7310-112C-86E372613647}"/>
                </a:ext>
              </a:extLst>
            </p:cNvPr>
            <p:cNvSpPr/>
            <p:nvPr/>
          </p:nvSpPr>
          <p:spPr>
            <a:xfrm flipH="1">
              <a:off x="1887169" y="1749129"/>
              <a:ext cx="2832133" cy="686159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KE" altLang="en-KE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Evidence gaps: few large trials linking nutrition to TB incidence in diverse settings</a:t>
              </a:r>
            </a:p>
          </p:txBody>
        </p:sp>
        <p:sp>
          <p:nvSpPr>
            <p:cNvPr id="16" name="Freeform: Shape 9">
              <a:extLst>
                <a:ext uri="{FF2B5EF4-FFF2-40B4-BE49-F238E27FC236}">
                  <a16:creationId xmlns:a16="http://schemas.microsoft.com/office/drawing/2014/main" id="{D37D398A-1541-D75C-EFF9-33E1525D3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462" y="3918613"/>
              <a:ext cx="4562131" cy="804386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06272F7-69A5-596C-24FF-89AEAEBF033E}"/>
                </a:ext>
              </a:extLst>
            </p:cNvPr>
            <p:cNvGrpSpPr/>
            <p:nvPr/>
          </p:nvGrpSpPr>
          <p:grpSpPr>
            <a:xfrm>
              <a:off x="569698" y="3946553"/>
              <a:ext cx="4504996" cy="748506"/>
              <a:chOff x="414818" y="1130300"/>
              <a:chExt cx="4504996" cy="748506"/>
            </a:xfrm>
          </p:grpSpPr>
          <p:sp>
            <p:nvSpPr>
              <p:cNvPr id="18" name="Freeform: Shape 9">
                <a:extLst>
                  <a:ext uri="{FF2B5EF4-FFF2-40B4-BE49-F238E27FC236}">
                    <a16:creationId xmlns:a16="http://schemas.microsoft.com/office/drawing/2014/main" id="{6A1909FA-21CB-D30D-469E-1176D2B3A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8233" y="1130300"/>
                <a:ext cx="3541581" cy="74850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9" name="Freeform: Shape 9">
                <a:extLst>
                  <a:ext uri="{FF2B5EF4-FFF2-40B4-BE49-F238E27FC236}">
                    <a16:creationId xmlns:a16="http://schemas.microsoft.com/office/drawing/2014/main" id="{251C2B3D-6D19-3687-0562-5BA71931CC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818" y="1130300"/>
                <a:ext cx="748800" cy="74850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0" name="Freeform 5">
                <a:extLst>
                  <a:ext uri="{FF2B5EF4-FFF2-40B4-BE49-F238E27FC236}">
                    <a16:creationId xmlns:a16="http://schemas.microsoft.com/office/drawing/2014/main" id="{CECCC7A5-3338-8C20-0A49-A21923FA15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7532" y="1424940"/>
                <a:ext cx="546788" cy="159226"/>
              </a:xfrm>
              <a:custGeom>
                <a:avLst/>
                <a:gdLst/>
                <a:ahLst/>
                <a:cxnLst>
                  <a:cxn ang="0">
                    <a:pos x="800" y="0"/>
                  </a:cxn>
                  <a:cxn ang="0">
                    <a:pos x="677" y="36"/>
                  </a:cxn>
                  <a:cxn ang="0">
                    <a:pos x="677" y="36"/>
                  </a:cxn>
                  <a:cxn ang="0">
                    <a:pos x="676" y="37"/>
                  </a:cxn>
                  <a:cxn ang="0">
                    <a:pos x="674" y="38"/>
                  </a:cxn>
                  <a:cxn ang="0">
                    <a:pos x="345" y="36"/>
                  </a:cxn>
                  <a:cxn ang="0">
                    <a:pos x="345" y="36"/>
                  </a:cxn>
                  <a:cxn ang="0">
                    <a:pos x="223" y="0"/>
                  </a:cxn>
                  <a:cxn ang="0">
                    <a:pos x="0" y="223"/>
                  </a:cxn>
                  <a:cxn ang="0">
                    <a:pos x="223" y="446"/>
                  </a:cxn>
                  <a:cxn ang="0">
                    <a:pos x="345" y="409"/>
                  </a:cxn>
                  <a:cxn ang="0">
                    <a:pos x="345" y="409"/>
                  </a:cxn>
                  <a:cxn ang="0">
                    <a:pos x="675" y="408"/>
                  </a:cxn>
                  <a:cxn ang="0">
                    <a:pos x="675" y="408"/>
                  </a:cxn>
                  <a:cxn ang="0">
                    <a:pos x="677" y="409"/>
                  </a:cxn>
                  <a:cxn ang="0">
                    <a:pos x="677" y="409"/>
                  </a:cxn>
                  <a:cxn ang="0">
                    <a:pos x="800" y="446"/>
                  </a:cxn>
                  <a:cxn ang="0">
                    <a:pos x="1023" y="223"/>
                  </a:cxn>
                  <a:cxn ang="0">
                    <a:pos x="800" y="0"/>
                  </a:cxn>
                </a:cxnLst>
                <a:rect l="0" t="0" r="r" b="b"/>
                <a:pathLst>
                  <a:path w="1023" h="446">
                    <a:moveTo>
                      <a:pt x="800" y="0"/>
                    </a:moveTo>
                    <a:cubicBezTo>
                      <a:pt x="754" y="0"/>
                      <a:pt x="713" y="13"/>
                      <a:pt x="677" y="36"/>
                    </a:cubicBezTo>
                    <a:cubicBezTo>
                      <a:pt x="677" y="36"/>
                      <a:pt x="677" y="36"/>
                      <a:pt x="677" y="36"/>
                    </a:cubicBezTo>
                    <a:cubicBezTo>
                      <a:pt x="677" y="36"/>
                      <a:pt x="676" y="37"/>
                      <a:pt x="676" y="37"/>
                    </a:cubicBezTo>
                    <a:cubicBezTo>
                      <a:pt x="675" y="37"/>
                      <a:pt x="675" y="38"/>
                      <a:pt x="674" y="38"/>
                    </a:cubicBezTo>
                    <a:cubicBezTo>
                      <a:pt x="525" y="137"/>
                      <a:pt x="345" y="36"/>
                      <a:pt x="345" y="36"/>
                    </a:cubicBezTo>
                    <a:cubicBezTo>
                      <a:pt x="345" y="36"/>
                      <a:pt x="345" y="36"/>
                      <a:pt x="345" y="36"/>
                    </a:cubicBezTo>
                    <a:cubicBezTo>
                      <a:pt x="310" y="13"/>
                      <a:pt x="268" y="0"/>
                      <a:pt x="223" y="0"/>
                    </a:cubicBezTo>
                    <a:cubicBezTo>
                      <a:pt x="99" y="0"/>
                      <a:pt x="0" y="100"/>
                      <a:pt x="0" y="223"/>
                    </a:cubicBezTo>
                    <a:cubicBezTo>
                      <a:pt x="0" y="346"/>
                      <a:pt x="99" y="446"/>
                      <a:pt x="223" y="446"/>
                    </a:cubicBezTo>
                    <a:cubicBezTo>
                      <a:pt x="268" y="446"/>
                      <a:pt x="310" y="432"/>
                      <a:pt x="345" y="409"/>
                    </a:cubicBezTo>
                    <a:cubicBezTo>
                      <a:pt x="345" y="409"/>
                      <a:pt x="345" y="409"/>
                      <a:pt x="345" y="409"/>
                    </a:cubicBezTo>
                    <a:cubicBezTo>
                      <a:pt x="345" y="409"/>
                      <a:pt x="525" y="308"/>
                      <a:pt x="675" y="408"/>
                    </a:cubicBezTo>
                    <a:cubicBezTo>
                      <a:pt x="675" y="408"/>
                      <a:pt x="675" y="408"/>
                      <a:pt x="675" y="408"/>
                    </a:cubicBezTo>
                    <a:cubicBezTo>
                      <a:pt x="676" y="409"/>
                      <a:pt x="677" y="409"/>
                      <a:pt x="677" y="409"/>
                    </a:cubicBezTo>
                    <a:cubicBezTo>
                      <a:pt x="677" y="409"/>
                      <a:pt x="677" y="409"/>
                      <a:pt x="677" y="409"/>
                    </a:cubicBezTo>
                    <a:cubicBezTo>
                      <a:pt x="713" y="432"/>
                      <a:pt x="754" y="446"/>
                      <a:pt x="800" y="446"/>
                    </a:cubicBezTo>
                    <a:cubicBezTo>
                      <a:pt x="923" y="446"/>
                      <a:pt x="1023" y="346"/>
                      <a:pt x="1023" y="223"/>
                    </a:cubicBezTo>
                    <a:cubicBezTo>
                      <a:pt x="1023" y="100"/>
                      <a:pt x="923" y="0"/>
                      <a:pt x="8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A3006B6-D3B2-13EE-29A9-5BC70996701C}"/>
                </a:ext>
              </a:extLst>
            </p:cNvPr>
            <p:cNvSpPr/>
            <p:nvPr/>
          </p:nvSpPr>
          <p:spPr>
            <a:xfrm flipH="1">
              <a:off x="1772874" y="4076211"/>
              <a:ext cx="3192769" cy="457440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KE" altLang="en-KE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Heterogeneity in nutritional needs, local diets, acceptability</a:t>
              </a:r>
            </a:p>
          </p:txBody>
        </p:sp>
        <p:sp>
          <p:nvSpPr>
            <p:cNvPr id="22" name="Freeform: Shape 9">
              <a:extLst>
                <a:ext uri="{FF2B5EF4-FFF2-40B4-BE49-F238E27FC236}">
                  <a16:creationId xmlns:a16="http://schemas.microsoft.com/office/drawing/2014/main" id="{4224FB04-91B9-AA0B-8DFF-E28C3A4F9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462" y="2792338"/>
              <a:ext cx="4562131" cy="804386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3499745-D43F-A83A-98D6-50A3126EE17B}"/>
                </a:ext>
              </a:extLst>
            </p:cNvPr>
            <p:cNvGrpSpPr/>
            <p:nvPr/>
          </p:nvGrpSpPr>
          <p:grpSpPr>
            <a:xfrm>
              <a:off x="569030" y="2819234"/>
              <a:ext cx="4504996" cy="748506"/>
              <a:chOff x="414818" y="1130300"/>
              <a:chExt cx="4504996" cy="748506"/>
            </a:xfrm>
          </p:grpSpPr>
          <p:sp>
            <p:nvSpPr>
              <p:cNvPr id="24" name="Freeform: Shape 9">
                <a:extLst>
                  <a:ext uri="{FF2B5EF4-FFF2-40B4-BE49-F238E27FC236}">
                    <a16:creationId xmlns:a16="http://schemas.microsoft.com/office/drawing/2014/main" id="{886C15A9-3B61-A7D6-1C8C-D0EA9C585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8233" y="1130300"/>
                <a:ext cx="3541581" cy="74850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5" name="Freeform: Shape 9">
                <a:extLst>
                  <a:ext uri="{FF2B5EF4-FFF2-40B4-BE49-F238E27FC236}">
                    <a16:creationId xmlns:a16="http://schemas.microsoft.com/office/drawing/2014/main" id="{80F45D3A-FDE9-56B0-F64F-714776FDFF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818" y="1130300"/>
                <a:ext cx="748800" cy="74850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" name="Freeform 5">
                <a:extLst>
                  <a:ext uri="{FF2B5EF4-FFF2-40B4-BE49-F238E27FC236}">
                    <a16:creationId xmlns:a16="http://schemas.microsoft.com/office/drawing/2014/main" id="{2287F16E-D244-EF98-2715-47E58922D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7532" y="1424940"/>
                <a:ext cx="546788" cy="159226"/>
              </a:xfrm>
              <a:custGeom>
                <a:avLst/>
                <a:gdLst/>
                <a:ahLst/>
                <a:cxnLst>
                  <a:cxn ang="0">
                    <a:pos x="800" y="0"/>
                  </a:cxn>
                  <a:cxn ang="0">
                    <a:pos x="677" y="36"/>
                  </a:cxn>
                  <a:cxn ang="0">
                    <a:pos x="677" y="36"/>
                  </a:cxn>
                  <a:cxn ang="0">
                    <a:pos x="676" y="37"/>
                  </a:cxn>
                  <a:cxn ang="0">
                    <a:pos x="674" y="38"/>
                  </a:cxn>
                  <a:cxn ang="0">
                    <a:pos x="345" y="36"/>
                  </a:cxn>
                  <a:cxn ang="0">
                    <a:pos x="345" y="36"/>
                  </a:cxn>
                  <a:cxn ang="0">
                    <a:pos x="223" y="0"/>
                  </a:cxn>
                  <a:cxn ang="0">
                    <a:pos x="0" y="223"/>
                  </a:cxn>
                  <a:cxn ang="0">
                    <a:pos x="223" y="446"/>
                  </a:cxn>
                  <a:cxn ang="0">
                    <a:pos x="345" y="409"/>
                  </a:cxn>
                  <a:cxn ang="0">
                    <a:pos x="345" y="409"/>
                  </a:cxn>
                  <a:cxn ang="0">
                    <a:pos x="675" y="408"/>
                  </a:cxn>
                  <a:cxn ang="0">
                    <a:pos x="675" y="408"/>
                  </a:cxn>
                  <a:cxn ang="0">
                    <a:pos x="677" y="409"/>
                  </a:cxn>
                  <a:cxn ang="0">
                    <a:pos x="677" y="409"/>
                  </a:cxn>
                  <a:cxn ang="0">
                    <a:pos x="800" y="446"/>
                  </a:cxn>
                  <a:cxn ang="0">
                    <a:pos x="1023" y="223"/>
                  </a:cxn>
                  <a:cxn ang="0">
                    <a:pos x="800" y="0"/>
                  </a:cxn>
                </a:cxnLst>
                <a:rect l="0" t="0" r="r" b="b"/>
                <a:pathLst>
                  <a:path w="1023" h="446">
                    <a:moveTo>
                      <a:pt x="800" y="0"/>
                    </a:moveTo>
                    <a:cubicBezTo>
                      <a:pt x="754" y="0"/>
                      <a:pt x="713" y="13"/>
                      <a:pt x="677" y="36"/>
                    </a:cubicBezTo>
                    <a:cubicBezTo>
                      <a:pt x="677" y="36"/>
                      <a:pt x="677" y="36"/>
                      <a:pt x="677" y="36"/>
                    </a:cubicBezTo>
                    <a:cubicBezTo>
                      <a:pt x="677" y="36"/>
                      <a:pt x="676" y="37"/>
                      <a:pt x="676" y="37"/>
                    </a:cubicBezTo>
                    <a:cubicBezTo>
                      <a:pt x="675" y="37"/>
                      <a:pt x="675" y="38"/>
                      <a:pt x="674" y="38"/>
                    </a:cubicBezTo>
                    <a:cubicBezTo>
                      <a:pt x="525" y="137"/>
                      <a:pt x="345" y="36"/>
                      <a:pt x="345" y="36"/>
                    </a:cubicBezTo>
                    <a:cubicBezTo>
                      <a:pt x="345" y="36"/>
                      <a:pt x="345" y="36"/>
                      <a:pt x="345" y="36"/>
                    </a:cubicBezTo>
                    <a:cubicBezTo>
                      <a:pt x="310" y="13"/>
                      <a:pt x="268" y="0"/>
                      <a:pt x="223" y="0"/>
                    </a:cubicBezTo>
                    <a:cubicBezTo>
                      <a:pt x="99" y="0"/>
                      <a:pt x="0" y="100"/>
                      <a:pt x="0" y="223"/>
                    </a:cubicBezTo>
                    <a:cubicBezTo>
                      <a:pt x="0" y="346"/>
                      <a:pt x="99" y="446"/>
                      <a:pt x="223" y="446"/>
                    </a:cubicBezTo>
                    <a:cubicBezTo>
                      <a:pt x="268" y="446"/>
                      <a:pt x="310" y="432"/>
                      <a:pt x="345" y="409"/>
                    </a:cubicBezTo>
                    <a:cubicBezTo>
                      <a:pt x="345" y="409"/>
                      <a:pt x="345" y="409"/>
                      <a:pt x="345" y="409"/>
                    </a:cubicBezTo>
                    <a:cubicBezTo>
                      <a:pt x="345" y="409"/>
                      <a:pt x="525" y="308"/>
                      <a:pt x="675" y="408"/>
                    </a:cubicBezTo>
                    <a:cubicBezTo>
                      <a:pt x="675" y="408"/>
                      <a:pt x="675" y="408"/>
                      <a:pt x="675" y="408"/>
                    </a:cubicBezTo>
                    <a:cubicBezTo>
                      <a:pt x="676" y="409"/>
                      <a:pt x="677" y="409"/>
                      <a:pt x="677" y="409"/>
                    </a:cubicBezTo>
                    <a:cubicBezTo>
                      <a:pt x="677" y="409"/>
                      <a:pt x="677" y="409"/>
                      <a:pt x="677" y="409"/>
                    </a:cubicBezTo>
                    <a:cubicBezTo>
                      <a:pt x="713" y="432"/>
                      <a:pt x="754" y="446"/>
                      <a:pt x="800" y="446"/>
                    </a:cubicBezTo>
                    <a:cubicBezTo>
                      <a:pt x="923" y="446"/>
                      <a:pt x="1023" y="346"/>
                      <a:pt x="1023" y="223"/>
                    </a:cubicBezTo>
                    <a:cubicBezTo>
                      <a:pt x="1023" y="100"/>
                      <a:pt x="923" y="0"/>
                      <a:pt x="8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FEAE8B3-3334-9E8B-B8C1-FC3AE441190E}"/>
                </a:ext>
              </a:extLst>
            </p:cNvPr>
            <p:cNvSpPr/>
            <p:nvPr/>
          </p:nvSpPr>
          <p:spPr>
            <a:xfrm flipH="1">
              <a:off x="1805701" y="2932986"/>
              <a:ext cx="3192769" cy="457440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KE" altLang="en-KE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Cost, logistics, supply chain (food procurement, storage, distribution)</a:t>
              </a:r>
            </a:p>
          </p:txBody>
        </p:sp>
        <p:sp>
          <p:nvSpPr>
            <p:cNvPr id="62" name="Freeform: Shape 9">
              <a:extLst>
                <a:ext uri="{FF2B5EF4-FFF2-40B4-BE49-F238E27FC236}">
                  <a16:creationId xmlns:a16="http://schemas.microsoft.com/office/drawing/2014/main" id="{A557B0DA-8736-6F7C-FABF-25772272A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5161" y="3865313"/>
              <a:ext cx="4562131" cy="804386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2FD0DDD-731E-CFFA-D1E7-D8DD288C886F}"/>
                </a:ext>
              </a:extLst>
            </p:cNvPr>
            <p:cNvGrpSpPr/>
            <p:nvPr/>
          </p:nvGrpSpPr>
          <p:grpSpPr>
            <a:xfrm>
              <a:off x="5485130" y="3896956"/>
              <a:ext cx="4504996" cy="748506"/>
              <a:chOff x="414818" y="1130300"/>
              <a:chExt cx="4504996" cy="748506"/>
            </a:xfrm>
          </p:grpSpPr>
          <p:sp>
            <p:nvSpPr>
              <p:cNvPr id="64" name="Freeform: Shape 9">
                <a:extLst>
                  <a:ext uri="{FF2B5EF4-FFF2-40B4-BE49-F238E27FC236}">
                    <a16:creationId xmlns:a16="http://schemas.microsoft.com/office/drawing/2014/main" id="{511DAFCD-10AB-C406-5FB9-61876749CE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8233" y="1130300"/>
                <a:ext cx="3541581" cy="74850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5" name="Freeform: Shape 9">
                <a:extLst>
                  <a:ext uri="{FF2B5EF4-FFF2-40B4-BE49-F238E27FC236}">
                    <a16:creationId xmlns:a16="http://schemas.microsoft.com/office/drawing/2014/main" id="{193FB760-E7B0-336B-CB87-84F9DE8BAB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818" y="1130300"/>
                <a:ext cx="748800" cy="74850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6" name="Freeform 5">
                <a:extLst>
                  <a:ext uri="{FF2B5EF4-FFF2-40B4-BE49-F238E27FC236}">
                    <a16:creationId xmlns:a16="http://schemas.microsoft.com/office/drawing/2014/main" id="{D3DB8E40-7183-8A76-009F-4F737E389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7532" y="1424940"/>
                <a:ext cx="546788" cy="159226"/>
              </a:xfrm>
              <a:custGeom>
                <a:avLst/>
                <a:gdLst/>
                <a:ahLst/>
                <a:cxnLst>
                  <a:cxn ang="0">
                    <a:pos x="800" y="0"/>
                  </a:cxn>
                  <a:cxn ang="0">
                    <a:pos x="677" y="36"/>
                  </a:cxn>
                  <a:cxn ang="0">
                    <a:pos x="677" y="36"/>
                  </a:cxn>
                  <a:cxn ang="0">
                    <a:pos x="676" y="37"/>
                  </a:cxn>
                  <a:cxn ang="0">
                    <a:pos x="674" y="38"/>
                  </a:cxn>
                  <a:cxn ang="0">
                    <a:pos x="345" y="36"/>
                  </a:cxn>
                  <a:cxn ang="0">
                    <a:pos x="345" y="36"/>
                  </a:cxn>
                  <a:cxn ang="0">
                    <a:pos x="223" y="0"/>
                  </a:cxn>
                  <a:cxn ang="0">
                    <a:pos x="0" y="223"/>
                  </a:cxn>
                  <a:cxn ang="0">
                    <a:pos x="223" y="446"/>
                  </a:cxn>
                  <a:cxn ang="0">
                    <a:pos x="345" y="409"/>
                  </a:cxn>
                  <a:cxn ang="0">
                    <a:pos x="345" y="409"/>
                  </a:cxn>
                  <a:cxn ang="0">
                    <a:pos x="675" y="408"/>
                  </a:cxn>
                  <a:cxn ang="0">
                    <a:pos x="675" y="408"/>
                  </a:cxn>
                  <a:cxn ang="0">
                    <a:pos x="677" y="409"/>
                  </a:cxn>
                  <a:cxn ang="0">
                    <a:pos x="677" y="409"/>
                  </a:cxn>
                  <a:cxn ang="0">
                    <a:pos x="800" y="446"/>
                  </a:cxn>
                  <a:cxn ang="0">
                    <a:pos x="1023" y="223"/>
                  </a:cxn>
                  <a:cxn ang="0">
                    <a:pos x="800" y="0"/>
                  </a:cxn>
                </a:cxnLst>
                <a:rect l="0" t="0" r="r" b="b"/>
                <a:pathLst>
                  <a:path w="1023" h="446">
                    <a:moveTo>
                      <a:pt x="800" y="0"/>
                    </a:moveTo>
                    <a:cubicBezTo>
                      <a:pt x="754" y="0"/>
                      <a:pt x="713" y="13"/>
                      <a:pt x="677" y="36"/>
                    </a:cubicBezTo>
                    <a:cubicBezTo>
                      <a:pt x="677" y="36"/>
                      <a:pt x="677" y="36"/>
                      <a:pt x="677" y="36"/>
                    </a:cubicBezTo>
                    <a:cubicBezTo>
                      <a:pt x="677" y="36"/>
                      <a:pt x="676" y="37"/>
                      <a:pt x="676" y="37"/>
                    </a:cubicBezTo>
                    <a:cubicBezTo>
                      <a:pt x="675" y="37"/>
                      <a:pt x="675" y="38"/>
                      <a:pt x="674" y="38"/>
                    </a:cubicBezTo>
                    <a:cubicBezTo>
                      <a:pt x="525" y="137"/>
                      <a:pt x="345" y="36"/>
                      <a:pt x="345" y="36"/>
                    </a:cubicBezTo>
                    <a:cubicBezTo>
                      <a:pt x="345" y="36"/>
                      <a:pt x="345" y="36"/>
                      <a:pt x="345" y="36"/>
                    </a:cubicBezTo>
                    <a:cubicBezTo>
                      <a:pt x="310" y="13"/>
                      <a:pt x="268" y="0"/>
                      <a:pt x="223" y="0"/>
                    </a:cubicBezTo>
                    <a:cubicBezTo>
                      <a:pt x="99" y="0"/>
                      <a:pt x="0" y="100"/>
                      <a:pt x="0" y="223"/>
                    </a:cubicBezTo>
                    <a:cubicBezTo>
                      <a:pt x="0" y="346"/>
                      <a:pt x="99" y="446"/>
                      <a:pt x="223" y="446"/>
                    </a:cubicBezTo>
                    <a:cubicBezTo>
                      <a:pt x="268" y="446"/>
                      <a:pt x="310" y="432"/>
                      <a:pt x="345" y="409"/>
                    </a:cubicBezTo>
                    <a:cubicBezTo>
                      <a:pt x="345" y="409"/>
                      <a:pt x="345" y="409"/>
                      <a:pt x="345" y="409"/>
                    </a:cubicBezTo>
                    <a:cubicBezTo>
                      <a:pt x="345" y="409"/>
                      <a:pt x="525" y="308"/>
                      <a:pt x="675" y="408"/>
                    </a:cubicBezTo>
                    <a:cubicBezTo>
                      <a:pt x="675" y="408"/>
                      <a:pt x="675" y="408"/>
                      <a:pt x="675" y="408"/>
                    </a:cubicBezTo>
                    <a:cubicBezTo>
                      <a:pt x="676" y="409"/>
                      <a:pt x="677" y="409"/>
                      <a:pt x="677" y="409"/>
                    </a:cubicBezTo>
                    <a:cubicBezTo>
                      <a:pt x="677" y="409"/>
                      <a:pt x="677" y="409"/>
                      <a:pt x="677" y="409"/>
                    </a:cubicBezTo>
                    <a:cubicBezTo>
                      <a:pt x="713" y="432"/>
                      <a:pt x="754" y="446"/>
                      <a:pt x="800" y="446"/>
                    </a:cubicBezTo>
                    <a:cubicBezTo>
                      <a:pt x="923" y="446"/>
                      <a:pt x="1023" y="346"/>
                      <a:pt x="1023" y="223"/>
                    </a:cubicBezTo>
                    <a:cubicBezTo>
                      <a:pt x="1023" y="100"/>
                      <a:pt x="923" y="0"/>
                      <a:pt x="8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F5D4E4E-42F7-CADB-B845-B0D9D8F12E94}"/>
                </a:ext>
              </a:extLst>
            </p:cNvPr>
            <p:cNvSpPr/>
            <p:nvPr/>
          </p:nvSpPr>
          <p:spPr>
            <a:xfrm flipH="1">
              <a:off x="6738821" y="4038786"/>
              <a:ext cx="3192769" cy="457440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KE" altLang="en-KE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Need for multisectoral coordination (health, agriculture, social welfare)</a:t>
              </a:r>
            </a:p>
          </p:txBody>
        </p:sp>
        <p:sp>
          <p:nvSpPr>
            <p:cNvPr id="68" name="Freeform: Shape 9">
              <a:extLst>
                <a:ext uri="{FF2B5EF4-FFF2-40B4-BE49-F238E27FC236}">
                  <a16:creationId xmlns:a16="http://schemas.microsoft.com/office/drawing/2014/main" id="{312D349B-0388-8C99-C345-87BC3D175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5925" y="2738347"/>
              <a:ext cx="4562131" cy="804386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7D21937-2759-1376-BE85-F4B131A7943F}"/>
                </a:ext>
              </a:extLst>
            </p:cNvPr>
            <p:cNvGrpSpPr/>
            <p:nvPr/>
          </p:nvGrpSpPr>
          <p:grpSpPr>
            <a:xfrm>
              <a:off x="5455161" y="2766287"/>
              <a:ext cx="4504996" cy="748506"/>
              <a:chOff x="414818" y="1130300"/>
              <a:chExt cx="4504996" cy="748506"/>
            </a:xfrm>
          </p:grpSpPr>
          <p:sp>
            <p:nvSpPr>
              <p:cNvPr id="70" name="Freeform: Shape 9">
                <a:extLst>
                  <a:ext uri="{FF2B5EF4-FFF2-40B4-BE49-F238E27FC236}">
                    <a16:creationId xmlns:a16="http://schemas.microsoft.com/office/drawing/2014/main" id="{8EA98035-B77C-D36D-6258-353B5B51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8233" y="1130300"/>
                <a:ext cx="3541581" cy="74850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1" name="Freeform: Shape 9">
                <a:extLst>
                  <a:ext uri="{FF2B5EF4-FFF2-40B4-BE49-F238E27FC236}">
                    <a16:creationId xmlns:a16="http://schemas.microsoft.com/office/drawing/2014/main" id="{F060D2D3-F118-2069-1FEC-420892FDF8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818" y="1130300"/>
                <a:ext cx="748800" cy="74850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2B828C28-2203-AFD7-7990-A8621BE7E4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7532" y="1424940"/>
                <a:ext cx="546788" cy="159226"/>
              </a:xfrm>
              <a:custGeom>
                <a:avLst/>
                <a:gdLst/>
                <a:ahLst/>
                <a:cxnLst>
                  <a:cxn ang="0">
                    <a:pos x="800" y="0"/>
                  </a:cxn>
                  <a:cxn ang="0">
                    <a:pos x="677" y="36"/>
                  </a:cxn>
                  <a:cxn ang="0">
                    <a:pos x="677" y="36"/>
                  </a:cxn>
                  <a:cxn ang="0">
                    <a:pos x="676" y="37"/>
                  </a:cxn>
                  <a:cxn ang="0">
                    <a:pos x="674" y="38"/>
                  </a:cxn>
                  <a:cxn ang="0">
                    <a:pos x="345" y="36"/>
                  </a:cxn>
                  <a:cxn ang="0">
                    <a:pos x="345" y="36"/>
                  </a:cxn>
                  <a:cxn ang="0">
                    <a:pos x="223" y="0"/>
                  </a:cxn>
                  <a:cxn ang="0">
                    <a:pos x="0" y="223"/>
                  </a:cxn>
                  <a:cxn ang="0">
                    <a:pos x="223" y="446"/>
                  </a:cxn>
                  <a:cxn ang="0">
                    <a:pos x="345" y="409"/>
                  </a:cxn>
                  <a:cxn ang="0">
                    <a:pos x="345" y="409"/>
                  </a:cxn>
                  <a:cxn ang="0">
                    <a:pos x="675" y="408"/>
                  </a:cxn>
                  <a:cxn ang="0">
                    <a:pos x="675" y="408"/>
                  </a:cxn>
                  <a:cxn ang="0">
                    <a:pos x="677" y="409"/>
                  </a:cxn>
                  <a:cxn ang="0">
                    <a:pos x="677" y="409"/>
                  </a:cxn>
                  <a:cxn ang="0">
                    <a:pos x="800" y="446"/>
                  </a:cxn>
                  <a:cxn ang="0">
                    <a:pos x="1023" y="223"/>
                  </a:cxn>
                  <a:cxn ang="0">
                    <a:pos x="800" y="0"/>
                  </a:cxn>
                </a:cxnLst>
                <a:rect l="0" t="0" r="r" b="b"/>
                <a:pathLst>
                  <a:path w="1023" h="446">
                    <a:moveTo>
                      <a:pt x="800" y="0"/>
                    </a:moveTo>
                    <a:cubicBezTo>
                      <a:pt x="754" y="0"/>
                      <a:pt x="713" y="13"/>
                      <a:pt x="677" y="36"/>
                    </a:cubicBezTo>
                    <a:cubicBezTo>
                      <a:pt x="677" y="36"/>
                      <a:pt x="677" y="36"/>
                      <a:pt x="677" y="36"/>
                    </a:cubicBezTo>
                    <a:cubicBezTo>
                      <a:pt x="677" y="36"/>
                      <a:pt x="676" y="37"/>
                      <a:pt x="676" y="37"/>
                    </a:cubicBezTo>
                    <a:cubicBezTo>
                      <a:pt x="675" y="37"/>
                      <a:pt x="675" y="38"/>
                      <a:pt x="674" y="38"/>
                    </a:cubicBezTo>
                    <a:cubicBezTo>
                      <a:pt x="525" y="137"/>
                      <a:pt x="345" y="36"/>
                      <a:pt x="345" y="36"/>
                    </a:cubicBezTo>
                    <a:cubicBezTo>
                      <a:pt x="345" y="36"/>
                      <a:pt x="345" y="36"/>
                      <a:pt x="345" y="36"/>
                    </a:cubicBezTo>
                    <a:cubicBezTo>
                      <a:pt x="310" y="13"/>
                      <a:pt x="268" y="0"/>
                      <a:pt x="223" y="0"/>
                    </a:cubicBezTo>
                    <a:cubicBezTo>
                      <a:pt x="99" y="0"/>
                      <a:pt x="0" y="100"/>
                      <a:pt x="0" y="223"/>
                    </a:cubicBezTo>
                    <a:cubicBezTo>
                      <a:pt x="0" y="346"/>
                      <a:pt x="99" y="446"/>
                      <a:pt x="223" y="446"/>
                    </a:cubicBezTo>
                    <a:cubicBezTo>
                      <a:pt x="268" y="446"/>
                      <a:pt x="310" y="432"/>
                      <a:pt x="345" y="409"/>
                    </a:cubicBezTo>
                    <a:cubicBezTo>
                      <a:pt x="345" y="409"/>
                      <a:pt x="345" y="409"/>
                      <a:pt x="345" y="409"/>
                    </a:cubicBezTo>
                    <a:cubicBezTo>
                      <a:pt x="345" y="409"/>
                      <a:pt x="525" y="308"/>
                      <a:pt x="675" y="408"/>
                    </a:cubicBezTo>
                    <a:cubicBezTo>
                      <a:pt x="675" y="408"/>
                      <a:pt x="675" y="408"/>
                      <a:pt x="675" y="408"/>
                    </a:cubicBezTo>
                    <a:cubicBezTo>
                      <a:pt x="676" y="409"/>
                      <a:pt x="677" y="409"/>
                      <a:pt x="677" y="409"/>
                    </a:cubicBezTo>
                    <a:cubicBezTo>
                      <a:pt x="677" y="409"/>
                      <a:pt x="677" y="409"/>
                      <a:pt x="677" y="409"/>
                    </a:cubicBezTo>
                    <a:cubicBezTo>
                      <a:pt x="713" y="432"/>
                      <a:pt x="754" y="446"/>
                      <a:pt x="800" y="446"/>
                    </a:cubicBezTo>
                    <a:cubicBezTo>
                      <a:pt x="923" y="446"/>
                      <a:pt x="1023" y="346"/>
                      <a:pt x="1023" y="223"/>
                    </a:cubicBezTo>
                    <a:cubicBezTo>
                      <a:pt x="1023" y="100"/>
                      <a:pt x="923" y="0"/>
                      <a:pt x="8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261F50F-5D46-A5EF-959C-BA4007F6CFA0}"/>
                </a:ext>
              </a:extLst>
            </p:cNvPr>
            <p:cNvSpPr/>
            <p:nvPr/>
          </p:nvSpPr>
          <p:spPr>
            <a:xfrm flipH="1">
              <a:off x="6674751" y="2895946"/>
              <a:ext cx="3192769" cy="457440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KE" altLang="en-KE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Ensuring sustainability, avoiding dependency</a:t>
              </a:r>
            </a:p>
          </p:txBody>
        </p:sp>
        <p:sp>
          <p:nvSpPr>
            <p:cNvPr id="74" name="Freeform: Shape 9">
              <a:extLst>
                <a:ext uri="{FF2B5EF4-FFF2-40B4-BE49-F238E27FC236}">
                  <a16:creationId xmlns:a16="http://schemas.microsoft.com/office/drawing/2014/main" id="{FBFF4775-A3D0-9EA4-C19E-250EB429C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8026" y="1671467"/>
              <a:ext cx="4562131" cy="804386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9910A0C-8CF5-8685-50BD-C88322E3F295}"/>
                </a:ext>
              </a:extLst>
            </p:cNvPr>
            <p:cNvGrpSpPr/>
            <p:nvPr/>
          </p:nvGrpSpPr>
          <p:grpSpPr>
            <a:xfrm>
              <a:off x="5426594" y="1698363"/>
              <a:ext cx="4504996" cy="748506"/>
              <a:chOff x="414818" y="1130300"/>
              <a:chExt cx="4504996" cy="748506"/>
            </a:xfrm>
          </p:grpSpPr>
          <p:sp>
            <p:nvSpPr>
              <p:cNvPr id="76" name="Freeform: Shape 9">
                <a:extLst>
                  <a:ext uri="{FF2B5EF4-FFF2-40B4-BE49-F238E27FC236}">
                    <a16:creationId xmlns:a16="http://schemas.microsoft.com/office/drawing/2014/main" id="{55D000B1-4C33-ED54-4681-533FB26FA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8233" y="1130300"/>
                <a:ext cx="3541581" cy="74850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7" name="Freeform: Shape 9">
                <a:extLst>
                  <a:ext uri="{FF2B5EF4-FFF2-40B4-BE49-F238E27FC236}">
                    <a16:creationId xmlns:a16="http://schemas.microsoft.com/office/drawing/2014/main" id="{7F20674D-F685-391F-8082-9DFBF2BA0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818" y="1130300"/>
                <a:ext cx="748800" cy="74850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8" name="Freeform 5">
                <a:extLst>
                  <a:ext uri="{FF2B5EF4-FFF2-40B4-BE49-F238E27FC236}">
                    <a16:creationId xmlns:a16="http://schemas.microsoft.com/office/drawing/2014/main" id="{34CC0B7C-C22C-E316-C530-DEA652B120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7532" y="1424940"/>
                <a:ext cx="546788" cy="159226"/>
              </a:xfrm>
              <a:custGeom>
                <a:avLst/>
                <a:gdLst/>
                <a:ahLst/>
                <a:cxnLst>
                  <a:cxn ang="0">
                    <a:pos x="800" y="0"/>
                  </a:cxn>
                  <a:cxn ang="0">
                    <a:pos x="677" y="36"/>
                  </a:cxn>
                  <a:cxn ang="0">
                    <a:pos x="677" y="36"/>
                  </a:cxn>
                  <a:cxn ang="0">
                    <a:pos x="676" y="37"/>
                  </a:cxn>
                  <a:cxn ang="0">
                    <a:pos x="674" y="38"/>
                  </a:cxn>
                  <a:cxn ang="0">
                    <a:pos x="345" y="36"/>
                  </a:cxn>
                  <a:cxn ang="0">
                    <a:pos x="345" y="36"/>
                  </a:cxn>
                  <a:cxn ang="0">
                    <a:pos x="223" y="0"/>
                  </a:cxn>
                  <a:cxn ang="0">
                    <a:pos x="0" y="223"/>
                  </a:cxn>
                  <a:cxn ang="0">
                    <a:pos x="223" y="446"/>
                  </a:cxn>
                  <a:cxn ang="0">
                    <a:pos x="345" y="409"/>
                  </a:cxn>
                  <a:cxn ang="0">
                    <a:pos x="345" y="409"/>
                  </a:cxn>
                  <a:cxn ang="0">
                    <a:pos x="675" y="408"/>
                  </a:cxn>
                  <a:cxn ang="0">
                    <a:pos x="675" y="408"/>
                  </a:cxn>
                  <a:cxn ang="0">
                    <a:pos x="677" y="409"/>
                  </a:cxn>
                  <a:cxn ang="0">
                    <a:pos x="677" y="409"/>
                  </a:cxn>
                  <a:cxn ang="0">
                    <a:pos x="800" y="446"/>
                  </a:cxn>
                  <a:cxn ang="0">
                    <a:pos x="1023" y="223"/>
                  </a:cxn>
                  <a:cxn ang="0">
                    <a:pos x="800" y="0"/>
                  </a:cxn>
                </a:cxnLst>
                <a:rect l="0" t="0" r="r" b="b"/>
                <a:pathLst>
                  <a:path w="1023" h="446">
                    <a:moveTo>
                      <a:pt x="800" y="0"/>
                    </a:moveTo>
                    <a:cubicBezTo>
                      <a:pt x="754" y="0"/>
                      <a:pt x="713" y="13"/>
                      <a:pt x="677" y="36"/>
                    </a:cubicBezTo>
                    <a:cubicBezTo>
                      <a:pt x="677" y="36"/>
                      <a:pt x="677" y="36"/>
                      <a:pt x="677" y="36"/>
                    </a:cubicBezTo>
                    <a:cubicBezTo>
                      <a:pt x="677" y="36"/>
                      <a:pt x="676" y="37"/>
                      <a:pt x="676" y="37"/>
                    </a:cubicBezTo>
                    <a:cubicBezTo>
                      <a:pt x="675" y="37"/>
                      <a:pt x="675" y="38"/>
                      <a:pt x="674" y="38"/>
                    </a:cubicBezTo>
                    <a:cubicBezTo>
                      <a:pt x="525" y="137"/>
                      <a:pt x="345" y="36"/>
                      <a:pt x="345" y="36"/>
                    </a:cubicBezTo>
                    <a:cubicBezTo>
                      <a:pt x="345" y="36"/>
                      <a:pt x="345" y="36"/>
                      <a:pt x="345" y="36"/>
                    </a:cubicBezTo>
                    <a:cubicBezTo>
                      <a:pt x="310" y="13"/>
                      <a:pt x="268" y="0"/>
                      <a:pt x="223" y="0"/>
                    </a:cubicBezTo>
                    <a:cubicBezTo>
                      <a:pt x="99" y="0"/>
                      <a:pt x="0" y="100"/>
                      <a:pt x="0" y="223"/>
                    </a:cubicBezTo>
                    <a:cubicBezTo>
                      <a:pt x="0" y="346"/>
                      <a:pt x="99" y="446"/>
                      <a:pt x="223" y="446"/>
                    </a:cubicBezTo>
                    <a:cubicBezTo>
                      <a:pt x="268" y="446"/>
                      <a:pt x="310" y="432"/>
                      <a:pt x="345" y="409"/>
                    </a:cubicBezTo>
                    <a:cubicBezTo>
                      <a:pt x="345" y="409"/>
                      <a:pt x="345" y="409"/>
                      <a:pt x="345" y="409"/>
                    </a:cubicBezTo>
                    <a:cubicBezTo>
                      <a:pt x="345" y="409"/>
                      <a:pt x="525" y="308"/>
                      <a:pt x="675" y="408"/>
                    </a:cubicBezTo>
                    <a:cubicBezTo>
                      <a:pt x="675" y="408"/>
                      <a:pt x="675" y="408"/>
                      <a:pt x="675" y="408"/>
                    </a:cubicBezTo>
                    <a:cubicBezTo>
                      <a:pt x="676" y="409"/>
                      <a:pt x="677" y="409"/>
                      <a:pt x="677" y="409"/>
                    </a:cubicBezTo>
                    <a:cubicBezTo>
                      <a:pt x="677" y="409"/>
                      <a:pt x="677" y="409"/>
                      <a:pt x="677" y="409"/>
                    </a:cubicBezTo>
                    <a:cubicBezTo>
                      <a:pt x="713" y="432"/>
                      <a:pt x="754" y="446"/>
                      <a:pt x="800" y="446"/>
                    </a:cubicBezTo>
                    <a:cubicBezTo>
                      <a:pt x="923" y="446"/>
                      <a:pt x="1023" y="346"/>
                      <a:pt x="1023" y="223"/>
                    </a:cubicBezTo>
                    <a:cubicBezTo>
                      <a:pt x="1023" y="100"/>
                      <a:pt x="923" y="0"/>
                      <a:pt x="80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/>
              </a:p>
            </p:txBody>
          </p:sp>
        </p:grp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3C93953-4865-0EDF-CE0E-DC2E8F6E9CD0}"/>
                </a:ext>
              </a:extLst>
            </p:cNvPr>
            <p:cNvSpPr/>
            <p:nvPr/>
          </p:nvSpPr>
          <p:spPr>
            <a:xfrm flipH="1">
              <a:off x="6630438" y="1959302"/>
              <a:ext cx="3192769" cy="228720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KE" altLang="en-KE" dirty="0">
                  <a:solidFill>
                    <a:srgbClr val="00206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Micronutrient interactions, risk of excess</a:t>
              </a:r>
            </a:p>
          </p:txBody>
        </p:sp>
      </p:grpSp>
      <p:pic>
        <p:nvPicPr>
          <p:cNvPr id="82" name="Graphic 81" descr="Link with solid fill">
            <a:extLst>
              <a:ext uri="{FF2B5EF4-FFF2-40B4-BE49-F238E27FC236}">
                <a16:creationId xmlns:a16="http://schemas.microsoft.com/office/drawing/2014/main" id="{CD93A57B-D1CC-2F85-CD41-50412C51A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580" y="2035732"/>
            <a:ext cx="706526" cy="706526"/>
          </a:xfrm>
          <a:prstGeom prst="rect">
            <a:avLst/>
          </a:prstGeom>
        </p:spPr>
      </p:pic>
      <p:pic>
        <p:nvPicPr>
          <p:cNvPr id="84" name="Graphic 83" descr="Supply And Demand with solid fill">
            <a:extLst>
              <a:ext uri="{FF2B5EF4-FFF2-40B4-BE49-F238E27FC236}">
                <a16:creationId xmlns:a16="http://schemas.microsoft.com/office/drawing/2014/main" id="{3F5C441F-E26E-262C-0F9B-24A7E983A4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623" y="3328091"/>
            <a:ext cx="706526" cy="706526"/>
          </a:xfrm>
          <a:prstGeom prst="rect">
            <a:avLst/>
          </a:prstGeom>
        </p:spPr>
      </p:pic>
      <p:pic>
        <p:nvPicPr>
          <p:cNvPr id="86" name="Graphic 85" descr="Fruit bowl with solid fill">
            <a:extLst>
              <a:ext uri="{FF2B5EF4-FFF2-40B4-BE49-F238E27FC236}">
                <a16:creationId xmlns:a16="http://schemas.microsoft.com/office/drawing/2014/main" id="{E12C0C27-E24C-C6F6-013D-393456F291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2144" y="4721987"/>
            <a:ext cx="706526" cy="706526"/>
          </a:xfrm>
          <a:prstGeom prst="rect">
            <a:avLst/>
          </a:prstGeom>
        </p:spPr>
      </p:pic>
      <p:pic>
        <p:nvPicPr>
          <p:cNvPr id="88" name="Graphic 87" descr="Radioactive with solid fill">
            <a:extLst>
              <a:ext uri="{FF2B5EF4-FFF2-40B4-BE49-F238E27FC236}">
                <a16:creationId xmlns:a16="http://schemas.microsoft.com/office/drawing/2014/main" id="{4B33F512-D100-5ACC-A711-FF195DABA5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9597" y="2008147"/>
            <a:ext cx="706526" cy="706526"/>
          </a:xfrm>
          <a:prstGeom prst="rect">
            <a:avLst/>
          </a:prstGeom>
        </p:spPr>
      </p:pic>
      <p:pic>
        <p:nvPicPr>
          <p:cNvPr id="90" name="Graphic 89" descr="Sustainability with solid fill">
            <a:extLst>
              <a:ext uri="{FF2B5EF4-FFF2-40B4-BE49-F238E27FC236}">
                <a16:creationId xmlns:a16="http://schemas.microsoft.com/office/drawing/2014/main" id="{6A51859F-9E6F-EFFC-BBC5-658DF2AEB2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09662" y="3280867"/>
            <a:ext cx="706526" cy="706526"/>
          </a:xfrm>
          <a:prstGeom prst="rect">
            <a:avLst/>
          </a:prstGeom>
        </p:spPr>
      </p:pic>
      <p:pic>
        <p:nvPicPr>
          <p:cNvPr id="92" name="Graphic 91" descr="Medical with solid fill">
            <a:extLst>
              <a:ext uri="{FF2B5EF4-FFF2-40B4-BE49-F238E27FC236}">
                <a16:creationId xmlns:a16="http://schemas.microsoft.com/office/drawing/2014/main" id="{8DF5E132-1A28-BD00-70DC-4A75B3E9492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29268" y="4637808"/>
            <a:ext cx="713824" cy="71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275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AFBF15-1E0D-D975-4049-02C8151B965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1300" y="206375"/>
            <a:ext cx="5854700" cy="455613"/>
          </a:xfrm>
        </p:spPr>
        <p:txBody>
          <a:bodyPr>
            <a:normAutofit fontScale="90000"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Opportunities / Entry Points</a:t>
            </a:r>
            <a:endParaRPr lang="en-KE" sz="36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F8632AA-C0DD-453A-7CD8-FE021E0390C3}"/>
              </a:ext>
            </a:extLst>
          </p:cNvPr>
          <p:cNvSpPr>
            <a:spLocks noGrp="1" noChangeArrowheads="1"/>
          </p:cNvSpPr>
          <p:nvPr>
            <p:ph sz="half" idx="4294967295"/>
          </p:nvPr>
        </p:nvSpPr>
        <p:spPr bwMode="auto">
          <a:xfrm>
            <a:off x="-553750" y="9088312"/>
            <a:ext cx="8061325" cy="4246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800" dirty="0">
                <a:latin typeface="Arial" panose="020B0604020202020204" pitchFamily="34" charset="0"/>
              </a:rPr>
              <a:t>Screening nutritional status in TB &amp; contact care (BMI, upper arm circumference, micronutrient assessment)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KE" altLang="en-KE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800" dirty="0">
                <a:latin typeface="Arial" panose="020B0604020202020204" pitchFamily="34" charset="0"/>
              </a:rPr>
              <a:t>Integrate nutritional counselling, food supplements, micronutrient fortification into </a:t>
            </a:r>
            <a:r>
              <a:rPr lang="en-KE" altLang="en-KE" sz="1800" b="1" dirty="0">
                <a:latin typeface="Arial" panose="020B0604020202020204" pitchFamily="34" charset="0"/>
              </a:rPr>
              <a:t>TB</a:t>
            </a:r>
            <a:r>
              <a:rPr lang="en-KE" altLang="en-KE" sz="1800" dirty="0">
                <a:latin typeface="Arial" panose="020B0604020202020204" pitchFamily="34" charset="0"/>
              </a:rPr>
              <a:t> </a:t>
            </a:r>
            <a:r>
              <a:rPr lang="en-KE" altLang="en-KE" sz="1800" b="1" dirty="0">
                <a:latin typeface="Arial" panose="020B0604020202020204" pitchFamily="34" charset="0"/>
              </a:rPr>
              <a:t>prevention and care</a:t>
            </a:r>
            <a:r>
              <a:rPr lang="en-KE" altLang="en-KE" sz="1800" dirty="0">
                <a:latin typeface="Arial" panose="020B0604020202020204" pitchFamily="34" charset="0"/>
              </a:rPr>
              <a:t> programs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KE" altLang="en-KE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800" dirty="0">
                <a:latin typeface="Arial" panose="020B0604020202020204" pitchFamily="34" charset="0"/>
              </a:rPr>
              <a:t>Prioritize food support in high-risk populations (household contacts, PLHIV, malnourished populations)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KE" altLang="en-KE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800" dirty="0">
                <a:latin typeface="Arial" panose="020B0604020202020204" pitchFamily="34" charset="0"/>
              </a:rPr>
              <a:t>Leverage social protection programs (food subsidies, vouchers, cash transfers)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KE" altLang="en-KE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800" dirty="0">
                <a:latin typeface="Arial" panose="020B0604020202020204" pitchFamily="34" charset="0"/>
              </a:rPr>
              <a:t>Monitor and evaluate impact (incidence, conversion, adherence)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KE" altLang="en-KE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800" dirty="0">
                <a:latin typeface="Arial" panose="020B0604020202020204" pitchFamily="34" charset="0"/>
              </a:rPr>
              <a:t>Advocy:  “nutrition + TB control” co-funding</a:t>
            </a:r>
          </a:p>
        </p:txBody>
      </p:sp>
      <p:sp>
        <p:nvSpPr>
          <p:cNvPr id="3" name="Callout: Right Arrow 22">
            <a:extLst>
              <a:ext uri="{FF2B5EF4-FFF2-40B4-BE49-F238E27FC236}">
                <a16:creationId xmlns:a16="http://schemas.microsoft.com/office/drawing/2014/main" id="{C7D6C7DC-455D-FCC6-3BAA-07679A098A94}"/>
              </a:ext>
            </a:extLst>
          </p:cNvPr>
          <p:cNvSpPr/>
          <p:nvPr/>
        </p:nvSpPr>
        <p:spPr>
          <a:xfrm rot="16200000">
            <a:off x="1453399" y="584119"/>
            <a:ext cx="1524511" cy="3250180"/>
          </a:xfrm>
          <a:prstGeom prst="rightArrowCallout">
            <a:avLst>
              <a:gd name="adj1" fmla="val 50000"/>
              <a:gd name="adj2" fmla="val 19139"/>
              <a:gd name="adj3" fmla="val 15720"/>
              <a:gd name="adj4" fmla="val 85599"/>
            </a:avLst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5" name="Freeform: Shape 42">
            <a:extLst>
              <a:ext uri="{FF2B5EF4-FFF2-40B4-BE49-F238E27FC236}">
                <a16:creationId xmlns:a16="http://schemas.microsoft.com/office/drawing/2014/main" id="{435B0031-63C7-E485-0D81-A94712707B6D}"/>
              </a:ext>
            </a:extLst>
          </p:cNvPr>
          <p:cNvSpPr/>
          <p:nvPr/>
        </p:nvSpPr>
        <p:spPr>
          <a:xfrm flipH="1" flipV="1">
            <a:off x="745662" y="1771981"/>
            <a:ext cx="2979474" cy="2329101"/>
          </a:xfrm>
          <a:custGeom>
            <a:avLst/>
            <a:gdLst>
              <a:gd name="connsiteX0" fmla="*/ 1677346 w 1677347"/>
              <a:gd name="connsiteY0" fmla="*/ 1290319 h 1290319"/>
              <a:gd name="connsiteX1" fmla="*/ 0 w 1677347"/>
              <a:gd name="connsiteY1" fmla="*/ 1290319 h 1290319"/>
              <a:gd name="connsiteX2" fmla="*/ 0 w 1677347"/>
              <a:gd name="connsiteY2" fmla="*/ 396239 h 1290319"/>
              <a:gd name="connsiteX3" fmla="*/ 1 w 1677347"/>
              <a:gd name="connsiteY3" fmla="*/ 396239 h 1290319"/>
              <a:gd name="connsiteX4" fmla="*/ 1 w 1677347"/>
              <a:gd name="connsiteY4" fmla="*/ 0 h 1290319"/>
              <a:gd name="connsiteX5" fmla="*/ 1674651 w 1677347"/>
              <a:gd name="connsiteY5" fmla="*/ 396239 h 1290319"/>
              <a:gd name="connsiteX6" fmla="*/ 1677346 w 1677347"/>
              <a:gd name="connsiteY6" fmla="*/ 396239 h 1290319"/>
              <a:gd name="connsiteX7" fmla="*/ 1677346 w 1677347"/>
              <a:gd name="connsiteY7" fmla="*/ 396877 h 1290319"/>
              <a:gd name="connsiteX8" fmla="*/ 1677347 w 1677347"/>
              <a:gd name="connsiteY8" fmla="*/ 396877 h 1290319"/>
              <a:gd name="connsiteX9" fmla="*/ 1677346 w 1677347"/>
              <a:gd name="connsiteY9" fmla="*/ 396877 h 129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77347" h="1290319">
                <a:moveTo>
                  <a:pt x="1677346" y="1290319"/>
                </a:moveTo>
                <a:lnTo>
                  <a:pt x="0" y="1290319"/>
                </a:lnTo>
                <a:lnTo>
                  <a:pt x="0" y="396239"/>
                </a:lnTo>
                <a:lnTo>
                  <a:pt x="1" y="396239"/>
                </a:lnTo>
                <a:lnTo>
                  <a:pt x="1" y="0"/>
                </a:lnTo>
                <a:lnTo>
                  <a:pt x="1674651" y="396239"/>
                </a:lnTo>
                <a:lnTo>
                  <a:pt x="1677346" y="396239"/>
                </a:lnTo>
                <a:lnTo>
                  <a:pt x="1677346" y="396877"/>
                </a:lnTo>
                <a:lnTo>
                  <a:pt x="1677347" y="396877"/>
                </a:lnTo>
                <a:lnTo>
                  <a:pt x="1677346" y="3968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947824-673D-B5BD-44BF-707DD1EBFA46}"/>
              </a:ext>
            </a:extLst>
          </p:cNvPr>
          <p:cNvSpPr/>
          <p:nvPr/>
        </p:nvSpPr>
        <p:spPr>
          <a:xfrm>
            <a:off x="813739" y="1884259"/>
            <a:ext cx="2798797" cy="1274724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dirty="0">
                <a:solidFill>
                  <a:schemeClr val="bg1"/>
                </a:solidFill>
              </a:rPr>
              <a:t>Screening nutritional status in TB &amp; contact care (BMI, upper arm circumference, micronutrient assessment)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7162AD-6241-3E76-A27A-2D966B5E6C08}"/>
              </a:ext>
            </a:extLst>
          </p:cNvPr>
          <p:cNvSpPr/>
          <p:nvPr/>
        </p:nvSpPr>
        <p:spPr>
          <a:xfrm flipH="1">
            <a:off x="2033418" y="1065765"/>
            <a:ext cx="364469" cy="36374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13" name="Callout: Right Arrow 69">
            <a:extLst>
              <a:ext uri="{FF2B5EF4-FFF2-40B4-BE49-F238E27FC236}">
                <a16:creationId xmlns:a16="http://schemas.microsoft.com/office/drawing/2014/main" id="{714BAF33-96B7-BB9E-D4E1-3C80A1D55F4F}"/>
              </a:ext>
            </a:extLst>
          </p:cNvPr>
          <p:cNvSpPr/>
          <p:nvPr/>
        </p:nvSpPr>
        <p:spPr>
          <a:xfrm rot="16200000">
            <a:off x="9196436" y="584119"/>
            <a:ext cx="1524511" cy="3250180"/>
          </a:xfrm>
          <a:prstGeom prst="rightArrowCallout">
            <a:avLst>
              <a:gd name="adj1" fmla="val 50000"/>
              <a:gd name="adj2" fmla="val 19139"/>
              <a:gd name="adj3" fmla="val 15720"/>
              <a:gd name="adj4" fmla="val 85599"/>
            </a:avLst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4" name="Freeform: Shape 70">
            <a:extLst>
              <a:ext uri="{FF2B5EF4-FFF2-40B4-BE49-F238E27FC236}">
                <a16:creationId xmlns:a16="http://schemas.microsoft.com/office/drawing/2014/main" id="{83721558-E1D1-327F-E5E3-94BC8D972F4A}"/>
              </a:ext>
            </a:extLst>
          </p:cNvPr>
          <p:cNvSpPr/>
          <p:nvPr/>
        </p:nvSpPr>
        <p:spPr>
          <a:xfrm flipH="1" flipV="1">
            <a:off x="8468951" y="1775375"/>
            <a:ext cx="2979474" cy="2329101"/>
          </a:xfrm>
          <a:custGeom>
            <a:avLst/>
            <a:gdLst>
              <a:gd name="connsiteX0" fmla="*/ 1677346 w 1677347"/>
              <a:gd name="connsiteY0" fmla="*/ 1290319 h 1290319"/>
              <a:gd name="connsiteX1" fmla="*/ 0 w 1677347"/>
              <a:gd name="connsiteY1" fmla="*/ 1290319 h 1290319"/>
              <a:gd name="connsiteX2" fmla="*/ 0 w 1677347"/>
              <a:gd name="connsiteY2" fmla="*/ 396239 h 1290319"/>
              <a:gd name="connsiteX3" fmla="*/ 1 w 1677347"/>
              <a:gd name="connsiteY3" fmla="*/ 396239 h 1290319"/>
              <a:gd name="connsiteX4" fmla="*/ 1 w 1677347"/>
              <a:gd name="connsiteY4" fmla="*/ 0 h 1290319"/>
              <a:gd name="connsiteX5" fmla="*/ 1674651 w 1677347"/>
              <a:gd name="connsiteY5" fmla="*/ 396239 h 1290319"/>
              <a:gd name="connsiteX6" fmla="*/ 1677346 w 1677347"/>
              <a:gd name="connsiteY6" fmla="*/ 396239 h 1290319"/>
              <a:gd name="connsiteX7" fmla="*/ 1677346 w 1677347"/>
              <a:gd name="connsiteY7" fmla="*/ 396877 h 1290319"/>
              <a:gd name="connsiteX8" fmla="*/ 1677347 w 1677347"/>
              <a:gd name="connsiteY8" fmla="*/ 396877 h 1290319"/>
              <a:gd name="connsiteX9" fmla="*/ 1677346 w 1677347"/>
              <a:gd name="connsiteY9" fmla="*/ 396877 h 129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77347" h="1290319">
                <a:moveTo>
                  <a:pt x="1677346" y="1290319"/>
                </a:moveTo>
                <a:lnTo>
                  <a:pt x="0" y="1290319"/>
                </a:lnTo>
                <a:lnTo>
                  <a:pt x="0" y="396239"/>
                </a:lnTo>
                <a:lnTo>
                  <a:pt x="1" y="396239"/>
                </a:lnTo>
                <a:lnTo>
                  <a:pt x="1" y="0"/>
                </a:lnTo>
                <a:lnTo>
                  <a:pt x="1674651" y="396239"/>
                </a:lnTo>
                <a:lnTo>
                  <a:pt x="1677346" y="396239"/>
                </a:lnTo>
                <a:lnTo>
                  <a:pt x="1677346" y="396877"/>
                </a:lnTo>
                <a:lnTo>
                  <a:pt x="1677347" y="396877"/>
                </a:lnTo>
                <a:lnTo>
                  <a:pt x="1677346" y="39687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F43ED6-05D9-0BC0-8CEC-A27CF369BC2E}"/>
              </a:ext>
            </a:extLst>
          </p:cNvPr>
          <p:cNvSpPr/>
          <p:nvPr/>
        </p:nvSpPr>
        <p:spPr>
          <a:xfrm>
            <a:off x="8556777" y="1884259"/>
            <a:ext cx="2798797" cy="1661993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dirty="0">
                <a:solidFill>
                  <a:schemeClr val="bg1"/>
                </a:solidFill>
              </a:rPr>
              <a:t>Prioritize food support in </a:t>
            </a:r>
            <a:r>
              <a:rPr lang="en-KE" altLang="en-KE" u="sng" dirty="0">
                <a:solidFill>
                  <a:schemeClr val="bg1"/>
                </a:solidFill>
              </a:rPr>
              <a:t>high-risk populations (household contacts, PLHIV, malnourished populations</a:t>
            </a:r>
            <a:r>
              <a:rPr lang="en-KE" altLang="en-KE" dirty="0">
                <a:solidFill>
                  <a:schemeClr val="bg1"/>
                </a:solidFill>
              </a:rPr>
              <a:t>)</a:t>
            </a: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KE" altLang="en-KE" dirty="0">
              <a:solidFill>
                <a:schemeClr val="bg1"/>
              </a:solidFill>
            </a:endParaRPr>
          </a:p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b="1" dirty="0">
                <a:solidFill>
                  <a:srgbClr val="1D295D"/>
                </a:solidFill>
              </a:rPr>
              <a:t>BEFORE TB DISEASE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000DC-F1A2-23D4-4FE7-5BE613981721}"/>
              </a:ext>
            </a:extLst>
          </p:cNvPr>
          <p:cNvSpPr/>
          <p:nvPr/>
        </p:nvSpPr>
        <p:spPr>
          <a:xfrm flipH="1">
            <a:off x="9776455" y="1065765"/>
            <a:ext cx="364469" cy="36374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400" b="1" dirty="0">
                <a:solidFill>
                  <a:schemeClr val="accent3"/>
                </a:solidFill>
              </a:rPr>
              <a:t>03</a:t>
            </a:r>
          </a:p>
        </p:txBody>
      </p:sp>
      <p:sp>
        <p:nvSpPr>
          <p:cNvPr id="21" name="Callout: Right Arrow 80">
            <a:extLst>
              <a:ext uri="{FF2B5EF4-FFF2-40B4-BE49-F238E27FC236}">
                <a16:creationId xmlns:a16="http://schemas.microsoft.com/office/drawing/2014/main" id="{16491F46-3150-8DC0-6A66-879897DE9EB7}"/>
              </a:ext>
            </a:extLst>
          </p:cNvPr>
          <p:cNvSpPr/>
          <p:nvPr/>
        </p:nvSpPr>
        <p:spPr>
          <a:xfrm rot="16200000">
            <a:off x="5324917" y="584119"/>
            <a:ext cx="1524511" cy="3250180"/>
          </a:xfrm>
          <a:prstGeom prst="rightArrowCallout">
            <a:avLst>
              <a:gd name="adj1" fmla="val 50000"/>
              <a:gd name="adj2" fmla="val 19139"/>
              <a:gd name="adj3" fmla="val 15720"/>
              <a:gd name="adj4" fmla="val 85599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22" name="Freeform: Shape 81">
            <a:extLst>
              <a:ext uri="{FF2B5EF4-FFF2-40B4-BE49-F238E27FC236}">
                <a16:creationId xmlns:a16="http://schemas.microsoft.com/office/drawing/2014/main" id="{0C58DB96-97FD-00FF-B921-743C3F4EC709}"/>
              </a:ext>
            </a:extLst>
          </p:cNvPr>
          <p:cNvSpPr/>
          <p:nvPr/>
        </p:nvSpPr>
        <p:spPr>
          <a:xfrm flipH="1" flipV="1">
            <a:off x="4660218" y="1766942"/>
            <a:ext cx="2979474" cy="2329101"/>
          </a:xfrm>
          <a:custGeom>
            <a:avLst/>
            <a:gdLst>
              <a:gd name="connsiteX0" fmla="*/ 1677346 w 1677347"/>
              <a:gd name="connsiteY0" fmla="*/ 1290319 h 1290319"/>
              <a:gd name="connsiteX1" fmla="*/ 0 w 1677347"/>
              <a:gd name="connsiteY1" fmla="*/ 1290319 h 1290319"/>
              <a:gd name="connsiteX2" fmla="*/ 0 w 1677347"/>
              <a:gd name="connsiteY2" fmla="*/ 396239 h 1290319"/>
              <a:gd name="connsiteX3" fmla="*/ 1 w 1677347"/>
              <a:gd name="connsiteY3" fmla="*/ 396239 h 1290319"/>
              <a:gd name="connsiteX4" fmla="*/ 1 w 1677347"/>
              <a:gd name="connsiteY4" fmla="*/ 0 h 1290319"/>
              <a:gd name="connsiteX5" fmla="*/ 1674651 w 1677347"/>
              <a:gd name="connsiteY5" fmla="*/ 396239 h 1290319"/>
              <a:gd name="connsiteX6" fmla="*/ 1677346 w 1677347"/>
              <a:gd name="connsiteY6" fmla="*/ 396239 h 1290319"/>
              <a:gd name="connsiteX7" fmla="*/ 1677346 w 1677347"/>
              <a:gd name="connsiteY7" fmla="*/ 396877 h 1290319"/>
              <a:gd name="connsiteX8" fmla="*/ 1677347 w 1677347"/>
              <a:gd name="connsiteY8" fmla="*/ 396877 h 1290319"/>
              <a:gd name="connsiteX9" fmla="*/ 1677346 w 1677347"/>
              <a:gd name="connsiteY9" fmla="*/ 396877 h 129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77347" h="1290319">
                <a:moveTo>
                  <a:pt x="1677346" y="1290319"/>
                </a:moveTo>
                <a:lnTo>
                  <a:pt x="0" y="1290319"/>
                </a:lnTo>
                <a:lnTo>
                  <a:pt x="0" y="396239"/>
                </a:lnTo>
                <a:lnTo>
                  <a:pt x="1" y="396239"/>
                </a:lnTo>
                <a:lnTo>
                  <a:pt x="1" y="0"/>
                </a:lnTo>
                <a:lnTo>
                  <a:pt x="1674651" y="396239"/>
                </a:lnTo>
                <a:lnTo>
                  <a:pt x="1677346" y="396239"/>
                </a:lnTo>
                <a:lnTo>
                  <a:pt x="1677346" y="396877"/>
                </a:lnTo>
                <a:lnTo>
                  <a:pt x="1677347" y="396877"/>
                </a:lnTo>
                <a:lnTo>
                  <a:pt x="1677346" y="39687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C45F89-DB7A-9C65-D2C9-C4642E0E960F}"/>
              </a:ext>
            </a:extLst>
          </p:cNvPr>
          <p:cNvSpPr/>
          <p:nvPr/>
        </p:nvSpPr>
        <p:spPr>
          <a:xfrm>
            <a:off x="4685255" y="1884259"/>
            <a:ext cx="2798797" cy="1912083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dirty="0">
                <a:solidFill>
                  <a:schemeClr val="bg1"/>
                </a:solidFill>
              </a:rPr>
              <a:t>Integrate nutritional counselling, food supplements, micronutrient fortification into </a:t>
            </a:r>
            <a:r>
              <a:rPr lang="en-KE" altLang="en-KE" b="1" dirty="0">
                <a:solidFill>
                  <a:schemeClr val="bg1"/>
                </a:solidFill>
              </a:rPr>
              <a:t>TB</a:t>
            </a:r>
            <a:r>
              <a:rPr lang="en-KE" altLang="en-KE" dirty="0">
                <a:solidFill>
                  <a:schemeClr val="bg1"/>
                </a:solidFill>
              </a:rPr>
              <a:t> </a:t>
            </a:r>
            <a:r>
              <a:rPr lang="en-KE" altLang="en-KE" b="1" dirty="0">
                <a:solidFill>
                  <a:schemeClr val="bg1"/>
                </a:solidFill>
              </a:rPr>
              <a:t>prevention and care</a:t>
            </a:r>
            <a:r>
              <a:rPr lang="en-KE" altLang="en-KE" dirty="0">
                <a:solidFill>
                  <a:schemeClr val="bg1"/>
                </a:solidFill>
              </a:rPr>
              <a:t> programs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FD9055-746A-4108-379A-669E9F7BC2EA}"/>
              </a:ext>
            </a:extLst>
          </p:cNvPr>
          <p:cNvSpPr/>
          <p:nvPr/>
        </p:nvSpPr>
        <p:spPr>
          <a:xfrm flipH="1">
            <a:off x="5904936" y="1065765"/>
            <a:ext cx="364469" cy="36374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400" b="1" dirty="0">
                <a:solidFill>
                  <a:schemeClr val="accent2"/>
                </a:solidFill>
              </a:rPr>
              <a:t>02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17E9656-6206-D4C0-9A14-D4D05ACB576A}"/>
              </a:ext>
            </a:extLst>
          </p:cNvPr>
          <p:cNvGrpSpPr/>
          <p:nvPr/>
        </p:nvGrpSpPr>
        <p:grpSpPr>
          <a:xfrm>
            <a:off x="590565" y="3965110"/>
            <a:ext cx="11208807" cy="2436325"/>
            <a:chOff x="983193" y="3956606"/>
            <a:chExt cx="10993217" cy="2774102"/>
          </a:xfrm>
        </p:grpSpPr>
        <p:sp>
          <p:nvSpPr>
            <p:cNvPr id="8" name="Callout: Right Arrow 46">
              <a:extLst>
                <a:ext uri="{FF2B5EF4-FFF2-40B4-BE49-F238E27FC236}">
                  <a16:creationId xmlns:a16="http://schemas.microsoft.com/office/drawing/2014/main" id="{BBF8E038-2CE1-5DB8-8D3A-96EA70F365F2}"/>
                </a:ext>
              </a:extLst>
            </p:cNvPr>
            <p:cNvSpPr/>
            <p:nvPr/>
          </p:nvSpPr>
          <p:spPr>
            <a:xfrm rot="16200000">
              <a:off x="1846027" y="3474960"/>
              <a:ext cx="1524511" cy="3250180"/>
            </a:xfrm>
            <a:prstGeom prst="rightArrowCallout">
              <a:avLst>
                <a:gd name="adj1" fmla="val 50000"/>
                <a:gd name="adj2" fmla="val 19139"/>
                <a:gd name="adj3" fmla="val 15720"/>
                <a:gd name="adj4" fmla="val 85599"/>
              </a:avLst>
            </a:prstGeom>
            <a:noFill/>
            <a:ln w="127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0" name="Freeform: Shape 47">
              <a:extLst>
                <a:ext uri="{FF2B5EF4-FFF2-40B4-BE49-F238E27FC236}">
                  <a16:creationId xmlns:a16="http://schemas.microsoft.com/office/drawing/2014/main" id="{427D7BBF-2BAD-4B47-E34C-D4CCFA5A91D3}"/>
                </a:ext>
              </a:extLst>
            </p:cNvPr>
            <p:cNvSpPr/>
            <p:nvPr/>
          </p:nvSpPr>
          <p:spPr>
            <a:xfrm flipH="1" flipV="1">
              <a:off x="1138289" y="4671659"/>
              <a:ext cx="2979474" cy="2034542"/>
            </a:xfrm>
            <a:custGeom>
              <a:avLst/>
              <a:gdLst>
                <a:gd name="connsiteX0" fmla="*/ 1677346 w 1677347"/>
                <a:gd name="connsiteY0" fmla="*/ 1290319 h 1290319"/>
                <a:gd name="connsiteX1" fmla="*/ 0 w 1677347"/>
                <a:gd name="connsiteY1" fmla="*/ 1290319 h 1290319"/>
                <a:gd name="connsiteX2" fmla="*/ 0 w 1677347"/>
                <a:gd name="connsiteY2" fmla="*/ 396239 h 1290319"/>
                <a:gd name="connsiteX3" fmla="*/ 1 w 1677347"/>
                <a:gd name="connsiteY3" fmla="*/ 396239 h 1290319"/>
                <a:gd name="connsiteX4" fmla="*/ 1 w 1677347"/>
                <a:gd name="connsiteY4" fmla="*/ 0 h 1290319"/>
                <a:gd name="connsiteX5" fmla="*/ 1674651 w 1677347"/>
                <a:gd name="connsiteY5" fmla="*/ 396239 h 1290319"/>
                <a:gd name="connsiteX6" fmla="*/ 1677346 w 1677347"/>
                <a:gd name="connsiteY6" fmla="*/ 396239 h 1290319"/>
                <a:gd name="connsiteX7" fmla="*/ 1677346 w 1677347"/>
                <a:gd name="connsiteY7" fmla="*/ 396877 h 1290319"/>
                <a:gd name="connsiteX8" fmla="*/ 1677347 w 1677347"/>
                <a:gd name="connsiteY8" fmla="*/ 396877 h 1290319"/>
                <a:gd name="connsiteX9" fmla="*/ 1677346 w 1677347"/>
                <a:gd name="connsiteY9" fmla="*/ 396877 h 1290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77347" h="1290319">
                  <a:moveTo>
                    <a:pt x="1677346" y="1290319"/>
                  </a:moveTo>
                  <a:lnTo>
                    <a:pt x="0" y="1290319"/>
                  </a:lnTo>
                  <a:lnTo>
                    <a:pt x="0" y="396239"/>
                  </a:lnTo>
                  <a:lnTo>
                    <a:pt x="1" y="396239"/>
                  </a:lnTo>
                  <a:lnTo>
                    <a:pt x="1" y="0"/>
                  </a:lnTo>
                  <a:lnTo>
                    <a:pt x="1674651" y="396239"/>
                  </a:lnTo>
                  <a:lnTo>
                    <a:pt x="1677346" y="396239"/>
                  </a:lnTo>
                  <a:lnTo>
                    <a:pt x="1677346" y="396877"/>
                  </a:lnTo>
                  <a:lnTo>
                    <a:pt x="1677347" y="396877"/>
                  </a:lnTo>
                  <a:lnTo>
                    <a:pt x="1677346" y="39687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9A3E33-82B1-39DA-EDBC-1C867237B3DF}"/>
                </a:ext>
              </a:extLst>
            </p:cNvPr>
            <p:cNvSpPr/>
            <p:nvPr/>
          </p:nvSpPr>
          <p:spPr>
            <a:xfrm>
              <a:off x="1206367" y="4775099"/>
              <a:ext cx="2798797" cy="956042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mar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KE" altLang="en-KE" dirty="0">
                  <a:solidFill>
                    <a:schemeClr val="bg1"/>
                  </a:solidFill>
                </a:rPr>
                <a:t>Leverage social protection programs (food subsidies, vouchers, cash transfers)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D68945-AC1D-D52A-9BC4-5278715E9051}"/>
                </a:ext>
              </a:extLst>
            </p:cNvPr>
            <p:cNvSpPr/>
            <p:nvPr/>
          </p:nvSpPr>
          <p:spPr>
            <a:xfrm flipH="1">
              <a:off x="2426046" y="3956606"/>
              <a:ext cx="364469" cy="363740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5"/>
                  </a:solidFill>
                </a:rPr>
                <a:t>05</a:t>
              </a:r>
            </a:p>
          </p:txBody>
        </p:sp>
        <p:sp>
          <p:nvSpPr>
            <p:cNvPr id="17" name="Callout: Right Arrow 65">
              <a:extLst>
                <a:ext uri="{FF2B5EF4-FFF2-40B4-BE49-F238E27FC236}">
                  <a16:creationId xmlns:a16="http://schemas.microsoft.com/office/drawing/2014/main" id="{80B09AEE-3818-23EB-9786-0421F96974A4}"/>
                </a:ext>
              </a:extLst>
            </p:cNvPr>
            <p:cNvSpPr/>
            <p:nvPr/>
          </p:nvSpPr>
          <p:spPr>
            <a:xfrm rot="16200000">
              <a:off x="9589064" y="3474960"/>
              <a:ext cx="1524511" cy="3250180"/>
            </a:xfrm>
            <a:prstGeom prst="rightArrowCallout">
              <a:avLst>
                <a:gd name="adj1" fmla="val 50000"/>
                <a:gd name="adj2" fmla="val 19139"/>
                <a:gd name="adj3" fmla="val 15720"/>
                <a:gd name="adj4" fmla="val 85599"/>
              </a:avLst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8" name="Freeform: Shape 66">
              <a:extLst>
                <a:ext uri="{FF2B5EF4-FFF2-40B4-BE49-F238E27FC236}">
                  <a16:creationId xmlns:a16="http://schemas.microsoft.com/office/drawing/2014/main" id="{05289A2B-A785-8761-E5ED-AA2B0A9C745A}"/>
                </a:ext>
              </a:extLst>
            </p:cNvPr>
            <p:cNvSpPr/>
            <p:nvPr/>
          </p:nvSpPr>
          <p:spPr>
            <a:xfrm flipH="1" flipV="1">
              <a:off x="8881592" y="4696166"/>
              <a:ext cx="2979474" cy="2034542"/>
            </a:xfrm>
            <a:custGeom>
              <a:avLst/>
              <a:gdLst>
                <a:gd name="connsiteX0" fmla="*/ 1677346 w 1677347"/>
                <a:gd name="connsiteY0" fmla="*/ 1290319 h 1290319"/>
                <a:gd name="connsiteX1" fmla="*/ 0 w 1677347"/>
                <a:gd name="connsiteY1" fmla="*/ 1290319 h 1290319"/>
                <a:gd name="connsiteX2" fmla="*/ 0 w 1677347"/>
                <a:gd name="connsiteY2" fmla="*/ 396239 h 1290319"/>
                <a:gd name="connsiteX3" fmla="*/ 1 w 1677347"/>
                <a:gd name="connsiteY3" fmla="*/ 396239 h 1290319"/>
                <a:gd name="connsiteX4" fmla="*/ 1 w 1677347"/>
                <a:gd name="connsiteY4" fmla="*/ 0 h 1290319"/>
                <a:gd name="connsiteX5" fmla="*/ 1674651 w 1677347"/>
                <a:gd name="connsiteY5" fmla="*/ 396239 h 1290319"/>
                <a:gd name="connsiteX6" fmla="*/ 1677346 w 1677347"/>
                <a:gd name="connsiteY6" fmla="*/ 396239 h 1290319"/>
                <a:gd name="connsiteX7" fmla="*/ 1677346 w 1677347"/>
                <a:gd name="connsiteY7" fmla="*/ 396877 h 1290319"/>
                <a:gd name="connsiteX8" fmla="*/ 1677347 w 1677347"/>
                <a:gd name="connsiteY8" fmla="*/ 396877 h 1290319"/>
                <a:gd name="connsiteX9" fmla="*/ 1677346 w 1677347"/>
                <a:gd name="connsiteY9" fmla="*/ 396877 h 1290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77347" h="1290319">
                  <a:moveTo>
                    <a:pt x="1677346" y="1290319"/>
                  </a:moveTo>
                  <a:lnTo>
                    <a:pt x="0" y="1290319"/>
                  </a:lnTo>
                  <a:lnTo>
                    <a:pt x="0" y="396239"/>
                  </a:lnTo>
                  <a:lnTo>
                    <a:pt x="1" y="396239"/>
                  </a:lnTo>
                  <a:lnTo>
                    <a:pt x="1" y="0"/>
                  </a:lnTo>
                  <a:lnTo>
                    <a:pt x="1674651" y="396239"/>
                  </a:lnTo>
                  <a:lnTo>
                    <a:pt x="1677346" y="396239"/>
                  </a:lnTo>
                  <a:lnTo>
                    <a:pt x="1677346" y="396877"/>
                  </a:lnTo>
                  <a:lnTo>
                    <a:pt x="1677347" y="396877"/>
                  </a:lnTo>
                  <a:lnTo>
                    <a:pt x="1677346" y="39687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F44E0B4-548E-D2DD-3CE3-67095560DD70}"/>
                </a:ext>
              </a:extLst>
            </p:cNvPr>
            <p:cNvSpPr/>
            <p:nvPr/>
          </p:nvSpPr>
          <p:spPr>
            <a:xfrm>
              <a:off x="8949405" y="4775099"/>
              <a:ext cx="2798797" cy="637361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mar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KE" altLang="en-KE" dirty="0">
                  <a:solidFill>
                    <a:schemeClr val="bg1"/>
                  </a:solidFill>
                </a:rPr>
                <a:t>Advocy:  “nutrition for  TB control” co-funding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DFCE495-5D3F-9DA7-2025-48F92EF07AFC}"/>
                </a:ext>
              </a:extLst>
            </p:cNvPr>
            <p:cNvSpPr/>
            <p:nvPr/>
          </p:nvSpPr>
          <p:spPr>
            <a:xfrm flipH="1">
              <a:off x="10169083" y="3956606"/>
              <a:ext cx="364469" cy="363740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07</a:t>
              </a:r>
            </a:p>
          </p:txBody>
        </p:sp>
        <p:sp>
          <p:nvSpPr>
            <p:cNvPr id="25" name="Callout: Right Arrow 76">
              <a:extLst>
                <a:ext uri="{FF2B5EF4-FFF2-40B4-BE49-F238E27FC236}">
                  <a16:creationId xmlns:a16="http://schemas.microsoft.com/office/drawing/2014/main" id="{14A81762-3BFD-D846-52FA-ED0167DC2AC1}"/>
                </a:ext>
              </a:extLst>
            </p:cNvPr>
            <p:cNvSpPr/>
            <p:nvPr/>
          </p:nvSpPr>
          <p:spPr>
            <a:xfrm rot="16200000">
              <a:off x="5717545" y="3474960"/>
              <a:ext cx="1524511" cy="3250180"/>
            </a:xfrm>
            <a:prstGeom prst="rightArrowCallout">
              <a:avLst>
                <a:gd name="adj1" fmla="val 50000"/>
                <a:gd name="adj2" fmla="val 19139"/>
                <a:gd name="adj3" fmla="val 15720"/>
                <a:gd name="adj4" fmla="val 85599"/>
              </a:avLst>
            </a:prstGeom>
            <a:noFill/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26" name="Freeform: Shape 77">
              <a:extLst>
                <a:ext uri="{FF2B5EF4-FFF2-40B4-BE49-F238E27FC236}">
                  <a16:creationId xmlns:a16="http://schemas.microsoft.com/office/drawing/2014/main" id="{CC1ED4BC-6A4B-5231-4BBD-2E2B700A7925}"/>
                </a:ext>
              </a:extLst>
            </p:cNvPr>
            <p:cNvSpPr/>
            <p:nvPr/>
          </p:nvSpPr>
          <p:spPr>
            <a:xfrm flipH="1" flipV="1">
              <a:off x="4984497" y="4656578"/>
              <a:ext cx="2979474" cy="2034542"/>
            </a:xfrm>
            <a:custGeom>
              <a:avLst/>
              <a:gdLst>
                <a:gd name="connsiteX0" fmla="*/ 1677346 w 1677347"/>
                <a:gd name="connsiteY0" fmla="*/ 1290319 h 1290319"/>
                <a:gd name="connsiteX1" fmla="*/ 0 w 1677347"/>
                <a:gd name="connsiteY1" fmla="*/ 1290319 h 1290319"/>
                <a:gd name="connsiteX2" fmla="*/ 0 w 1677347"/>
                <a:gd name="connsiteY2" fmla="*/ 396239 h 1290319"/>
                <a:gd name="connsiteX3" fmla="*/ 1 w 1677347"/>
                <a:gd name="connsiteY3" fmla="*/ 396239 h 1290319"/>
                <a:gd name="connsiteX4" fmla="*/ 1 w 1677347"/>
                <a:gd name="connsiteY4" fmla="*/ 0 h 1290319"/>
                <a:gd name="connsiteX5" fmla="*/ 1674651 w 1677347"/>
                <a:gd name="connsiteY5" fmla="*/ 396239 h 1290319"/>
                <a:gd name="connsiteX6" fmla="*/ 1677346 w 1677347"/>
                <a:gd name="connsiteY6" fmla="*/ 396239 h 1290319"/>
                <a:gd name="connsiteX7" fmla="*/ 1677346 w 1677347"/>
                <a:gd name="connsiteY7" fmla="*/ 396877 h 1290319"/>
                <a:gd name="connsiteX8" fmla="*/ 1677347 w 1677347"/>
                <a:gd name="connsiteY8" fmla="*/ 396877 h 1290319"/>
                <a:gd name="connsiteX9" fmla="*/ 1677346 w 1677347"/>
                <a:gd name="connsiteY9" fmla="*/ 396877 h 1290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77347" h="1290319">
                  <a:moveTo>
                    <a:pt x="1677346" y="1290319"/>
                  </a:moveTo>
                  <a:lnTo>
                    <a:pt x="0" y="1290319"/>
                  </a:lnTo>
                  <a:lnTo>
                    <a:pt x="0" y="396239"/>
                  </a:lnTo>
                  <a:lnTo>
                    <a:pt x="1" y="396239"/>
                  </a:lnTo>
                  <a:lnTo>
                    <a:pt x="1" y="0"/>
                  </a:lnTo>
                  <a:lnTo>
                    <a:pt x="1674651" y="396239"/>
                  </a:lnTo>
                  <a:lnTo>
                    <a:pt x="1677346" y="396239"/>
                  </a:lnTo>
                  <a:lnTo>
                    <a:pt x="1677346" y="396877"/>
                  </a:lnTo>
                  <a:lnTo>
                    <a:pt x="1677347" y="396877"/>
                  </a:lnTo>
                  <a:lnTo>
                    <a:pt x="1677346" y="39687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sz="1000">
                <a:solidFill>
                  <a:schemeClr val="bg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1EDDA37-A347-9590-0292-1E1AEA65CF6B}"/>
                </a:ext>
              </a:extLst>
            </p:cNvPr>
            <p:cNvSpPr/>
            <p:nvPr/>
          </p:nvSpPr>
          <p:spPr>
            <a:xfrm>
              <a:off x="5077883" y="4775099"/>
              <a:ext cx="2798797" cy="956042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mar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KE" altLang="en-KE" dirty="0">
                  <a:solidFill>
                    <a:schemeClr val="bg1"/>
                  </a:solidFill>
                </a:rPr>
                <a:t>Monitor and evaluate impact (incidence, conversion, adherence)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3BD0EFC-E854-A66E-803A-F5E503E93DB3}"/>
                </a:ext>
              </a:extLst>
            </p:cNvPr>
            <p:cNvSpPr/>
            <p:nvPr/>
          </p:nvSpPr>
          <p:spPr>
            <a:xfrm flipH="1">
              <a:off x="6297564" y="3956606"/>
              <a:ext cx="364469" cy="363740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6"/>
                  </a:solidFill>
                </a:rPr>
                <a:t>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5115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9700" y="225426"/>
            <a:ext cx="5791200" cy="368300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</a:t>
            </a: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 Considerations for Kenya</a:t>
            </a:r>
            <a:endParaRPr sz="36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: Shape 9">
            <a:extLst>
              <a:ext uri="{FF2B5EF4-FFF2-40B4-BE49-F238E27FC236}">
                <a16:creationId xmlns:a16="http://schemas.microsoft.com/office/drawing/2014/main" id="{E8B178DA-2B44-0F26-4FE4-D86FB82E1DA3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594077" y="-3492064"/>
            <a:ext cx="673645" cy="1013820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455D9C-5066-CBE6-18C7-8F2C087B975E}"/>
              </a:ext>
            </a:extLst>
          </p:cNvPr>
          <p:cNvSpPr/>
          <p:nvPr/>
        </p:nvSpPr>
        <p:spPr>
          <a:xfrm flipH="1">
            <a:off x="1860220" y="1438538"/>
            <a:ext cx="9139780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dirty="0">
                <a:solidFill>
                  <a:schemeClr val="bg1"/>
                </a:solidFill>
              </a:rPr>
              <a:t>Tailor nutritional interventions to local food systems, cultural acceptability, seasonality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3EE7C1-DD9E-8B9C-FD0C-42FD43ED107F}"/>
              </a:ext>
            </a:extLst>
          </p:cNvPr>
          <p:cNvGrpSpPr/>
          <p:nvPr/>
        </p:nvGrpSpPr>
        <p:grpSpPr>
          <a:xfrm>
            <a:off x="1002560" y="1386164"/>
            <a:ext cx="382066" cy="387181"/>
            <a:chOff x="429632" y="1129266"/>
            <a:chExt cx="750570" cy="75057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F20AEE1-9730-6D32-F720-C2299BF71AE0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B82B826-3935-DA0B-8DE0-5E37249ABD13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01</a:t>
              </a:r>
              <a:endPara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9" name="Freeform: Shape 69">
            <a:extLst>
              <a:ext uri="{FF2B5EF4-FFF2-40B4-BE49-F238E27FC236}">
                <a16:creationId xmlns:a16="http://schemas.microsoft.com/office/drawing/2014/main" id="{9419A076-86A5-92DE-A1FC-A833CAD92AC1}"/>
              </a:ext>
            </a:extLst>
          </p:cNvPr>
          <p:cNvSpPr/>
          <p:nvPr/>
        </p:nvSpPr>
        <p:spPr>
          <a:xfrm>
            <a:off x="1307674" y="1285113"/>
            <a:ext cx="247433" cy="620356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9B82E2B-D22D-0D46-8886-DDB267E291A3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594077" y="-2773519"/>
            <a:ext cx="673645" cy="1013820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C28D0D-F708-9395-6ABC-9036D4EEF337}"/>
              </a:ext>
            </a:extLst>
          </p:cNvPr>
          <p:cNvSpPr/>
          <p:nvPr/>
        </p:nvSpPr>
        <p:spPr>
          <a:xfrm flipH="1">
            <a:off x="1860219" y="2170435"/>
            <a:ext cx="9139780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b="1" dirty="0">
                <a:solidFill>
                  <a:schemeClr val="bg1"/>
                </a:solidFill>
              </a:rPr>
              <a:t>Focus on vulnerable groups: </a:t>
            </a:r>
            <a:r>
              <a:rPr lang="en-KE" altLang="en-KE" dirty="0">
                <a:solidFill>
                  <a:schemeClr val="bg1"/>
                </a:solidFill>
              </a:rPr>
              <a:t>children, HIV-positive, contacts, marginalized communities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0892D88-DE39-8E85-CEC1-3CE2C1D25605}"/>
              </a:ext>
            </a:extLst>
          </p:cNvPr>
          <p:cNvGrpSpPr/>
          <p:nvPr/>
        </p:nvGrpSpPr>
        <p:grpSpPr>
          <a:xfrm>
            <a:off x="1002560" y="2104709"/>
            <a:ext cx="382066" cy="387181"/>
            <a:chOff x="429632" y="1129266"/>
            <a:chExt cx="750570" cy="75057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4491081-F7A8-0481-75C2-1449B05330E3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F84F362-3C7B-03AF-FCD5-9D7AB0C9139F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02</a:t>
              </a:r>
              <a:endPara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15" name="Freeform: Shape 69">
            <a:extLst>
              <a:ext uri="{FF2B5EF4-FFF2-40B4-BE49-F238E27FC236}">
                <a16:creationId xmlns:a16="http://schemas.microsoft.com/office/drawing/2014/main" id="{16DD0D4B-F952-5895-6B03-D652327816F5}"/>
              </a:ext>
            </a:extLst>
          </p:cNvPr>
          <p:cNvSpPr/>
          <p:nvPr/>
        </p:nvSpPr>
        <p:spPr>
          <a:xfrm>
            <a:off x="1307674" y="2003658"/>
            <a:ext cx="247433" cy="620356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6" name="Freeform: Shape 9">
            <a:extLst>
              <a:ext uri="{FF2B5EF4-FFF2-40B4-BE49-F238E27FC236}">
                <a16:creationId xmlns:a16="http://schemas.microsoft.com/office/drawing/2014/main" id="{E36B32EA-0BEE-A3D1-80A4-4057779647C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594077" y="-2041352"/>
            <a:ext cx="673645" cy="1013820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78FE17-9D74-5583-35B6-CE46B9A6208C}"/>
              </a:ext>
            </a:extLst>
          </p:cNvPr>
          <p:cNvSpPr/>
          <p:nvPr/>
        </p:nvSpPr>
        <p:spPr>
          <a:xfrm flipH="1">
            <a:off x="1744546" y="2769914"/>
            <a:ext cx="9139780" cy="553998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dirty="0">
                <a:solidFill>
                  <a:schemeClr val="bg1"/>
                </a:solidFill>
              </a:rPr>
              <a:t>Use </a:t>
            </a:r>
            <a:r>
              <a:rPr lang="en-KE" altLang="en-KE" b="1" dirty="0">
                <a:solidFill>
                  <a:schemeClr val="bg1"/>
                </a:solidFill>
              </a:rPr>
              <a:t>locally available, affordable nutrient-dense foods </a:t>
            </a:r>
            <a:r>
              <a:rPr lang="en-KE" altLang="en-KE" dirty="0">
                <a:solidFill>
                  <a:schemeClr val="bg1"/>
                </a:solidFill>
              </a:rPr>
              <a:t>(e.g. pulses, fortified staples, local animal-source foods)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3DA82B1-FB52-CA52-FB32-3F9C3890AA9A}"/>
              </a:ext>
            </a:extLst>
          </p:cNvPr>
          <p:cNvGrpSpPr/>
          <p:nvPr/>
        </p:nvGrpSpPr>
        <p:grpSpPr>
          <a:xfrm>
            <a:off x="1002560" y="2836876"/>
            <a:ext cx="382066" cy="387181"/>
            <a:chOff x="429632" y="1129266"/>
            <a:chExt cx="750570" cy="75057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98F2A0C-7884-88E7-2998-93690664DCD3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51B332B-9C69-9927-7A81-7B16C3FA6E66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03</a:t>
              </a:r>
              <a:endPara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21" name="Freeform: Shape 69">
            <a:extLst>
              <a:ext uri="{FF2B5EF4-FFF2-40B4-BE49-F238E27FC236}">
                <a16:creationId xmlns:a16="http://schemas.microsoft.com/office/drawing/2014/main" id="{0CC29ED2-AE31-5014-11AE-726FE1B32D12}"/>
              </a:ext>
            </a:extLst>
          </p:cNvPr>
          <p:cNvSpPr/>
          <p:nvPr/>
        </p:nvSpPr>
        <p:spPr>
          <a:xfrm>
            <a:off x="1307674" y="2735825"/>
            <a:ext cx="247433" cy="620356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23" name="Freeform: Shape 9">
            <a:extLst>
              <a:ext uri="{FF2B5EF4-FFF2-40B4-BE49-F238E27FC236}">
                <a16:creationId xmlns:a16="http://schemas.microsoft.com/office/drawing/2014/main" id="{4074C953-65EE-3398-D59C-0C43C7052120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594077" y="-1325767"/>
            <a:ext cx="673645" cy="1013820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1C7E39-DC4D-4D87-C7AB-AA99B5BE6C32}"/>
              </a:ext>
            </a:extLst>
          </p:cNvPr>
          <p:cNvSpPr/>
          <p:nvPr/>
        </p:nvSpPr>
        <p:spPr>
          <a:xfrm flipH="1">
            <a:off x="1860219" y="3694900"/>
            <a:ext cx="9139780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dirty="0">
                <a:solidFill>
                  <a:schemeClr val="bg1"/>
                </a:solidFill>
              </a:rPr>
              <a:t>Strengthen </a:t>
            </a:r>
            <a:r>
              <a:rPr lang="en-KE" altLang="en-KE" b="1" dirty="0">
                <a:solidFill>
                  <a:schemeClr val="bg1"/>
                </a:solidFill>
              </a:rPr>
              <a:t>capacity </a:t>
            </a:r>
            <a:r>
              <a:rPr lang="en-KE" altLang="en-KE" dirty="0">
                <a:solidFill>
                  <a:schemeClr val="bg1"/>
                </a:solidFill>
              </a:rPr>
              <a:t>(nutritionists in TB programs, training, monitoring)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F89BF33-FEDD-A8D5-80FE-23770E670AEA}"/>
              </a:ext>
            </a:extLst>
          </p:cNvPr>
          <p:cNvGrpSpPr/>
          <p:nvPr/>
        </p:nvGrpSpPr>
        <p:grpSpPr>
          <a:xfrm>
            <a:off x="1002560" y="3552461"/>
            <a:ext cx="382066" cy="387181"/>
            <a:chOff x="429632" y="1129266"/>
            <a:chExt cx="750570" cy="75057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2397CBE-3772-4FC3-420D-7A59CC9A09B5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051A698-36F4-7E18-70D7-BF82DD85F9E5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04</a:t>
              </a:r>
              <a:endPara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A8959DC4-6811-ED63-351F-1EF18DE36B79}"/>
              </a:ext>
            </a:extLst>
          </p:cNvPr>
          <p:cNvSpPr/>
          <p:nvPr/>
        </p:nvSpPr>
        <p:spPr>
          <a:xfrm>
            <a:off x="1307674" y="3451410"/>
            <a:ext cx="247433" cy="620356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29" name="Freeform: Shape 9">
            <a:extLst>
              <a:ext uri="{FF2B5EF4-FFF2-40B4-BE49-F238E27FC236}">
                <a16:creationId xmlns:a16="http://schemas.microsoft.com/office/drawing/2014/main" id="{9B36E1D7-0BF9-F77C-8B6D-FFD830BC0B6E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594077" y="-607222"/>
            <a:ext cx="673645" cy="1013820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55E77A-8CCF-000F-A74B-B6B61AFE4B35}"/>
              </a:ext>
            </a:extLst>
          </p:cNvPr>
          <p:cNvSpPr/>
          <p:nvPr/>
        </p:nvSpPr>
        <p:spPr>
          <a:xfrm flipH="1">
            <a:off x="1860219" y="4413445"/>
            <a:ext cx="9139780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dirty="0">
                <a:solidFill>
                  <a:schemeClr val="bg1"/>
                </a:solidFill>
              </a:rPr>
              <a:t>Pilot </a:t>
            </a:r>
            <a:r>
              <a:rPr lang="en-KE" altLang="en-KE" b="1" dirty="0">
                <a:solidFill>
                  <a:schemeClr val="bg1"/>
                </a:solidFill>
              </a:rPr>
              <a:t>demonstration projects </a:t>
            </a:r>
            <a:r>
              <a:rPr lang="en-KE" altLang="en-KE" dirty="0">
                <a:solidFill>
                  <a:schemeClr val="bg1"/>
                </a:solidFill>
              </a:rPr>
              <a:t>with rigorous evaluation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7E86E03-55F9-097E-DB1D-1EAFB9645537}"/>
              </a:ext>
            </a:extLst>
          </p:cNvPr>
          <p:cNvGrpSpPr/>
          <p:nvPr/>
        </p:nvGrpSpPr>
        <p:grpSpPr>
          <a:xfrm>
            <a:off x="1002560" y="4271006"/>
            <a:ext cx="382066" cy="387181"/>
            <a:chOff x="429632" y="1129266"/>
            <a:chExt cx="750570" cy="75057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2C21A21-F74A-FC52-4448-B3541AC339F4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099DB28-60AD-8CC8-455D-9F0DBF67561D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05</a:t>
              </a:r>
              <a:endPara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34" name="Freeform: Shape 69">
            <a:extLst>
              <a:ext uri="{FF2B5EF4-FFF2-40B4-BE49-F238E27FC236}">
                <a16:creationId xmlns:a16="http://schemas.microsoft.com/office/drawing/2014/main" id="{808026AA-0A4C-D76F-EFA3-562DF864B9F9}"/>
              </a:ext>
            </a:extLst>
          </p:cNvPr>
          <p:cNvSpPr/>
          <p:nvPr/>
        </p:nvSpPr>
        <p:spPr>
          <a:xfrm>
            <a:off x="1307674" y="4169955"/>
            <a:ext cx="247433" cy="620356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4523830B-C55C-17E7-E8ED-86DD56AF8650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594077" y="124945"/>
            <a:ext cx="673645" cy="1013820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E777B5-FB27-2554-44C2-A089333DAEA6}"/>
              </a:ext>
            </a:extLst>
          </p:cNvPr>
          <p:cNvSpPr/>
          <p:nvPr/>
        </p:nvSpPr>
        <p:spPr>
          <a:xfrm flipH="1">
            <a:off x="1860219" y="5145612"/>
            <a:ext cx="9139780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dirty="0">
                <a:solidFill>
                  <a:schemeClr val="bg1"/>
                </a:solidFill>
              </a:rPr>
              <a:t>Align with existing national nutrition, food security, social protection strategies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91AEE9D-5A12-3E68-1BFC-5E3486E3C683}"/>
              </a:ext>
            </a:extLst>
          </p:cNvPr>
          <p:cNvGrpSpPr/>
          <p:nvPr/>
        </p:nvGrpSpPr>
        <p:grpSpPr>
          <a:xfrm>
            <a:off x="1002560" y="5003173"/>
            <a:ext cx="382066" cy="387181"/>
            <a:chOff x="429632" y="1129266"/>
            <a:chExt cx="750570" cy="75057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F8400E9-DEA2-4AEA-A402-D71268F9B9AF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53337EA-37ED-8855-48E7-5F6028DD9CA9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06</a:t>
              </a:r>
              <a:endPara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40" name="Freeform: Shape 69">
            <a:extLst>
              <a:ext uri="{FF2B5EF4-FFF2-40B4-BE49-F238E27FC236}">
                <a16:creationId xmlns:a16="http://schemas.microsoft.com/office/drawing/2014/main" id="{8844EB51-C523-73FA-A190-C49C3E99BDA8}"/>
              </a:ext>
            </a:extLst>
          </p:cNvPr>
          <p:cNvSpPr/>
          <p:nvPr/>
        </p:nvSpPr>
        <p:spPr>
          <a:xfrm>
            <a:off x="1307674" y="4902122"/>
            <a:ext cx="247433" cy="620356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41" name="Freeform: Shape 9">
            <a:extLst>
              <a:ext uri="{FF2B5EF4-FFF2-40B4-BE49-F238E27FC236}">
                <a16:creationId xmlns:a16="http://schemas.microsoft.com/office/drawing/2014/main" id="{24120510-73FA-EE87-B8BC-E69DF76BE1CE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594077" y="857111"/>
            <a:ext cx="673645" cy="101382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F24089-14A9-8645-35FB-4745B96A6210}"/>
              </a:ext>
            </a:extLst>
          </p:cNvPr>
          <p:cNvSpPr/>
          <p:nvPr/>
        </p:nvSpPr>
        <p:spPr>
          <a:xfrm flipH="1">
            <a:off x="1860219" y="5877778"/>
            <a:ext cx="9139780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dirty="0">
                <a:solidFill>
                  <a:schemeClr val="bg1"/>
                </a:solidFill>
              </a:rPr>
              <a:t>Explore public-private partnerships for food supply and fortification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5380854-DCA7-82A3-4DF5-094FDBC0D5AD}"/>
              </a:ext>
            </a:extLst>
          </p:cNvPr>
          <p:cNvGrpSpPr/>
          <p:nvPr/>
        </p:nvGrpSpPr>
        <p:grpSpPr>
          <a:xfrm>
            <a:off x="1002560" y="5735339"/>
            <a:ext cx="382066" cy="387181"/>
            <a:chOff x="429632" y="1129266"/>
            <a:chExt cx="750570" cy="75057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58CB03B-68EE-63E9-C24C-B12CFA297065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>
                <a:solidFill>
                  <a:schemeClr val="bg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286E3A0-C584-1825-01E6-6C24F1241F77}"/>
                </a:ext>
              </a:extLst>
            </p:cNvPr>
            <p:cNvSpPr/>
            <p:nvPr/>
          </p:nvSpPr>
          <p:spPr>
            <a:xfrm>
              <a:off x="429632" y="1129266"/>
              <a:ext cx="750570" cy="75057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07</a:t>
              </a:r>
              <a:endParaRPr lang="en-GB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</p:grpSp>
      <p:sp>
        <p:nvSpPr>
          <p:cNvPr id="46" name="Freeform: Shape 69">
            <a:extLst>
              <a:ext uri="{FF2B5EF4-FFF2-40B4-BE49-F238E27FC236}">
                <a16:creationId xmlns:a16="http://schemas.microsoft.com/office/drawing/2014/main" id="{070073FE-3741-2F16-01B8-0B45F2918C61}"/>
              </a:ext>
            </a:extLst>
          </p:cNvPr>
          <p:cNvSpPr/>
          <p:nvPr/>
        </p:nvSpPr>
        <p:spPr>
          <a:xfrm>
            <a:off x="1307674" y="5634288"/>
            <a:ext cx="247433" cy="620356"/>
          </a:xfrm>
          <a:custGeom>
            <a:avLst/>
            <a:gdLst>
              <a:gd name="connsiteX0" fmla="*/ 0 w 434083"/>
              <a:gd name="connsiteY0" fmla="*/ 0 h 1099348"/>
              <a:gd name="connsiteX1" fmla="*/ 5 w 434083"/>
              <a:gd name="connsiteY1" fmla="*/ 0 h 1099348"/>
              <a:gd name="connsiteX2" fmla="*/ 434083 w 434083"/>
              <a:gd name="connsiteY2" fmla="*/ 549674 h 1099348"/>
              <a:gd name="connsiteX3" fmla="*/ 5 w 434083"/>
              <a:gd name="connsiteY3" fmla="*/ 1099348 h 1099348"/>
              <a:gd name="connsiteX4" fmla="*/ 0 w 434083"/>
              <a:gd name="connsiteY4" fmla="*/ 1099348 h 1099348"/>
              <a:gd name="connsiteX5" fmla="*/ 376933 w 434083"/>
              <a:gd name="connsiteY5" fmla="*/ 549674 h 1099348"/>
              <a:gd name="connsiteX6" fmla="*/ 0 w 434083"/>
              <a:gd name="connsiteY6" fmla="*/ 0 h 109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083" h="1099348">
                <a:moveTo>
                  <a:pt x="0" y="0"/>
                </a:moveTo>
                <a:lnTo>
                  <a:pt x="5" y="0"/>
                </a:lnTo>
                <a:lnTo>
                  <a:pt x="434083" y="549674"/>
                </a:lnTo>
                <a:lnTo>
                  <a:pt x="5" y="1099348"/>
                </a:lnTo>
                <a:lnTo>
                  <a:pt x="0" y="1099348"/>
                </a:lnTo>
                <a:lnTo>
                  <a:pt x="376933" y="54967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94872" y="155264"/>
            <a:ext cx="8229600" cy="564264"/>
          </a:xfrm>
        </p:spPr>
        <p:txBody>
          <a:bodyPr>
            <a:noAutofit/>
          </a:bodyPr>
          <a:lstStyle/>
          <a:p>
            <a:r>
              <a:rPr sz="3600" b="1" dirty="0">
                <a:solidFill>
                  <a:schemeClr val="bg1"/>
                </a:solidFill>
                <a:latin typeface="+mn-lt"/>
              </a:rPr>
              <a:t>Program Impact &amp; Cost-Effectiveness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C7C6EC-CA48-42C8-EBA7-D22DD970A766}"/>
              </a:ext>
            </a:extLst>
          </p:cNvPr>
          <p:cNvSpPr/>
          <p:nvPr/>
        </p:nvSpPr>
        <p:spPr bwMode="auto">
          <a:xfrm>
            <a:off x="929753" y="1739876"/>
            <a:ext cx="3015533" cy="20180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002060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867" b="1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E47874-1B41-2E65-7552-3A9CA46420F2}"/>
              </a:ext>
            </a:extLst>
          </p:cNvPr>
          <p:cNvSpPr/>
          <p:nvPr/>
        </p:nvSpPr>
        <p:spPr bwMode="auto">
          <a:xfrm>
            <a:off x="2499909" y="4627591"/>
            <a:ext cx="3291798" cy="20180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002060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867" b="1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EFE793-BC92-FE41-514C-94EA33C8E261}"/>
              </a:ext>
            </a:extLst>
          </p:cNvPr>
          <p:cNvSpPr txBox="1"/>
          <p:nvPr/>
        </p:nvSpPr>
        <p:spPr>
          <a:xfrm>
            <a:off x="929753" y="1897595"/>
            <a:ext cx="30155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8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Modeling suggests high potential return: preventing TB cases and deaths at relatively modest cost. E.g. </a:t>
            </a:r>
            <a:r>
              <a:rPr lang="en-KE" altLang="en-KE" sz="18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cost per DALY averted ~$167 in one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218B8-3119-35DE-5F60-53781E4C12BD}"/>
              </a:ext>
            </a:extLst>
          </p:cNvPr>
          <p:cNvSpPr txBox="1"/>
          <p:nvPr/>
        </p:nvSpPr>
        <p:spPr>
          <a:xfrm>
            <a:off x="2660791" y="4795780"/>
            <a:ext cx="29891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Potential for </a:t>
            </a:r>
            <a:r>
              <a:rPr lang="en-KE" altLang="en-KE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“leveraging yield” </a:t>
            </a:r>
            <a:r>
              <a:rPr lang="en-KE" altLang="en-KE" sz="1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- nutritional interventions also yield benefits for other diseases (e.g. child growth, immune resilience, NCD risk)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11CBB3-1479-82A9-C100-DDDAE3763F14}"/>
              </a:ext>
            </a:extLst>
          </p:cNvPr>
          <p:cNvSpPr/>
          <p:nvPr/>
        </p:nvSpPr>
        <p:spPr bwMode="auto">
          <a:xfrm>
            <a:off x="5993077" y="1731832"/>
            <a:ext cx="3015533" cy="20180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002060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867" b="1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11CA86-65B7-0DBB-15CA-71BC0EA7A413}"/>
              </a:ext>
            </a:extLst>
          </p:cNvPr>
          <p:cNvSpPr txBox="1"/>
          <p:nvPr/>
        </p:nvSpPr>
        <p:spPr>
          <a:xfrm>
            <a:off x="5993076" y="1863989"/>
            <a:ext cx="30155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In the RATIONS trial, the observed incidence reduction (~41–49%) is </a:t>
            </a:r>
            <a:r>
              <a:rPr lang="en-KE" altLang="en-KE" sz="1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comparable </a:t>
            </a:r>
            <a:r>
              <a:rPr lang="en-KE" altLang="en-KE" sz="1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to efficacy seen in some </a:t>
            </a:r>
            <a:r>
              <a:rPr lang="en-KE" altLang="en-KE" sz="18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vaccine trials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DFB095-6753-10F7-818C-B5A87BC5FC59}"/>
              </a:ext>
            </a:extLst>
          </p:cNvPr>
          <p:cNvSpPr/>
          <p:nvPr/>
        </p:nvSpPr>
        <p:spPr bwMode="auto">
          <a:xfrm>
            <a:off x="8366400" y="4710679"/>
            <a:ext cx="3291798" cy="183942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rgbClr val="002060"/>
            </a:solidFill>
            <a:round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867" b="1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50A5E5-ECC1-660B-ED2B-C887365B3B31}"/>
              </a:ext>
            </a:extLst>
          </p:cNvPr>
          <p:cNvSpPr txBox="1"/>
          <p:nvPr/>
        </p:nvSpPr>
        <p:spPr>
          <a:xfrm>
            <a:off x="8366400" y="4795780"/>
            <a:ext cx="32917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KE" altLang="en-KE" sz="18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</a:rPr>
              <a:t>Monitoring indicators: incident TB among contacts, conversion rates, weight gain, adherence, cost per case averted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5A3ABA-152B-0D6B-45ED-AFBF164E139F}"/>
              </a:ext>
            </a:extLst>
          </p:cNvPr>
          <p:cNvSpPr/>
          <p:nvPr/>
        </p:nvSpPr>
        <p:spPr>
          <a:xfrm>
            <a:off x="929753" y="1739876"/>
            <a:ext cx="301553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82A92F-505F-F9CE-58CF-F226C165DDCE}"/>
              </a:ext>
            </a:extLst>
          </p:cNvPr>
          <p:cNvSpPr/>
          <p:nvPr/>
        </p:nvSpPr>
        <p:spPr>
          <a:xfrm>
            <a:off x="5993075" y="1708403"/>
            <a:ext cx="3015533" cy="457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E321AE-14EF-EA19-0D35-AB8091C700E9}"/>
              </a:ext>
            </a:extLst>
          </p:cNvPr>
          <p:cNvSpPr/>
          <p:nvPr/>
        </p:nvSpPr>
        <p:spPr>
          <a:xfrm>
            <a:off x="2499909" y="4605982"/>
            <a:ext cx="3291798" cy="5897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9A3439-18D7-FDAA-73C1-69EC9F940B4A}"/>
              </a:ext>
            </a:extLst>
          </p:cNvPr>
          <p:cNvSpPr/>
          <p:nvPr/>
        </p:nvSpPr>
        <p:spPr>
          <a:xfrm>
            <a:off x="8366400" y="4664960"/>
            <a:ext cx="3291798" cy="457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pic>
        <p:nvPicPr>
          <p:cNvPr id="25" name="Graphic 24" descr="Return with solid fill">
            <a:extLst>
              <a:ext uri="{FF2B5EF4-FFF2-40B4-BE49-F238E27FC236}">
                <a16:creationId xmlns:a16="http://schemas.microsoft.com/office/drawing/2014/main" id="{D3180C8B-CA05-FCD2-2B15-1F88780E5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0319" y="946726"/>
            <a:ext cx="914400" cy="914400"/>
          </a:xfrm>
          <a:prstGeom prst="rect">
            <a:avLst/>
          </a:prstGeom>
        </p:spPr>
      </p:pic>
      <p:pic>
        <p:nvPicPr>
          <p:cNvPr id="27" name="Graphic 26" descr="Golden Ratio with solid fill">
            <a:extLst>
              <a:ext uri="{FF2B5EF4-FFF2-40B4-BE49-F238E27FC236}">
                <a16:creationId xmlns:a16="http://schemas.microsoft.com/office/drawing/2014/main" id="{2D35315B-351A-F2EC-4BB2-FB704B57AD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3642" y="909095"/>
            <a:ext cx="914400" cy="914400"/>
          </a:xfrm>
          <a:prstGeom prst="rect">
            <a:avLst/>
          </a:prstGeom>
        </p:spPr>
      </p:pic>
      <p:pic>
        <p:nvPicPr>
          <p:cNvPr id="29" name="Graphic 28" descr="Fruit bowl with solid fill">
            <a:extLst>
              <a:ext uri="{FF2B5EF4-FFF2-40B4-BE49-F238E27FC236}">
                <a16:creationId xmlns:a16="http://schemas.microsoft.com/office/drawing/2014/main" id="{DC906AC4-9BF4-F97F-65ED-4CA3A8708C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97580" y="3702387"/>
            <a:ext cx="914400" cy="914400"/>
          </a:xfrm>
          <a:prstGeom prst="rect">
            <a:avLst/>
          </a:prstGeom>
        </p:spPr>
      </p:pic>
      <p:pic>
        <p:nvPicPr>
          <p:cNvPr id="33" name="Graphic 32" descr="Weights Uneven with solid fill">
            <a:extLst>
              <a:ext uri="{FF2B5EF4-FFF2-40B4-BE49-F238E27FC236}">
                <a16:creationId xmlns:a16="http://schemas.microsoft.com/office/drawing/2014/main" id="{FEF7FD6C-41A6-A645-5D80-8CBD60AFCE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55099" y="37499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79882" y="125285"/>
            <a:ext cx="8560081" cy="609236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+mn-lt"/>
              </a:rPr>
              <a:t>Call to Action: ‘Food; the TB vaccine we already have’</a:t>
            </a:r>
            <a:endParaRPr sz="3200" b="1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94153BA-12EA-932F-E60B-0B2FB41660F5}"/>
              </a:ext>
            </a:extLst>
          </p:cNvPr>
          <p:cNvGrpSpPr/>
          <p:nvPr/>
        </p:nvGrpSpPr>
        <p:grpSpPr>
          <a:xfrm>
            <a:off x="301285" y="1452148"/>
            <a:ext cx="11437029" cy="4743090"/>
            <a:chOff x="387821" y="1091653"/>
            <a:chExt cx="8368363" cy="347047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6993586-AD21-8CBF-353F-C9F97F3E553B}"/>
                </a:ext>
              </a:extLst>
            </p:cNvPr>
            <p:cNvGrpSpPr/>
            <p:nvPr/>
          </p:nvGrpSpPr>
          <p:grpSpPr>
            <a:xfrm>
              <a:off x="5192242" y="1091653"/>
              <a:ext cx="3563942" cy="1032073"/>
              <a:chOff x="5192242" y="2800350"/>
              <a:chExt cx="3563942" cy="1032073"/>
            </a:xfrm>
          </p:grpSpPr>
          <p:sp>
            <p:nvSpPr>
              <p:cNvPr id="4" name="Freeform: Shape 9">
                <a:extLst>
                  <a:ext uri="{FF2B5EF4-FFF2-40B4-BE49-F238E27FC236}">
                    <a16:creationId xmlns:a16="http://schemas.microsoft.com/office/drawing/2014/main" id="{8CE334C7-6FDC-449A-2A15-F8EE400B9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2244" y="2800350"/>
                <a:ext cx="3563940" cy="1032073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" name="Freeform: Shape 116">
                <a:extLst>
                  <a:ext uri="{FF2B5EF4-FFF2-40B4-BE49-F238E27FC236}">
                    <a16:creationId xmlns:a16="http://schemas.microsoft.com/office/drawing/2014/main" id="{17502FA2-4CB8-EF55-0C23-92018EFD7914}"/>
                  </a:ext>
                </a:extLst>
              </p:cNvPr>
              <p:cNvSpPr/>
              <p:nvPr/>
            </p:nvSpPr>
            <p:spPr>
              <a:xfrm flipH="1">
                <a:off x="5192242" y="2800350"/>
                <a:ext cx="1809549" cy="1032072"/>
              </a:xfrm>
              <a:custGeom>
                <a:avLst/>
                <a:gdLst>
                  <a:gd name="connsiteX0" fmla="*/ 0 w 2328862"/>
                  <a:gd name="connsiteY0" fmla="*/ 0 h 411289"/>
                  <a:gd name="connsiteX1" fmla="*/ 2328863 w 2328862"/>
                  <a:gd name="connsiteY1" fmla="*/ 0 h 411289"/>
                  <a:gd name="connsiteX2" fmla="*/ 2328863 w 2328862"/>
                  <a:gd name="connsiteY2" fmla="*/ 411290 h 411289"/>
                  <a:gd name="connsiteX3" fmla="*/ 0 w 2328862"/>
                  <a:gd name="connsiteY3" fmla="*/ 411290 h 411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8862" h="411289">
                    <a:moveTo>
                      <a:pt x="0" y="0"/>
                    </a:moveTo>
                    <a:lnTo>
                      <a:pt x="2328863" y="0"/>
                    </a:lnTo>
                    <a:lnTo>
                      <a:pt x="2328863" y="411290"/>
                    </a:lnTo>
                    <a:lnTo>
                      <a:pt x="0" y="411290"/>
                    </a:lnTo>
                    <a:close/>
                  </a:path>
                </a:pathLst>
              </a:custGeom>
              <a:gradFill flip="none" rotWithShape="1">
                <a:gsLst>
                  <a:gs pos="24000">
                    <a:schemeClr val="tx1">
                      <a:alpha val="3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10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AD623B-FE69-289B-1E52-E229434B0820}"/>
                </a:ext>
              </a:extLst>
            </p:cNvPr>
            <p:cNvSpPr/>
            <p:nvPr/>
          </p:nvSpPr>
          <p:spPr>
            <a:xfrm flipH="1">
              <a:off x="5776844" y="1269893"/>
              <a:ext cx="2863287" cy="675592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KE" altLang="en-KE" sz="2000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Pilot and scale up context-appropriate nutrition interventions in high TB burden settings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F1B8251-4D19-F760-DCB8-0E498901A6FA}"/>
                </a:ext>
              </a:extLst>
            </p:cNvPr>
            <p:cNvGrpSpPr/>
            <p:nvPr/>
          </p:nvGrpSpPr>
          <p:grpSpPr>
            <a:xfrm>
              <a:off x="4740445" y="1155499"/>
              <a:ext cx="903599" cy="904381"/>
              <a:chOff x="4740445" y="2864196"/>
              <a:chExt cx="903599" cy="904381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B18A00-35E2-CE3C-69BC-2D7DA0B4F93C}"/>
                  </a:ext>
                </a:extLst>
              </p:cNvPr>
              <p:cNvSpPr/>
              <p:nvPr/>
            </p:nvSpPr>
            <p:spPr>
              <a:xfrm>
                <a:off x="4740445" y="2864196"/>
                <a:ext cx="903599" cy="9043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137160" tIns="137160" rIns="137160" bIns="137160">
                <a:noAutofit/>
              </a:bodyPr>
              <a:lstStyle/>
              <a:p>
                <a:pPr marL="128588" indent="-128588">
                  <a:lnSpc>
                    <a:spcPct val="94000"/>
                  </a:lnSpc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sz="105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BE07B32-C127-3031-60F3-29B5EA07CFC0}"/>
                  </a:ext>
                </a:extLst>
              </p:cNvPr>
              <p:cNvSpPr/>
              <p:nvPr/>
            </p:nvSpPr>
            <p:spPr>
              <a:xfrm>
                <a:off x="4740445" y="2864196"/>
                <a:ext cx="903599" cy="904381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bg1">
                      <a:lumMod val="95000"/>
                      <a:alpha val="50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1BC0002-A2FF-C65E-1E73-27D75D56DA6B}"/>
                </a:ext>
              </a:extLst>
            </p:cNvPr>
            <p:cNvGrpSpPr/>
            <p:nvPr/>
          </p:nvGrpSpPr>
          <p:grpSpPr>
            <a:xfrm>
              <a:off x="5192242" y="3530053"/>
              <a:ext cx="3563942" cy="1032073"/>
              <a:chOff x="5192242" y="2800350"/>
              <a:chExt cx="3563942" cy="1032073"/>
            </a:xfrm>
          </p:grpSpPr>
          <p:sp>
            <p:nvSpPr>
              <p:cNvPr id="13" name="Freeform: Shape 9">
                <a:extLst>
                  <a:ext uri="{FF2B5EF4-FFF2-40B4-BE49-F238E27FC236}">
                    <a16:creationId xmlns:a16="http://schemas.microsoft.com/office/drawing/2014/main" id="{5E409922-4412-DE13-DC94-875AEB40CB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2244" y="2800350"/>
                <a:ext cx="3563940" cy="103207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4" name="Freeform: Shape 125">
                <a:extLst>
                  <a:ext uri="{FF2B5EF4-FFF2-40B4-BE49-F238E27FC236}">
                    <a16:creationId xmlns:a16="http://schemas.microsoft.com/office/drawing/2014/main" id="{7F31CF76-7E30-DE6E-FD8C-102442CD738C}"/>
                  </a:ext>
                </a:extLst>
              </p:cNvPr>
              <p:cNvSpPr/>
              <p:nvPr/>
            </p:nvSpPr>
            <p:spPr>
              <a:xfrm flipH="1">
                <a:off x="5192242" y="2800350"/>
                <a:ext cx="1809549" cy="1032072"/>
              </a:xfrm>
              <a:custGeom>
                <a:avLst/>
                <a:gdLst>
                  <a:gd name="connsiteX0" fmla="*/ 0 w 2328862"/>
                  <a:gd name="connsiteY0" fmla="*/ 0 h 411289"/>
                  <a:gd name="connsiteX1" fmla="*/ 2328863 w 2328862"/>
                  <a:gd name="connsiteY1" fmla="*/ 0 h 411289"/>
                  <a:gd name="connsiteX2" fmla="*/ 2328863 w 2328862"/>
                  <a:gd name="connsiteY2" fmla="*/ 411290 h 411289"/>
                  <a:gd name="connsiteX3" fmla="*/ 0 w 2328862"/>
                  <a:gd name="connsiteY3" fmla="*/ 411290 h 411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8862" h="411289">
                    <a:moveTo>
                      <a:pt x="0" y="0"/>
                    </a:moveTo>
                    <a:lnTo>
                      <a:pt x="2328863" y="0"/>
                    </a:lnTo>
                    <a:lnTo>
                      <a:pt x="2328863" y="411290"/>
                    </a:lnTo>
                    <a:lnTo>
                      <a:pt x="0" y="411290"/>
                    </a:lnTo>
                    <a:close/>
                  </a:path>
                </a:pathLst>
              </a:custGeom>
              <a:gradFill flip="none" rotWithShape="1">
                <a:gsLst>
                  <a:gs pos="24000">
                    <a:schemeClr val="tx1">
                      <a:alpha val="3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10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3C8210E-AB05-533C-2C29-2AA5780124BD}"/>
                </a:ext>
              </a:extLst>
            </p:cNvPr>
            <p:cNvSpPr/>
            <p:nvPr/>
          </p:nvSpPr>
          <p:spPr>
            <a:xfrm flipH="1">
              <a:off x="5776844" y="3820892"/>
              <a:ext cx="2863287" cy="450394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KE" altLang="en-KE" sz="2000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Advocacy: </a:t>
              </a:r>
              <a:r>
                <a:rPr lang="en-KE" altLang="en-KE" sz="2000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position nutrition in TB funding and policy </a:t>
              </a:r>
              <a:r>
                <a:rPr lang="en-KE" altLang="en-KE" sz="2000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agendas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A9D0308-8B4C-6743-C858-59F4B4025494}"/>
                </a:ext>
              </a:extLst>
            </p:cNvPr>
            <p:cNvGrpSpPr/>
            <p:nvPr/>
          </p:nvGrpSpPr>
          <p:grpSpPr>
            <a:xfrm>
              <a:off x="4740445" y="3593899"/>
              <a:ext cx="903599" cy="904381"/>
              <a:chOff x="4740445" y="2864196"/>
              <a:chExt cx="903599" cy="904381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B857A97-6584-78A5-FFA1-69DAD0700B2F}"/>
                  </a:ext>
                </a:extLst>
              </p:cNvPr>
              <p:cNvSpPr/>
              <p:nvPr/>
            </p:nvSpPr>
            <p:spPr>
              <a:xfrm>
                <a:off x="4740445" y="2864196"/>
                <a:ext cx="903599" cy="9043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137160" tIns="137160" rIns="137160" bIns="137160">
                <a:noAutofit/>
              </a:bodyPr>
              <a:lstStyle/>
              <a:p>
                <a:pPr marL="128588" indent="-128588">
                  <a:lnSpc>
                    <a:spcPct val="94000"/>
                  </a:lnSpc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sz="105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078EE48-E14A-9519-2AC4-83DFCBCAFE6D}"/>
                  </a:ext>
                </a:extLst>
              </p:cNvPr>
              <p:cNvSpPr/>
              <p:nvPr/>
            </p:nvSpPr>
            <p:spPr>
              <a:xfrm>
                <a:off x="4740445" y="2864196"/>
                <a:ext cx="903599" cy="904381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bg1">
                      <a:lumMod val="95000"/>
                      <a:alpha val="50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B1C7CAC-C4AC-4B6E-1855-3D6F87E6B73A}"/>
                </a:ext>
              </a:extLst>
            </p:cNvPr>
            <p:cNvGrpSpPr/>
            <p:nvPr/>
          </p:nvGrpSpPr>
          <p:grpSpPr>
            <a:xfrm>
              <a:off x="5192242" y="2310853"/>
              <a:ext cx="3563942" cy="1032073"/>
              <a:chOff x="5192242" y="2800350"/>
              <a:chExt cx="3563942" cy="1032073"/>
            </a:xfrm>
          </p:grpSpPr>
          <p:sp>
            <p:nvSpPr>
              <p:cNvPr id="21" name="Freeform: Shape 9">
                <a:extLst>
                  <a:ext uri="{FF2B5EF4-FFF2-40B4-BE49-F238E27FC236}">
                    <a16:creationId xmlns:a16="http://schemas.microsoft.com/office/drawing/2014/main" id="{30B84559-20AE-8E6C-132B-5BD582A05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2244" y="2800350"/>
                <a:ext cx="3563940" cy="1032073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2" name="Freeform: Shape 134">
                <a:extLst>
                  <a:ext uri="{FF2B5EF4-FFF2-40B4-BE49-F238E27FC236}">
                    <a16:creationId xmlns:a16="http://schemas.microsoft.com/office/drawing/2014/main" id="{9F633AAF-D0F3-CF4A-9987-4FE51144F907}"/>
                  </a:ext>
                </a:extLst>
              </p:cNvPr>
              <p:cNvSpPr/>
              <p:nvPr/>
            </p:nvSpPr>
            <p:spPr>
              <a:xfrm flipH="1">
                <a:off x="5192242" y="2800350"/>
                <a:ext cx="1809549" cy="1032072"/>
              </a:xfrm>
              <a:custGeom>
                <a:avLst/>
                <a:gdLst>
                  <a:gd name="connsiteX0" fmla="*/ 0 w 2328862"/>
                  <a:gd name="connsiteY0" fmla="*/ 0 h 411289"/>
                  <a:gd name="connsiteX1" fmla="*/ 2328863 w 2328862"/>
                  <a:gd name="connsiteY1" fmla="*/ 0 h 411289"/>
                  <a:gd name="connsiteX2" fmla="*/ 2328863 w 2328862"/>
                  <a:gd name="connsiteY2" fmla="*/ 411290 h 411289"/>
                  <a:gd name="connsiteX3" fmla="*/ 0 w 2328862"/>
                  <a:gd name="connsiteY3" fmla="*/ 411290 h 411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8862" h="411289">
                    <a:moveTo>
                      <a:pt x="0" y="0"/>
                    </a:moveTo>
                    <a:lnTo>
                      <a:pt x="2328863" y="0"/>
                    </a:lnTo>
                    <a:lnTo>
                      <a:pt x="2328863" y="411290"/>
                    </a:lnTo>
                    <a:lnTo>
                      <a:pt x="0" y="411290"/>
                    </a:lnTo>
                    <a:close/>
                  </a:path>
                </a:pathLst>
              </a:custGeom>
              <a:gradFill flip="none" rotWithShape="1">
                <a:gsLst>
                  <a:gs pos="24000">
                    <a:schemeClr val="tx1">
                      <a:alpha val="3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10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FEF841D-6F51-8F48-6463-BC6B21E7394C}"/>
                </a:ext>
              </a:extLst>
            </p:cNvPr>
            <p:cNvSpPr/>
            <p:nvPr/>
          </p:nvSpPr>
          <p:spPr>
            <a:xfrm flipH="1">
              <a:off x="5776844" y="2489095"/>
              <a:ext cx="2863287" cy="675592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KE" altLang="en-KE" sz="2000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Rigorous monitoring, evaluation, implementation science needed to refine strategies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C0E4ABB-9A09-6809-5EE7-7565FCA3C13C}"/>
                </a:ext>
              </a:extLst>
            </p:cNvPr>
            <p:cNvGrpSpPr/>
            <p:nvPr/>
          </p:nvGrpSpPr>
          <p:grpSpPr>
            <a:xfrm>
              <a:off x="4740445" y="2374699"/>
              <a:ext cx="903599" cy="904381"/>
              <a:chOff x="4740445" y="2864196"/>
              <a:chExt cx="903599" cy="904381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2098630-A9E3-78B4-26BC-D629F398F02F}"/>
                  </a:ext>
                </a:extLst>
              </p:cNvPr>
              <p:cNvSpPr/>
              <p:nvPr/>
            </p:nvSpPr>
            <p:spPr>
              <a:xfrm>
                <a:off x="4740445" y="2864196"/>
                <a:ext cx="903599" cy="9043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137160" tIns="137160" rIns="137160" bIns="137160">
                <a:noAutofit/>
              </a:bodyPr>
              <a:lstStyle/>
              <a:p>
                <a:pPr marL="128588" indent="-128588">
                  <a:lnSpc>
                    <a:spcPct val="94000"/>
                  </a:lnSpc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sz="105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34AB361-394D-8BA0-CED9-13EF67D434AC}"/>
                  </a:ext>
                </a:extLst>
              </p:cNvPr>
              <p:cNvSpPr/>
              <p:nvPr/>
            </p:nvSpPr>
            <p:spPr>
              <a:xfrm>
                <a:off x="4740445" y="2864196"/>
                <a:ext cx="903599" cy="904381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bg1">
                      <a:lumMod val="95000"/>
                      <a:alpha val="50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92AACFD-E137-BFB3-349A-97A41365C0B6}"/>
                </a:ext>
              </a:extLst>
            </p:cNvPr>
            <p:cNvGrpSpPr/>
            <p:nvPr/>
          </p:nvGrpSpPr>
          <p:grpSpPr>
            <a:xfrm>
              <a:off x="839618" y="1091653"/>
              <a:ext cx="3563942" cy="1032073"/>
              <a:chOff x="5192242" y="2800350"/>
              <a:chExt cx="3563942" cy="1032073"/>
            </a:xfrm>
          </p:grpSpPr>
          <p:sp>
            <p:nvSpPr>
              <p:cNvPr id="29" name="Freeform: Shape 9">
                <a:extLst>
                  <a:ext uri="{FF2B5EF4-FFF2-40B4-BE49-F238E27FC236}">
                    <a16:creationId xmlns:a16="http://schemas.microsoft.com/office/drawing/2014/main" id="{5DD1C416-4B93-C70F-D5F6-7D2C3B775F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2244" y="2800350"/>
                <a:ext cx="3563940" cy="103207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0" name="Freeform: Shape 143">
                <a:extLst>
                  <a:ext uri="{FF2B5EF4-FFF2-40B4-BE49-F238E27FC236}">
                    <a16:creationId xmlns:a16="http://schemas.microsoft.com/office/drawing/2014/main" id="{A43F3F3C-4ABA-514A-5F0D-ABC54B7F7785}"/>
                  </a:ext>
                </a:extLst>
              </p:cNvPr>
              <p:cNvSpPr/>
              <p:nvPr/>
            </p:nvSpPr>
            <p:spPr>
              <a:xfrm flipH="1">
                <a:off x="5192242" y="2800350"/>
                <a:ext cx="1809549" cy="1032072"/>
              </a:xfrm>
              <a:custGeom>
                <a:avLst/>
                <a:gdLst>
                  <a:gd name="connsiteX0" fmla="*/ 0 w 2328862"/>
                  <a:gd name="connsiteY0" fmla="*/ 0 h 411289"/>
                  <a:gd name="connsiteX1" fmla="*/ 2328863 w 2328862"/>
                  <a:gd name="connsiteY1" fmla="*/ 0 h 411289"/>
                  <a:gd name="connsiteX2" fmla="*/ 2328863 w 2328862"/>
                  <a:gd name="connsiteY2" fmla="*/ 411290 h 411289"/>
                  <a:gd name="connsiteX3" fmla="*/ 0 w 2328862"/>
                  <a:gd name="connsiteY3" fmla="*/ 411290 h 411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8862" h="411289">
                    <a:moveTo>
                      <a:pt x="0" y="0"/>
                    </a:moveTo>
                    <a:lnTo>
                      <a:pt x="2328863" y="0"/>
                    </a:lnTo>
                    <a:lnTo>
                      <a:pt x="2328863" y="411290"/>
                    </a:lnTo>
                    <a:lnTo>
                      <a:pt x="0" y="411290"/>
                    </a:lnTo>
                    <a:close/>
                  </a:path>
                </a:pathLst>
              </a:custGeom>
              <a:gradFill flip="none" rotWithShape="1">
                <a:gsLst>
                  <a:gs pos="24000">
                    <a:schemeClr val="tx1">
                      <a:alpha val="3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10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E0EF9E6-99F6-6702-7D48-5E18966FBFC3}"/>
                </a:ext>
              </a:extLst>
            </p:cNvPr>
            <p:cNvSpPr/>
            <p:nvPr/>
          </p:nvSpPr>
          <p:spPr>
            <a:xfrm flipH="1">
              <a:off x="1424220" y="1269895"/>
              <a:ext cx="2863287" cy="675592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KE" altLang="en-KE" sz="2000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Nutrition must move </a:t>
              </a:r>
              <a:r>
                <a:rPr lang="en-KE" altLang="en-KE" sz="2000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from “adjunct” or “rehabilitative” to central</a:t>
              </a:r>
              <a:r>
                <a:rPr lang="en-KE" altLang="en-KE" sz="2000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strategic role in TB prevention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44635A7-319E-515C-6CC1-A443FEAE8156}"/>
                </a:ext>
              </a:extLst>
            </p:cNvPr>
            <p:cNvGrpSpPr/>
            <p:nvPr/>
          </p:nvGrpSpPr>
          <p:grpSpPr>
            <a:xfrm>
              <a:off x="387821" y="1155499"/>
              <a:ext cx="903599" cy="904381"/>
              <a:chOff x="4740445" y="2864196"/>
              <a:chExt cx="903599" cy="904381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B1EC88B-D81C-EFE7-DC51-3C70CA9FCDC4}"/>
                  </a:ext>
                </a:extLst>
              </p:cNvPr>
              <p:cNvSpPr/>
              <p:nvPr/>
            </p:nvSpPr>
            <p:spPr>
              <a:xfrm>
                <a:off x="4740445" y="2864196"/>
                <a:ext cx="903599" cy="9043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137160" tIns="137160" rIns="137160" bIns="137160">
                <a:noAutofit/>
              </a:bodyPr>
              <a:lstStyle/>
              <a:p>
                <a:pPr marL="128588" indent="-128588">
                  <a:lnSpc>
                    <a:spcPct val="94000"/>
                  </a:lnSpc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sz="105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EA1051E-E6F7-3D32-D8D0-0ECFD20A262D}"/>
                  </a:ext>
                </a:extLst>
              </p:cNvPr>
              <p:cNvSpPr/>
              <p:nvPr/>
            </p:nvSpPr>
            <p:spPr>
              <a:xfrm>
                <a:off x="4740445" y="2864196"/>
                <a:ext cx="903599" cy="904381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bg1">
                      <a:lumMod val="95000"/>
                      <a:alpha val="50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8F40937-2379-DE88-D926-10E97D0A2E5A}"/>
                </a:ext>
              </a:extLst>
            </p:cNvPr>
            <p:cNvGrpSpPr/>
            <p:nvPr/>
          </p:nvGrpSpPr>
          <p:grpSpPr>
            <a:xfrm>
              <a:off x="839618" y="3530053"/>
              <a:ext cx="3563942" cy="1032073"/>
              <a:chOff x="5192242" y="2800350"/>
              <a:chExt cx="3563942" cy="1032073"/>
            </a:xfrm>
          </p:grpSpPr>
          <p:sp>
            <p:nvSpPr>
              <p:cNvPr id="37" name="Freeform: Shape 9">
                <a:extLst>
                  <a:ext uri="{FF2B5EF4-FFF2-40B4-BE49-F238E27FC236}">
                    <a16:creationId xmlns:a16="http://schemas.microsoft.com/office/drawing/2014/main" id="{30C17A04-8D82-E124-6465-8D11F8A53C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2244" y="2800350"/>
                <a:ext cx="3563940" cy="1032073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" name="Freeform: Shape 152">
                <a:extLst>
                  <a:ext uri="{FF2B5EF4-FFF2-40B4-BE49-F238E27FC236}">
                    <a16:creationId xmlns:a16="http://schemas.microsoft.com/office/drawing/2014/main" id="{D8BD38EB-9A3D-8EBD-A9A0-73F19B9DF300}"/>
                  </a:ext>
                </a:extLst>
              </p:cNvPr>
              <p:cNvSpPr/>
              <p:nvPr/>
            </p:nvSpPr>
            <p:spPr>
              <a:xfrm flipH="1">
                <a:off x="5192242" y="2800350"/>
                <a:ext cx="1809549" cy="1032072"/>
              </a:xfrm>
              <a:custGeom>
                <a:avLst/>
                <a:gdLst>
                  <a:gd name="connsiteX0" fmla="*/ 0 w 2328862"/>
                  <a:gd name="connsiteY0" fmla="*/ 0 h 411289"/>
                  <a:gd name="connsiteX1" fmla="*/ 2328863 w 2328862"/>
                  <a:gd name="connsiteY1" fmla="*/ 0 h 411289"/>
                  <a:gd name="connsiteX2" fmla="*/ 2328863 w 2328862"/>
                  <a:gd name="connsiteY2" fmla="*/ 411290 h 411289"/>
                  <a:gd name="connsiteX3" fmla="*/ 0 w 2328862"/>
                  <a:gd name="connsiteY3" fmla="*/ 411290 h 411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8862" h="411289">
                    <a:moveTo>
                      <a:pt x="0" y="0"/>
                    </a:moveTo>
                    <a:lnTo>
                      <a:pt x="2328863" y="0"/>
                    </a:lnTo>
                    <a:lnTo>
                      <a:pt x="2328863" y="411290"/>
                    </a:lnTo>
                    <a:lnTo>
                      <a:pt x="0" y="411290"/>
                    </a:lnTo>
                    <a:close/>
                  </a:path>
                </a:pathLst>
              </a:custGeom>
              <a:gradFill flip="none" rotWithShape="1">
                <a:gsLst>
                  <a:gs pos="24000">
                    <a:schemeClr val="tx1">
                      <a:alpha val="3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10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3D5FE48-1870-5840-4F59-3AF41D62E7FC}"/>
                </a:ext>
              </a:extLst>
            </p:cNvPr>
            <p:cNvSpPr/>
            <p:nvPr/>
          </p:nvSpPr>
          <p:spPr>
            <a:xfrm flipH="1">
              <a:off x="1424220" y="3708294"/>
              <a:ext cx="2863287" cy="675592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KE" altLang="en-KE" sz="2000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For maximal effect: </a:t>
              </a:r>
              <a:r>
                <a:rPr lang="en-KE" altLang="en-KE" sz="2000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integration</a:t>
              </a:r>
              <a:r>
                <a:rPr lang="en-KE" altLang="en-KE" sz="2000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across TB, nutrition, social protection, and agricultural sectors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69E57C1-4C3F-438F-F4AA-A1C07FC9E620}"/>
                </a:ext>
              </a:extLst>
            </p:cNvPr>
            <p:cNvGrpSpPr/>
            <p:nvPr/>
          </p:nvGrpSpPr>
          <p:grpSpPr>
            <a:xfrm>
              <a:off x="387821" y="3593899"/>
              <a:ext cx="903599" cy="904381"/>
              <a:chOff x="4740445" y="2864196"/>
              <a:chExt cx="903599" cy="904381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162312C-1110-E6FF-0170-B767BDE583F9}"/>
                  </a:ext>
                </a:extLst>
              </p:cNvPr>
              <p:cNvSpPr/>
              <p:nvPr/>
            </p:nvSpPr>
            <p:spPr>
              <a:xfrm>
                <a:off x="4740445" y="2864196"/>
                <a:ext cx="903599" cy="9043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137160" tIns="137160" rIns="137160" bIns="137160">
                <a:noAutofit/>
              </a:bodyPr>
              <a:lstStyle/>
              <a:p>
                <a:pPr marL="128588" indent="-128588">
                  <a:lnSpc>
                    <a:spcPct val="94000"/>
                  </a:lnSpc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sz="105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13EA697-997F-BB3E-259A-24CCAB1145C8}"/>
                  </a:ext>
                </a:extLst>
              </p:cNvPr>
              <p:cNvSpPr/>
              <p:nvPr/>
            </p:nvSpPr>
            <p:spPr>
              <a:xfrm>
                <a:off x="4740445" y="2864196"/>
                <a:ext cx="903599" cy="904381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bg1">
                      <a:lumMod val="95000"/>
                      <a:alpha val="50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EC3C379-63AA-4587-31DD-C080F12DE62D}"/>
                </a:ext>
              </a:extLst>
            </p:cNvPr>
            <p:cNvGrpSpPr/>
            <p:nvPr/>
          </p:nvGrpSpPr>
          <p:grpSpPr>
            <a:xfrm>
              <a:off x="839618" y="2310853"/>
              <a:ext cx="3563942" cy="1032073"/>
              <a:chOff x="5192242" y="2800350"/>
              <a:chExt cx="3563942" cy="1032073"/>
            </a:xfrm>
          </p:grpSpPr>
          <p:sp>
            <p:nvSpPr>
              <p:cNvPr id="45" name="Freeform: Shape 9">
                <a:extLst>
                  <a:ext uri="{FF2B5EF4-FFF2-40B4-BE49-F238E27FC236}">
                    <a16:creationId xmlns:a16="http://schemas.microsoft.com/office/drawing/2014/main" id="{76B075EE-0543-6C08-163F-8032EE4CB4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2244" y="2800350"/>
                <a:ext cx="3563940" cy="103207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6" name="Freeform: Shape 161">
                <a:extLst>
                  <a:ext uri="{FF2B5EF4-FFF2-40B4-BE49-F238E27FC236}">
                    <a16:creationId xmlns:a16="http://schemas.microsoft.com/office/drawing/2014/main" id="{91BDA908-6467-F6D1-D884-D09D44CD1A0C}"/>
                  </a:ext>
                </a:extLst>
              </p:cNvPr>
              <p:cNvSpPr/>
              <p:nvPr/>
            </p:nvSpPr>
            <p:spPr>
              <a:xfrm flipH="1">
                <a:off x="5192242" y="2800350"/>
                <a:ext cx="1809549" cy="1032072"/>
              </a:xfrm>
              <a:custGeom>
                <a:avLst/>
                <a:gdLst>
                  <a:gd name="connsiteX0" fmla="*/ 0 w 2328862"/>
                  <a:gd name="connsiteY0" fmla="*/ 0 h 411289"/>
                  <a:gd name="connsiteX1" fmla="*/ 2328863 w 2328862"/>
                  <a:gd name="connsiteY1" fmla="*/ 0 h 411289"/>
                  <a:gd name="connsiteX2" fmla="*/ 2328863 w 2328862"/>
                  <a:gd name="connsiteY2" fmla="*/ 411290 h 411289"/>
                  <a:gd name="connsiteX3" fmla="*/ 0 w 2328862"/>
                  <a:gd name="connsiteY3" fmla="*/ 411290 h 411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8862" h="411289">
                    <a:moveTo>
                      <a:pt x="0" y="0"/>
                    </a:moveTo>
                    <a:lnTo>
                      <a:pt x="2328863" y="0"/>
                    </a:lnTo>
                    <a:lnTo>
                      <a:pt x="2328863" y="411290"/>
                    </a:lnTo>
                    <a:lnTo>
                      <a:pt x="0" y="411290"/>
                    </a:lnTo>
                    <a:close/>
                  </a:path>
                </a:pathLst>
              </a:custGeom>
              <a:gradFill flip="none" rotWithShape="1">
                <a:gsLst>
                  <a:gs pos="24000">
                    <a:schemeClr val="tx1">
                      <a:alpha val="3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10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56C6586-2A25-49FB-2D43-ED9A30E2596A}"/>
                </a:ext>
              </a:extLst>
            </p:cNvPr>
            <p:cNvSpPr/>
            <p:nvPr/>
          </p:nvSpPr>
          <p:spPr>
            <a:xfrm flipH="1">
              <a:off x="1424220" y="2376495"/>
              <a:ext cx="2863287" cy="900788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 marL="0" indent="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KE" altLang="en-KE" sz="2000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“Nutrition as prevention” is a </a:t>
              </a:r>
              <a:r>
                <a:rPr lang="en-KE" altLang="en-KE" sz="2000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credible, evidence-emerging paradigm</a:t>
              </a:r>
              <a:r>
                <a:rPr lang="en-KE" altLang="en-KE" sz="2000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(supported by RCTs, modeling, historical data)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4AA58A5-5F04-CF98-8AB0-0A7F232D3458}"/>
                </a:ext>
              </a:extLst>
            </p:cNvPr>
            <p:cNvGrpSpPr/>
            <p:nvPr/>
          </p:nvGrpSpPr>
          <p:grpSpPr>
            <a:xfrm>
              <a:off x="387821" y="2374699"/>
              <a:ext cx="903599" cy="904381"/>
              <a:chOff x="4740445" y="2864196"/>
              <a:chExt cx="903599" cy="904381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0E80FC5C-FA69-9A19-2A4A-5174D8AE6624}"/>
                  </a:ext>
                </a:extLst>
              </p:cNvPr>
              <p:cNvSpPr/>
              <p:nvPr/>
            </p:nvSpPr>
            <p:spPr>
              <a:xfrm>
                <a:off x="4740445" y="2864196"/>
                <a:ext cx="903599" cy="9043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137160" tIns="137160" rIns="137160" bIns="137160">
                <a:noAutofit/>
              </a:bodyPr>
              <a:lstStyle/>
              <a:p>
                <a:pPr marL="128588" indent="-128588">
                  <a:lnSpc>
                    <a:spcPct val="94000"/>
                  </a:lnSpc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•"/>
                </a:pPr>
                <a:endParaRPr lang="en-US" sz="105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7C52D66-16F1-A63E-E586-CBE5F81B3276}"/>
                  </a:ext>
                </a:extLst>
              </p:cNvPr>
              <p:cNvSpPr/>
              <p:nvPr/>
            </p:nvSpPr>
            <p:spPr>
              <a:xfrm>
                <a:off x="4740445" y="2864196"/>
                <a:ext cx="903599" cy="904381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bg1">
                      <a:lumMod val="95000"/>
                      <a:alpha val="50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endParaRPr>
              </a:p>
            </p:txBody>
          </p:sp>
        </p:grpSp>
      </p:grpSp>
      <p:pic>
        <p:nvPicPr>
          <p:cNvPr id="103" name="Graphic 102" descr="Chess pieces with solid fill">
            <a:extLst>
              <a:ext uri="{FF2B5EF4-FFF2-40B4-BE49-F238E27FC236}">
                <a16:creationId xmlns:a16="http://schemas.microsoft.com/office/drawing/2014/main" id="{214DFAC9-0E4B-3D3A-BBF4-5AA0D551F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843" y="1662582"/>
            <a:ext cx="914400" cy="914400"/>
          </a:xfrm>
          <a:prstGeom prst="rect">
            <a:avLst/>
          </a:prstGeom>
        </p:spPr>
      </p:pic>
      <p:pic>
        <p:nvPicPr>
          <p:cNvPr id="105" name="Graphic 104" descr="Stop with solid fill">
            <a:extLst>
              <a:ext uri="{FF2B5EF4-FFF2-40B4-BE49-F238E27FC236}">
                <a16:creationId xmlns:a16="http://schemas.microsoft.com/office/drawing/2014/main" id="{49D54940-8CCB-4C83-6D82-06D7D43F32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843" y="3394080"/>
            <a:ext cx="914400" cy="914400"/>
          </a:xfrm>
          <a:prstGeom prst="rect">
            <a:avLst/>
          </a:prstGeom>
        </p:spPr>
      </p:pic>
      <p:pic>
        <p:nvPicPr>
          <p:cNvPr id="107" name="Graphic 106" descr="Shuffle with solid fill">
            <a:extLst>
              <a:ext uri="{FF2B5EF4-FFF2-40B4-BE49-F238E27FC236}">
                <a16:creationId xmlns:a16="http://schemas.microsoft.com/office/drawing/2014/main" id="{6CFF4568-B113-D5A3-1509-172CE7823E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6246" y="5045714"/>
            <a:ext cx="914400" cy="914400"/>
          </a:xfrm>
          <a:prstGeom prst="rect">
            <a:avLst/>
          </a:prstGeom>
        </p:spPr>
      </p:pic>
      <p:pic>
        <p:nvPicPr>
          <p:cNvPr id="111" name="Graphic 110" descr="Lungs with solid fill">
            <a:extLst>
              <a:ext uri="{FF2B5EF4-FFF2-40B4-BE49-F238E27FC236}">
                <a16:creationId xmlns:a16="http://schemas.microsoft.com/office/drawing/2014/main" id="{26463F92-5F9D-6122-E639-284718A78C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0280" y="1670357"/>
            <a:ext cx="914400" cy="914400"/>
          </a:xfrm>
          <a:prstGeom prst="rect">
            <a:avLst/>
          </a:prstGeom>
        </p:spPr>
      </p:pic>
      <p:pic>
        <p:nvPicPr>
          <p:cNvPr id="113" name="Graphic 112" descr="Clipboard with solid fill">
            <a:extLst>
              <a:ext uri="{FF2B5EF4-FFF2-40B4-BE49-F238E27FC236}">
                <a16:creationId xmlns:a16="http://schemas.microsoft.com/office/drawing/2014/main" id="{0A3B89B3-7520-7E48-8AAA-FAC1290743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98093" y="3385622"/>
            <a:ext cx="914400" cy="914400"/>
          </a:xfrm>
          <a:prstGeom prst="rect">
            <a:avLst/>
          </a:prstGeom>
        </p:spPr>
      </p:pic>
      <p:pic>
        <p:nvPicPr>
          <p:cNvPr id="115" name="Graphic 114" descr="Megaphone with solid fill">
            <a:extLst>
              <a:ext uri="{FF2B5EF4-FFF2-40B4-BE49-F238E27FC236}">
                <a16:creationId xmlns:a16="http://schemas.microsoft.com/office/drawing/2014/main" id="{CC9FB896-D6DC-3F3B-C7D6-8C7FB324F90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96005" y="5028307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238126"/>
            <a:ext cx="3213100" cy="315912"/>
          </a:xfrm>
        </p:spPr>
        <p:txBody>
          <a:bodyPr>
            <a:normAutofit fontScale="90000"/>
          </a:bodyPr>
          <a:lstStyle/>
          <a:p>
            <a:r>
              <a:rPr sz="3600" b="1" dirty="0">
                <a:solidFill>
                  <a:schemeClr val="bg1"/>
                </a:solidFill>
                <a:latin typeface="+mn-lt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45957" y="1358900"/>
            <a:ext cx="11516194" cy="5131842"/>
          </a:xfrm>
        </p:spPr>
        <p:txBody>
          <a:bodyPr>
            <a:noAutofit/>
          </a:bodyPr>
          <a:lstStyle/>
          <a:p>
            <a:pPr marL="514350" indent="-514350" eaLnBrk="0" fontAlgn="base" hangingPunct="0">
              <a:spcBef>
                <a:spcPct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KE" altLang="en-KE" sz="1800" dirty="0"/>
              <a:t>Zhang K, et al. Nutritional supplementation for tuberculosis prevention. </a:t>
            </a:r>
            <a:r>
              <a:rPr lang="en-KE" altLang="en-KE" sz="1800" i="1" dirty="0"/>
              <a:t>Lancet</a:t>
            </a:r>
            <a:r>
              <a:rPr lang="en-KE" altLang="en-KE" sz="1800" dirty="0"/>
              <a:t>. 2024. </a:t>
            </a:r>
            <a:r>
              <a:rPr lang="en-KE" altLang="en-KE" sz="1800" dirty="0">
                <a:hlinkClick r:id="rId2"/>
              </a:rPr>
              <a:t>The Lancet</a:t>
            </a:r>
            <a:endParaRPr lang="en-KE" altLang="en-KE" sz="1800" dirty="0"/>
          </a:p>
          <a:p>
            <a:pPr marL="514350" indent="-514350" eaLnBrk="0" fontAlgn="base" hangingPunct="0">
              <a:spcBef>
                <a:spcPct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KE" altLang="en-KE" sz="1800" dirty="0"/>
              <a:t>Wagnew F, et al. The effect of undernutrition on sputum culture conversion. </a:t>
            </a:r>
            <a:r>
              <a:rPr lang="en-KE" altLang="en-KE" sz="1800" i="1" dirty="0"/>
              <a:t>Journal ???</a:t>
            </a:r>
            <a:r>
              <a:rPr lang="en-KE" altLang="en-KE" sz="1800" dirty="0"/>
              <a:t>. 2023. </a:t>
            </a:r>
            <a:r>
              <a:rPr lang="en-KE" altLang="en-KE" sz="1800" dirty="0">
                <a:hlinkClick r:id="rId3"/>
              </a:rPr>
              <a:t>ScienceDirect</a:t>
            </a:r>
            <a:endParaRPr lang="en-KE" altLang="en-KE" sz="1800" dirty="0"/>
          </a:p>
          <a:p>
            <a:pPr marL="514350" indent="-514350" eaLnBrk="0" fontAlgn="base" hangingPunct="0">
              <a:spcBef>
                <a:spcPct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KE" altLang="en-KE" sz="1800" dirty="0"/>
              <a:t>Cintron C, et al. Impact of Nutritional Support for Tuberculosis. </a:t>
            </a:r>
            <a:r>
              <a:rPr lang="en-KE" altLang="en-KE" sz="1800" i="1" dirty="0"/>
              <a:t>PMC</a:t>
            </a:r>
            <a:r>
              <a:rPr lang="en-KE" altLang="en-KE" sz="1800" dirty="0"/>
              <a:t>. 2025. </a:t>
            </a:r>
            <a:r>
              <a:rPr lang="en-KE" altLang="en-KE" sz="1800" dirty="0">
                <a:hlinkClick r:id="rId4"/>
              </a:rPr>
              <a:t>PMC</a:t>
            </a:r>
            <a:endParaRPr lang="en-KE" altLang="en-KE" sz="1800" dirty="0"/>
          </a:p>
          <a:p>
            <a:pPr marL="514350" indent="-514350" eaLnBrk="0" fontAlgn="base" hangingPunct="0">
              <a:spcBef>
                <a:spcPct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KE" altLang="en-KE" sz="1800" dirty="0"/>
              <a:t>Wagnew F, et al. Effectiveness of nutritional support to improve treatment. </a:t>
            </a:r>
            <a:r>
              <a:rPr lang="en-KE" altLang="en-KE" sz="1800" i="1" dirty="0"/>
              <a:t>Nutrition Reviews</a:t>
            </a:r>
            <a:r>
              <a:rPr lang="en-KE" altLang="en-KE" sz="1800" dirty="0"/>
              <a:t>. </a:t>
            </a:r>
            <a:r>
              <a:rPr lang="en-KE" altLang="en-KE" sz="1800" dirty="0">
                <a:hlinkClick r:id="rId5"/>
              </a:rPr>
              <a:t>Oxford Academic</a:t>
            </a:r>
            <a:endParaRPr lang="en-KE" altLang="en-KE" sz="1800" dirty="0"/>
          </a:p>
          <a:p>
            <a:pPr marL="514350" indent="-514350" eaLnBrk="0" fontAlgn="base" hangingPunct="0">
              <a:spcBef>
                <a:spcPct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KE" altLang="en-KE" sz="1800" dirty="0"/>
              <a:t>Kipkosgei KC, et al. Positive deviance nutrition intervention improves sputum conversion in Kenya. </a:t>
            </a:r>
            <a:r>
              <a:rPr lang="en-KE" altLang="en-KE" sz="1800" i="1" dirty="0"/>
              <a:t>Sciencedirect</a:t>
            </a:r>
            <a:r>
              <a:rPr lang="en-KE" altLang="en-KE" sz="1800" dirty="0"/>
              <a:t>. 2025. </a:t>
            </a:r>
            <a:r>
              <a:rPr lang="en-KE" altLang="en-KE" sz="1800" dirty="0">
                <a:hlinkClick r:id="rId6"/>
              </a:rPr>
              <a:t>ScienceDirect</a:t>
            </a:r>
            <a:endParaRPr lang="en-KE" altLang="en-KE" sz="1800" dirty="0"/>
          </a:p>
          <a:p>
            <a:pPr marL="514350" indent="-514350" eaLnBrk="0" fontAlgn="base" hangingPunct="0">
              <a:spcBef>
                <a:spcPct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KE" altLang="en-KE" sz="1800" dirty="0"/>
              <a:t>Bhargava A, et al. Nutritional support trial reduces TB incidence in contacts. </a:t>
            </a:r>
            <a:r>
              <a:rPr lang="en-KE" altLang="en-KE" sz="1800" i="1" dirty="0"/>
              <a:t>Lancet</a:t>
            </a:r>
            <a:r>
              <a:rPr lang="en-KE" altLang="en-KE" sz="1800" dirty="0"/>
              <a:t>. </a:t>
            </a:r>
            <a:r>
              <a:rPr lang="en-KE" altLang="en-KE" sz="1800" dirty="0">
                <a:hlinkClick r:id="rId7"/>
              </a:rPr>
              <a:t>The Lancet</a:t>
            </a:r>
            <a:endParaRPr lang="en-KE" altLang="en-KE" sz="1800" dirty="0"/>
          </a:p>
          <a:p>
            <a:pPr marL="514350" indent="-514350" eaLnBrk="0" fontAlgn="base" hangingPunct="0">
              <a:spcBef>
                <a:spcPct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KE" altLang="en-KE" sz="1800" dirty="0"/>
              <a:t>Tadesse F, et al. Magnitude of undernutrition among TB patients. </a:t>
            </a:r>
            <a:r>
              <a:rPr lang="en-KE" altLang="en-KE" sz="1800" i="1" dirty="0"/>
              <a:t>PMC</a:t>
            </a:r>
            <a:r>
              <a:rPr lang="en-KE" altLang="en-KE" sz="1800" dirty="0"/>
              <a:t>. 2023. </a:t>
            </a:r>
            <a:r>
              <a:rPr lang="en-KE" altLang="en-KE" sz="1800" dirty="0">
                <a:hlinkClick r:id="rId8"/>
              </a:rPr>
              <a:t>PMC</a:t>
            </a:r>
            <a:endParaRPr lang="en-KE" altLang="en-KE" sz="1800" dirty="0"/>
          </a:p>
          <a:p>
            <a:pPr marL="514350" indent="-514350" eaLnBrk="0" fontAlgn="base" hangingPunct="0">
              <a:spcBef>
                <a:spcPct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KE" altLang="en-KE" sz="1800" dirty="0"/>
              <a:t>Shifera N, et al. Undernutrition and predictors among TB patients. </a:t>
            </a:r>
            <a:r>
              <a:rPr lang="en-KE" altLang="en-KE" sz="1800" i="1" dirty="0"/>
              <a:t>PMC</a:t>
            </a:r>
            <a:r>
              <a:rPr lang="en-KE" altLang="en-KE" sz="1800" dirty="0"/>
              <a:t>. 2024. </a:t>
            </a:r>
            <a:r>
              <a:rPr lang="en-KE" altLang="en-KE" sz="1800" dirty="0">
                <a:hlinkClick r:id="rId9"/>
              </a:rPr>
              <a:t>PMC</a:t>
            </a:r>
            <a:endParaRPr lang="en-KE" altLang="en-KE" sz="1800" dirty="0"/>
          </a:p>
          <a:p>
            <a:pPr marL="514350" indent="-514350" eaLnBrk="0" fontAlgn="base" hangingPunct="0">
              <a:spcBef>
                <a:spcPct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KE" altLang="en-KE" sz="1800" dirty="0"/>
              <a:t>Musuenge BB, et al. Nutritional Status of TB Patients. </a:t>
            </a:r>
            <a:r>
              <a:rPr lang="en-KE" altLang="en-KE" sz="1800" i="1" dirty="0"/>
              <a:t>Nutrients</a:t>
            </a:r>
            <a:r>
              <a:rPr lang="en-KE" altLang="en-KE" sz="1800" dirty="0"/>
              <a:t>. 2020. </a:t>
            </a:r>
            <a:r>
              <a:rPr lang="en-KE" altLang="en-KE" sz="1800" dirty="0">
                <a:hlinkClick r:id="rId10"/>
              </a:rPr>
              <a:t>MDPI</a:t>
            </a:r>
            <a:endParaRPr lang="en-KE" altLang="en-KE" sz="1800" dirty="0"/>
          </a:p>
          <a:p>
            <a:pPr marL="514350" indent="-514350" eaLnBrk="0" fontAlgn="base" hangingPunct="0">
              <a:spcBef>
                <a:spcPct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KE" altLang="en-KE" sz="1800" dirty="0"/>
              <a:t>Ma JJ, et al. Malnutrition risk and TB mortality. </a:t>
            </a:r>
            <a:r>
              <a:rPr lang="en-KE" altLang="en-KE" sz="1800" i="1" dirty="0"/>
              <a:t>Frontiers Public Health</a:t>
            </a:r>
            <a:r>
              <a:rPr lang="en-KE" altLang="en-KE" sz="1800" dirty="0"/>
              <a:t>. 2022. </a:t>
            </a:r>
            <a:r>
              <a:rPr lang="en-KE" altLang="en-KE" sz="1800" dirty="0">
                <a:hlinkClick r:id="rId11"/>
              </a:rPr>
              <a:t>Frontiers</a:t>
            </a:r>
            <a:endParaRPr lang="en-KE" altLang="en-KE" sz="1800" dirty="0"/>
          </a:p>
          <a:p>
            <a:pPr marL="514350" indent="-514350" eaLnBrk="0" fontAlgn="base" hangingPunct="0">
              <a:spcBef>
                <a:spcPct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KE" altLang="en-KE" sz="1800" dirty="0"/>
              <a:t>Franke MA, et al. Nutritional programmes in TB: cross-sectional analysis. </a:t>
            </a:r>
            <a:r>
              <a:rPr lang="en-KE" altLang="en-KE" sz="1800" i="1" dirty="0"/>
              <a:t>Infectious Diseases of Poverty</a:t>
            </a:r>
            <a:r>
              <a:rPr lang="en-KE" altLang="en-KE" sz="1800" dirty="0"/>
              <a:t>. 2024. </a:t>
            </a:r>
            <a:r>
              <a:rPr lang="en-KE" altLang="en-KE" sz="1800" dirty="0">
                <a:hlinkClick r:id="rId12"/>
              </a:rPr>
              <a:t>BioMed Central</a:t>
            </a:r>
            <a:endParaRPr lang="en-KE" altLang="en-KE" sz="1800" dirty="0"/>
          </a:p>
          <a:p>
            <a:pPr marL="514350" indent="-514350" eaLnBrk="0" fontAlgn="base" hangingPunct="0">
              <a:spcBef>
                <a:spcPct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KE" altLang="en-KE" sz="1800" dirty="0"/>
              <a:t>Cai L, et al. Vitamin D and TB. </a:t>
            </a:r>
            <a:r>
              <a:rPr lang="en-KE" altLang="en-KE" sz="1800" i="1" dirty="0"/>
              <a:t>Frontiers in Nutrition</a:t>
            </a:r>
            <a:r>
              <a:rPr lang="en-KE" altLang="en-KE" sz="1800" dirty="0"/>
              <a:t>. 2022. </a:t>
            </a:r>
            <a:r>
              <a:rPr lang="en-KE" altLang="en-KE" sz="1800" dirty="0">
                <a:hlinkClick r:id="rId13"/>
              </a:rPr>
              <a:t>Frontiers</a:t>
            </a:r>
            <a:endParaRPr lang="en-KE" altLang="en-KE" sz="1800" dirty="0"/>
          </a:p>
          <a:p>
            <a:pPr marL="514350" indent="-514350" eaLnBrk="0" fontAlgn="base" hangingPunct="0">
              <a:spcBef>
                <a:spcPct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KE" altLang="en-KE" sz="1800" dirty="0"/>
              <a:t>Bhargava A. Adequate Balanced Food (ABF) essay. </a:t>
            </a:r>
            <a:r>
              <a:rPr lang="en-KE" altLang="en-KE" sz="1800" i="1" dirty="0"/>
              <a:t>Global Public Health</a:t>
            </a:r>
            <a:r>
              <a:rPr lang="en-KE" altLang="en-KE" sz="1800" dirty="0"/>
              <a:t>. 2025. </a:t>
            </a:r>
            <a:r>
              <a:rPr lang="en-KE" altLang="en-KE" sz="1800" dirty="0">
                <a:hlinkClick r:id="rId14"/>
              </a:rPr>
              <a:t>PLOS</a:t>
            </a:r>
            <a:endParaRPr lang="en-KE" altLang="en-KE" sz="1800" dirty="0"/>
          </a:p>
          <a:p>
            <a:pPr marL="514350" indent="-514350" eaLnBrk="0" fontAlgn="base" hangingPunct="0">
              <a:spcBef>
                <a:spcPct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KE" altLang="en-KE" sz="1800" dirty="0"/>
              <a:t>McQuaid CF, et al. Modeling cost-effectiveness of nutrition in TB. </a:t>
            </a:r>
            <a:r>
              <a:rPr lang="en-KE" altLang="en-KE" sz="1800" i="1" dirty="0"/>
              <a:t>SSRN / working paper</a:t>
            </a:r>
            <a:r>
              <a:rPr lang="en-KE" altLang="en-KE" sz="1800" dirty="0"/>
              <a:t>. </a:t>
            </a:r>
            <a:r>
              <a:rPr lang="en-KE" altLang="en-KE" sz="1800" dirty="0">
                <a:hlinkClick r:id="rId15"/>
              </a:rPr>
              <a:t>SSRN</a:t>
            </a:r>
            <a:endParaRPr lang="en-KE" altLang="en-KE" sz="1800" dirty="0"/>
          </a:p>
          <a:p>
            <a:pPr marL="514350" indent="-514350" eaLnBrk="0" fontAlgn="base" hangingPunct="0">
              <a:spcBef>
                <a:spcPct val="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KE" altLang="en-KE" sz="1800" dirty="0"/>
              <a:t>Gupta KB, et al. Tuberculosis and nutrition (review). </a:t>
            </a:r>
            <a:r>
              <a:rPr lang="en-KE" altLang="en-KE" sz="1800" i="1" dirty="0"/>
              <a:t>PMC</a:t>
            </a:r>
            <a:r>
              <a:rPr lang="en-KE" altLang="en-KE" sz="1800" dirty="0"/>
              <a:t>. 2009. </a:t>
            </a:r>
            <a:r>
              <a:rPr lang="en-KE" altLang="en-KE" sz="1800" dirty="0">
                <a:hlinkClick r:id="rId16"/>
              </a:rPr>
              <a:t>PMC</a:t>
            </a:r>
            <a:endParaRPr lang="en-KE" altLang="en-KE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770FD4-D00E-BBA9-1C91-1A416617CEA6}"/>
              </a:ext>
            </a:extLst>
          </p:cNvPr>
          <p:cNvSpPr txBox="1"/>
          <p:nvPr/>
        </p:nvSpPr>
        <p:spPr>
          <a:xfrm>
            <a:off x="0" y="2247581"/>
            <a:ext cx="648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bg1">
                    <a:lumMod val="85000"/>
                  </a:schemeClr>
                </a:solidFill>
              </a:rPr>
              <a:t>‘Good ideas are not necessarily new ideas but old ideas resurrected at the proper time”-  Charles Handy</a:t>
            </a:r>
            <a:endParaRPr lang="en-KE" i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794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3831</TotalTime>
  <Words>2205</Words>
  <Application>Microsoft Macintosh PowerPoint</Application>
  <PresentationFormat>Widescreen</PresentationFormat>
  <Paragraphs>248</Paragraphs>
  <Slides>20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CorisandeBold</vt:lpstr>
      <vt:lpstr>Times New Roman</vt:lpstr>
      <vt:lpstr>Office Theme</vt:lpstr>
      <vt:lpstr>PowerPoint Presentation</vt:lpstr>
      <vt:lpstr>Outline</vt:lpstr>
      <vt:lpstr>Global TB Burden</vt:lpstr>
      <vt:lpstr>TB in Kenya Data 2023</vt:lpstr>
      <vt:lpstr>Why Malnutrition Matters; Malnutrition as a risk Factor for TB</vt:lpstr>
      <vt:lpstr>PowerPoint Presentation</vt:lpstr>
      <vt:lpstr>TB and Malnutrition</vt:lpstr>
      <vt:lpstr>Nutrition in TB Management: What the Evidence Shows</vt:lpstr>
      <vt:lpstr>RATIONS (Reducing Activation of Tuberculosis by Improvement Of Nutritional Status) Trial Study: August 2019 to July 2022</vt:lpstr>
      <vt:lpstr>Nutrition As Prevention — The Paradigm Shift</vt:lpstr>
      <vt:lpstr>Mechanisms: How Exactly Nutrition Prevents TB</vt:lpstr>
      <vt:lpstr>Conceptual Framework</vt:lpstr>
      <vt:lpstr>Programmatic Opportunities &amp; Implementation Challenges</vt:lpstr>
      <vt:lpstr>Challenges / Barriers</vt:lpstr>
      <vt:lpstr>Opportunities / Entry Points</vt:lpstr>
      <vt:lpstr>Key Considerations for Kenya</vt:lpstr>
      <vt:lpstr>Program Impact &amp; Cost-Effectiveness</vt:lpstr>
      <vt:lpstr>Call to Action: ‘Food; the TB vaccine we already have’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Boaz Ouma</dc:creator>
  <cp:lastModifiedBy>Nkirote Mugambi-Nyaboga</cp:lastModifiedBy>
  <cp:revision>47</cp:revision>
  <dcterms:created xsi:type="dcterms:W3CDTF">2024-08-15T13:48:28Z</dcterms:created>
  <dcterms:modified xsi:type="dcterms:W3CDTF">2025-09-29T04:27:51Z</dcterms:modified>
</cp:coreProperties>
</file>